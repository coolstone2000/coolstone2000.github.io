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3"/>
  </p:notesMasterIdLst>
  <p:sldIdLst>
    <p:sldId id="256" r:id="rId2"/>
    <p:sldId id="257" r:id="rId3"/>
    <p:sldId id="272" r:id="rId4"/>
    <p:sldId id="259" r:id="rId5"/>
    <p:sldId id="261" r:id="rId6"/>
    <p:sldId id="262" r:id="rId7"/>
    <p:sldId id="263" r:id="rId8"/>
    <p:sldId id="264" r:id="rId9"/>
    <p:sldId id="265" r:id="rId10"/>
    <p:sldId id="313" r:id="rId11"/>
    <p:sldId id="314" r:id="rId12"/>
    <p:sldId id="315" r:id="rId13"/>
    <p:sldId id="316" r:id="rId14"/>
    <p:sldId id="317" r:id="rId15"/>
    <p:sldId id="260" r:id="rId16"/>
    <p:sldId id="318" r:id="rId17"/>
    <p:sldId id="319" r:id="rId18"/>
    <p:sldId id="320" r:id="rId19"/>
    <p:sldId id="321" r:id="rId20"/>
    <p:sldId id="322" r:id="rId21"/>
    <p:sldId id="323" r:id="rId22"/>
    <p:sldId id="324" r:id="rId23"/>
    <p:sldId id="325" r:id="rId24"/>
    <p:sldId id="326" r:id="rId25"/>
    <p:sldId id="327" r:id="rId26"/>
    <p:sldId id="329" r:id="rId27"/>
    <p:sldId id="330" r:id="rId28"/>
    <p:sldId id="332" r:id="rId29"/>
    <p:sldId id="333" r:id="rId30"/>
    <p:sldId id="334" r:id="rId31"/>
    <p:sldId id="266" r:id="rId32"/>
    <p:sldId id="258" r:id="rId33"/>
    <p:sldId id="336" r:id="rId34"/>
    <p:sldId id="337" r:id="rId35"/>
    <p:sldId id="339" r:id="rId36"/>
    <p:sldId id="340" r:id="rId37"/>
    <p:sldId id="341" r:id="rId38"/>
    <p:sldId id="342" r:id="rId39"/>
    <p:sldId id="343" r:id="rId40"/>
    <p:sldId id="344" r:id="rId41"/>
    <p:sldId id="345" r:id="rId42"/>
    <p:sldId id="348" r:id="rId43"/>
    <p:sldId id="349" r:id="rId44"/>
    <p:sldId id="350" r:id="rId45"/>
    <p:sldId id="351" r:id="rId46"/>
    <p:sldId id="352" r:id="rId47"/>
    <p:sldId id="354" r:id="rId48"/>
    <p:sldId id="355" r:id="rId49"/>
    <p:sldId id="356" r:id="rId50"/>
    <p:sldId id="357" r:id="rId51"/>
    <p:sldId id="358" r:id="rId52"/>
    <p:sldId id="359" r:id="rId53"/>
    <p:sldId id="360" r:id="rId54"/>
    <p:sldId id="361" r:id="rId55"/>
    <p:sldId id="362" r:id="rId56"/>
    <p:sldId id="363" r:id="rId57"/>
    <p:sldId id="364" r:id="rId58"/>
    <p:sldId id="365" r:id="rId59"/>
    <p:sldId id="366" r:id="rId60"/>
    <p:sldId id="367" r:id="rId61"/>
    <p:sldId id="368" r:id="rId62"/>
    <p:sldId id="369" r:id="rId63"/>
    <p:sldId id="267" r:id="rId64"/>
    <p:sldId id="268" r:id="rId65"/>
    <p:sldId id="370" r:id="rId66"/>
    <p:sldId id="371" r:id="rId67"/>
    <p:sldId id="372" r:id="rId68"/>
    <p:sldId id="373" r:id="rId69"/>
    <p:sldId id="374" r:id="rId70"/>
    <p:sldId id="375" r:id="rId71"/>
    <p:sldId id="376" r:id="rId72"/>
    <p:sldId id="377" r:id="rId73"/>
    <p:sldId id="381" r:id="rId74"/>
    <p:sldId id="384" r:id="rId75"/>
    <p:sldId id="307" r:id="rId76"/>
    <p:sldId id="385" r:id="rId77"/>
    <p:sldId id="386" r:id="rId78"/>
    <p:sldId id="388" r:id="rId79"/>
    <p:sldId id="389" r:id="rId80"/>
    <p:sldId id="391" r:id="rId81"/>
    <p:sldId id="312" r:id="rId82"/>
  </p:sldIdLst>
  <p:sldSz cx="12192000" cy="6858000"/>
  <p:notesSz cx="6858000" cy="12192000"/>
  <p:embeddedFontLst>
    <p:embeddedFont>
      <p:font typeface="맑은 고딕" panose="020B0503020000020004" pitchFamily="34" charset="-127"/>
      <p:regular r:id="rId84"/>
      <p:bold r:id="rId85"/>
    </p:embeddedFont>
    <p:embeddedFont>
      <p:font typeface="Cambria Math" panose="02040503050406030204" pitchFamily="18" charset="0"/>
      <p:regular r:id="rId86"/>
    </p:embeddedFont>
    <p:embeddedFont>
      <p:font typeface="Comic Sans MS" panose="030F0902030302020204" pitchFamily="66" charset="0"/>
      <p:regular r:id="rId8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45D"/>
    <a:srgbClr val="E2F0D9"/>
    <a:srgbClr val="548235"/>
    <a:srgbClr val="FFFDF2"/>
    <a:srgbClr val="D6B656"/>
    <a:srgbClr val="9EADCC"/>
    <a:srgbClr val="F3F8FF"/>
    <a:srgbClr val="CA1814"/>
    <a:srgbClr val="FF9933"/>
    <a:srgbClr val="E5FF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47" autoAdjust="0"/>
    <p:restoredTop sz="94610"/>
  </p:normalViewPr>
  <p:slideViewPr>
    <p:cSldViewPr snapToGrid="0" snapToObjects="1">
      <p:cViewPr varScale="1">
        <p:scale>
          <a:sx n="116" d="100"/>
          <a:sy n="11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07763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B27A6-4E39-8A75-B992-0A6493A74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7A24D-35EA-C5FB-D571-466B5AB50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9ED53-B832-8D63-F94E-EF3FE74F68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44247F-8D1E-D165-626C-DEA5D6F1297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99959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추론에서 weight는 모델 자체의 파라미터이기 때문에 크기가 매우 큽니다. Activation은 현재 입력에 따라 바뀌지만, batch size가 작으면 재사용 기회가 적습니다. 그래서 weight memory footprint와 weight memory traffic을 줄이는 것이 중요합니다.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FP16 weight는 16비트입니다. 이를 INT4나 FP4로 줄이면 weight 저장 용량과 memory traffic이 이론적으로 1/4로 줄어듭니다. 다만 precision이 낮아질수록 quantization error가 커지므로 정확도를 유지하는 것이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QAT는 양자화 오차를 학습 중에 고려하는 방식입니다. 정확도는 좋을 수 있지만 LLM 전체를 다시 학습해야 하므로 비용이 큽니다. PTQ는 이미 학습된 모델을 나중에 양자화하므로 LLM에서 훨씬 현실적입니다.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Weight-only PTQ는 가중치만 저정밀화하고 activation은 FP16으로 유지합니다. 이는 accuracy와 memory saving 사이의 균형이 좋기 때문에 많이 사용됩니다. 하지만 실제 계산은 low-precision weight와 FP16 activation의 mixed precision이 되므로 GPU에서 효율 문제가 생깁니다.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일반 GPU에는 integer 또는 low-precision weight와 FP16 activation을 직접 효율적으로 곱하는 전용 경로가 부족합니다. 그래서 weight-only PTQ는 메모리는 줄일 수 있지만, 실제 계산에서는 weight를 다시 FP16으로 역양자화하고 FP16 pipeline을 사용하는 경우가 많습니다. BitMoD는 이 간극을 해결하려는 논문입니다.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Quantization Basics입니다. 여기서는 integer quantization의 기본 원리와 symmetric/asymmetric의 차이를 예시 중심으로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양자화 기본은 scale로 나누고 round해서 정수 값으로 바꾸는 과정입니다. 이 다음 두 슬라이드에서는 symmetric과 asymmetric이 range를 어떻게 다르게 잡는지 예시로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F5A83-D392-7789-0A51-4CBD4363A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A2BCC-3A4E-99FE-EA13-8F3FA0E85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5C392-D36F-2549-EDD1-BA77F4FD5B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7C4FCE-B073-AAF6-1385-3C263D4942F1}"/>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41433937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C9BE9-49F1-4EF6-56CA-C3657676B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4251A-DF64-0841-397F-347088754F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FCEC97-D71F-AD16-F60F-5C336BF4E5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CB14DA-D1F8-E95D-C26B-3E58FCAB6CE6}"/>
              </a:ext>
            </a:extLst>
          </p:cNvPr>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24604390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89049-4D75-A959-4061-501E50DA0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380A3-DF30-CA85-4F36-74BD11C70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493F9-FA5A-A08E-FFAC-E4F24D1547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2728AB-FDA3-16CB-AE12-60BE80B9F18E}"/>
              </a:ext>
            </a:extLst>
          </p:cNvPr>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2095313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31268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png"/><Relationship Id="rId7"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3.png"/><Relationship Id="rId7" Type="http://schemas.openxmlformats.org/officeDocument/2006/relationships/image" Target="../media/image7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3.png"/><Relationship Id="rId7" Type="http://schemas.openxmlformats.org/officeDocument/2006/relationships/image" Target="../media/image77.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83.png"/><Relationship Id="rId4" Type="http://schemas.openxmlformats.org/officeDocument/2006/relationships/image" Target="../media/image82.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8.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89.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91.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6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67.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6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69.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7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2.png"/></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aca_top.png"/>
          <p:cNvPicPr>
            <a:picLocks noChangeAspect="1"/>
          </p:cNvPicPr>
          <p:nvPr/>
        </p:nvPicPr>
        <p:blipFill>
          <a:blip r:embed="rId3"/>
          <a:stretch>
            <a:fillRect/>
          </a:stretch>
        </p:blipFill>
        <p:spPr>
          <a:xfrm>
            <a:off x="118872" y="45720"/>
            <a:ext cx="2057400" cy="566928"/>
          </a:xfrm>
          <a:prstGeom prst="rect">
            <a:avLst/>
          </a:prstGeom>
        </p:spPr>
      </p:pic>
      <p:sp>
        <p:nvSpPr>
          <p:cNvPr id="3" name="Shape 0"/>
          <p:cNvSpPr/>
          <p:nvPr/>
        </p:nvSpPr>
        <p:spPr>
          <a:xfrm>
            <a:off x="338328" y="731520"/>
            <a:ext cx="11503152" cy="45720"/>
          </a:xfrm>
          <a:prstGeom prst="rect">
            <a:avLst/>
          </a:prstGeom>
          <a:solidFill>
            <a:srgbClr val="00245D"/>
          </a:solidFill>
          <a:ln w="12700">
            <a:solidFill>
              <a:srgbClr val="00245D"/>
            </a:solidFill>
            <a:prstDash val="solid"/>
          </a:ln>
        </p:spPr>
        <p:txBody>
          <a:bodyPr/>
          <a:lstStyle/>
          <a:p>
            <a:endParaRPr lang="ko-KR" altLang="en-US"/>
          </a:p>
        </p:txBody>
      </p:sp>
      <p:pic>
        <p:nvPicPr>
          <p:cNvPr id="4" name="Image 1" descr="/mnt/data/yonsei_banner.png"/>
          <p:cNvPicPr>
            <a:picLocks noChangeAspect="1"/>
          </p:cNvPicPr>
          <p:nvPr/>
        </p:nvPicPr>
        <p:blipFill>
          <a:blip r:embed="rId4"/>
          <a:stretch>
            <a:fillRect/>
          </a:stretch>
        </p:blipFill>
        <p:spPr>
          <a:xfrm>
            <a:off x="704088" y="822960"/>
            <a:ext cx="3017520" cy="4462272"/>
          </a:xfrm>
          <a:prstGeom prst="rect">
            <a:avLst/>
          </a:prstGeom>
        </p:spPr>
      </p:pic>
      <p:sp>
        <p:nvSpPr>
          <p:cNvPr id="5" name="Text 1"/>
          <p:cNvSpPr/>
          <p:nvPr/>
        </p:nvSpPr>
        <p:spPr>
          <a:xfrm>
            <a:off x="4462272" y="1719072"/>
            <a:ext cx="6812280" cy="1234440"/>
          </a:xfrm>
          <a:prstGeom prst="rect">
            <a:avLst/>
          </a:prstGeom>
          <a:noFill/>
          <a:ln/>
        </p:spPr>
        <p:txBody>
          <a:bodyPr wrap="square" lIns="0" tIns="0" rIns="0" bIns="0" rtlCol="0" anchor="ctr"/>
          <a:lstStyle/>
          <a:p>
            <a:pPr marL="0" indent="0" algn="ctr">
              <a:buNone/>
            </a:pPr>
            <a:r>
              <a:rPr lang="en-US" sz="4000" b="1" dirty="0">
                <a:solidFill>
                  <a:srgbClr val="111111"/>
                </a:solidFill>
                <a:latin typeface="Comic Sans MS" pitchFamily="34" charset="0"/>
                <a:ea typeface="Comic Sans MS" pitchFamily="34" charset="-122"/>
                <a:cs typeface="Comic Sans MS" pitchFamily="34" charset="-120"/>
              </a:rPr>
              <a:t>Paper Seminar</a:t>
            </a:r>
            <a:endParaRPr lang="en-US" sz="4000" dirty="0"/>
          </a:p>
          <a:p>
            <a:pPr marL="0" indent="0" algn="ctr">
              <a:buNone/>
            </a:pPr>
            <a:r>
              <a:rPr lang="en-US" sz="4000" b="1" dirty="0">
                <a:solidFill>
                  <a:srgbClr val="111111"/>
                </a:solidFill>
                <a:latin typeface="Comic Sans MS" pitchFamily="34" charset="0"/>
                <a:ea typeface="Comic Sans MS" pitchFamily="34" charset="-122"/>
                <a:cs typeface="Comic Sans MS" pitchFamily="34" charset="-120"/>
              </a:rPr>
              <a:t>Presentation #2</a:t>
            </a:r>
            <a:endParaRPr lang="en-US" sz="4000" dirty="0"/>
          </a:p>
        </p:txBody>
      </p:sp>
      <p:sp>
        <p:nvSpPr>
          <p:cNvPr id="6" name="Text 2"/>
          <p:cNvSpPr/>
          <p:nvPr/>
        </p:nvSpPr>
        <p:spPr>
          <a:xfrm>
            <a:off x="4114800" y="3282696"/>
            <a:ext cx="7269480" cy="997772"/>
          </a:xfrm>
          <a:prstGeom prst="rect">
            <a:avLst/>
          </a:prstGeom>
          <a:noFill/>
          <a:ln/>
        </p:spPr>
        <p:txBody>
          <a:bodyPr wrap="square" lIns="0" tIns="0" rIns="0" bIns="0" rtlCol="0" anchor="ctr"/>
          <a:lstStyle/>
          <a:p>
            <a:pPr algn="ctr"/>
            <a:r>
              <a:rPr lang="ko-KR" altLang="ko-KR" dirty="0" err="1"/>
              <a:t>BitMoD</a:t>
            </a:r>
            <a:r>
              <a:rPr lang="ko-KR" altLang="ko-KR" dirty="0"/>
              <a:t>: </a:t>
            </a:r>
            <a:r>
              <a:rPr lang="ko-KR" altLang="ko-KR" dirty="0" err="1"/>
              <a:t>Bit-serial</a:t>
            </a:r>
            <a:r>
              <a:rPr lang="ko-KR" altLang="ko-KR" dirty="0"/>
              <a:t> </a:t>
            </a:r>
            <a:r>
              <a:rPr lang="ko-KR" altLang="ko-KR" dirty="0" err="1"/>
              <a:t>Mixture</a:t>
            </a:r>
            <a:r>
              <a:rPr lang="ko-KR" altLang="ko-KR" dirty="0"/>
              <a:t>-of-</a:t>
            </a:r>
            <a:r>
              <a:rPr lang="ko-KR" altLang="ko-KR" dirty="0" err="1"/>
              <a:t>Datatype</a:t>
            </a:r>
            <a:r>
              <a:rPr lang="ko-KR" altLang="ko-KR" dirty="0"/>
              <a:t> LLM </a:t>
            </a:r>
            <a:r>
              <a:rPr lang="ko-KR" altLang="ko-KR" dirty="0" err="1"/>
              <a:t>Acceleration</a:t>
            </a:r>
            <a:r>
              <a:rPr lang="ko-KR" altLang="ko-KR" dirty="0"/>
              <a:t>, HPCA 2025</a:t>
            </a:r>
            <a:endParaRPr lang="en-US" sz="2100" dirty="0">
              <a:solidFill>
                <a:srgbClr val="111111"/>
              </a:solidFill>
              <a:latin typeface="Arial" pitchFamily="34" charset="0"/>
              <a:ea typeface="Arial" pitchFamily="34" charset="-122"/>
              <a:cs typeface="Arial" pitchFamily="34" charset="-120"/>
            </a:endParaRPr>
          </a:p>
        </p:txBody>
      </p:sp>
      <p:sp>
        <p:nvSpPr>
          <p:cNvPr id="7" name="Text 3"/>
          <p:cNvSpPr/>
          <p:nvPr/>
        </p:nvSpPr>
        <p:spPr>
          <a:xfrm>
            <a:off x="4343400" y="4572000"/>
            <a:ext cx="6812280" cy="566928"/>
          </a:xfrm>
          <a:prstGeom prst="rect">
            <a:avLst/>
          </a:prstGeom>
          <a:noFill/>
          <a:ln/>
        </p:spPr>
        <p:txBody>
          <a:bodyPr wrap="square" lIns="254" tIns="254" rIns="254" bIns="254" rtlCol="0" anchor="ctr"/>
          <a:lstStyle/>
          <a:p>
            <a:pPr marL="0" indent="0" algn="ctr">
              <a:buNone/>
            </a:pPr>
            <a:r>
              <a:rPr lang="en-US" sz="1600" dirty="0">
                <a:solidFill>
                  <a:srgbClr val="111111"/>
                </a:solidFill>
                <a:latin typeface="Arial" pitchFamily="34" charset="0"/>
                <a:ea typeface="Arial" pitchFamily="34" charset="-122"/>
                <a:cs typeface="Arial" pitchFamily="34" charset="-120"/>
              </a:rPr>
              <a:t>2022142255 </a:t>
            </a:r>
            <a:r>
              <a:rPr lang="en-US" sz="1600" dirty="0" err="1">
                <a:solidFill>
                  <a:srgbClr val="111111"/>
                </a:solidFill>
                <a:latin typeface="Arial" pitchFamily="34" charset="0"/>
                <a:ea typeface="Arial" pitchFamily="34" charset="-122"/>
                <a:cs typeface="Arial" pitchFamily="34" charset="-120"/>
              </a:rPr>
              <a:t>SeokChan</a:t>
            </a:r>
            <a:r>
              <a:rPr lang="en-US" sz="1600" dirty="0">
                <a:solidFill>
                  <a:srgbClr val="111111"/>
                </a:solidFill>
                <a:latin typeface="Arial" pitchFamily="34" charset="0"/>
                <a:ea typeface="Arial" pitchFamily="34" charset="-122"/>
                <a:cs typeface="Arial" pitchFamily="34" charset="-120"/>
              </a:rPr>
              <a:t> </a:t>
            </a:r>
            <a:r>
              <a:rPr lang="en-US" sz="1600" dirty="0" err="1">
                <a:solidFill>
                  <a:srgbClr val="111111"/>
                </a:solidFill>
                <a:latin typeface="Arial" pitchFamily="34" charset="0"/>
                <a:ea typeface="Arial" pitchFamily="34" charset="-122"/>
                <a:cs typeface="Arial" pitchFamily="34" charset="-120"/>
              </a:rPr>
              <a:t>Jeong</a:t>
            </a:r>
            <a:endParaRPr lang="en-US" sz="1600" dirty="0"/>
          </a:p>
        </p:txBody>
      </p:sp>
      <p:sp>
        <p:nvSpPr>
          <p:cNvPr id="8" name="Shape 4"/>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9" name="Image 2" descr="/mnt/data/aca_footer.png"/>
          <p:cNvPicPr>
            <a:picLocks noChangeAspect="1"/>
          </p:cNvPicPr>
          <p:nvPr/>
        </p:nvPicPr>
        <p:blipFill>
          <a:blip r:embed="rId5"/>
          <a:stretch>
            <a:fillRect/>
          </a:stretch>
        </p:blipFill>
        <p:spPr>
          <a:xfrm>
            <a:off x="91440" y="6483096"/>
            <a:ext cx="1234440" cy="274320"/>
          </a:xfrm>
          <a:prstGeom prst="rect">
            <a:avLst/>
          </a:prstGeom>
        </p:spPr>
      </p:pic>
      <p:pic>
        <p:nvPicPr>
          <p:cNvPr id="10" name="Image 3" descr="/mnt/data/yonsei_footer.png"/>
          <p:cNvPicPr>
            <a:picLocks noChangeAspect="1"/>
          </p:cNvPicPr>
          <p:nvPr/>
        </p:nvPicPr>
        <p:blipFill>
          <a:blip r:embed="rId6"/>
          <a:stretch>
            <a:fillRect/>
          </a:stretch>
        </p:blipFill>
        <p:spPr>
          <a:xfrm>
            <a:off x="11018520" y="6473952"/>
            <a:ext cx="1005840" cy="310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09728"/>
            <a:ext cx="10881360" cy="512064"/>
          </a:xfrm>
          <a:prstGeom prst="rect">
            <a:avLst/>
          </a:prstGeom>
          <a:noFill/>
          <a:ln/>
        </p:spPr>
        <p:txBody>
          <a:bodyPr wrap="square" lIns="0" tIns="0" rIns="0" bIns="0" rtlCol="0" anchor="ctr"/>
          <a:lstStyle/>
          <a:p>
            <a:pPr marL="0" indent="0">
              <a:buNone/>
            </a:pPr>
            <a:r>
              <a:rPr lang="en-US" sz="3400" b="1" dirty="0">
                <a:solidFill>
                  <a:srgbClr val="111111"/>
                </a:solidFill>
                <a:latin typeface="Comic Sans MS" pitchFamily="34" charset="0"/>
              </a:rPr>
              <a:t>Table of Content</a:t>
            </a:r>
            <a:endParaRPr lang="en-US" sz="3400" dirty="0"/>
          </a:p>
        </p:txBody>
      </p:sp>
      <p:sp>
        <p:nvSpPr>
          <p:cNvPr id="3" name="Shape 1"/>
          <p:cNvSpPr/>
          <p:nvPr/>
        </p:nvSpPr>
        <p:spPr>
          <a:xfrm>
            <a:off x="338328" y="731520"/>
            <a:ext cx="11503152" cy="45720"/>
          </a:xfrm>
          <a:prstGeom prst="rect">
            <a:avLst/>
          </a:prstGeom>
          <a:solidFill>
            <a:srgbClr val="00245D"/>
          </a:solidFill>
          <a:ln w="12700">
            <a:solidFill>
              <a:srgbClr val="00245D"/>
            </a:solidFill>
            <a:prstDash val="solid"/>
          </a:ln>
        </p:spPr>
        <p:txBody>
          <a:bodyPr/>
          <a:lstStyle/>
          <a:p>
            <a:endParaRPr lang="ko-KR" altLang="en-US"/>
          </a:p>
        </p:txBody>
      </p:sp>
      <p:sp>
        <p:nvSpPr>
          <p:cNvPr id="4" name="Shape 2"/>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5" name="Image 0" descr="/mnt/data/aca_footer.png"/>
          <p:cNvPicPr>
            <a:picLocks noChangeAspect="1"/>
          </p:cNvPicPr>
          <p:nvPr/>
        </p:nvPicPr>
        <p:blipFill>
          <a:blip r:embed="rId3"/>
          <a:stretch>
            <a:fillRect/>
          </a:stretch>
        </p:blipFill>
        <p:spPr>
          <a:xfrm>
            <a:off x="91440" y="6483096"/>
            <a:ext cx="1234440" cy="274320"/>
          </a:xfrm>
          <a:prstGeom prst="rect">
            <a:avLst/>
          </a:prstGeom>
        </p:spPr>
      </p:pic>
      <p:sp>
        <p:nvSpPr>
          <p:cNvPr id="6" name="Text 3"/>
          <p:cNvSpPr/>
          <p:nvPr/>
        </p:nvSpPr>
        <p:spPr>
          <a:xfrm>
            <a:off x="11567160" y="6473952"/>
            <a:ext cx="365760" cy="274320"/>
          </a:xfrm>
          <a:prstGeom prst="rect">
            <a:avLst/>
          </a:prstGeom>
          <a:noFill/>
          <a:ln/>
        </p:spPr>
        <p:txBody>
          <a:bodyPr wrap="square" lIns="0" tIns="0" rIns="0" bIns="0" rtlCol="0" anchor="ctr"/>
          <a:lstStyle/>
          <a:p>
            <a:pPr marL="0" indent="0" algn="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7" name="Text 4"/>
          <p:cNvSpPr/>
          <p:nvPr/>
        </p:nvSpPr>
        <p:spPr>
          <a:xfrm>
            <a:off x="743712" y="1645920"/>
            <a:ext cx="10515600" cy="411480"/>
          </a:xfrm>
          <a:prstGeom prst="rect">
            <a:avLst/>
          </a:prstGeom>
          <a:noFill/>
          <a:ln/>
        </p:spPr>
        <p:txBody>
          <a:bodyPr wrap="square" lIns="254" tIns="254" rIns="254" bIns="254" rtlCol="0" anchor="ctr"/>
          <a:lstStyle/>
          <a:p>
            <a:r>
              <a:rPr lang="en-US" sz="2200" b="1" dirty="0">
                <a:solidFill>
                  <a:srgbClr val="111111"/>
                </a:solidFill>
                <a:latin typeface="Arial" pitchFamily="34" charset="0"/>
                <a:ea typeface="Arial" pitchFamily="34" charset="-122"/>
                <a:cs typeface="Arial" pitchFamily="34" charset="-120"/>
              </a:rPr>
              <a:t>Motivation and background</a:t>
            </a:r>
            <a:endParaRPr lang="en-US" sz="2200" dirty="0"/>
          </a:p>
        </p:txBody>
      </p:sp>
      <p:sp>
        <p:nvSpPr>
          <p:cNvPr id="10" name="Text 7"/>
          <p:cNvSpPr/>
          <p:nvPr/>
        </p:nvSpPr>
        <p:spPr>
          <a:xfrm>
            <a:off x="743712" y="2427491"/>
            <a:ext cx="10515600" cy="411480"/>
          </a:xfrm>
          <a:prstGeom prst="rect">
            <a:avLst/>
          </a:prstGeom>
          <a:noFill/>
          <a:ln/>
        </p:spPr>
        <p:txBody>
          <a:bodyPr wrap="square" lIns="254" tIns="254" rIns="254" bIns="254" rtlCol="0" anchor="ctr"/>
          <a:lstStyle/>
          <a:p>
            <a:r>
              <a:rPr lang="en-US" sz="2200" b="1" dirty="0" err="1">
                <a:solidFill>
                  <a:srgbClr val="111111"/>
                </a:solidFill>
                <a:latin typeface="Arial" pitchFamily="34" charset="0"/>
                <a:cs typeface="Arial" pitchFamily="34" charset="-120"/>
              </a:rPr>
              <a:t>BitMoD</a:t>
            </a:r>
            <a:r>
              <a:rPr lang="en-US" sz="2200" b="1" dirty="0">
                <a:solidFill>
                  <a:srgbClr val="111111"/>
                </a:solidFill>
                <a:latin typeface="Arial" pitchFamily="34" charset="0"/>
                <a:cs typeface="Arial" pitchFamily="34" charset="-120"/>
              </a:rPr>
              <a:t> Quantization Framework</a:t>
            </a:r>
            <a:endParaRPr lang="en-US" sz="2200" dirty="0"/>
          </a:p>
        </p:txBody>
      </p:sp>
      <p:sp>
        <p:nvSpPr>
          <p:cNvPr id="12" name="Text 9"/>
          <p:cNvSpPr/>
          <p:nvPr/>
        </p:nvSpPr>
        <p:spPr>
          <a:xfrm>
            <a:off x="768096" y="3241548"/>
            <a:ext cx="10515600" cy="411480"/>
          </a:xfrm>
          <a:prstGeom prst="rect">
            <a:avLst/>
          </a:prstGeom>
          <a:noFill/>
          <a:ln/>
        </p:spPr>
        <p:txBody>
          <a:bodyPr wrap="square" lIns="254" tIns="254" rIns="254" bIns="254" rtlCol="0" anchor="ctr"/>
          <a:lstStyle/>
          <a:p>
            <a:r>
              <a:rPr lang="en-US" altLang="ko-KR" sz="2200" b="1" dirty="0" err="1">
                <a:solidFill>
                  <a:srgbClr val="111111"/>
                </a:solidFill>
                <a:latin typeface="Arial" pitchFamily="34" charset="0"/>
                <a:cs typeface="Arial" pitchFamily="34" charset="-120"/>
              </a:rPr>
              <a:t>BitMoD</a:t>
            </a:r>
            <a:r>
              <a:rPr lang="en-US" altLang="ko-KR" sz="2200" b="1" dirty="0">
                <a:solidFill>
                  <a:srgbClr val="111111"/>
                </a:solidFill>
                <a:latin typeface="Arial" pitchFamily="34" charset="0"/>
                <a:cs typeface="Arial" pitchFamily="34" charset="-120"/>
              </a:rPr>
              <a:t> </a:t>
            </a:r>
            <a:r>
              <a:rPr lang="en-US" sz="2200" b="1" dirty="0">
                <a:solidFill>
                  <a:srgbClr val="111111"/>
                </a:solidFill>
                <a:latin typeface="Arial" pitchFamily="34" charset="0"/>
                <a:ea typeface="Arial" pitchFamily="34" charset="-122"/>
                <a:cs typeface="Arial" pitchFamily="34" charset="-120"/>
              </a:rPr>
              <a:t>Hardware Accelerator</a:t>
            </a:r>
            <a:endParaRPr lang="en-US" sz="2200" dirty="0"/>
          </a:p>
        </p:txBody>
      </p:sp>
      <p:sp>
        <p:nvSpPr>
          <p:cNvPr id="14" name="Text 11"/>
          <p:cNvSpPr/>
          <p:nvPr/>
        </p:nvSpPr>
        <p:spPr>
          <a:xfrm>
            <a:off x="777240" y="4057289"/>
            <a:ext cx="10515600" cy="411480"/>
          </a:xfrm>
          <a:prstGeom prst="rect">
            <a:avLst/>
          </a:prstGeom>
          <a:noFill/>
          <a:ln/>
        </p:spPr>
        <p:txBody>
          <a:bodyPr wrap="square" lIns="254" tIns="254" rIns="254" bIns="254" rtlCol="0" anchor="ctr"/>
          <a:lstStyle/>
          <a:p>
            <a:r>
              <a:rPr lang="en-US" sz="2200" b="1" dirty="0">
                <a:solidFill>
                  <a:srgbClr val="111111"/>
                </a:solidFill>
                <a:latin typeface="Arial" pitchFamily="34" charset="0"/>
                <a:ea typeface="Arial" pitchFamily="34" charset="-122"/>
                <a:cs typeface="Arial" pitchFamily="34" charset="-120"/>
              </a:rPr>
              <a:t>Evaluation</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1B0D-EBD2-041D-D728-439C4D4A20B1}"/>
            </a:ext>
          </a:extLst>
        </p:cNvPr>
        <p:cNvGrpSpPr/>
        <p:nvPr/>
      </p:nvGrpSpPr>
      <p:grpSpPr>
        <a:xfrm>
          <a:off x="0" y="0"/>
          <a:ext cx="0" cy="0"/>
          <a:chOff x="0" y="0"/>
          <a:chExt cx="0" cy="0"/>
        </a:xfrm>
      </p:grpSpPr>
      <p:pic>
        <p:nvPicPr>
          <p:cNvPr id="2" name="Image 0" descr="/mnt/data/aca_top.png">
            <a:extLst>
              <a:ext uri="{FF2B5EF4-FFF2-40B4-BE49-F238E27FC236}">
                <a16:creationId xmlns:a16="http://schemas.microsoft.com/office/drawing/2014/main" id="{905FEFFA-F08F-FA07-A665-7A51E5AE6DDB}"/>
              </a:ext>
            </a:extLst>
          </p:cNvPr>
          <p:cNvPicPr>
            <a:picLocks noChangeAspect="1"/>
          </p:cNvPicPr>
          <p:nvPr/>
        </p:nvPicPr>
        <p:blipFill>
          <a:blip r:embed="rId3"/>
          <a:stretch>
            <a:fillRect/>
          </a:stretch>
        </p:blipFill>
        <p:spPr>
          <a:xfrm>
            <a:off x="118872" y="45720"/>
            <a:ext cx="2057400" cy="566928"/>
          </a:xfrm>
          <a:prstGeom prst="rect">
            <a:avLst/>
          </a:prstGeom>
        </p:spPr>
      </p:pic>
      <p:sp>
        <p:nvSpPr>
          <p:cNvPr id="3" name="Shape 0">
            <a:extLst>
              <a:ext uri="{FF2B5EF4-FFF2-40B4-BE49-F238E27FC236}">
                <a16:creationId xmlns:a16="http://schemas.microsoft.com/office/drawing/2014/main" id="{E3C7849A-E4E2-B370-BBA4-9A884505C634}"/>
              </a:ext>
            </a:extLst>
          </p:cNvPr>
          <p:cNvSpPr/>
          <p:nvPr/>
        </p:nvSpPr>
        <p:spPr>
          <a:xfrm>
            <a:off x="338328" y="731520"/>
            <a:ext cx="11503152" cy="45720"/>
          </a:xfrm>
          <a:prstGeom prst="rect">
            <a:avLst/>
          </a:prstGeom>
          <a:solidFill>
            <a:srgbClr val="00245D"/>
          </a:solidFill>
          <a:ln w="12700">
            <a:solidFill>
              <a:srgbClr val="00245D"/>
            </a:solidFill>
            <a:prstDash val="solid"/>
          </a:ln>
        </p:spPr>
        <p:txBody>
          <a:bodyPr/>
          <a:lstStyle/>
          <a:p>
            <a:endParaRPr lang="ko-KR" altLang="en-US"/>
          </a:p>
        </p:txBody>
      </p:sp>
      <p:sp>
        <p:nvSpPr>
          <p:cNvPr id="4" name="Text 1">
            <a:extLst>
              <a:ext uri="{FF2B5EF4-FFF2-40B4-BE49-F238E27FC236}">
                <a16:creationId xmlns:a16="http://schemas.microsoft.com/office/drawing/2014/main" id="{F4B50509-5314-298E-1FD9-0FD94FB4E262}"/>
              </a:ext>
            </a:extLst>
          </p:cNvPr>
          <p:cNvSpPr/>
          <p:nvPr/>
        </p:nvSpPr>
        <p:spPr>
          <a:xfrm>
            <a:off x="960120" y="2737595"/>
            <a:ext cx="10332720" cy="777240"/>
          </a:xfrm>
          <a:prstGeom prst="rect">
            <a:avLst/>
          </a:prstGeom>
          <a:noFill/>
          <a:ln/>
        </p:spPr>
        <p:txBody>
          <a:bodyPr wrap="square" lIns="0" tIns="0" rIns="0" bIns="0" rtlCol="0" anchor="ctr"/>
          <a:lstStyle/>
          <a:p>
            <a:pPr marL="0" indent="0" algn="ctr">
              <a:buNone/>
            </a:pPr>
            <a:r>
              <a:rPr lang="en-US" sz="4800" b="1" dirty="0">
                <a:solidFill>
                  <a:srgbClr val="111111"/>
                </a:solidFill>
                <a:latin typeface="Comic Sans MS" pitchFamily="34" charset="0"/>
              </a:rPr>
              <a:t>Motivation and Background</a:t>
            </a:r>
            <a:endParaRPr lang="en-US" sz="4800" dirty="0"/>
          </a:p>
        </p:txBody>
      </p:sp>
      <p:sp>
        <p:nvSpPr>
          <p:cNvPr id="6" name="Shape 3">
            <a:extLst>
              <a:ext uri="{FF2B5EF4-FFF2-40B4-BE49-F238E27FC236}">
                <a16:creationId xmlns:a16="http://schemas.microsoft.com/office/drawing/2014/main" id="{75BBA0BE-26D3-7C86-2FB7-2F83AB259E00}"/>
              </a:ext>
            </a:extLst>
          </p:cNvPr>
          <p:cNvSpPr/>
          <p:nvPr/>
        </p:nvSpPr>
        <p:spPr>
          <a:xfrm>
            <a:off x="3017520" y="3600118"/>
            <a:ext cx="6126480" cy="0"/>
          </a:xfrm>
          <a:prstGeom prst="line">
            <a:avLst/>
          </a:prstGeom>
          <a:noFill/>
          <a:ln w="25400">
            <a:solidFill>
              <a:srgbClr val="00245D"/>
            </a:solidFill>
            <a:prstDash val="solid"/>
          </a:ln>
        </p:spPr>
        <p:txBody>
          <a:bodyPr/>
          <a:lstStyle/>
          <a:p>
            <a:endParaRPr lang="ko-KR" altLang="en-US"/>
          </a:p>
        </p:txBody>
      </p:sp>
      <p:sp>
        <p:nvSpPr>
          <p:cNvPr id="7" name="Shape 4">
            <a:extLst>
              <a:ext uri="{FF2B5EF4-FFF2-40B4-BE49-F238E27FC236}">
                <a16:creationId xmlns:a16="http://schemas.microsoft.com/office/drawing/2014/main" id="{AFBD6E4F-D96C-45FE-D7C2-FDCF9C7CC887}"/>
              </a:ext>
            </a:extLst>
          </p:cNvPr>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8" name="Image 1" descr="/mnt/data/aca_footer.png">
            <a:extLst>
              <a:ext uri="{FF2B5EF4-FFF2-40B4-BE49-F238E27FC236}">
                <a16:creationId xmlns:a16="http://schemas.microsoft.com/office/drawing/2014/main" id="{121ED674-B66F-33EE-A2BB-91F2F469F3F1}"/>
              </a:ext>
            </a:extLst>
          </p:cNvPr>
          <p:cNvPicPr>
            <a:picLocks noChangeAspect="1"/>
          </p:cNvPicPr>
          <p:nvPr/>
        </p:nvPicPr>
        <p:blipFill>
          <a:blip r:embed="rId4"/>
          <a:stretch>
            <a:fillRect/>
          </a:stretch>
        </p:blipFill>
        <p:spPr>
          <a:xfrm>
            <a:off x="91440" y="6483096"/>
            <a:ext cx="1234440" cy="274320"/>
          </a:xfrm>
          <a:prstGeom prst="rect">
            <a:avLst/>
          </a:prstGeom>
        </p:spPr>
      </p:pic>
      <p:sp>
        <p:nvSpPr>
          <p:cNvPr id="9" name="Text 5">
            <a:extLst>
              <a:ext uri="{FF2B5EF4-FFF2-40B4-BE49-F238E27FC236}">
                <a16:creationId xmlns:a16="http://schemas.microsoft.com/office/drawing/2014/main" id="{28EFD0BD-CEF5-D583-D8CB-1B49EE4A6C28}"/>
              </a:ext>
            </a:extLst>
          </p:cNvPr>
          <p:cNvSpPr/>
          <p:nvPr/>
        </p:nvSpPr>
        <p:spPr>
          <a:xfrm>
            <a:off x="11567160" y="6473952"/>
            <a:ext cx="365760" cy="274320"/>
          </a:xfrm>
          <a:prstGeom prst="rect">
            <a:avLst/>
          </a:prstGeom>
          <a:noFill/>
          <a:ln/>
        </p:spPr>
        <p:txBody>
          <a:bodyPr wrap="square" lIns="0" tIns="0" rIns="0" bIns="0" rtlCol="0" anchor="ctr"/>
          <a:lstStyle/>
          <a:p>
            <a:pPr marL="0" indent="0" algn="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Tree>
    <p:extLst>
      <p:ext uri="{BB962C8B-B14F-4D97-AF65-F5344CB8AC3E}">
        <p14:creationId xmlns:p14="http://schemas.microsoft.com/office/powerpoint/2010/main" val="1512174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320040"/>
            <a:ext cx="11430000" cy="530352"/>
          </a:xfrm>
          <a:prstGeom prst="rect">
            <a:avLst/>
          </a:prstGeom>
          <a:noFill/>
          <a:ln/>
        </p:spPr>
        <p:txBody>
          <a:bodyPr wrap="square" lIns="254" tIns="254" rIns="254" bIns="254" rtlCol="0" anchor="ctr">
            <a:normAutofit/>
          </a:bodyPr>
          <a:lstStyle/>
          <a:p>
            <a:pPr marL="0" indent="0" algn="l">
              <a:buNone/>
            </a:pPr>
            <a:r>
              <a:rPr lang="en-US" sz="2400" b="1" dirty="0">
                <a:solidFill>
                  <a:srgbClr val="000000"/>
                </a:solidFill>
                <a:latin typeface="Comic Sans MS" pitchFamily="34" charset="0"/>
                <a:ea typeface="Comic Sans MS" pitchFamily="34" charset="-122"/>
                <a:cs typeface="Comic Sans MS" pitchFamily="34" charset="-120"/>
              </a:rPr>
              <a:t>Why Weight Quantization for LLMs?</a:t>
            </a:r>
            <a:endParaRPr lang="en-US" sz="2400" dirty="0"/>
          </a:p>
        </p:txBody>
      </p:sp>
      <p:sp>
        <p:nvSpPr>
          <p:cNvPr id="3" name="Shape 1"/>
          <p:cNvSpPr/>
          <p:nvPr/>
        </p:nvSpPr>
        <p:spPr>
          <a:xfrm>
            <a:off x="329184" y="960120"/>
            <a:ext cx="11503152" cy="41148"/>
          </a:xfrm>
          <a:prstGeom prst="rect">
            <a:avLst/>
          </a:prstGeom>
          <a:solidFill>
            <a:srgbClr val="00245D"/>
          </a:solidFill>
          <a:ln w="12700">
            <a:solidFill>
              <a:srgbClr val="00245D"/>
            </a:solidFill>
            <a:prstDash val="solid"/>
          </a:ln>
        </p:spPr>
        <p:txBody>
          <a:bodyPr/>
          <a:lstStyle/>
          <a:p>
            <a:endParaRPr lang="ko-KR" altLang="en-US"/>
          </a:p>
        </p:txBody>
      </p:sp>
      <p:sp>
        <p:nvSpPr>
          <p:cNvPr id="4" name="Shape 2"/>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5" name="Image 0" descr="/mnt/data/template_assets/slide3_pic5.png"/>
          <p:cNvPicPr>
            <a:picLocks noChangeAspect="1"/>
          </p:cNvPicPr>
          <p:nvPr/>
        </p:nvPicPr>
        <p:blipFill>
          <a:blip r:embed="rId3"/>
          <a:stretch>
            <a:fillRect/>
          </a:stretch>
        </p:blipFill>
        <p:spPr>
          <a:xfrm>
            <a:off x="91440" y="6483096"/>
            <a:ext cx="1234440" cy="274320"/>
          </a:xfrm>
          <a:prstGeom prst="rect">
            <a:avLst/>
          </a:prstGeom>
        </p:spPr>
      </p:pic>
      <p:sp>
        <p:nvSpPr>
          <p:cNvPr id="6" name="Text 3"/>
          <p:cNvSpPr/>
          <p:nvPr/>
        </p:nvSpPr>
        <p:spPr>
          <a:xfrm>
            <a:off x="11567160" y="6473952"/>
            <a:ext cx="365760" cy="274320"/>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7" name="Text 4"/>
          <p:cNvSpPr/>
          <p:nvPr/>
        </p:nvSpPr>
        <p:spPr>
          <a:xfrm>
            <a:off x="502920" y="1234440"/>
            <a:ext cx="5532120" cy="320040"/>
          </a:xfrm>
          <a:prstGeom prst="rect">
            <a:avLst/>
          </a:prstGeom>
          <a:noFill/>
          <a:ln/>
        </p:spPr>
        <p:txBody>
          <a:bodyPr wrap="square" lIns="635" tIns="635" rIns="635" bIns="635" rtlCol="0" anchor="ctr">
            <a:normAutofit/>
          </a:bodyPr>
          <a:lstStyle/>
          <a:p>
            <a:pPr marL="0" indent="0" algn="l">
              <a:buNone/>
            </a:pPr>
            <a:r>
              <a:rPr lang="en-US" sz="1800" b="1" dirty="0">
                <a:solidFill>
                  <a:srgbClr val="00245D"/>
                </a:solidFill>
                <a:latin typeface="Arial" pitchFamily="34" charset="0"/>
                <a:ea typeface="Arial" pitchFamily="34" charset="-122"/>
                <a:cs typeface="Arial" pitchFamily="34" charset="-120"/>
              </a:rPr>
              <a:t>LLM inference stores two major tensors</a:t>
            </a:r>
            <a:endParaRPr lang="en-US" sz="1800" dirty="0"/>
          </a:p>
        </p:txBody>
      </p:sp>
      <p:sp>
        <p:nvSpPr>
          <p:cNvPr id="8" name="Text 5"/>
          <p:cNvSpPr/>
          <p:nvPr/>
        </p:nvSpPr>
        <p:spPr>
          <a:xfrm>
            <a:off x="594360" y="1783080"/>
            <a:ext cx="2331720" cy="438912"/>
          </a:xfrm>
          <a:prstGeom prst="rect">
            <a:avLst/>
          </a:prstGeom>
          <a:solidFill>
            <a:srgbClr val="EAF4FF"/>
          </a:solidFill>
          <a:ln w="12700">
            <a:solidFill>
              <a:srgbClr val="00245D"/>
            </a:solidFill>
          </a:ln>
        </p:spPr>
        <p:txBody>
          <a:bodyPr wrap="square" lIns="635" tIns="635" rIns="635" bIns="635" rtlCol="0" anchor="ctr">
            <a:normAutofit/>
          </a:bodyPr>
          <a:lstStyle/>
          <a:p>
            <a:pPr marL="0" indent="0" algn="ctr">
              <a:buNone/>
            </a:pPr>
            <a:r>
              <a:rPr lang="en-US" sz="1800" b="1" dirty="0">
                <a:solidFill>
                  <a:srgbClr val="000000"/>
                </a:solidFill>
                <a:latin typeface="Arial" pitchFamily="34" charset="0"/>
                <a:ea typeface="Arial" pitchFamily="34" charset="-122"/>
                <a:cs typeface="Arial" pitchFamily="34" charset="-120"/>
              </a:rPr>
              <a:t>Weight</a:t>
            </a:r>
            <a:endParaRPr lang="en-US" sz="1800" dirty="0"/>
          </a:p>
        </p:txBody>
      </p:sp>
      <p:sp>
        <p:nvSpPr>
          <p:cNvPr id="9" name="Text 6"/>
          <p:cNvSpPr/>
          <p:nvPr/>
        </p:nvSpPr>
        <p:spPr>
          <a:xfrm>
            <a:off x="3154680" y="1783080"/>
            <a:ext cx="2331720" cy="438912"/>
          </a:xfrm>
          <a:prstGeom prst="rect">
            <a:avLst/>
          </a:prstGeom>
          <a:solidFill>
            <a:srgbClr val="F7F7F7"/>
          </a:solidFill>
          <a:ln w="12700">
            <a:solidFill>
              <a:srgbClr val="A6B7C8"/>
            </a:solidFill>
          </a:ln>
        </p:spPr>
        <p:txBody>
          <a:bodyPr wrap="square" lIns="635" tIns="635" rIns="635" bIns="635" rtlCol="0" anchor="ctr">
            <a:normAutofit/>
          </a:bodyPr>
          <a:lstStyle/>
          <a:p>
            <a:pPr marL="0" indent="0" algn="ctr">
              <a:buNone/>
            </a:pPr>
            <a:r>
              <a:rPr lang="en-US" sz="1800" b="1" dirty="0">
                <a:solidFill>
                  <a:srgbClr val="000000"/>
                </a:solidFill>
                <a:latin typeface="Arial" pitchFamily="34" charset="0"/>
                <a:ea typeface="Arial" pitchFamily="34" charset="-122"/>
                <a:cs typeface="Arial" pitchFamily="34" charset="-120"/>
              </a:rPr>
              <a:t>Activation</a:t>
            </a:r>
            <a:endParaRPr lang="en-US" sz="1800" dirty="0"/>
          </a:p>
        </p:txBody>
      </p:sp>
      <p:sp>
        <p:nvSpPr>
          <p:cNvPr id="10" name="Text 7"/>
          <p:cNvSpPr/>
          <p:nvPr/>
        </p:nvSpPr>
        <p:spPr>
          <a:xfrm>
            <a:off x="658368" y="2292492"/>
            <a:ext cx="2148840" cy="1325880"/>
          </a:xfrm>
          <a:prstGeom prst="rect">
            <a:avLst/>
          </a:prstGeom>
          <a:noFill/>
          <a:ln/>
        </p:spPr>
        <p:txBody>
          <a:bodyPr wrap="square" lIns="635" tIns="635" rIns="635" bIns="635" rtlCol="0" anchor="ctr">
            <a:normAutofit/>
          </a:bodyPr>
          <a:lstStyle/>
          <a:p>
            <a:pPr marL="0" indent="0">
              <a:buNone/>
            </a:pPr>
            <a:r>
              <a:rPr lang="en-US" sz="1400" dirty="0">
                <a:solidFill>
                  <a:srgbClr val="000000"/>
                </a:solidFill>
                <a:latin typeface="Arial" pitchFamily="34" charset="0"/>
                <a:ea typeface="Arial" pitchFamily="34" charset="-122"/>
                <a:cs typeface="Arial" pitchFamily="34" charset="-120"/>
              </a:rPr>
              <a:t>• Model parameters
• Huge memory footprint
• Fetched repeatedly during inference</a:t>
            </a:r>
            <a:endParaRPr lang="en-US" sz="1400" dirty="0"/>
          </a:p>
        </p:txBody>
      </p:sp>
      <p:sp>
        <p:nvSpPr>
          <p:cNvPr id="11" name="Text 8"/>
          <p:cNvSpPr/>
          <p:nvPr/>
        </p:nvSpPr>
        <p:spPr>
          <a:xfrm>
            <a:off x="3218688" y="2395728"/>
            <a:ext cx="2148840" cy="1325880"/>
          </a:xfrm>
          <a:prstGeom prst="rect">
            <a:avLst/>
          </a:prstGeom>
          <a:noFill/>
          <a:ln/>
        </p:spPr>
        <p:txBody>
          <a:bodyPr wrap="square" lIns="635" tIns="635" rIns="635" bIns="635" rtlCol="0" anchor="ctr">
            <a:normAutofit/>
          </a:bodyPr>
          <a:lstStyle/>
          <a:p>
            <a:pPr marL="0" indent="0">
              <a:buNone/>
            </a:pPr>
            <a:r>
              <a:rPr lang="en-US" sz="1400" dirty="0">
                <a:solidFill>
                  <a:srgbClr val="000000"/>
                </a:solidFill>
                <a:latin typeface="Arial" pitchFamily="34" charset="0"/>
                <a:ea typeface="Arial" pitchFamily="34" charset="-122"/>
                <a:cs typeface="Arial" pitchFamily="34" charset="-120"/>
              </a:rPr>
              <a:t>• Intermediate data
• Depends on input and batch size
• Reuse is limited at small batch</a:t>
            </a:r>
            <a:endParaRPr lang="en-US" sz="1400" dirty="0"/>
          </a:p>
        </p:txBody>
      </p:sp>
      <p:sp>
        <p:nvSpPr>
          <p:cNvPr id="26" name="Text 4">
            <a:extLst>
              <a:ext uri="{FF2B5EF4-FFF2-40B4-BE49-F238E27FC236}">
                <a16:creationId xmlns:a16="http://schemas.microsoft.com/office/drawing/2014/main" id="{2267A5A2-6E44-E858-4897-522C9AA99227}"/>
              </a:ext>
            </a:extLst>
          </p:cNvPr>
          <p:cNvSpPr/>
          <p:nvPr/>
        </p:nvSpPr>
        <p:spPr>
          <a:xfrm>
            <a:off x="502920" y="3895344"/>
            <a:ext cx="4343400" cy="347472"/>
          </a:xfrm>
          <a:prstGeom prst="rect">
            <a:avLst/>
          </a:prstGeom>
          <a:noFill/>
          <a:ln/>
        </p:spPr>
        <p:txBody>
          <a:bodyPr wrap="square" lIns="635" tIns="635" rIns="635" bIns="635" rtlCol="0" anchor="ctr">
            <a:normAutofit/>
          </a:bodyPr>
          <a:lstStyle/>
          <a:p>
            <a:pPr marL="0" indent="0" algn="l">
              <a:buNone/>
            </a:pPr>
            <a:r>
              <a:rPr lang="en-US" sz="1800" b="1" dirty="0">
                <a:solidFill>
                  <a:srgbClr val="00245D"/>
                </a:solidFill>
                <a:latin typeface="Arial" pitchFamily="34" charset="0"/>
                <a:ea typeface="Arial" pitchFamily="34" charset="-122"/>
                <a:cs typeface="Arial" pitchFamily="34" charset="-120"/>
              </a:rPr>
              <a:t>Batch size = 1 or small batch</a:t>
            </a:r>
            <a:endParaRPr lang="en-US" sz="1800" dirty="0"/>
          </a:p>
        </p:txBody>
      </p:sp>
      <p:sp>
        <p:nvSpPr>
          <p:cNvPr id="27" name="Text 5">
            <a:extLst>
              <a:ext uri="{FF2B5EF4-FFF2-40B4-BE49-F238E27FC236}">
                <a16:creationId xmlns:a16="http://schemas.microsoft.com/office/drawing/2014/main" id="{F0312889-C14F-D87D-D58E-140EBAFE87E9}"/>
              </a:ext>
            </a:extLst>
          </p:cNvPr>
          <p:cNvSpPr/>
          <p:nvPr/>
        </p:nvSpPr>
        <p:spPr>
          <a:xfrm>
            <a:off x="685800" y="4443984"/>
            <a:ext cx="2560320" cy="438912"/>
          </a:xfrm>
          <a:prstGeom prst="rect">
            <a:avLst/>
          </a:prstGeom>
          <a:solidFill>
            <a:srgbClr val="F2F6FA"/>
          </a:solidFill>
          <a:ln w="12700">
            <a:solidFill>
              <a:srgbClr val="A6B7C8"/>
            </a:solidFill>
          </a:ln>
        </p:spPr>
        <p:txBody>
          <a:bodyPr wrap="square" lIns="635" tIns="635" rIns="635" bIns="635" rtlCol="0" anchor="ctr">
            <a:normAutofit fontScale="92500" lnSpcReduction="20000"/>
          </a:bodyPr>
          <a:lstStyle/>
          <a:p>
            <a:pPr marL="0" indent="0" algn="ctr">
              <a:buNone/>
            </a:pPr>
            <a:r>
              <a:rPr lang="en-US" sz="1700" b="1" dirty="0">
                <a:solidFill>
                  <a:srgbClr val="000000"/>
                </a:solidFill>
                <a:latin typeface="Arial" pitchFamily="34" charset="0"/>
                <a:ea typeface="Arial" pitchFamily="34" charset="-122"/>
                <a:cs typeface="Arial" pitchFamily="34" charset="-120"/>
              </a:rPr>
              <a:t>One request / one token step</a:t>
            </a:r>
            <a:endParaRPr lang="en-US" sz="1700" dirty="0"/>
          </a:p>
        </p:txBody>
      </p:sp>
      <p:sp>
        <p:nvSpPr>
          <p:cNvPr id="28" name="Text 6">
            <a:extLst>
              <a:ext uri="{FF2B5EF4-FFF2-40B4-BE49-F238E27FC236}">
                <a16:creationId xmlns:a16="http://schemas.microsoft.com/office/drawing/2014/main" id="{FB2ED670-E19A-D90D-738B-C89EA6CFA783}"/>
              </a:ext>
            </a:extLst>
          </p:cNvPr>
          <p:cNvSpPr/>
          <p:nvPr/>
        </p:nvSpPr>
        <p:spPr>
          <a:xfrm>
            <a:off x="740664" y="5038344"/>
            <a:ext cx="2468880" cy="685800"/>
          </a:xfrm>
          <a:prstGeom prst="rect">
            <a:avLst/>
          </a:prstGeom>
          <a:solidFill>
            <a:srgbClr val="FFFFFF"/>
          </a:solidFill>
          <a:ln w="12700">
            <a:solidFill>
              <a:srgbClr val="A6B7C8"/>
            </a:solidFill>
          </a:ln>
        </p:spPr>
        <p:txBody>
          <a:bodyPr wrap="square" lIns="635" tIns="635" rIns="635" bIns="635" rtlCol="0" anchor="ctr">
            <a:normAutofit/>
          </a:bodyPr>
          <a:lstStyle/>
          <a:p>
            <a:pPr marL="0" indent="0" algn="ctr">
              <a:buNone/>
            </a:pPr>
            <a:r>
              <a:rPr lang="en-US" sz="1700" dirty="0">
                <a:solidFill>
                  <a:srgbClr val="000000"/>
                </a:solidFill>
                <a:latin typeface="Arial" pitchFamily="34" charset="0"/>
                <a:ea typeface="Arial" pitchFamily="34" charset="-122"/>
                <a:cs typeface="Arial" pitchFamily="34" charset="-120"/>
              </a:rPr>
              <a:t>Activation reuse</a:t>
            </a:r>
            <a:endParaRPr lang="en-US" sz="1700" dirty="0"/>
          </a:p>
          <a:p>
            <a:pPr marL="0" indent="0" algn="ctr">
              <a:buNone/>
            </a:pPr>
            <a:r>
              <a:rPr lang="en-US" sz="1700" dirty="0">
                <a:solidFill>
                  <a:srgbClr val="000000"/>
                </a:solidFill>
                <a:latin typeface="Arial" pitchFamily="34" charset="0"/>
                <a:ea typeface="Arial" pitchFamily="34" charset="-122"/>
                <a:cs typeface="Arial" pitchFamily="34" charset="-120"/>
              </a:rPr>
              <a:t>is limited</a:t>
            </a:r>
            <a:endParaRPr lang="en-US" sz="1700" dirty="0"/>
          </a:p>
        </p:txBody>
      </p:sp>
      <p:sp>
        <p:nvSpPr>
          <p:cNvPr id="29" name="Shape 7">
            <a:extLst>
              <a:ext uri="{FF2B5EF4-FFF2-40B4-BE49-F238E27FC236}">
                <a16:creationId xmlns:a16="http://schemas.microsoft.com/office/drawing/2014/main" id="{9A379B3A-D921-682A-6949-B6C67E3C6116}"/>
              </a:ext>
            </a:extLst>
          </p:cNvPr>
          <p:cNvSpPr/>
          <p:nvPr/>
        </p:nvSpPr>
        <p:spPr>
          <a:xfrm>
            <a:off x="3319272" y="4764024"/>
            <a:ext cx="1188720" cy="0"/>
          </a:xfrm>
          <a:prstGeom prst="line">
            <a:avLst/>
          </a:prstGeom>
          <a:noFill/>
          <a:ln w="31750">
            <a:solidFill>
              <a:srgbClr val="00245D"/>
            </a:solidFill>
            <a:prstDash val="solid"/>
            <a:tailEnd type="triangle"/>
          </a:ln>
        </p:spPr>
        <p:txBody>
          <a:bodyPr/>
          <a:lstStyle/>
          <a:p>
            <a:endParaRPr lang="ko-KR" altLang="en-US"/>
          </a:p>
        </p:txBody>
      </p:sp>
      <p:sp>
        <p:nvSpPr>
          <p:cNvPr id="30" name="Text 8">
            <a:extLst>
              <a:ext uri="{FF2B5EF4-FFF2-40B4-BE49-F238E27FC236}">
                <a16:creationId xmlns:a16="http://schemas.microsoft.com/office/drawing/2014/main" id="{9DC19573-69CB-2AF0-0388-A5478F07C90C}"/>
              </a:ext>
            </a:extLst>
          </p:cNvPr>
          <p:cNvSpPr/>
          <p:nvPr/>
        </p:nvSpPr>
        <p:spPr>
          <a:xfrm>
            <a:off x="4599432" y="4279392"/>
            <a:ext cx="2743200" cy="1005840"/>
          </a:xfrm>
          <a:prstGeom prst="rect">
            <a:avLst/>
          </a:prstGeom>
          <a:solidFill>
            <a:srgbClr val="00245D"/>
          </a:solidFill>
          <a:ln>
            <a:solidFill>
              <a:srgbClr val="00245D"/>
            </a:solidFill>
          </a:ln>
        </p:spPr>
        <p:txBody>
          <a:bodyPr wrap="square" lIns="635" tIns="635" rIns="635" bIns="635" rtlCol="0" anchor="ctr">
            <a:normAutofit/>
          </a:bodyPr>
          <a:lstStyle/>
          <a:p>
            <a:pPr marL="0" indent="0" algn="ctr">
              <a:buNone/>
            </a:pPr>
            <a:r>
              <a:rPr lang="en-US" sz="1800" b="1" dirty="0">
                <a:solidFill>
                  <a:srgbClr val="FFFFFF"/>
                </a:solidFill>
                <a:latin typeface="Arial" pitchFamily="34" charset="0"/>
                <a:ea typeface="Arial" pitchFamily="34" charset="-122"/>
                <a:cs typeface="Arial" pitchFamily="34" charset="-120"/>
              </a:rPr>
              <a:t>Large weight matrices</a:t>
            </a:r>
            <a:endParaRPr lang="en-US" sz="1800" dirty="0"/>
          </a:p>
          <a:p>
            <a:pPr marL="0" indent="0" algn="ctr">
              <a:buNone/>
            </a:pPr>
            <a:r>
              <a:rPr lang="en-US" sz="1800" b="1" dirty="0">
                <a:solidFill>
                  <a:srgbClr val="FFFFFF"/>
                </a:solidFill>
                <a:latin typeface="Arial" pitchFamily="34" charset="0"/>
                <a:ea typeface="Arial" pitchFamily="34" charset="-122"/>
                <a:cs typeface="Arial" pitchFamily="34" charset="-120"/>
              </a:rPr>
              <a:t>are repeatedly fetched</a:t>
            </a:r>
            <a:endParaRPr lang="en-US" sz="1800" dirty="0"/>
          </a:p>
        </p:txBody>
      </p:sp>
      <p:sp>
        <p:nvSpPr>
          <p:cNvPr id="31" name="Shape 9">
            <a:extLst>
              <a:ext uri="{FF2B5EF4-FFF2-40B4-BE49-F238E27FC236}">
                <a16:creationId xmlns:a16="http://schemas.microsoft.com/office/drawing/2014/main" id="{E8503C4C-4B14-9B62-D7E8-627A2382BF3B}"/>
              </a:ext>
            </a:extLst>
          </p:cNvPr>
          <p:cNvSpPr/>
          <p:nvPr/>
        </p:nvSpPr>
        <p:spPr>
          <a:xfrm>
            <a:off x="4782312" y="5356643"/>
            <a:ext cx="2377440" cy="201168"/>
          </a:xfrm>
          <a:prstGeom prst="rect">
            <a:avLst/>
          </a:prstGeom>
          <a:solidFill>
            <a:srgbClr val="C7E5FF"/>
          </a:solidFill>
          <a:ln w="5080">
            <a:solidFill>
              <a:srgbClr val="FFFFFF"/>
            </a:solidFill>
            <a:prstDash val="solid"/>
          </a:ln>
        </p:spPr>
        <p:txBody>
          <a:bodyPr/>
          <a:lstStyle/>
          <a:p>
            <a:endParaRPr lang="ko-KR" altLang="en-US"/>
          </a:p>
        </p:txBody>
      </p:sp>
      <p:sp>
        <p:nvSpPr>
          <p:cNvPr id="32" name="Shape 10">
            <a:extLst>
              <a:ext uri="{FF2B5EF4-FFF2-40B4-BE49-F238E27FC236}">
                <a16:creationId xmlns:a16="http://schemas.microsoft.com/office/drawing/2014/main" id="{60ED42A9-7AD2-541C-261D-1AA9649BD27A}"/>
              </a:ext>
            </a:extLst>
          </p:cNvPr>
          <p:cNvSpPr/>
          <p:nvPr/>
        </p:nvSpPr>
        <p:spPr>
          <a:xfrm>
            <a:off x="4782312" y="5630963"/>
            <a:ext cx="2377440" cy="201168"/>
          </a:xfrm>
          <a:prstGeom prst="rect">
            <a:avLst/>
          </a:prstGeom>
          <a:solidFill>
            <a:srgbClr val="DCEEFF"/>
          </a:solidFill>
          <a:ln w="5080">
            <a:solidFill>
              <a:srgbClr val="FFFFFF"/>
            </a:solidFill>
            <a:prstDash val="solid"/>
          </a:ln>
        </p:spPr>
        <p:txBody>
          <a:bodyPr/>
          <a:lstStyle/>
          <a:p>
            <a:endParaRPr lang="ko-KR" altLang="en-US"/>
          </a:p>
        </p:txBody>
      </p:sp>
      <p:sp>
        <p:nvSpPr>
          <p:cNvPr id="33" name="Shape 11">
            <a:extLst>
              <a:ext uri="{FF2B5EF4-FFF2-40B4-BE49-F238E27FC236}">
                <a16:creationId xmlns:a16="http://schemas.microsoft.com/office/drawing/2014/main" id="{457FBD35-FC46-20AF-A672-A0458BDB17EB}"/>
              </a:ext>
            </a:extLst>
          </p:cNvPr>
          <p:cNvSpPr/>
          <p:nvPr/>
        </p:nvSpPr>
        <p:spPr>
          <a:xfrm>
            <a:off x="4782312" y="5905283"/>
            <a:ext cx="2377440" cy="201168"/>
          </a:xfrm>
          <a:prstGeom prst="rect">
            <a:avLst/>
          </a:prstGeom>
          <a:solidFill>
            <a:srgbClr val="C7E5FF"/>
          </a:solidFill>
          <a:ln w="5080">
            <a:solidFill>
              <a:srgbClr val="FFFFFF"/>
            </a:solidFill>
            <a:prstDash val="solid"/>
          </a:ln>
        </p:spPr>
        <p:txBody>
          <a:bodyPr/>
          <a:lstStyle/>
          <a:p>
            <a:endParaRPr lang="ko-KR" altLang="en-US"/>
          </a:p>
        </p:txBody>
      </p:sp>
      <p:sp>
        <p:nvSpPr>
          <p:cNvPr id="36" name="Text 14">
            <a:extLst>
              <a:ext uri="{FF2B5EF4-FFF2-40B4-BE49-F238E27FC236}">
                <a16:creationId xmlns:a16="http://schemas.microsoft.com/office/drawing/2014/main" id="{60350E19-C0B3-B3B5-AC4F-56770D632CAB}"/>
              </a:ext>
            </a:extLst>
          </p:cNvPr>
          <p:cNvSpPr/>
          <p:nvPr/>
        </p:nvSpPr>
        <p:spPr>
          <a:xfrm>
            <a:off x="4782312" y="6120490"/>
            <a:ext cx="2377440" cy="256032"/>
          </a:xfrm>
          <a:prstGeom prst="rect">
            <a:avLst/>
          </a:prstGeom>
          <a:noFill/>
          <a:ln/>
        </p:spPr>
        <p:txBody>
          <a:bodyPr wrap="square" lIns="635" tIns="635" rIns="635" bIns="635" rtlCol="0" anchor="ctr">
            <a:normAutofit/>
          </a:bodyPr>
          <a:lstStyle/>
          <a:p>
            <a:pPr marL="0" indent="0" algn="ctr">
              <a:buNone/>
            </a:pPr>
            <a:r>
              <a:rPr lang="en-US" sz="1300" dirty="0">
                <a:solidFill>
                  <a:srgbClr val="6C7480"/>
                </a:solidFill>
                <a:latin typeface="Arial" pitchFamily="34" charset="0"/>
                <a:ea typeface="Arial" pitchFamily="34" charset="-122"/>
                <a:cs typeface="Arial" pitchFamily="34" charset="-120"/>
              </a:rPr>
              <a:t>Weight Memory</a:t>
            </a:r>
            <a:endParaRPr lang="en-US" sz="1300" dirty="0"/>
          </a:p>
        </p:txBody>
      </p:sp>
      <p:sp>
        <p:nvSpPr>
          <p:cNvPr id="37" name="Shape 15">
            <a:extLst>
              <a:ext uri="{FF2B5EF4-FFF2-40B4-BE49-F238E27FC236}">
                <a16:creationId xmlns:a16="http://schemas.microsoft.com/office/drawing/2014/main" id="{5BA17035-6A27-6CBE-819D-5D7BC3B81DB1}"/>
              </a:ext>
            </a:extLst>
          </p:cNvPr>
          <p:cNvSpPr/>
          <p:nvPr/>
        </p:nvSpPr>
        <p:spPr>
          <a:xfrm>
            <a:off x="7479792" y="4764024"/>
            <a:ext cx="1188720" cy="0"/>
          </a:xfrm>
          <a:prstGeom prst="line">
            <a:avLst/>
          </a:prstGeom>
          <a:noFill/>
          <a:ln w="31750">
            <a:solidFill>
              <a:srgbClr val="00245D"/>
            </a:solidFill>
            <a:prstDash val="solid"/>
            <a:tailEnd type="triangle"/>
          </a:ln>
        </p:spPr>
        <p:txBody>
          <a:bodyPr/>
          <a:lstStyle/>
          <a:p>
            <a:endParaRPr lang="ko-KR" altLang="en-US"/>
          </a:p>
        </p:txBody>
      </p:sp>
      <p:sp>
        <p:nvSpPr>
          <p:cNvPr id="38" name="Text 16">
            <a:extLst>
              <a:ext uri="{FF2B5EF4-FFF2-40B4-BE49-F238E27FC236}">
                <a16:creationId xmlns:a16="http://schemas.microsoft.com/office/drawing/2014/main" id="{FA86DF0B-AEAC-58C2-D7E0-40D0DBC3592D}"/>
              </a:ext>
            </a:extLst>
          </p:cNvPr>
          <p:cNvSpPr/>
          <p:nvPr/>
        </p:nvSpPr>
        <p:spPr>
          <a:xfrm>
            <a:off x="8714232" y="4288536"/>
            <a:ext cx="1417320" cy="1005840"/>
          </a:xfrm>
          <a:prstGeom prst="rect">
            <a:avLst/>
          </a:prstGeom>
          <a:solidFill>
            <a:srgbClr val="F4F8FF"/>
          </a:solidFill>
          <a:ln w="12700">
            <a:solidFill>
              <a:srgbClr val="00245D"/>
            </a:solidFill>
          </a:ln>
        </p:spPr>
        <p:txBody>
          <a:bodyPr wrap="square" lIns="762" tIns="762" rIns="762" bIns="762" rtlCol="0" anchor="ctr">
            <a:normAutofit/>
          </a:bodyPr>
          <a:lstStyle/>
          <a:p>
            <a:pPr marL="0" indent="0" algn="ctr">
              <a:buNone/>
            </a:pPr>
            <a:r>
              <a:rPr lang="en-US" sz="1700" b="1" dirty="0">
                <a:solidFill>
                  <a:srgbClr val="000000"/>
                </a:solidFill>
                <a:latin typeface="Arial" pitchFamily="34" charset="0"/>
                <a:ea typeface="Arial" pitchFamily="34" charset="-122"/>
                <a:cs typeface="Arial" pitchFamily="34" charset="-120"/>
              </a:rPr>
              <a:t>Matrix</a:t>
            </a:r>
            <a:endParaRPr lang="en-US" sz="1700" dirty="0"/>
          </a:p>
          <a:p>
            <a:pPr marL="0" indent="0" algn="ctr">
              <a:buNone/>
            </a:pPr>
            <a:r>
              <a:rPr lang="en-US" sz="1700" b="1" dirty="0">
                <a:solidFill>
                  <a:srgbClr val="000000"/>
                </a:solidFill>
                <a:latin typeface="Arial" pitchFamily="34" charset="0"/>
                <a:ea typeface="Arial" pitchFamily="34" charset="-122"/>
                <a:cs typeface="Arial" pitchFamily="34" charset="-120"/>
              </a:rPr>
              <a:t>Multiply</a:t>
            </a:r>
            <a:endParaRPr lang="en-US" sz="1700" dirty="0"/>
          </a:p>
        </p:txBody>
      </p:sp>
      <p:sp>
        <p:nvSpPr>
          <p:cNvPr id="39" name="Shape 17">
            <a:extLst>
              <a:ext uri="{FF2B5EF4-FFF2-40B4-BE49-F238E27FC236}">
                <a16:creationId xmlns:a16="http://schemas.microsoft.com/office/drawing/2014/main" id="{DADE435C-BB38-6C6F-AB6B-2CE8CD1FE692}"/>
              </a:ext>
            </a:extLst>
          </p:cNvPr>
          <p:cNvSpPr/>
          <p:nvPr/>
        </p:nvSpPr>
        <p:spPr>
          <a:xfrm>
            <a:off x="10268712" y="4764024"/>
            <a:ext cx="1143000" cy="0"/>
          </a:xfrm>
          <a:prstGeom prst="line">
            <a:avLst/>
          </a:prstGeom>
          <a:noFill/>
          <a:ln w="31750">
            <a:solidFill>
              <a:srgbClr val="00245D"/>
            </a:solidFill>
            <a:prstDash val="solid"/>
            <a:tailEnd type="triangle"/>
          </a:ln>
        </p:spPr>
        <p:txBody>
          <a:bodyPr/>
          <a:lstStyle/>
          <a:p>
            <a:endParaRPr lang="ko-KR" altLang="en-US"/>
          </a:p>
        </p:txBody>
      </p:sp>
      <p:sp>
        <p:nvSpPr>
          <p:cNvPr id="40" name="Text 18">
            <a:extLst>
              <a:ext uri="{FF2B5EF4-FFF2-40B4-BE49-F238E27FC236}">
                <a16:creationId xmlns:a16="http://schemas.microsoft.com/office/drawing/2014/main" id="{58609D83-EEAA-46F5-BE4A-C8C9CD3FA735}"/>
              </a:ext>
            </a:extLst>
          </p:cNvPr>
          <p:cNvSpPr/>
          <p:nvPr/>
        </p:nvSpPr>
        <p:spPr>
          <a:xfrm>
            <a:off x="11045952" y="4325112"/>
            <a:ext cx="822960" cy="914400"/>
          </a:xfrm>
          <a:prstGeom prst="rect">
            <a:avLst/>
          </a:prstGeom>
          <a:solidFill>
            <a:srgbClr val="EAF8FF"/>
          </a:solidFill>
          <a:ln>
            <a:solidFill>
              <a:srgbClr val="00245D"/>
            </a:solidFill>
          </a:ln>
        </p:spPr>
        <p:txBody>
          <a:bodyPr wrap="square" lIns="635" tIns="635" rIns="635" bIns="635" rtlCol="0" anchor="ctr">
            <a:normAutofit/>
          </a:bodyPr>
          <a:lstStyle/>
          <a:p>
            <a:pPr marL="0" indent="0" algn="ctr">
              <a:buNone/>
            </a:pPr>
            <a:r>
              <a:rPr lang="en-US" sz="1500" b="1" dirty="0">
                <a:solidFill>
                  <a:srgbClr val="00245D"/>
                </a:solidFill>
                <a:latin typeface="Arial" pitchFamily="34" charset="0"/>
                <a:ea typeface="Arial" pitchFamily="34" charset="-122"/>
                <a:cs typeface="Arial" pitchFamily="34" charset="-120"/>
              </a:rPr>
              <a:t>Output</a:t>
            </a:r>
            <a:endParaRPr lang="en-US" sz="1500" dirty="0"/>
          </a:p>
          <a:p>
            <a:pPr marL="0" indent="0" algn="ctr">
              <a:buNone/>
            </a:pPr>
            <a:r>
              <a:rPr lang="en-US" sz="1500" b="1" dirty="0">
                <a:solidFill>
                  <a:srgbClr val="00245D"/>
                </a:solidFill>
                <a:latin typeface="Arial" pitchFamily="34" charset="0"/>
                <a:ea typeface="Arial" pitchFamily="34" charset="-122"/>
                <a:cs typeface="Arial" pitchFamily="34" charset="-120"/>
              </a:rPr>
              <a:t>Token</a:t>
            </a:r>
            <a:endParaRPr lang="en-US" sz="1500" dirty="0"/>
          </a:p>
        </p:txBody>
      </p:sp>
      <p:pic>
        <p:nvPicPr>
          <p:cNvPr id="43" name="그림 42">
            <a:extLst>
              <a:ext uri="{FF2B5EF4-FFF2-40B4-BE49-F238E27FC236}">
                <a16:creationId xmlns:a16="http://schemas.microsoft.com/office/drawing/2014/main" id="{4CFBB018-2692-DCF3-C982-9ACAEDD99334}"/>
              </a:ext>
            </a:extLst>
          </p:cNvPr>
          <p:cNvPicPr>
            <a:picLocks noChangeAspect="1"/>
          </p:cNvPicPr>
          <p:nvPr/>
        </p:nvPicPr>
        <p:blipFill>
          <a:blip r:embed="rId4"/>
          <a:stretch>
            <a:fillRect/>
          </a:stretch>
        </p:blipFill>
        <p:spPr>
          <a:xfrm>
            <a:off x="5715000" y="2013540"/>
            <a:ext cx="6199632" cy="1269448"/>
          </a:xfrm>
          <a:prstGeom prst="rect">
            <a:avLst/>
          </a:prstGeom>
        </p:spPr>
      </p:pic>
      <p:sp>
        <p:nvSpPr>
          <p:cNvPr id="45" name="TextBox 44">
            <a:extLst>
              <a:ext uri="{FF2B5EF4-FFF2-40B4-BE49-F238E27FC236}">
                <a16:creationId xmlns:a16="http://schemas.microsoft.com/office/drawing/2014/main" id="{9731015B-7EAD-5DE5-8187-45652BBE0F37}"/>
              </a:ext>
            </a:extLst>
          </p:cNvPr>
          <p:cNvSpPr txBox="1"/>
          <p:nvPr/>
        </p:nvSpPr>
        <p:spPr>
          <a:xfrm>
            <a:off x="5771042" y="3179909"/>
            <a:ext cx="6105832" cy="400110"/>
          </a:xfrm>
          <a:prstGeom prst="rect">
            <a:avLst/>
          </a:prstGeom>
          <a:noFill/>
        </p:spPr>
        <p:txBody>
          <a:bodyPr wrap="square">
            <a:spAutoFit/>
          </a:bodyPr>
          <a:lstStyle/>
          <a:p>
            <a:r>
              <a:rPr lang="ko-KR" altLang="ko-KR" sz="1000" dirty="0" err="1"/>
              <a:t>Zichang</a:t>
            </a:r>
            <a:r>
              <a:rPr lang="ko-KR" altLang="ko-KR" sz="1000" dirty="0"/>
              <a:t> </a:t>
            </a:r>
            <a:r>
              <a:rPr lang="ko-KR" altLang="ko-KR" sz="1000" dirty="0" err="1"/>
              <a:t>Liu</a:t>
            </a:r>
            <a:r>
              <a:rPr lang="ko-KR" altLang="ko-KR" sz="1000" dirty="0"/>
              <a:t> </a:t>
            </a:r>
            <a:r>
              <a:rPr lang="ko-KR" altLang="ko-KR" sz="1000" dirty="0" err="1"/>
              <a:t>et</a:t>
            </a:r>
            <a:r>
              <a:rPr lang="ko-KR" altLang="ko-KR" sz="1000" dirty="0"/>
              <a:t> </a:t>
            </a:r>
            <a:r>
              <a:rPr lang="ko-KR" altLang="ko-KR" sz="1000" dirty="0" err="1"/>
              <a:t>al</a:t>
            </a:r>
            <a:r>
              <a:rPr lang="ko-KR" altLang="ko-KR" sz="1000" dirty="0"/>
              <a:t>., </a:t>
            </a:r>
            <a:r>
              <a:rPr lang="ko-KR" altLang="ko-KR" sz="1000" i="1" dirty="0"/>
              <a:t>"</a:t>
            </a:r>
            <a:r>
              <a:rPr lang="ko-KR" altLang="ko-KR" sz="1000" i="1" dirty="0" err="1"/>
              <a:t>Scissorhands</a:t>
            </a:r>
            <a:r>
              <a:rPr lang="ko-KR" altLang="ko-KR" sz="1000" i="1" dirty="0"/>
              <a:t>: </a:t>
            </a:r>
            <a:r>
              <a:rPr lang="ko-KR" altLang="ko-KR" sz="1000" i="1" dirty="0" err="1"/>
              <a:t>Exploiting</a:t>
            </a:r>
            <a:r>
              <a:rPr lang="ko-KR" altLang="ko-KR" sz="1000" i="1" dirty="0"/>
              <a:t> </a:t>
            </a:r>
            <a:r>
              <a:rPr lang="ko-KR" altLang="ko-KR" sz="1000" i="1" dirty="0" err="1"/>
              <a:t>the</a:t>
            </a:r>
            <a:r>
              <a:rPr lang="ko-KR" altLang="ko-KR" sz="1000" i="1" dirty="0"/>
              <a:t> </a:t>
            </a:r>
            <a:r>
              <a:rPr lang="ko-KR" altLang="ko-KR" sz="1000" i="1" dirty="0" err="1"/>
              <a:t>Persistence</a:t>
            </a:r>
            <a:r>
              <a:rPr lang="ko-KR" altLang="ko-KR" sz="1000" i="1" dirty="0"/>
              <a:t> of </a:t>
            </a:r>
            <a:r>
              <a:rPr lang="ko-KR" altLang="ko-KR" sz="1000" i="1" dirty="0" err="1"/>
              <a:t>Importance</a:t>
            </a:r>
            <a:r>
              <a:rPr lang="ko-KR" altLang="ko-KR" sz="1000" i="1" dirty="0"/>
              <a:t> </a:t>
            </a:r>
            <a:r>
              <a:rPr lang="ko-KR" altLang="ko-KR" sz="1000" i="1" dirty="0" err="1"/>
              <a:t>Hypothesis</a:t>
            </a:r>
            <a:r>
              <a:rPr lang="ko-KR" altLang="ko-KR" sz="1000" i="1" dirty="0"/>
              <a:t> </a:t>
            </a:r>
            <a:r>
              <a:rPr lang="ko-KR" altLang="ko-KR" sz="1000" i="1" dirty="0" err="1"/>
              <a:t>for</a:t>
            </a:r>
            <a:r>
              <a:rPr lang="ko-KR" altLang="ko-KR" sz="1000" i="1" dirty="0"/>
              <a:t> LLM KV </a:t>
            </a:r>
            <a:r>
              <a:rPr lang="ko-KR" altLang="ko-KR" sz="1000" i="1" dirty="0" err="1"/>
              <a:t>Cache</a:t>
            </a:r>
            <a:r>
              <a:rPr lang="ko-KR" altLang="ko-KR" sz="1000" i="1" dirty="0"/>
              <a:t> </a:t>
            </a:r>
            <a:r>
              <a:rPr lang="ko-KR" altLang="ko-KR" sz="1000" i="1" dirty="0" err="1"/>
              <a:t>Compression</a:t>
            </a:r>
            <a:r>
              <a:rPr lang="ko-KR" altLang="ko-KR" sz="1000" i="1" dirty="0"/>
              <a:t> </a:t>
            </a:r>
            <a:r>
              <a:rPr lang="ko-KR" altLang="ko-KR" sz="1000" i="1" dirty="0" err="1"/>
              <a:t>at</a:t>
            </a:r>
            <a:r>
              <a:rPr lang="ko-KR" altLang="ko-KR" sz="1000" i="1" dirty="0"/>
              <a:t> </a:t>
            </a:r>
            <a:r>
              <a:rPr lang="ko-KR" altLang="ko-KR" sz="1000" i="1" dirty="0" err="1"/>
              <a:t>Test</a:t>
            </a:r>
            <a:r>
              <a:rPr lang="ko-KR" altLang="ko-KR" sz="1000" i="1" dirty="0"/>
              <a:t> Time"</a:t>
            </a:r>
            <a:r>
              <a:rPr lang="ko-KR" altLang="ko-KR" sz="1000" dirty="0"/>
              <a:t>, </a:t>
            </a:r>
            <a:r>
              <a:rPr lang="ko-KR" altLang="ko-KR" sz="1000" b="1" dirty="0" err="1"/>
              <a:t>NeurIPS</a:t>
            </a:r>
            <a:r>
              <a:rPr lang="ko-KR" altLang="ko-KR" sz="1000" b="1" dirty="0"/>
              <a:t> 2023</a:t>
            </a:r>
            <a:r>
              <a:rPr lang="ko-KR" altLang="ko-KR" sz="1000" dirty="0"/>
              <a:t>.</a:t>
            </a:r>
            <a:endParaRPr lang="ko-KR" alt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320040"/>
            <a:ext cx="11430000" cy="530352"/>
          </a:xfrm>
          <a:prstGeom prst="rect">
            <a:avLst/>
          </a:prstGeom>
          <a:noFill/>
          <a:ln/>
        </p:spPr>
        <p:txBody>
          <a:bodyPr wrap="square" lIns="254" tIns="254" rIns="254" bIns="254" rtlCol="0" anchor="ctr">
            <a:normAutofit/>
          </a:bodyPr>
          <a:lstStyle/>
          <a:p>
            <a:pPr marL="0" indent="0" algn="l">
              <a:buNone/>
            </a:pPr>
            <a:r>
              <a:rPr lang="en-US" sz="2400" b="1" dirty="0">
                <a:solidFill>
                  <a:srgbClr val="000000"/>
                </a:solidFill>
                <a:latin typeface="Comic Sans MS" pitchFamily="34" charset="0"/>
                <a:ea typeface="Comic Sans MS" pitchFamily="34" charset="-122"/>
                <a:cs typeface="Comic Sans MS" pitchFamily="34" charset="-120"/>
              </a:rPr>
              <a:t>FP16 → Low-bit Weight Quantization</a:t>
            </a:r>
            <a:endParaRPr lang="en-US" sz="2400" dirty="0"/>
          </a:p>
        </p:txBody>
      </p:sp>
      <p:sp>
        <p:nvSpPr>
          <p:cNvPr id="3" name="Shape 1"/>
          <p:cNvSpPr/>
          <p:nvPr/>
        </p:nvSpPr>
        <p:spPr>
          <a:xfrm>
            <a:off x="329184" y="960120"/>
            <a:ext cx="11503152" cy="41148"/>
          </a:xfrm>
          <a:prstGeom prst="rect">
            <a:avLst/>
          </a:prstGeom>
          <a:solidFill>
            <a:srgbClr val="00245D"/>
          </a:solidFill>
          <a:ln w="12700">
            <a:solidFill>
              <a:srgbClr val="00245D"/>
            </a:solidFill>
            <a:prstDash val="solid"/>
          </a:ln>
        </p:spPr>
        <p:txBody>
          <a:bodyPr/>
          <a:lstStyle/>
          <a:p>
            <a:endParaRPr lang="ko-KR" altLang="en-US"/>
          </a:p>
        </p:txBody>
      </p:sp>
      <p:sp>
        <p:nvSpPr>
          <p:cNvPr id="4" name="Shape 2"/>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5" name="Image 0" descr="/mnt/data/template_assets/slide3_pic5.png"/>
          <p:cNvPicPr>
            <a:picLocks noChangeAspect="1"/>
          </p:cNvPicPr>
          <p:nvPr/>
        </p:nvPicPr>
        <p:blipFill>
          <a:blip r:embed="rId3"/>
          <a:stretch>
            <a:fillRect/>
          </a:stretch>
        </p:blipFill>
        <p:spPr>
          <a:xfrm>
            <a:off x="91440" y="6483096"/>
            <a:ext cx="1234440" cy="274320"/>
          </a:xfrm>
          <a:prstGeom prst="rect">
            <a:avLst/>
          </a:prstGeom>
        </p:spPr>
      </p:pic>
      <p:sp>
        <p:nvSpPr>
          <p:cNvPr id="6" name="Text 3"/>
          <p:cNvSpPr/>
          <p:nvPr/>
        </p:nvSpPr>
        <p:spPr>
          <a:xfrm>
            <a:off x="11567160" y="6473952"/>
            <a:ext cx="365760" cy="274320"/>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7" name="Text 4"/>
          <p:cNvSpPr/>
          <p:nvPr/>
        </p:nvSpPr>
        <p:spPr>
          <a:xfrm>
            <a:off x="548640" y="1234440"/>
            <a:ext cx="10972800" cy="347472"/>
          </a:xfrm>
          <a:prstGeom prst="rect">
            <a:avLst/>
          </a:prstGeom>
          <a:noFill/>
          <a:ln/>
        </p:spPr>
        <p:txBody>
          <a:bodyPr wrap="square" lIns="635" tIns="635" rIns="635" bIns="635" rtlCol="0" anchor="ctr">
            <a:normAutofit/>
          </a:bodyPr>
          <a:lstStyle/>
          <a:p>
            <a:pPr marL="0" indent="0" algn="l">
              <a:buNone/>
            </a:pPr>
            <a:r>
              <a:rPr lang="en-US" sz="1800" b="1" dirty="0">
                <a:solidFill>
                  <a:srgbClr val="00245D"/>
                </a:solidFill>
                <a:latin typeface="Arial" pitchFamily="34" charset="0"/>
                <a:ea typeface="Arial" pitchFamily="34" charset="-122"/>
                <a:cs typeface="Arial" pitchFamily="34" charset="-120"/>
              </a:rPr>
              <a:t>Main operation: represent the same weight using fewer bits</a:t>
            </a:r>
            <a:endParaRPr lang="en-US" sz="1800" dirty="0"/>
          </a:p>
        </p:txBody>
      </p:sp>
      <p:sp>
        <p:nvSpPr>
          <p:cNvPr id="8" name="Text 5"/>
          <p:cNvSpPr/>
          <p:nvPr/>
        </p:nvSpPr>
        <p:spPr>
          <a:xfrm>
            <a:off x="868680" y="1993392"/>
            <a:ext cx="1828800" cy="320040"/>
          </a:xfrm>
          <a:prstGeom prst="rect">
            <a:avLst/>
          </a:prstGeom>
          <a:noFill/>
          <a:ln/>
        </p:spPr>
        <p:txBody>
          <a:bodyPr wrap="square" lIns="635" tIns="635" rIns="635" bIns="635" rtlCol="0" anchor="ctr">
            <a:normAutofit/>
          </a:bodyPr>
          <a:lstStyle/>
          <a:p>
            <a:pPr marL="0" indent="0" algn="ctr">
              <a:buNone/>
            </a:pPr>
            <a:r>
              <a:rPr lang="en-US" sz="1800" b="1" dirty="0">
                <a:solidFill>
                  <a:srgbClr val="00245D"/>
                </a:solidFill>
                <a:latin typeface="Arial" pitchFamily="34" charset="0"/>
                <a:ea typeface="Arial" pitchFamily="34" charset="-122"/>
                <a:cs typeface="Arial" pitchFamily="34" charset="-120"/>
              </a:rPr>
              <a:t>FP16 Weight</a:t>
            </a:r>
            <a:endParaRPr lang="en-US" sz="1800" dirty="0"/>
          </a:p>
        </p:txBody>
      </p:sp>
      <p:sp>
        <p:nvSpPr>
          <p:cNvPr id="9" name="Shape 6"/>
          <p:cNvSpPr/>
          <p:nvPr/>
        </p:nvSpPr>
        <p:spPr>
          <a:xfrm>
            <a:off x="2977816"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0" name="Shape 7"/>
          <p:cNvSpPr/>
          <p:nvPr/>
        </p:nvSpPr>
        <p:spPr>
          <a:xfrm>
            <a:off x="3156124"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1" name="Shape 8"/>
          <p:cNvSpPr/>
          <p:nvPr/>
        </p:nvSpPr>
        <p:spPr>
          <a:xfrm>
            <a:off x="3334432"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2" name="Shape 9"/>
          <p:cNvSpPr/>
          <p:nvPr/>
        </p:nvSpPr>
        <p:spPr>
          <a:xfrm>
            <a:off x="3512740"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3" name="Shape 10"/>
          <p:cNvSpPr/>
          <p:nvPr/>
        </p:nvSpPr>
        <p:spPr>
          <a:xfrm>
            <a:off x="3691048"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4" name="Shape 11"/>
          <p:cNvSpPr/>
          <p:nvPr/>
        </p:nvSpPr>
        <p:spPr>
          <a:xfrm>
            <a:off x="3869356"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5" name="Shape 12"/>
          <p:cNvSpPr/>
          <p:nvPr/>
        </p:nvSpPr>
        <p:spPr>
          <a:xfrm>
            <a:off x="4047664"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6" name="Shape 13"/>
          <p:cNvSpPr/>
          <p:nvPr/>
        </p:nvSpPr>
        <p:spPr>
          <a:xfrm>
            <a:off x="4225972"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7" name="Shape 14"/>
          <p:cNvSpPr/>
          <p:nvPr/>
        </p:nvSpPr>
        <p:spPr>
          <a:xfrm>
            <a:off x="4404280"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8" name="Shape 15"/>
          <p:cNvSpPr/>
          <p:nvPr/>
        </p:nvSpPr>
        <p:spPr>
          <a:xfrm>
            <a:off x="4582588"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19" name="Shape 16"/>
          <p:cNvSpPr/>
          <p:nvPr/>
        </p:nvSpPr>
        <p:spPr>
          <a:xfrm>
            <a:off x="4760896"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20" name="Shape 17"/>
          <p:cNvSpPr/>
          <p:nvPr/>
        </p:nvSpPr>
        <p:spPr>
          <a:xfrm>
            <a:off x="4939204"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21" name="Shape 18"/>
          <p:cNvSpPr/>
          <p:nvPr/>
        </p:nvSpPr>
        <p:spPr>
          <a:xfrm>
            <a:off x="5117512"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22" name="Shape 19"/>
          <p:cNvSpPr/>
          <p:nvPr/>
        </p:nvSpPr>
        <p:spPr>
          <a:xfrm>
            <a:off x="5295820"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23" name="Shape 20"/>
          <p:cNvSpPr/>
          <p:nvPr/>
        </p:nvSpPr>
        <p:spPr>
          <a:xfrm>
            <a:off x="5474128"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24" name="Shape 21"/>
          <p:cNvSpPr/>
          <p:nvPr/>
        </p:nvSpPr>
        <p:spPr>
          <a:xfrm>
            <a:off x="5652436" y="1901952"/>
            <a:ext cx="164592" cy="329184"/>
          </a:xfrm>
          <a:prstGeom prst="rect">
            <a:avLst/>
          </a:prstGeom>
          <a:solidFill>
            <a:srgbClr val="6EA8FF"/>
          </a:solidFill>
          <a:ln w="3810">
            <a:solidFill>
              <a:srgbClr val="FFFFFF"/>
            </a:solidFill>
            <a:prstDash val="solid"/>
          </a:ln>
        </p:spPr>
        <p:txBody>
          <a:bodyPr/>
          <a:lstStyle/>
          <a:p>
            <a:endParaRPr lang="ko-KR" altLang="en-US"/>
          </a:p>
        </p:txBody>
      </p:sp>
      <p:sp>
        <p:nvSpPr>
          <p:cNvPr id="25" name="Text 22"/>
          <p:cNvSpPr/>
          <p:nvPr/>
        </p:nvSpPr>
        <p:spPr>
          <a:xfrm>
            <a:off x="2977816" y="2295144"/>
            <a:ext cx="2852928" cy="256032"/>
          </a:xfrm>
          <a:prstGeom prst="rect">
            <a:avLst/>
          </a:prstGeom>
          <a:noFill/>
          <a:ln/>
        </p:spPr>
        <p:txBody>
          <a:bodyPr wrap="square" lIns="635" tIns="635" rIns="635" bIns="635" rtlCol="0" anchor="ctr">
            <a:normAutofit/>
          </a:bodyPr>
          <a:lstStyle/>
          <a:p>
            <a:pPr marL="0" indent="0" algn="ctr">
              <a:buNone/>
            </a:pPr>
            <a:r>
              <a:rPr lang="en-US" sz="1200" dirty="0">
                <a:solidFill>
                  <a:srgbClr val="000000"/>
                </a:solidFill>
                <a:latin typeface="Arial" pitchFamily="34" charset="0"/>
                <a:ea typeface="Arial" pitchFamily="34" charset="-122"/>
                <a:cs typeface="Arial" pitchFamily="34" charset="-120"/>
              </a:rPr>
              <a:t>16 bits / weight</a:t>
            </a:r>
            <a:endParaRPr lang="en-US" sz="1200" dirty="0"/>
          </a:p>
        </p:txBody>
      </p:sp>
      <p:sp>
        <p:nvSpPr>
          <p:cNvPr id="26" name="Text 23"/>
          <p:cNvSpPr/>
          <p:nvPr/>
        </p:nvSpPr>
        <p:spPr>
          <a:xfrm>
            <a:off x="868680" y="3291840"/>
            <a:ext cx="1828800" cy="320040"/>
          </a:xfrm>
          <a:prstGeom prst="rect">
            <a:avLst/>
          </a:prstGeom>
          <a:noFill/>
          <a:ln/>
        </p:spPr>
        <p:txBody>
          <a:bodyPr wrap="square" lIns="635" tIns="635" rIns="635" bIns="635" rtlCol="0" anchor="ctr">
            <a:normAutofit/>
          </a:bodyPr>
          <a:lstStyle/>
          <a:p>
            <a:pPr marL="0" indent="0" algn="ctr">
              <a:buNone/>
            </a:pPr>
            <a:r>
              <a:rPr lang="en-US" sz="1800" b="1" dirty="0">
                <a:solidFill>
                  <a:srgbClr val="00245D"/>
                </a:solidFill>
                <a:latin typeface="Arial" pitchFamily="34" charset="0"/>
                <a:ea typeface="Arial" pitchFamily="34" charset="-122"/>
                <a:cs typeface="Arial" pitchFamily="34" charset="-120"/>
              </a:rPr>
              <a:t>Low-bit Weight</a:t>
            </a:r>
            <a:endParaRPr lang="en-US" sz="1800" dirty="0"/>
          </a:p>
        </p:txBody>
      </p:sp>
      <p:sp>
        <p:nvSpPr>
          <p:cNvPr id="27" name="Shape 24"/>
          <p:cNvSpPr/>
          <p:nvPr/>
        </p:nvSpPr>
        <p:spPr>
          <a:xfrm>
            <a:off x="3453785" y="3207619"/>
            <a:ext cx="164592" cy="329184"/>
          </a:xfrm>
          <a:prstGeom prst="rect">
            <a:avLst/>
          </a:prstGeom>
          <a:solidFill>
            <a:srgbClr val="E98927"/>
          </a:solidFill>
          <a:ln w="3810">
            <a:solidFill>
              <a:srgbClr val="FFFFFF"/>
            </a:solidFill>
            <a:prstDash val="solid"/>
          </a:ln>
        </p:spPr>
        <p:txBody>
          <a:bodyPr/>
          <a:lstStyle/>
          <a:p>
            <a:endParaRPr lang="ko-KR" altLang="en-US"/>
          </a:p>
        </p:txBody>
      </p:sp>
      <p:sp>
        <p:nvSpPr>
          <p:cNvPr id="28" name="Shape 25"/>
          <p:cNvSpPr/>
          <p:nvPr/>
        </p:nvSpPr>
        <p:spPr>
          <a:xfrm>
            <a:off x="3632093" y="3207619"/>
            <a:ext cx="164592" cy="329184"/>
          </a:xfrm>
          <a:prstGeom prst="rect">
            <a:avLst/>
          </a:prstGeom>
          <a:solidFill>
            <a:srgbClr val="E98927"/>
          </a:solidFill>
          <a:ln w="3810">
            <a:solidFill>
              <a:srgbClr val="FFFFFF"/>
            </a:solidFill>
            <a:prstDash val="solid"/>
          </a:ln>
        </p:spPr>
        <p:txBody>
          <a:bodyPr/>
          <a:lstStyle/>
          <a:p>
            <a:endParaRPr lang="ko-KR" altLang="en-US"/>
          </a:p>
        </p:txBody>
      </p:sp>
      <p:sp>
        <p:nvSpPr>
          <p:cNvPr id="29" name="Shape 26"/>
          <p:cNvSpPr/>
          <p:nvPr/>
        </p:nvSpPr>
        <p:spPr>
          <a:xfrm>
            <a:off x="3810401" y="3207619"/>
            <a:ext cx="164592" cy="329184"/>
          </a:xfrm>
          <a:prstGeom prst="rect">
            <a:avLst/>
          </a:prstGeom>
          <a:solidFill>
            <a:srgbClr val="E98927"/>
          </a:solidFill>
          <a:ln w="3810">
            <a:solidFill>
              <a:srgbClr val="FFFFFF"/>
            </a:solidFill>
            <a:prstDash val="solid"/>
          </a:ln>
        </p:spPr>
        <p:txBody>
          <a:bodyPr/>
          <a:lstStyle/>
          <a:p>
            <a:endParaRPr lang="ko-KR" altLang="en-US"/>
          </a:p>
        </p:txBody>
      </p:sp>
      <p:sp>
        <p:nvSpPr>
          <p:cNvPr id="30" name="Shape 27"/>
          <p:cNvSpPr/>
          <p:nvPr/>
        </p:nvSpPr>
        <p:spPr>
          <a:xfrm>
            <a:off x="3988709" y="3207619"/>
            <a:ext cx="164592" cy="329184"/>
          </a:xfrm>
          <a:prstGeom prst="rect">
            <a:avLst/>
          </a:prstGeom>
          <a:solidFill>
            <a:srgbClr val="E98927"/>
          </a:solidFill>
          <a:ln w="3810">
            <a:solidFill>
              <a:srgbClr val="FFFFFF"/>
            </a:solidFill>
            <a:prstDash val="solid"/>
          </a:ln>
        </p:spPr>
        <p:txBody>
          <a:bodyPr/>
          <a:lstStyle/>
          <a:p>
            <a:endParaRPr lang="ko-KR" altLang="en-US"/>
          </a:p>
        </p:txBody>
      </p:sp>
      <p:sp>
        <p:nvSpPr>
          <p:cNvPr id="31" name="Text 28"/>
          <p:cNvSpPr/>
          <p:nvPr/>
        </p:nvSpPr>
        <p:spPr>
          <a:xfrm>
            <a:off x="3368601" y="3600811"/>
            <a:ext cx="888893" cy="256032"/>
          </a:xfrm>
          <a:prstGeom prst="rect">
            <a:avLst/>
          </a:prstGeom>
          <a:noFill/>
          <a:ln/>
        </p:spPr>
        <p:txBody>
          <a:bodyPr wrap="square" lIns="635" tIns="635" rIns="635" bIns="635" rtlCol="0" anchor="ctr">
            <a:normAutofit fontScale="92500"/>
          </a:bodyPr>
          <a:lstStyle/>
          <a:p>
            <a:pPr marL="0" indent="0" algn="ctr">
              <a:buNone/>
            </a:pPr>
            <a:r>
              <a:rPr lang="en-US" sz="1200" dirty="0">
                <a:solidFill>
                  <a:srgbClr val="000000"/>
                </a:solidFill>
                <a:latin typeface="Arial" pitchFamily="34" charset="0"/>
                <a:ea typeface="Arial" pitchFamily="34" charset="-122"/>
                <a:cs typeface="Arial" pitchFamily="34" charset="-120"/>
              </a:rPr>
              <a:t>4 bits / weight</a:t>
            </a:r>
            <a:endParaRPr lang="en-US" sz="1200" dirty="0"/>
          </a:p>
        </p:txBody>
      </p:sp>
      <p:sp>
        <p:nvSpPr>
          <p:cNvPr id="32" name="Shape 29"/>
          <p:cNvSpPr/>
          <p:nvPr/>
        </p:nvSpPr>
        <p:spPr>
          <a:xfrm>
            <a:off x="4654537" y="3222418"/>
            <a:ext cx="164592" cy="329184"/>
          </a:xfrm>
          <a:prstGeom prst="rect">
            <a:avLst/>
          </a:prstGeom>
          <a:solidFill>
            <a:srgbClr val="FFB563"/>
          </a:solidFill>
          <a:ln w="3810">
            <a:solidFill>
              <a:srgbClr val="FFFFFF"/>
            </a:solidFill>
            <a:prstDash val="solid"/>
          </a:ln>
        </p:spPr>
        <p:txBody>
          <a:bodyPr/>
          <a:lstStyle/>
          <a:p>
            <a:endParaRPr lang="ko-KR" altLang="en-US"/>
          </a:p>
        </p:txBody>
      </p:sp>
      <p:sp>
        <p:nvSpPr>
          <p:cNvPr id="33" name="Shape 30"/>
          <p:cNvSpPr/>
          <p:nvPr/>
        </p:nvSpPr>
        <p:spPr>
          <a:xfrm>
            <a:off x="4832845" y="3222418"/>
            <a:ext cx="164592" cy="329184"/>
          </a:xfrm>
          <a:prstGeom prst="rect">
            <a:avLst/>
          </a:prstGeom>
          <a:solidFill>
            <a:srgbClr val="FFB563"/>
          </a:solidFill>
          <a:ln w="3810">
            <a:solidFill>
              <a:srgbClr val="FFFFFF"/>
            </a:solidFill>
            <a:prstDash val="solid"/>
          </a:ln>
        </p:spPr>
        <p:txBody>
          <a:bodyPr/>
          <a:lstStyle/>
          <a:p>
            <a:endParaRPr lang="ko-KR" altLang="en-US"/>
          </a:p>
        </p:txBody>
      </p:sp>
      <p:sp>
        <p:nvSpPr>
          <p:cNvPr id="34" name="Shape 31"/>
          <p:cNvSpPr/>
          <p:nvPr/>
        </p:nvSpPr>
        <p:spPr>
          <a:xfrm>
            <a:off x="5011153" y="3222418"/>
            <a:ext cx="164592" cy="329184"/>
          </a:xfrm>
          <a:prstGeom prst="rect">
            <a:avLst/>
          </a:prstGeom>
          <a:solidFill>
            <a:srgbClr val="FFB563"/>
          </a:solidFill>
          <a:ln w="3810">
            <a:solidFill>
              <a:srgbClr val="FFFFFF"/>
            </a:solidFill>
            <a:prstDash val="solid"/>
          </a:ln>
        </p:spPr>
        <p:txBody>
          <a:bodyPr/>
          <a:lstStyle/>
          <a:p>
            <a:endParaRPr lang="ko-KR" altLang="en-US"/>
          </a:p>
        </p:txBody>
      </p:sp>
      <p:sp>
        <p:nvSpPr>
          <p:cNvPr id="35" name="Text 32"/>
          <p:cNvSpPr/>
          <p:nvPr/>
        </p:nvSpPr>
        <p:spPr>
          <a:xfrm>
            <a:off x="4492592" y="3615610"/>
            <a:ext cx="888892" cy="256032"/>
          </a:xfrm>
          <a:prstGeom prst="rect">
            <a:avLst/>
          </a:prstGeom>
          <a:noFill/>
          <a:ln/>
        </p:spPr>
        <p:txBody>
          <a:bodyPr wrap="square" lIns="635" tIns="635" rIns="635" bIns="635" rtlCol="0" anchor="ctr">
            <a:normAutofit fontScale="92500"/>
          </a:bodyPr>
          <a:lstStyle/>
          <a:p>
            <a:pPr marL="0" indent="0" algn="ctr">
              <a:buNone/>
            </a:pPr>
            <a:r>
              <a:rPr lang="en-US" sz="1200" dirty="0">
                <a:solidFill>
                  <a:srgbClr val="000000"/>
                </a:solidFill>
                <a:latin typeface="Arial" pitchFamily="34" charset="0"/>
                <a:ea typeface="Arial" pitchFamily="34" charset="-122"/>
                <a:cs typeface="Arial" pitchFamily="34" charset="-120"/>
              </a:rPr>
              <a:t>3 bits / weight</a:t>
            </a:r>
            <a:endParaRPr lang="en-US" sz="1200" dirty="0"/>
          </a:p>
        </p:txBody>
      </p:sp>
      <p:sp>
        <p:nvSpPr>
          <p:cNvPr id="36" name="Text 33"/>
          <p:cNvSpPr/>
          <p:nvPr/>
        </p:nvSpPr>
        <p:spPr>
          <a:xfrm>
            <a:off x="7818120" y="1880295"/>
            <a:ext cx="1097280" cy="502920"/>
          </a:xfrm>
          <a:prstGeom prst="rect">
            <a:avLst/>
          </a:prstGeom>
          <a:solidFill>
            <a:srgbClr val="EAF4FF"/>
          </a:solidFill>
          <a:ln w="12700">
            <a:solidFill>
              <a:srgbClr val="00245D"/>
            </a:solidFill>
          </a:ln>
        </p:spPr>
        <p:txBody>
          <a:bodyPr wrap="square" lIns="762" tIns="762" rIns="762" bIns="762" rtlCol="0" anchor="ctr">
            <a:normAutofit/>
          </a:bodyPr>
          <a:lstStyle/>
          <a:p>
            <a:pPr marL="0" indent="0" algn="ctr">
              <a:buNone/>
            </a:pPr>
            <a:r>
              <a:rPr lang="en-US" sz="1800" b="1" dirty="0">
                <a:solidFill>
                  <a:srgbClr val="000000"/>
                </a:solidFill>
                <a:latin typeface="Arial" pitchFamily="34" charset="0"/>
                <a:ea typeface="Arial" pitchFamily="34" charset="-122"/>
                <a:cs typeface="Arial" pitchFamily="34" charset="-120"/>
              </a:rPr>
              <a:t>16 bit</a:t>
            </a:r>
            <a:endParaRPr lang="en-US" sz="1800" dirty="0"/>
          </a:p>
        </p:txBody>
      </p:sp>
      <p:sp>
        <p:nvSpPr>
          <p:cNvPr id="37" name="Text 34"/>
          <p:cNvSpPr/>
          <p:nvPr/>
        </p:nvSpPr>
        <p:spPr>
          <a:xfrm>
            <a:off x="8979408" y="1916871"/>
            <a:ext cx="411480" cy="420624"/>
          </a:xfrm>
          <a:prstGeom prst="rect">
            <a:avLst/>
          </a:prstGeom>
          <a:noFill/>
          <a:ln/>
        </p:spPr>
        <p:txBody>
          <a:bodyPr wrap="square" lIns="635" tIns="635" rIns="635" bIns="635" rtlCol="0" anchor="ctr">
            <a:normAutofit/>
          </a:bodyPr>
          <a:lstStyle/>
          <a:p>
            <a:pPr marL="0" indent="0" algn="ctr">
              <a:buNone/>
            </a:pPr>
            <a:r>
              <a:rPr lang="en-US" sz="2600" b="1" dirty="0">
                <a:solidFill>
                  <a:srgbClr val="00245D"/>
                </a:solidFill>
                <a:latin typeface="Arial" pitchFamily="34" charset="0"/>
                <a:ea typeface="Arial" pitchFamily="34" charset="-122"/>
                <a:cs typeface="Arial" pitchFamily="34" charset="-120"/>
              </a:rPr>
              <a:t>→</a:t>
            </a:r>
            <a:endParaRPr lang="en-US" sz="2600" dirty="0"/>
          </a:p>
        </p:txBody>
      </p:sp>
      <p:sp>
        <p:nvSpPr>
          <p:cNvPr id="38" name="Text 35"/>
          <p:cNvSpPr/>
          <p:nvPr/>
        </p:nvSpPr>
        <p:spPr>
          <a:xfrm>
            <a:off x="9418320" y="1880295"/>
            <a:ext cx="1097280" cy="502920"/>
          </a:xfrm>
          <a:prstGeom prst="rect">
            <a:avLst/>
          </a:prstGeom>
          <a:solidFill>
            <a:srgbClr val="FFF1DB"/>
          </a:solidFill>
          <a:ln w="12700">
            <a:solidFill>
              <a:srgbClr val="E98927"/>
            </a:solidFill>
          </a:ln>
        </p:spPr>
        <p:txBody>
          <a:bodyPr wrap="square" lIns="762" tIns="762" rIns="762" bIns="762" rtlCol="0" anchor="ctr">
            <a:normAutofit/>
          </a:bodyPr>
          <a:lstStyle/>
          <a:p>
            <a:pPr marL="0" indent="0" algn="ctr">
              <a:buNone/>
            </a:pPr>
            <a:r>
              <a:rPr lang="en-US" sz="1800" b="1" dirty="0">
                <a:solidFill>
                  <a:srgbClr val="000000"/>
                </a:solidFill>
                <a:latin typeface="Arial" pitchFamily="34" charset="0"/>
                <a:ea typeface="Arial" pitchFamily="34" charset="-122"/>
                <a:cs typeface="Arial" pitchFamily="34" charset="-120"/>
              </a:rPr>
              <a:t>4 bit</a:t>
            </a:r>
            <a:endParaRPr lang="en-US" sz="1800" dirty="0"/>
          </a:p>
        </p:txBody>
      </p:sp>
      <p:sp>
        <p:nvSpPr>
          <p:cNvPr id="39" name="Text 36"/>
          <p:cNvSpPr/>
          <p:nvPr/>
        </p:nvSpPr>
        <p:spPr>
          <a:xfrm>
            <a:off x="7589520" y="2651760"/>
            <a:ext cx="3246120" cy="822960"/>
          </a:xfrm>
          <a:prstGeom prst="rect">
            <a:avLst/>
          </a:prstGeom>
          <a:solidFill>
            <a:srgbClr val="F7F7F7"/>
          </a:solidFill>
          <a:ln>
            <a:solidFill>
              <a:srgbClr val="A6B7C8"/>
            </a:solidFill>
          </a:ln>
        </p:spPr>
        <p:txBody>
          <a:bodyPr wrap="square" lIns="635" tIns="635" rIns="635" bIns="635" rtlCol="0" anchor="ctr">
            <a:normAutofit/>
          </a:bodyPr>
          <a:lstStyle/>
          <a:p>
            <a:pPr marL="0" indent="0" algn="ctr">
              <a:buNone/>
            </a:pPr>
            <a:r>
              <a:rPr lang="en-US" sz="1900" b="1" dirty="0">
                <a:solidFill>
                  <a:srgbClr val="000000"/>
                </a:solidFill>
                <a:latin typeface="Arial" pitchFamily="34" charset="0"/>
                <a:ea typeface="Arial" pitchFamily="34" charset="-122"/>
                <a:cs typeface="Arial" pitchFamily="34" charset="-120"/>
              </a:rPr>
              <a:t>≈ 1/4 storage</a:t>
            </a:r>
            <a:endParaRPr lang="en-US" sz="1900" dirty="0"/>
          </a:p>
          <a:p>
            <a:pPr marL="0" indent="0" algn="ctr">
              <a:buNone/>
            </a:pPr>
            <a:r>
              <a:rPr lang="en-US" sz="1900" b="1" dirty="0">
                <a:solidFill>
                  <a:srgbClr val="000000"/>
                </a:solidFill>
                <a:latin typeface="Arial" pitchFamily="34" charset="0"/>
                <a:ea typeface="Arial" pitchFamily="34" charset="-122"/>
                <a:cs typeface="Arial" pitchFamily="34" charset="-120"/>
              </a:rPr>
              <a:t>&amp; memory traffic</a:t>
            </a:r>
            <a:endParaRPr lang="en-US" sz="1900" dirty="0"/>
          </a:p>
        </p:txBody>
      </p:sp>
      <p:sp>
        <p:nvSpPr>
          <p:cNvPr id="40" name="Text 37"/>
          <p:cNvSpPr/>
          <p:nvPr/>
        </p:nvSpPr>
        <p:spPr>
          <a:xfrm>
            <a:off x="868680" y="4758730"/>
            <a:ext cx="1097280" cy="274320"/>
          </a:xfrm>
          <a:prstGeom prst="rect">
            <a:avLst/>
          </a:prstGeom>
          <a:noFill/>
          <a:ln/>
        </p:spPr>
        <p:txBody>
          <a:bodyPr wrap="square" lIns="635" tIns="635" rIns="635" bIns="635" rtlCol="0" anchor="ctr">
            <a:normAutofit/>
          </a:bodyPr>
          <a:lstStyle/>
          <a:p>
            <a:pPr marL="0" indent="0" algn="l">
              <a:buNone/>
            </a:pPr>
            <a:r>
              <a:rPr lang="en-US" sz="1600" b="1" dirty="0">
                <a:solidFill>
                  <a:srgbClr val="00245D"/>
                </a:solidFill>
                <a:latin typeface="Arial" pitchFamily="34" charset="0"/>
                <a:ea typeface="Arial" pitchFamily="34" charset="-122"/>
                <a:cs typeface="Arial" pitchFamily="34" charset="-120"/>
              </a:rPr>
              <a:t>Examples</a:t>
            </a:r>
            <a:endParaRPr lang="en-US" sz="1600" dirty="0"/>
          </a:p>
        </p:txBody>
      </p:sp>
      <p:sp>
        <p:nvSpPr>
          <p:cNvPr id="41" name="Text 38"/>
          <p:cNvSpPr/>
          <p:nvPr/>
        </p:nvSpPr>
        <p:spPr>
          <a:xfrm>
            <a:off x="2103120" y="4520986"/>
            <a:ext cx="9829800" cy="896112"/>
          </a:xfrm>
          <a:prstGeom prst="rect">
            <a:avLst/>
          </a:prstGeom>
          <a:noFill/>
          <a:ln/>
        </p:spPr>
        <p:txBody>
          <a:bodyPr wrap="square" lIns="635" tIns="635" rIns="635" bIns="635" rtlCol="0" anchor="ctr">
            <a:normAutofit/>
          </a:bodyPr>
          <a:lstStyle/>
          <a:p>
            <a:pPr marL="0" indent="0">
              <a:buNone/>
            </a:pPr>
            <a:r>
              <a:rPr lang="en-US" sz="1600" dirty="0">
                <a:solidFill>
                  <a:srgbClr val="000000"/>
                </a:solidFill>
                <a:latin typeface="Arial" pitchFamily="34" charset="0"/>
                <a:ea typeface="Arial" pitchFamily="34" charset="-122"/>
                <a:cs typeface="Arial" pitchFamily="34" charset="-120"/>
              </a:rPr>
              <a:t>• FP16 → INT4 or FP4: 16-bit weight becomes 4-bit weight.
• FP16 → FP3: even smaller memory, but accuracy becomes harder to preserve.
• The challenge is to reduce memory while keeping model quality.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320040"/>
            <a:ext cx="11430000" cy="530352"/>
          </a:xfrm>
          <a:prstGeom prst="rect">
            <a:avLst/>
          </a:prstGeom>
          <a:noFill/>
          <a:ln/>
        </p:spPr>
        <p:txBody>
          <a:bodyPr wrap="square" lIns="254" tIns="254" rIns="254" bIns="254" rtlCol="0" anchor="ctr">
            <a:normAutofit/>
          </a:bodyPr>
          <a:lstStyle/>
          <a:p>
            <a:pPr marL="0" indent="0" algn="l">
              <a:buNone/>
            </a:pPr>
            <a:r>
              <a:rPr lang="en-US" sz="2400" b="1" dirty="0">
                <a:solidFill>
                  <a:srgbClr val="000000"/>
                </a:solidFill>
                <a:latin typeface="Comic Sans MS" pitchFamily="34" charset="0"/>
                <a:ea typeface="Comic Sans MS" pitchFamily="34" charset="-122"/>
                <a:cs typeface="Comic Sans MS" pitchFamily="34" charset="-120"/>
              </a:rPr>
              <a:t>QAT vs PTQ: Two Quantization Paths</a:t>
            </a:r>
            <a:endParaRPr lang="en-US" sz="2400" dirty="0"/>
          </a:p>
        </p:txBody>
      </p:sp>
      <p:sp>
        <p:nvSpPr>
          <p:cNvPr id="3" name="Shape 1"/>
          <p:cNvSpPr/>
          <p:nvPr/>
        </p:nvSpPr>
        <p:spPr>
          <a:xfrm>
            <a:off x="329184" y="960120"/>
            <a:ext cx="11503152" cy="41148"/>
          </a:xfrm>
          <a:prstGeom prst="rect">
            <a:avLst/>
          </a:prstGeom>
          <a:solidFill>
            <a:srgbClr val="00245D"/>
          </a:solidFill>
          <a:ln w="12700">
            <a:solidFill>
              <a:srgbClr val="00245D"/>
            </a:solidFill>
            <a:prstDash val="solid"/>
          </a:ln>
        </p:spPr>
        <p:txBody>
          <a:bodyPr/>
          <a:lstStyle/>
          <a:p>
            <a:endParaRPr lang="ko-KR" altLang="en-US"/>
          </a:p>
        </p:txBody>
      </p:sp>
      <p:sp>
        <p:nvSpPr>
          <p:cNvPr id="4" name="Shape 2"/>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5" name="Image 0" descr="/mnt/data/template_assets/slide3_pic5.png"/>
          <p:cNvPicPr>
            <a:picLocks noChangeAspect="1"/>
          </p:cNvPicPr>
          <p:nvPr/>
        </p:nvPicPr>
        <p:blipFill>
          <a:blip r:embed="rId3"/>
          <a:stretch>
            <a:fillRect/>
          </a:stretch>
        </p:blipFill>
        <p:spPr>
          <a:xfrm>
            <a:off x="91440" y="6483096"/>
            <a:ext cx="1234440" cy="274320"/>
          </a:xfrm>
          <a:prstGeom prst="rect">
            <a:avLst/>
          </a:prstGeom>
        </p:spPr>
      </p:pic>
      <p:sp>
        <p:nvSpPr>
          <p:cNvPr id="6" name="Text 3"/>
          <p:cNvSpPr/>
          <p:nvPr/>
        </p:nvSpPr>
        <p:spPr>
          <a:xfrm>
            <a:off x="11567160" y="6473952"/>
            <a:ext cx="365760" cy="274320"/>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7" name="Text 4"/>
          <p:cNvSpPr/>
          <p:nvPr/>
        </p:nvSpPr>
        <p:spPr>
          <a:xfrm>
            <a:off x="548640" y="1234440"/>
            <a:ext cx="10972800" cy="347472"/>
          </a:xfrm>
          <a:prstGeom prst="rect">
            <a:avLst/>
          </a:prstGeom>
          <a:noFill/>
          <a:ln/>
        </p:spPr>
        <p:txBody>
          <a:bodyPr wrap="square" lIns="635" tIns="635" rIns="635" bIns="635" rtlCol="0" anchor="ctr">
            <a:normAutofit/>
          </a:bodyPr>
          <a:lstStyle/>
          <a:p>
            <a:pPr marL="0" indent="0" algn="l">
              <a:buNone/>
            </a:pPr>
            <a:r>
              <a:rPr lang="en-US" sz="1800" b="1" dirty="0">
                <a:solidFill>
                  <a:srgbClr val="00245D"/>
                </a:solidFill>
                <a:latin typeface="Arial" pitchFamily="34" charset="0"/>
                <a:ea typeface="Arial" pitchFamily="34" charset="-122"/>
                <a:cs typeface="Arial" pitchFamily="34" charset="-120"/>
              </a:rPr>
              <a:t>Quantization method determines whether we retrain the model or only convert a trained model.</a:t>
            </a:r>
            <a:endParaRPr lang="en-US" sz="1800" dirty="0"/>
          </a:p>
        </p:txBody>
      </p:sp>
      <p:sp>
        <p:nvSpPr>
          <p:cNvPr id="8" name="Text 5"/>
          <p:cNvSpPr/>
          <p:nvPr/>
        </p:nvSpPr>
        <p:spPr>
          <a:xfrm>
            <a:off x="777240" y="1828800"/>
            <a:ext cx="1828800" cy="438912"/>
          </a:xfrm>
          <a:prstGeom prst="rect">
            <a:avLst/>
          </a:prstGeom>
          <a:solidFill>
            <a:srgbClr val="00245D"/>
          </a:solidFill>
          <a:ln>
            <a:solidFill>
              <a:srgbClr val="00245D"/>
            </a:solidFill>
          </a:ln>
        </p:spPr>
        <p:txBody>
          <a:bodyPr wrap="square" lIns="635" tIns="635" rIns="635" bIns="635" rtlCol="0" anchor="ctr">
            <a:normAutofit/>
          </a:bodyPr>
          <a:lstStyle/>
          <a:p>
            <a:pPr marL="0" indent="0" algn="ctr">
              <a:buNone/>
            </a:pPr>
            <a:r>
              <a:rPr lang="en-US" sz="2200" b="1" dirty="0">
                <a:solidFill>
                  <a:srgbClr val="FFFFFF"/>
                </a:solidFill>
                <a:latin typeface="Arial" pitchFamily="34" charset="0"/>
                <a:ea typeface="Arial" pitchFamily="34" charset="-122"/>
                <a:cs typeface="Arial" pitchFamily="34" charset="-120"/>
              </a:rPr>
              <a:t>QAT</a:t>
            </a:r>
            <a:endParaRPr lang="en-US" sz="2200" dirty="0"/>
          </a:p>
        </p:txBody>
      </p:sp>
      <p:sp>
        <p:nvSpPr>
          <p:cNvPr id="9" name="Text 6"/>
          <p:cNvSpPr/>
          <p:nvPr/>
        </p:nvSpPr>
        <p:spPr>
          <a:xfrm>
            <a:off x="2697480" y="1828800"/>
            <a:ext cx="3429000" cy="438912"/>
          </a:xfrm>
          <a:prstGeom prst="rect">
            <a:avLst/>
          </a:prstGeom>
          <a:solidFill>
            <a:srgbClr val="EAF4FF"/>
          </a:solidFill>
          <a:ln>
            <a:solidFill>
              <a:srgbClr val="00245D"/>
            </a:solidFill>
          </a:ln>
        </p:spPr>
        <p:txBody>
          <a:bodyPr wrap="square" lIns="635" tIns="635" rIns="635" bIns="635" rtlCol="0" anchor="ctr">
            <a:normAutofit/>
          </a:bodyPr>
          <a:lstStyle/>
          <a:p>
            <a:pPr marL="0" indent="0" algn="ctr">
              <a:buNone/>
            </a:pPr>
            <a:r>
              <a:rPr lang="en-US" sz="1800" b="1" dirty="0">
                <a:solidFill>
                  <a:srgbClr val="00245D"/>
                </a:solidFill>
                <a:latin typeface="Arial" pitchFamily="34" charset="0"/>
                <a:ea typeface="Arial" pitchFamily="34" charset="-122"/>
                <a:cs typeface="Arial" pitchFamily="34" charset="-120"/>
              </a:rPr>
              <a:t>Quantization-Aware Training</a:t>
            </a:r>
            <a:endParaRPr lang="en-US" sz="1800" dirty="0"/>
          </a:p>
        </p:txBody>
      </p:sp>
      <p:sp>
        <p:nvSpPr>
          <p:cNvPr id="10" name="Text 7"/>
          <p:cNvSpPr/>
          <p:nvPr/>
        </p:nvSpPr>
        <p:spPr>
          <a:xfrm>
            <a:off x="868680" y="2468880"/>
            <a:ext cx="5166360" cy="1463040"/>
          </a:xfrm>
          <a:prstGeom prst="rect">
            <a:avLst/>
          </a:prstGeom>
          <a:noFill/>
          <a:ln/>
        </p:spPr>
        <p:txBody>
          <a:bodyPr wrap="square" lIns="635" tIns="635" rIns="635" bIns="635" rtlCol="0" anchor="ctr">
            <a:normAutofit/>
          </a:bodyPr>
          <a:lstStyle/>
          <a:p>
            <a:pPr marL="0" indent="0">
              <a:buNone/>
            </a:pPr>
            <a:r>
              <a:rPr lang="en-US" sz="1500" dirty="0">
                <a:solidFill>
                  <a:srgbClr val="000000"/>
                </a:solidFill>
                <a:latin typeface="Arial" pitchFamily="34" charset="0"/>
                <a:ea typeface="Arial" pitchFamily="34" charset="-122"/>
                <a:cs typeface="Arial" pitchFamily="34" charset="-120"/>
              </a:rPr>
              <a:t>• The model is trained while quantization error is simulated.
• Can achieve higher accuracy because training adapts to quantization noise.
• But retraining a large LLM is extremely expensive.</a:t>
            </a:r>
            <a:endParaRPr lang="en-US" sz="1500" dirty="0"/>
          </a:p>
        </p:txBody>
      </p:sp>
      <p:sp>
        <p:nvSpPr>
          <p:cNvPr id="11" name="Text 8"/>
          <p:cNvSpPr/>
          <p:nvPr/>
        </p:nvSpPr>
        <p:spPr>
          <a:xfrm>
            <a:off x="1005840" y="4187952"/>
            <a:ext cx="4663440" cy="365760"/>
          </a:xfrm>
          <a:prstGeom prst="rect">
            <a:avLst/>
          </a:prstGeom>
          <a:solidFill>
            <a:srgbClr val="FFF5F5"/>
          </a:solidFill>
          <a:ln>
            <a:solidFill>
              <a:srgbClr val="E5A7A7"/>
            </a:solidFill>
          </a:ln>
        </p:spPr>
        <p:txBody>
          <a:bodyPr wrap="square" lIns="635" tIns="635" rIns="635" bIns="635" rtlCol="0" anchor="ctr">
            <a:normAutofit/>
          </a:bodyPr>
          <a:lstStyle/>
          <a:p>
            <a:pPr marL="0" indent="0" algn="ctr">
              <a:buNone/>
            </a:pPr>
            <a:r>
              <a:rPr lang="en-US" sz="1700" b="1" dirty="0">
                <a:solidFill>
                  <a:srgbClr val="B8202A"/>
                </a:solidFill>
                <a:latin typeface="Arial" pitchFamily="34" charset="0"/>
                <a:ea typeface="Arial" pitchFamily="34" charset="-122"/>
                <a:cs typeface="Arial" pitchFamily="34" charset="-120"/>
              </a:rPr>
              <a:t>Retraining: Required</a:t>
            </a:r>
            <a:endParaRPr lang="en-US" sz="1700" dirty="0"/>
          </a:p>
        </p:txBody>
      </p:sp>
      <p:sp>
        <p:nvSpPr>
          <p:cNvPr id="12" name="Text 9"/>
          <p:cNvSpPr/>
          <p:nvPr/>
        </p:nvSpPr>
        <p:spPr>
          <a:xfrm>
            <a:off x="6355080" y="1828800"/>
            <a:ext cx="1828800" cy="438912"/>
          </a:xfrm>
          <a:prstGeom prst="rect">
            <a:avLst/>
          </a:prstGeom>
          <a:solidFill>
            <a:srgbClr val="00245D"/>
          </a:solidFill>
          <a:ln>
            <a:solidFill>
              <a:srgbClr val="00245D"/>
            </a:solidFill>
          </a:ln>
        </p:spPr>
        <p:txBody>
          <a:bodyPr wrap="square" lIns="635" tIns="635" rIns="635" bIns="635" rtlCol="0" anchor="ctr">
            <a:normAutofit/>
          </a:bodyPr>
          <a:lstStyle/>
          <a:p>
            <a:pPr marL="0" indent="0" algn="ctr">
              <a:buNone/>
            </a:pPr>
            <a:r>
              <a:rPr lang="en-US" sz="2200" b="1" dirty="0">
                <a:solidFill>
                  <a:srgbClr val="FFFFFF"/>
                </a:solidFill>
                <a:latin typeface="Arial" pitchFamily="34" charset="0"/>
                <a:ea typeface="Arial" pitchFamily="34" charset="-122"/>
                <a:cs typeface="Arial" pitchFamily="34" charset="-120"/>
              </a:rPr>
              <a:t>PTQ</a:t>
            </a:r>
            <a:endParaRPr lang="en-US" sz="2200" dirty="0"/>
          </a:p>
        </p:txBody>
      </p:sp>
      <p:sp>
        <p:nvSpPr>
          <p:cNvPr id="13" name="Text 10"/>
          <p:cNvSpPr/>
          <p:nvPr/>
        </p:nvSpPr>
        <p:spPr>
          <a:xfrm>
            <a:off x="8275320" y="1828800"/>
            <a:ext cx="3429000" cy="438912"/>
          </a:xfrm>
          <a:prstGeom prst="rect">
            <a:avLst/>
          </a:prstGeom>
          <a:solidFill>
            <a:srgbClr val="EAF4FF"/>
          </a:solidFill>
          <a:ln>
            <a:solidFill>
              <a:srgbClr val="00245D"/>
            </a:solidFill>
          </a:ln>
        </p:spPr>
        <p:txBody>
          <a:bodyPr wrap="square" lIns="635" tIns="635" rIns="635" bIns="635" rtlCol="0" anchor="ctr">
            <a:normAutofit/>
          </a:bodyPr>
          <a:lstStyle/>
          <a:p>
            <a:pPr marL="0" indent="0" algn="ctr">
              <a:buNone/>
            </a:pPr>
            <a:r>
              <a:rPr lang="en-US" sz="1800" b="1" dirty="0">
                <a:solidFill>
                  <a:srgbClr val="00245D"/>
                </a:solidFill>
                <a:latin typeface="Arial" pitchFamily="34" charset="0"/>
                <a:ea typeface="Arial" pitchFamily="34" charset="-122"/>
                <a:cs typeface="Arial" pitchFamily="34" charset="-120"/>
              </a:rPr>
              <a:t>Post-Training Quantization</a:t>
            </a:r>
            <a:endParaRPr lang="en-US" sz="1800" dirty="0"/>
          </a:p>
        </p:txBody>
      </p:sp>
      <p:sp>
        <p:nvSpPr>
          <p:cNvPr id="14" name="Text 11"/>
          <p:cNvSpPr/>
          <p:nvPr/>
        </p:nvSpPr>
        <p:spPr>
          <a:xfrm>
            <a:off x="6446520" y="2468880"/>
            <a:ext cx="5166360" cy="1463040"/>
          </a:xfrm>
          <a:prstGeom prst="rect">
            <a:avLst/>
          </a:prstGeom>
          <a:noFill/>
          <a:ln/>
        </p:spPr>
        <p:txBody>
          <a:bodyPr wrap="square" lIns="635" tIns="635" rIns="635" bIns="635" rtlCol="0" anchor="ctr">
            <a:normAutofit/>
          </a:bodyPr>
          <a:lstStyle/>
          <a:p>
            <a:pPr marL="0" indent="0">
              <a:buNone/>
            </a:pPr>
            <a:r>
              <a:rPr lang="en-US" sz="1500" dirty="0">
                <a:solidFill>
                  <a:srgbClr val="000000"/>
                </a:solidFill>
                <a:latin typeface="Arial" pitchFamily="34" charset="0"/>
                <a:ea typeface="Arial" pitchFamily="34" charset="-122"/>
                <a:cs typeface="Arial" pitchFamily="34" charset="-120"/>
              </a:rPr>
              <a:t>• The model is quantized after it has already been trained.
• No full retraining is required, so it is practical for LLM deployment.
• Accuracy can drop more than QAT, so better data types are needed.</a:t>
            </a:r>
            <a:endParaRPr lang="en-US" sz="1500" dirty="0"/>
          </a:p>
        </p:txBody>
      </p:sp>
      <p:sp>
        <p:nvSpPr>
          <p:cNvPr id="15" name="Text 12"/>
          <p:cNvSpPr/>
          <p:nvPr/>
        </p:nvSpPr>
        <p:spPr>
          <a:xfrm>
            <a:off x="6583680" y="4187952"/>
            <a:ext cx="4663440" cy="365760"/>
          </a:xfrm>
          <a:prstGeom prst="rect">
            <a:avLst/>
          </a:prstGeom>
          <a:solidFill>
            <a:srgbClr val="F6FAFF"/>
          </a:solidFill>
          <a:ln>
            <a:solidFill>
              <a:srgbClr val="B7CBE0"/>
            </a:solidFill>
          </a:ln>
        </p:spPr>
        <p:txBody>
          <a:bodyPr wrap="square" lIns="635" tIns="635" rIns="635" bIns="635" rtlCol="0" anchor="ctr">
            <a:normAutofit/>
          </a:bodyPr>
          <a:lstStyle/>
          <a:p>
            <a:pPr marL="0" indent="0" algn="ctr">
              <a:buNone/>
            </a:pPr>
            <a:r>
              <a:rPr lang="en-US" sz="1700" b="1" dirty="0">
                <a:solidFill>
                  <a:srgbClr val="00245D"/>
                </a:solidFill>
                <a:latin typeface="Arial" pitchFamily="34" charset="0"/>
                <a:ea typeface="Arial" pitchFamily="34" charset="-122"/>
                <a:cs typeface="Arial" pitchFamily="34" charset="-120"/>
              </a:rPr>
              <a:t>Retraining: Not required</a:t>
            </a:r>
            <a:endParaRPr lang="en-US" sz="1700" dirty="0"/>
          </a:p>
        </p:txBody>
      </p:sp>
      <p:sp>
        <p:nvSpPr>
          <p:cNvPr id="16" name="Text 13"/>
          <p:cNvSpPr/>
          <p:nvPr/>
        </p:nvSpPr>
        <p:spPr>
          <a:xfrm>
            <a:off x="640080" y="5102352"/>
            <a:ext cx="1234440" cy="292608"/>
          </a:xfrm>
          <a:prstGeom prst="rect">
            <a:avLst/>
          </a:prstGeom>
          <a:noFill/>
          <a:ln/>
        </p:spPr>
        <p:txBody>
          <a:bodyPr wrap="square" lIns="635" tIns="635" rIns="635" bIns="635" rtlCol="0" anchor="ctr">
            <a:normAutofit/>
          </a:bodyPr>
          <a:lstStyle/>
          <a:p>
            <a:pPr marL="0" indent="0" algn="l">
              <a:buNone/>
            </a:pPr>
            <a:r>
              <a:rPr lang="en-US" sz="1600" b="1" dirty="0">
                <a:solidFill>
                  <a:srgbClr val="00245D"/>
                </a:solidFill>
                <a:latin typeface="Arial" pitchFamily="34" charset="0"/>
                <a:ea typeface="Arial" pitchFamily="34" charset="-122"/>
                <a:cs typeface="Arial" pitchFamily="34" charset="-120"/>
              </a:rPr>
              <a:t>For LLMs</a:t>
            </a:r>
            <a:endParaRPr lang="en-US" sz="1600" dirty="0"/>
          </a:p>
        </p:txBody>
      </p:sp>
      <p:sp>
        <p:nvSpPr>
          <p:cNvPr id="17" name="Text 14"/>
          <p:cNvSpPr/>
          <p:nvPr/>
        </p:nvSpPr>
        <p:spPr>
          <a:xfrm>
            <a:off x="1965960" y="5029200"/>
            <a:ext cx="9555480" cy="438912"/>
          </a:xfrm>
          <a:prstGeom prst="rect">
            <a:avLst/>
          </a:prstGeom>
          <a:solidFill>
            <a:srgbClr val="F7FBFF"/>
          </a:solidFill>
          <a:ln>
            <a:solidFill>
              <a:srgbClr val="B7CBE0"/>
            </a:solidFill>
          </a:ln>
        </p:spPr>
        <p:txBody>
          <a:bodyPr wrap="square" lIns="1016" tIns="1016" rIns="1016" bIns="1016" rtlCol="0" anchor="ctr">
            <a:normAutofit/>
          </a:bodyPr>
          <a:lstStyle/>
          <a:p>
            <a:pPr marL="0" indent="0" algn="l">
              <a:buNone/>
            </a:pPr>
            <a:r>
              <a:rPr lang="en-US" sz="1800" b="1" dirty="0">
                <a:solidFill>
                  <a:srgbClr val="000000"/>
                </a:solidFill>
                <a:latin typeface="Arial" pitchFamily="34" charset="0"/>
                <a:ea typeface="Arial" pitchFamily="34" charset="-122"/>
                <a:cs typeface="Arial" pitchFamily="34" charset="-120"/>
              </a:rPr>
              <a:t>PTQ is generally preferred because retraining full LLMs is too costly.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320040"/>
            <a:ext cx="11430000" cy="530352"/>
          </a:xfrm>
          <a:prstGeom prst="rect">
            <a:avLst/>
          </a:prstGeom>
          <a:noFill/>
          <a:ln/>
        </p:spPr>
        <p:txBody>
          <a:bodyPr wrap="square" lIns="254" tIns="254" rIns="254" bIns="254" rtlCol="0" anchor="ctr">
            <a:normAutofit/>
          </a:bodyPr>
          <a:lstStyle/>
          <a:p>
            <a:pPr marL="0" indent="0" algn="l">
              <a:buNone/>
            </a:pPr>
            <a:r>
              <a:rPr lang="en-US" sz="2400" b="1" dirty="0">
                <a:solidFill>
                  <a:srgbClr val="000000"/>
                </a:solidFill>
                <a:latin typeface="Comic Sans MS" pitchFamily="34" charset="0"/>
                <a:ea typeface="Comic Sans MS" pitchFamily="34" charset="-122"/>
                <a:cs typeface="Comic Sans MS" pitchFamily="34" charset="-120"/>
              </a:rPr>
              <a:t>Why Weight-only PTQ is Widely Used</a:t>
            </a:r>
            <a:endParaRPr lang="en-US" sz="2400" dirty="0"/>
          </a:p>
        </p:txBody>
      </p:sp>
      <p:sp>
        <p:nvSpPr>
          <p:cNvPr id="3" name="Shape 1"/>
          <p:cNvSpPr/>
          <p:nvPr/>
        </p:nvSpPr>
        <p:spPr>
          <a:xfrm>
            <a:off x="329184" y="960120"/>
            <a:ext cx="11503152" cy="41148"/>
          </a:xfrm>
          <a:prstGeom prst="rect">
            <a:avLst/>
          </a:prstGeom>
          <a:solidFill>
            <a:srgbClr val="00245D"/>
          </a:solidFill>
          <a:ln w="12700">
            <a:solidFill>
              <a:srgbClr val="00245D"/>
            </a:solidFill>
            <a:prstDash val="solid"/>
          </a:ln>
        </p:spPr>
        <p:txBody>
          <a:bodyPr/>
          <a:lstStyle/>
          <a:p>
            <a:endParaRPr lang="ko-KR" altLang="en-US"/>
          </a:p>
        </p:txBody>
      </p:sp>
      <p:sp>
        <p:nvSpPr>
          <p:cNvPr id="4" name="Shape 2"/>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5" name="Image 0" descr="/mnt/data/template_assets/slide3_pic5.png"/>
          <p:cNvPicPr>
            <a:picLocks noChangeAspect="1"/>
          </p:cNvPicPr>
          <p:nvPr/>
        </p:nvPicPr>
        <p:blipFill>
          <a:blip r:embed="rId3"/>
          <a:stretch>
            <a:fillRect/>
          </a:stretch>
        </p:blipFill>
        <p:spPr>
          <a:xfrm>
            <a:off x="91440" y="6483096"/>
            <a:ext cx="1234440" cy="274320"/>
          </a:xfrm>
          <a:prstGeom prst="rect">
            <a:avLst/>
          </a:prstGeom>
        </p:spPr>
      </p:pic>
      <p:sp>
        <p:nvSpPr>
          <p:cNvPr id="6" name="Text 3"/>
          <p:cNvSpPr/>
          <p:nvPr/>
        </p:nvSpPr>
        <p:spPr>
          <a:xfrm>
            <a:off x="11567160" y="6473952"/>
            <a:ext cx="365760" cy="274320"/>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7" name="Text 4"/>
          <p:cNvSpPr/>
          <p:nvPr/>
        </p:nvSpPr>
        <p:spPr>
          <a:xfrm>
            <a:off x="548640" y="1234440"/>
            <a:ext cx="10972800" cy="347472"/>
          </a:xfrm>
          <a:prstGeom prst="rect">
            <a:avLst/>
          </a:prstGeom>
          <a:noFill/>
          <a:ln/>
        </p:spPr>
        <p:txBody>
          <a:bodyPr wrap="square" lIns="635" tIns="635" rIns="635" bIns="635" rtlCol="0" anchor="ctr">
            <a:normAutofit/>
          </a:bodyPr>
          <a:lstStyle/>
          <a:p>
            <a:pPr marL="0" indent="0" algn="l">
              <a:buNone/>
            </a:pPr>
            <a:r>
              <a:rPr lang="en-US" sz="1800" b="1" dirty="0">
                <a:solidFill>
                  <a:srgbClr val="00245D"/>
                </a:solidFill>
                <a:latin typeface="Arial" pitchFamily="34" charset="0"/>
                <a:ea typeface="Arial" pitchFamily="34" charset="-122"/>
                <a:cs typeface="Arial" pitchFamily="34" charset="-120"/>
              </a:rPr>
              <a:t>Most LLM quantization work focuses on weights, while keeping activations in FP16.</a:t>
            </a:r>
            <a:endParaRPr lang="en-US" sz="1800" dirty="0"/>
          </a:p>
        </p:txBody>
      </p:sp>
      <p:sp>
        <p:nvSpPr>
          <p:cNvPr id="8" name="Text 5"/>
          <p:cNvSpPr/>
          <p:nvPr/>
        </p:nvSpPr>
        <p:spPr>
          <a:xfrm>
            <a:off x="731520" y="1920240"/>
            <a:ext cx="1236837" cy="411480"/>
          </a:xfrm>
          <a:prstGeom prst="rect">
            <a:avLst/>
          </a:prstGeom>
          <a:solidFill>
            <a:srgbClr val="00245D"/>
          </a:solidFill>
          <a:ln>
            <a:solidFill>
              <a:srgbClr val="00245D"/>
            </a:solidFill>
          </a:ln>
        </p:spPr>
        <p:txBody>
          <a:bodyPr wrap="square" lIns="635" tIns="635" rIns="635" bIns="635" rtlCol="0" anchor="ctr">
            <a:normAutofit/>
          </a:bodyPr>
          <a:lstStyle/>
          <a:p>
            <a:pPr marL="0" indent="0" algn="ctr">
              <a:buNone/>
            </a:pPr>
            <a:r>
              <a:rPr lang="en-US" sz="1600" b="1" dirty="0">
                <a:solidFill>
                  <a:srgbClr val="FFFFFF"/>
                </a:solidFill>
                <a:latin typeface="Arial" pitchFamily="34" charset="0"/>
                <a:ea typeface="Arial" pitchFamily="34" charset="-122"/>
                <a:cs typeface="Arial" pitchFamily="34" charset="-120"/>
              </a:rPr>
              <a:t>Operand</a:t>
            </a:r>
            <a:endParaRPr lang="en-US" sz="1600" dirty="0"/>
          </a:p>
        </p:txBody>
      </p:sp>
      <p:sp>
        <p:nvSpPr>
          <p:cNvPr id="9" name="Text 6"/>
          <p:cNvSpPr/>
          <p:nvPr/>
        </p:nvSpPr>
        <p:spPr>
          <a:xfrm>
            <a:off x="1978152" y="1920240"/>
            <a:ext cx="2444910" cy="411480"/>
          </a:xfrm>
          <a:prstGeom prst="rect">
            <a:avLst/>
          </a:prstGeom>
          <a:solidFill>
            <a:srgbClr val="00245D"/>
          </a:solidFill>
          <a:ln>
            <a:solidFill>
              <a:srgbClr val="00245D"/>
            </a:solidFill>
          </a:ln>
        </p:spPr>
        <p:txBody>
          <a:bodyPr wrap="square" lIns="635" tIns="635" rIns="635" bIns="635" rtlCol="0" anchor="ctr">
            <a:normAutofit/>
          </a:bodyPr>
          <a:lstStyle/>
          <a:p>
            <a:pPr marL="0" indent="0" algn="ctr">
              <a:buNone/>
            </a:pPr>
            <a:r>
              <a:rPr lang="en-US" sz="1600" b="1" dirty="0">
                <a:solidFill>
                  <a:srgbClr val="FFFFFF"/>
                </a:solidFill>
                <a:latin typeface="Arial" pitchFamily="34" charset="0"/>
                <a:ea typeface="Arial" pitchFamily="34" charset="-122"/>
                <a:cs typeface="Arial" pitchFamily="34" charset="-120"/>
              </a:rPr>
              <a:t>Treatment</a:t>
            </a:r>
            <a:endParaRPr lang="en-US" sz="1600" dirty="0"/>
          </a:p>
        </p:txBody>
      </p:sp>
      <p:sp>
        <p:nvSpPr>
          <p:cNvPr id="10" name="Text 7"/>
          <p:cNvSpPr/>
          <p:nvPr/>
        </p:nvSpPr>
        <p:spPr>
          <a:xfrm>
            <a:off x="4437888" y="1920240"/>
            <a:ext cx="2962656" cy="411480"/>
          </a:xfrm>
          <a:prstGeom prst="rect">
            <a:avLst/>
          </a:prstGeom>
          <a:solidFill>
            <a:srgbClr val="00245D"/>
          </a:solidFill>
          <a:ln>
            <a:solidFill>
              <a:srgbClr val="00245D"/>
            </a:solidFill>
          </a:ln>
        </p:spPr>
        <p:txBody>
          <a:bodyPr wrap="square" lIns="635" tIns="635" rIns="635" bIns="635" rtlCol="0" anchor="ctr">
            <a:normAutofit/>
          </a:bodyPr>
          <a:lstStyle/>
          <a:p>
            <a:pPr marL="0" indent="0" algn="ctr">
              <a:buNone/>
            </a:pPr>
            <a:r>
              <a:rPr lang="en-US" sz="1600" b="1" dirty="0">
                <a:solidFill>
                  <a:srgbClr val="FFFFFF"/>
                </a:solidFill>
                <a:latin typeface="Arial" pitchFamily="34" charset="0"/>
                <a:ea typeface="Arial" pitchFamily="34" charset="-122"/>
                <a:cs typeface="Arial" pitchFamily="34" charset="-120"/>
              </a:rPr>
              <a:t>Reason</a:t>
            </a:r>
            <a:endParaRPr lang="en-US" sz="1600" dirty="0"/>
          </a:p>
        </p:txBody>
      </p:sp>
      <p:sp>
        <p:nvSpPr>
          <p:cNvPr id="11" name="Text 8"/>
          <p:cNvSpPr/>
          <p:nvPr/>
        </p:nvSpPr>
        <p:spPr>
          <a:xfrm>
            <a:off x="731520" y="2331720"/>
            <a:ext cx="1236837" cy="786384"/>
          </a:xfrm>
          <a:prstGeom prst="rect">
            <a:avLst/>
          </a:prstGeom>
          <a:solidFill>
            <a:srgbClr val="F6FAFF"/>
          </a:solidFill>
          <a:ln w="7620">
            <a:solidFill>
              <a:srgbClr val="A6B7C8"/>
            </a:solidFill>
          </a:ln>
        </p:spPr>
        <p:txBody>
          <a:bodyPr wrap="square" lIns="1016" tIns="1016" rIns="1016" bIns="1016" rtlCol="0" anchor="ctr">
            <a:normAutofit/>
          </a:bodyPr>
          <a:lstStyle/>
          <a:p>
            <a:pPr marL="0" indent="0" algn="ctr">
              <a:buNone/>
            </a:pPr>
            <a:r>
              <a:rPr lang="en-US" sz="1600" b="1" dirty="0">
                <a:solidFill>
                  <a:srgbClr val="000000"/>
                </a:solidFill>
                <a:latin typeface="Arial" pitchFamily="34" charset="0"/>
                <a:ea typeface="Arial" pitchFamily="34" charset="-122"/>
                <a:cs typeface="Arial" pitchFamily="34" charset="-120"/>
              </a:rPr>
              <a:t>Weight</a:t>
            </a:r>
            <a:endParaRPr lang="en-US" sz="1600" dirty="0"/>
          </a:p>
        </p:txBody>
      </p:sp>
      <p:sp>
        <p:nvSpPr>
          <p:cNvPr id="12" name="Text 9"/>
          <p:cNvSpPr/>
          <p:nvPr/>
        </p:nvSpPr>
        <p:spPr>
          <a:xfrm>
            <a:off x="1978152" y="2331720"/>
            <a:ext cx="2444910" cy="786384"/>
          </a:xfrm>
          <a:prstGeom prst="rect">
            <a:avLst/>
          </a:prstGeom>
          <a:solidFill>
            <a:srgbClr val="F6FAFF"/>
          </a:solidFill>
          <a:ln w="7620">
            <a:solidFill>
              <a:srgbClr val="A6B7C8"/>
            </a:solidFill>
          </a:ln>
        </p:spPr>
        <p:txBody>
          <a:bodyPr wrap="square" lIns="1016" tIns="1016" rIns="1016" bIns="1016" rtlCol="0" anchor="ctr">
            <a:normAutofit/>
          </a:bodyPr>
          <a:lstStyle/>
          <a:p>
            <a:pPr marL="0" indent="0" algn="l">
              <a:buNone/>
            </a:pPr>
            <a:r>
              <a:rPr lang="en-US" sz="1400" dirty="0">
                <a:solidFill>
                  <a:srgbClr val="000000"/>
                </a:solidFill>
                <a:latin typeface="Arial" pitchFamily="34" charset="0"/>
                <a:ea typeface="Arial" pitchFamily="34" charset="-122"/>
                <a:cs typeface="Arial" pitchFamily="34" charset="-120"/>
              </a:rPr>
              <a:t>Quantized to low precision</a:t>
            </a:r>
            <a:endParaRPr lang="en-US" sz="1400" dirty="0"/>
          </a:p>
        </p:txBody>
      </p:sp>
      <p:sp>
        <p:nvSpPr>
          <p:cNvPr id="13" name="Text 10"/>
          <p:cNvSpPr/>
          <p:nvPr/>
        </p:nvSpPr>
        <p:spPr>
          <a:xfrm>
            <a:off x="4437888" y="2331720"/>
            <a:ext cx="2962656" cy="786384"/>
          </a:xfrm>
          <a:prstGeom prst="rect">
            <a:avLst/>
          </a:prstGeom>
          <a:solidFill>
            <a:srgbClr val="F6FAFF"/>
          </a:solidFill>
          <a:ln w="7620">
            <a:solidFill>
              <a:srgbClr val="A6B7C8"/>
            </a:solidFill>
          </a:ln>
        </p:spPr>
        <p:txBody>
          <a:bodyPr wrap="square" lIns="1016" tIns="1016" rIns="1016" bIns="1016" rtlCol="0" anchor="ctr">
            <a:normAutofit/>
          </a:bodyPr>
          <a:lstStyle/>
          <a:p>
            <a:pPr marL="0" indent="0" algn="l">
              <a:buNone/>
            </a:pPr>
            <a:r>
              <a:rPr lang="en-US" sz="1400" dirty="0">
                <a:solidFill>
                  <a:srgbClr val="000000"/>
                </a:solidFill>
                <a:latin typeface="Arial" pitchFamily="34" charset="0"/>
                <a:ea typeface="Arial" pitchFamily="34" charset="-122"/>
                <a:cs typeface="Arial" pitchFamily="34" charset="-120"/>
              </a:rPr>
              <a:t>Large memory saving</a:t>
            </a:r>
            <a:endParaRPr lang="en-US" sz="1400" dirty="0"/>
          </a:p>
        </p:txBody>
      </p:sp>
      <p:sp>
        <p:nvSpPr>
          <p:cNvPr id="14" name="Text 11"/>
          <p:cNvSpPr/>
          <p:nvPr/>
        </p:nvSpPr>
        <p:spPr>
          <a:xfrm>
            <a:off x="731520" y="3118104"/>
            <a:ext cx="1236837" cy="786384"/>
          </a:xfrm>
          <a:prstGeom prst="rect">
            <a:avLst/>
          </a:prstGeom>
          <a:solidFill>
            <a:srgbClr val="FFFFFF"/>
          </a:solidFill>
          <a:ln w="7620">
            <a:solidFill>
              <a:srgbClr val="A6B7C8"/>
            </a:solidFill>
          </a:ln>
        </p:spPr>
        <p:txBody>
          <a:bodyPr wrap="square" lIns="1016" tIns="1016" rIns="1016" bIns="1016" rtlCol="0" anchor="ctr">
            <a:normAutofit/>
          </a:bodyPr>
          <a:lstStyle/>
          <a:p>
            <a:pPr marL="0" indent="0" algn="ctr">
              <a:buNone/>
            </a:pPr>
            <a:r>
              <a:rPr lang="en-US" sz="1600" b="1" dirty="0">
                <a:solidFill>
                  <a:srgbClr val="000000"/>
                </a:solidFill>
                <a:latin typeface="Arial" pitchFamily="34" charset="0"/>
                <a:ea typeface="Arial" pitchFamily="34" charset="-122"/>
                <a:cs typeface="Arial" pitchFamily="34" charset="-120"/>
              </a:rPr>
              <a:t>Activation</a:t>
            </a:r>
            <a:endParaRPr lang="en-US" sz="1600" dirty="0"/>
          </a:p>
        </p:txBody>
      </p:sp>
      <p:sp>
        <p:nvSpPr>
          <p:cNvPr id="15" name="Text 12"/>
          <p:cNvSpPr/>
          <p:nvPr/>
        </p:nvSpPr>
        <p:spPr>
          <a:xfrm>
            <a:off x="1978152" y="3118104"/>
            <a:ext cx="2444910" cy="786384"/>
          </a:xfrm>
          <a:prstGeom prst="rect">
            <a:avLst/>
          </a:prstGeom>
          <a:solidFill>
            <a:srgbClr val="FFFFFF"/>
          </a:solidFill>
          <a:ln w="7620">
            <a:solidFill>
              <a:srgbClr val="A6B7C8"/>
            </a:solidFill>
          </a:ln>
        </p:spPr>
        <p:txBody>
          <a:bodyPr wrap="square" lIns="1016" tIns="1016" rIns="1016" bIns="1016" rtlCol="0" anchor="ctr">
            <a:normAutofit/>
          </a:bodyPr>
          <a:lstStyle/>
          <a:p>
            <a:pPr marL="0" indent="0" algn="l">
              <a:buNone/>
            </a:pPr>
            <a:r>
              <a:rPr lang="en-US" sz="1400" dirty="0">
                <a:solidFill>
                  <a:srgbClr val="000000"/>
                </a:solidFill>
                <a:latin typeface="Arial" pitchFamily="34" charset="0"/>
                <a:ea typeface="Arial" pitchFamily="34" charset="-122"/>
                <a:cs typeface="Arial" pitchFamily="34" charset="-120"/>
              </a:rPr>
              <a:t>Kept as FP16</a:t>
            </a:r>
            <a:endParaRPr lang="en-US" sz="1400" dirty="0"/>
          </a:p>
        </p:txBody>
      </p:sp>
      <p:sp>
        <p:nvSpPr>
          <p:cNvPr id="16" name="Text 13"/>
          <p:cNvSpPr/>
          <p:nvPr/>
        </p:nvSpPr>
        <p:spPr>
          <a:xfrm>
            <a:off x="4437888" y="3118104"/>
            <a:ext cx="2962656" cy="786384"/>
          </a:xfrm>
          <a:prstGeom prst="rect">
            <a:avLst/>
          </a:prstGeom>
          <a:solidFill>
            <a:srgbClr val="FFFFFF"/>
          </a:solidFill>
          <a:ln w="7620">
            <a:solidFill>
              <a:srgbClr val="A6B7C8"/>
            </a:solidFill>
          </a:ln>
        </p:spPr>
        <p:txBody>
          <a:bodyPr wrap="square" lIns="1016" tIns="1016" rIns="1016" bIns="1016" rtlCol="0" anchor="ctr">
            <a:normAutofit/>
          </a:bodyPr>
          <a:lstStyle/>
          <a:p>
            <a:pPr marL="0" indent="0" algn="l">
              <a:buNone/>
            </a:pPr>
            <a:r>
              <a:rPr lang="en-US" sz="1400" dirty="0">
                <a:solidFill>
                  <a:srgbClr val="000000"/>
                </a:solidFill>
                <a:latin typeface="Arial" pitchFamily="34" charset="0"/>
                <a:ea typeface="Arial" pitchFamily="34" charset="-122"/>
                <a:cs typeface="Arial" pitchFamily="34" charset="-120"/>
              </a:rPr>
              <a:t>Preserves accuracy and avoids activation quantization difficulty</a:t>
            </a:r>
            <a:endParaRPr lang="en-US" sz="1400" dirty="0"/>
          </a:p>
        </p:txBody>
      </p:sp>
      <p:sp>
        <p:nvSpPr>
          <p:cNvPr id="17" name="Text 14"/>
          <p:cNvSpPr/>
          <p:nvPr/>
        </p:nvSpPr>
        <p:spPr>
          <a:xfrm>
            <a:off x="731520" y="3904488"/>
            <a:ext cx="1236837" cy="786384"/>
          </a:xfrm>
          <a:prstGeom prst="rect">
            <a:avLst/>
          </a:prstGeom>
          <a:solidFill>
            <a:srgbClr val="F6FAFF"/>
          </a:solidFill>
          <a:ln w="7620">
            <a:solidFill>
              <a:srgbClr val="A6B7C8"/>
            </a:solidFill>
          </a:ln>
        </p:spPr>
        <p:txBody>
          <a:bodyPr wrap="square" lIns="1016" tIns="1016" rIns="1016" bIns="1016" rtlCol="0" anchor="ctr">
            <a:normAutofit/>
          </a:bodyPr>
          <a:lstStyle/>
          <a:p>
            <a:pPr marL="0" indent="0" algn="ctr">
              <a:buNone/>
            </a:pPr>
            <a:r>
              <a:rPr lang="en-US" sz="1600" b="1" dirty="0">
                <a:solidFill>
                  <a:srgbClr val="000000"/>
                </a:solidFill>
                <a:latin typeface="Arial" pitchFamily="34" charset="0"/>
                <a:ea typeface="Arial" pitchFamily="34" charset="-122"/>
                <a:cs typeface="Arial" pitchFamily="34" charset="-120"/>
              </a:rPr>
              <a:t>Result</a:t>
            </a:r>
            <a:endParaRPr lang="en-US" sz="1600" dirty="0"/>
          </a:p>
        </p:txBody>
      </p:sp>
      <p:sp>
        <p:nvSpPr>
          <p:cNvPr id="18" name="Text 15"/>
          <p:cNvSpPr/>
          <p:nvPr/>
        </p:nvSpPr>
        <p:spPr>
          <a:xfrm>
            <a:off x="1978152" y="3904488"/>
            <a:ext cx="2444910" cy="786384"/>
          </a:xfrm>
          <a:prstGeom prst="rect">
            <a:avLst/>
          </a:prstGeom>
          <a:solidFill>
            <a:srgbClr val="F6FAFF"/>
          </a:solidFill>
          <a:ln w="7620">
            <a:solidFill>
              <a:srgbClr val="A6B7C8"/>
            </a:solidFill>
          </a:ln>
        </p:spPr>
        <p:txBody>
          <a:bodyPr wrap="square" lIns="1016" tIns="1016" rIns="1016" bIns="1016" rtlCol="0" anchor="ctr">
            <a:normAutofit/>
          </a:bodyPr>
          <a:lstStyle/>
          <a:p>
            <a:pPr marL="0" indent="0" algn="l">
              <a:buNone/>
            </a:pPr>
            <a:r>
              <a:rPr lang="en-US" sz="1400" dirty="0">
                <a:solidFill>
                  <a:srgbClr val="000000"/>
                </a:solidFill>
                <a:latin typeface="Arial" pitchFamily="34" charset="0"/>
                <a:ea typeface="Arial" pitchFamily="34" charset="-122"/>
                <a:cs typeface="Arial" pitchFamily="34" charset="-120"/>
              </a:rPr>
              <a:t>Low-precision Weight × FP16 Activation</a:t>
            </a:r>
            <a:endParaRPr lang="en-US" sz="1400" dirty="0"/>
          </a:p>
        </p:txBody>
      </p:sp>
      <p:sp>
        <p:nvSpPr>
          <p:cNvPr id="19" name="Text 16"/>
          <p:cNvSpPr/>
          <p:nvPr/>
        </p:nvSpPr>
        <p:spPr>
          <a:xfrm>
            <a:off x="4437888" y="3904488"/>
            <a:ext cx="2962656" cy="786384"/>
          </a:xfrm>
          <a:prstGeom prst="rect">
            <a:avLst/>
          </a:prstGeom>
          <a:solidFill>
            <a:srgbClr val="F6FAFF"/>
          </a:solidFill>
          <a:ln w="7620">
            <a:solidFill>
              <a:srgbClr val="A6B7C8"/>
            </a:solidFill>
          </a:ln>
        </p:spPr>
        <p:txBody>
          <a:bodyPr wrap="square" lIns="1016" tIns="1016" rIns="1016" bIns="1016" rtlCol="0" anchor="ctr">
            <a:normAutofit/>
          </a:bodyPr>
          <a:lstStyle/>
          <a:p>
            <a:pPr marL="0" indent="0" algn="l">
              <a:buNone/>
            </a:pPr>
            <a:r>
              <a:rPr lang="en-US" sz="1400" dirty="0">
                <a:solidFill>
                  <a:srgbClr val="000000"/>
                </a:solidFill>
                <a:latin typeface="Arial" pitchFamily="34" charset="0"/>
                <a:ea typeface="Arial" pitchFamily="34" charset="-122"/>
                <a:cs typeface="Arial" pitchFamily="34" charset="-120"/>
              </a:rPr>
              <a:t>Good memory-quality trade-off, but creates a compute mismatch</a:t>
            </a:r>
            <a:endParaRPr lang="en-US" sz="1400" dirty="0"/>
          </a:p>
        </p:txBody>
      </p:sp>
      <p:sp>
        <p:nvSpPr>
          <p:cNvPr id="20" name="Text 17"/>
          <p:cNvSpPr/>
          <p:nvPr/>
        </p:nvSpPr>
        <p:spPr>
          <a:xfrm>
            <a:off x="960120" y="5181600"/>
            <a:ext cx="1417320" cy="685800"/>
          </a:xfrm>
          <a:prstGeom prst="rect">
            <a:avLst/>
          </a:prstGeom>
          <a:solidFill>
            <a:srgbClr val="FFF1DB"/>
          </a:solidFill>
          <a:ln w="12700">
            <a:solidFill>
              <a:srgbClr val="E98927"/>
            </a:solidFill>
          </a:ln>
        </p:spPr>
        <p:txBody>
          <a:bodyPr wrap="square" lIns="762" tIns="762" rIns="762" bIns="762" rtlCol="0" anchor="ctr">
            <a:normAutofit/>
          </a:bodyPr>
          <a:lstStyle/>
          <a:p>
            <a:pPr marL="0" indent="0" algn="ctr">
              <a:buNone/>
            </a:pPr>
            <a:r>
              <a:rPr lang="en-US" sz="1500" b="1" dirty="0">
                <a:solidFill>
                  <a:srgbClr val="000000"/>
                </a:solidFill>
                <a:latin typeface="Arial" pitchFamily="34" charset="0"/>
                <a:ea typeface="Arial" pitchFamily="34" charset="-122"/>
                <a:cs typeface="Arial" pitchFamily="34" charset="-120"/>
              </a:rPr>
              <a:t>Low-bit</a:t>
            </a:r>
            <a:endParaRPr lang="en-US" sz="1500" dirty="0"/>
          </a:p>
          <a:p>
            <a:pPr marL="0" indent="0" algn="ctr">
              <a:buNone/>
            </a:pPr>
            <a:r>
              <a:rPr lang="en-US" sz="1500" b="1" dirty="0">
                <a:solidFill>
                  <a:srgbClr val="000000"/>
                </a:solidFill>
                <a:latin typeface="Arial" pitchFamily="34" charset="0"/>
                <a:ea typeface="Arial" pitchFamily="34" charset="-122"/>
                <a:cs typeface="Arial" pitchFamily="34" charset="-120"/>
              </a:rPr>
              <a:t>Weight</a:t>
            </a:r>
            <a:endParaRPr lang="en-US" sz="1500" dirty="0"/>
          </a:p>
        </p:txBody>
      </p:sp>
      <p:sp>
        <p:nvSpPr>
          <p:cNvPr id="21" name="Text 18"/>
          <p:cNvSpPr/>
          <p:nvPr/>
        </p:nvSpPr>
        <p:spPr>
          <a:xfrm>
            <a:off x="2514600" y="5300472"/>
            <a:ext cx="320040" cy="320040"/>
          </a:xfrm>
          <a:prstGeom prst="rect">
            <a:avLst/>
          </a:prstGeom>
          <a:noFill/>
          <a:ln/>
        </p:spPr>
        <p:txBody>
          <a:bodyPr wrap="square" lIns="635" tIns="635" rIns="635" bIns="635" rtlCol="0" anchor="ctr">
            <a:normAutofit fontScale="92500" lnSpcReduction="10000"/>
          </a:bodyPr>
          <a:lstStyle/>
          <a:p>
            <a:pPr marL="0" indent="0" algn="ctr">
              <a:buNone/>
            </a:pPr>
            <a:r>
              <a:rPr lang="en-US" sz="2400" b="1" dirty="0">
                <a:solidFill>
                  <a:srgbClr val="000000"/>
                </a:solidFill>
                <a:latin typeface="Arial" pitchFamily="34" charset="0"/>
                <a:ea typeface="Arial" pitchFamily="34" charset="-122"/>
                <a:cs typeface="Arial" pitchFamily="34" charset="-120"/>
              </a:rPr>
              <a:t>×</a:t>
            </a:r>
            <a:endParaRPr lang="en-US" sz="2400" dirty="0"/>
          </a:p>
        </p:txBody>
      </p:sp>
      <p:sp>
        <p:nvSpPr>
          <p:cNvPr id="22" name="Text 19"/>
          <p:cNvSpPr/>
          <p:nvPr/>
        </p:nvSpPr>
        <p:spPr>
          <a:xfrm>
            <a:off x="2926080" y="5181600"/>
            <a:ext cx="1508760" cy="685800"/>
          </a:xfrm>
          <a:prstGeom prst="rect">
            <a:avLst/>
          </a:prstGeom>
          <a:solidFill>
            <a:srgbClr val="EAF4FF"/>
          </a:solidFill>
          <a:ln w="12700">
            <a:solidFill>
              <a:srgbClr val="00245D"/>
            </a:solidFill>
          </a:ln>
        </p:spPr>
        <p:txBody>
          <a:bodyPr wrap="square" lIns="762" tIns="762" rIns="762" bIns="762" rtlCol="0" anchor="ctr">
            <a:normAutofit/>
          </a:bodyPr>
          <a:lstStyle/>
          <a:p>
            <a:pPr marL="0" indent="0" algn="ctr">
              <a:buNone/>
            </a:pPr>
            <a:r>
              <a:rPr lang="en-US" sz="1500" b="1" dirty="0">
                <a:solidFill>
                  <a:srgbClr val="000000"/>
                </a:solidFill>
                <a:latin typeface="Arial" pitchFamily="34" charset="0"/>
                <a:ea typeface="Arial" pitchFamily="34" charset="-122"/>
                <a:cs typeface="Arial" pitchFamily="34" charset="-120"/>
              </a:rPr>
              <a:t>FP16</a:t>
            </a:r>
            <a:endParaRPr lang="en-US" sz="1500" dirty="0"/>
          </a:p>
          <a:p>
            <a:pPr marL="0" indent="0" algn="ctr">
              <a:buNone/>
            </a:pPr>
            <a:r>
              <a:rPr lang="en-US" sz="1500" b="1" dirty="0">
                <a:solidFill>
                  <a:srgbClr val="000000"/>
                </a:solidFill>
                <a:latin typeface="Arial" pitchFamily="34" charset="0"/>
                <a:ea typeface="Arial" pitchFamily="34" charset="-122"/>
                <a:cs typeface="Arial" pitchFamily="34" charset="-120"/>
              </a:rPr>
              <a:t>Activation</a:t>
            </a:r>
            <a:endParaRPr lang="en-US" sz="1500" dirty="0"/>
          </a:p>
        </p:txBody>
      </p:sp>
      <p:sp>
        <p:nvSpPr>
          <p:cNvPr id="23" name="Text 20"/>
          <p:cNvSpPr/>
          <p:nvPr/>
        </p:nvSpPr>
        <p:spPr>
          <a:xfrm>
            <a:off x="4617720" y="5300472"/>
            <a:ext cx="411480" cy="320040"/>
          </a:xfrm>
          <a:prstGeom prst="rect">
            <a:avLst/>
          </a:prstGeom>
          <a:noFill/>
          <a:ln/>
        </p:spPr>
        <p:txBody>
          <a:bodyPr wrap="square" lIns="635" tIns="635" rIns="635" bIns="635" rtlCol="0" anchor="ctr">
            <a:normAutofit fontScale="92500" lnSpcReduction="10000"/>
          </a:bodyPr>
          <a:lstStyle/>
          <a:p>
            <a:pPr marL="0" indent="0" algn="ctr">
              <a:buNone/>
            </a:pPr>
            <a:r>
              <a:rPr lang="en-US" sz="2400" b="1" dirty="0">
                <a:solidFill>
                  <a:srgbClr val="00245D"/>
                </a:solidFill>
                <a:latin typeface="Arial" pitchFamily="34" charset="0"/>
                <a:ea typeface="Arial" pitchFamily="34" charset="-122"/>
                <a:cs typeface="Arial" pitchFamily="34" charset="-120"/>
              </a:rPr>
              <a:t>→</a:t>
            </a:r>
            <a:endParaRPr lang="en-US" sz="2400" dirty="0"/>
          </a:p>
        </p:txBody>
      </p:sp>
      <p:sp>
        <p:nvSpPr>
          <p:cNvPr id="24" name="Text 21"/>
          <p:cNvSpPr/>
          <p:nvPr/>
        </p:nvSpPr>
        <p:spPr>
          <a:xfrm>
            <a:off x="5074920" y="5215128"/>
            <a:ext cx="6217920" cy="566928"/>
          </a:xfrm>
          <a:prstGeom prst="rect">
            <a:avLst/>
          </a:prstGeom>
          <a:solidFill>
            <a:srgbClr val="F7FBFF"/>
          </a:solidFill>
          <a:ln>
            <a:solidFill>
              <a:srgbClr val="B7CBE0"/>
            </a:solidFill>
          </a:ln>
        </p:spPr>
        <p:txBody>
          <a:bodyPr wrap="square" lIns="1016" tIns="1016" rIns="1016" bIns="1016" rtlCol="0" anchor="ctr">
            <a:normAutofit/>
          </a:bodyPr>
          <a:lstStyle/>
          <a:p>
            <a:pPr marL="0" indent="0" algn="l">
              <a:buNone/>
            </a:pPr>
            <a:r>
              <a:rPr lang="en-US" sz="1700" b="1" dirty="0">
                <a:solidFill>
                  <a:srgbClr val="000000"/>
                </a:solidFill>
                <a:latin typeface="Arial" pitchFamily="34" charset="0"/>
                <a:ea typeface="Arial" pitchFamily="34" charset="-122"/>
                <a:cs typeface="Arial" pitchFamily="34" charset="-120"/>
              </a:rPr>
              <a:t>Memory saving is achieved, but hardware must still compute mixed precision efficiently.</a:t>
            </a:r>
            <a:endParaRPr lang="en-US" sz="1700" dirty="0"/>
          </a:p>
        </p:txBody>
      </p:sp>
      <p:pic>
        <p:nvPicPr>
          <p:cNvPr id="25" name="그림 24">
            <a:extLst>
              <a:ext uri="{FF2B5EF4-FFF2-40B4-BE49-F238E27FC236}">
                <a16:creationId xmlns:a16="http://schemas.microsoft.com/office/drawing/2014/main" id="{1F1FFA5E-03AF-B59E-FB94-FA0E8CF585A6}"/>
              </a:ext>
            </a:extLst>
          </p:cNvPr>
          <p:cNvPicPr>
            <a:picLocks noChangeAspect="1"/>
          </p:cNvPicPr>
          <p:nvPr/>
        </p:nvPicPr>
        <p:blipFill>
          <a:blip r:embed="rId4"/>
          <a:stretch>
            <a:fillRect/>
          </a:stretch>
        </p:blipFill>
        <p:spPr>
          <a:xfrm>
            <a:off x="7523320" y="1511808"/>
            <a:ext cx="4207778" cy="35082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320040"/>
            <a:ext cx="11430000" cy="530352"/>
          </a:xfrm>
          <a:prstGeom prst="rect">
            <a:avLst/>
          </a:prstGeom>
          <a:noFill/>
          <a:ln/>
        </p:spPr>
        <p:txBody>
          <a:bodyPr wrap="square" lIns="254" tIns="254" rIns="254" bIns="254" rtlCol="0" anchor="ctr">
            <a:normAutofit/>
          </a:bodyPr>
          <a:lstStyle/>
          <a:p>
            <a:pPr marL="0" indent="0" algn="l">
              <a:buNone/>
            </a:pPr>
            <a:r>
              <a:rPr lang="en-US" sz="2400" b="1" dirty="0">
                <a:solidFill>
                  <a:srgbClr val="000000"/>
                </a:solidFill>
                <a:latin typeface="Comic Sans MS" pitchFamily="34" charset="0"/>
                <a:ea typeface="Comic Sans MS" pitchFamily="34" charset="-122"/>
                <a:cs typeface="Comic Sans MS" pitchFamily="34" charset="-120"/>
              </a:rPr>
              <a:t>Limitation of Weight-only PTQ on GPUs</a:t>
            </a:r>
            <a:endParaRPr lang="en-US" sz="2400" dirty="0"/>
          </a:p>
        </p:txBody>
      </p:sp>
      <p:sp>
        <p:nvSpPr>
          <p:cNvPr id="3" name="Shape 1"/>
          <p:cNvSpPr/>
          <p:nvPr/>
        </p:nvSpPr>
        <p:spPr>
          <a:xfrm>
            <a:off x="329184" y="960120"/>
            <a:ext cx="11503152" cy="41148"/>
          </a:xfrm>
          <a:prstGeom prst="rect">
            <a:avLst/>
          </a:prstGeom>
          <a:solidFill>
            <a:srgbClr val="00245D"/>
          </a:solidFill>
          <a:ln w="12700">
            <a:solidFill>
              <a:srgbClr val="00245D"/>
            </a:solidFill>
            <a:prstDash val="solid"/>
          </a:ln>
        </p:spPr>
        <p:txBody>
          <a:bodyPr/>
          <a:lstStyle/>
          <a:p>
            <a:endParaRPr lang="ko-KR" altLang="en-US"/>
          </a:p>
        </p:txBody>
      </p:sp>
      <p:sp>
        <p:nvSpPr>
          <p:cNvPr id="4" name="Shape 2"/>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5" name="Image 0" descr="/mnt/data/template_assets/slide3_pic5.png"/>
          <p:cNvPicPr>
            <a:picLocks noChangeAspect="1"/>
          </p:cNvPicPr>
          <p:nvPr/>
        </p:nvPicPr>
        <p:blipFill>
          <a:blip r:embed="rId3"/>
          <a:stretch>
            <a:fillRect/>
          </a:stretch>
        </p:blipFill>
        <p:spPr>
          <a:xfrm>
            <a:off x="91440" y="6483096"/>
            <a:ext cx="1234440" cy="274320"/>
          </a:xfrm>
          <a:prstGeom prst="rect">
            <a:avLst/>
          </a:prstGeom>
        </p:spPr>
      </p:pic>
      <p:sp>
        <p:nvSpPr>
          <p:cNvPr id="6" name="Text 3"/>
          <p:cNvSpPr/>
          <p:nvPr/>
        </p:nvSpPr>
        <p:spPr>
          <a:xfrm>
            <a:off x="11567160" y="6473952"/>
            <a:ext cx="365760" cy="274320"/>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7" name="Text 4"/>
          <p:cNvSpPr/>
          <p:nvPr/>
        </p:nvSpPr>
        <p:spPr>
          <a:xfrm>
            <a:off x="548640" y="1234440"/>
            <a:ext cx="10972800" cy="320040"/>
          </a:xfrm>
          <a:prstGeom prst="rect">
            <a:avLst/>
          </a:prstGeom>
          <a:noFill/>
          <a:ln/>
        </p:spPr>
        <p:txBody>
          <a:bodyPr wrap="square" lIns="635" tIns="635" rIns="635" bIns="635" rtlCol="0" anchor="ctr">
            <a:normAutofit/>
          </a:bodyPr>
          <a:lstStyle/>
          <a:p>
            <a:pPr marL="0" indent="0" algn="l">
              <a:buNone/>
            </a:pPr>
            <a:r>
              <a:rPr lang="en-US" sz="1800" b="1" dirty="0">
                <a:solidFill>
                  <a:srgbClr val="00245D"/>
                </a:solidFill>
                <a:latin typeface="Arial" pitchFamily="34" charset="0"/>
                <a:ea typeface="Arial" pitchFamily="34" charset="-122"/>
                <a:cs typeface="Arial" pitchFamily="34" charset="-120"/>
              </a:rPr>
              <a:t>Problem: low-bit storage does not automatically mean low-bit compute</a:t>
            </a:r>
            <a:endParaRPr lang="en-US" sz="1800" dirty="0"/>
          </a:p>
        </p:txBody>
      </p:sp>
      <p:sp>
        <p:nvSpPr>
          <p:cNvPr id="8" name="Text 5"/>
          <p:cNvSpPr/>
          <p:nvPr/>
        </p:nvSpPr>
        <p:spPr>
          <a:xfrm>
            <a:off x="1402403" y="1874521"/>
            <a:ext cx="1508760" cy="960120"/>
          </a:xfrm>
          <a:prstGeom prst="rect">
            <a:avLst/>
          </a:prstGeom>
          <a:solidFill>
            <a:srgbClr val="FFF1DB"/>
          </a:solidFill>
          <a:ln w="12700">
            <a:solidFill>
              <a:srgbClr val="E98927"/>
            </a:solidFill>
          </a:ln>
        </p:spPr>
        <p:txBody>
          <a:bodyPr wrap="square" lIns="762" tIns="762" rIns="762" bIns="762" rtlCol="0" anchor="ctr">
            <a:normAutofit/>
          </a:bodyPr>
          <a:lstStyle/>
          <a:p>
            <a:pPr marL="0" indent="0" algn="ctr">
              <a:buNone/>
            </a:pPr>
            <a:r>
              <a:rPr lang="en-US" sz="1500" b="1" dirty="0">
                <a:solidFill>
                  <a:srgbClr val="000000"/>
                </a:solidFill>
                <a:latin typeface="Arial" pitchFamily="34" charset="0"/>
                <a:ea typeface="Arial" pitchFamily="34" charset="-122"/>
                <a:cs typeface="Arial" pitchFamily="34" charset="-120"/>
              </a:rPr>
              <a:t>Low-Precision</a:t>
            </a:r>
            <a:endParaRPr lang="en-US" sz="1500" dirty="0"/>
          </a:p>
          <a:p>
            <a:pPr marL="0" indent="0" algn="ctr">
              <a:buNone/>
            </a:pPr>
            <a:r>
              <a:rPr lang="en-US" sz="1500" b="1" dirty="0">
                <a:solidFill>
                  <a:srgbClr val="000000"/>
                </a:solidFill>
                <a:latin typeface="Arial" pitchFamily="34" charset="0"/>
                <a:ea typeface="Arial" pitchFamily="34" charset="-122"/>
                <a:cs typeface="Arial" pitchFamily="34" charset="-120"/>
              </a:rPr>
              <a:t>Weight</a:t>
            </a:r>
            <a:endParaRPr lang="en-US" sz="1500" dirty="0"/>
          </a:p>
          <a:p>
            <a:pPr marL="0" indent="0" algn="ctr">
              <a:buNone/>
            </a:pPr>
            <a:r>
              <a:rPr lang="en-US" sz="1500" b="1" dirty="0">
                <a:solidFill>
                  <a:srgbClr val="000000"/>
                </a:solidFill>
                <a:latin typeface="Arial" pitchFamily="34" charset="0"/>
                <a:ea typeface="Arial" pitchFamily="34" charset="-122"/>
                <a:cs typeface="Arial" pitchFamily="34" charset="-120"/>
              </a:rPr>
              <a:t>(INT4 / FP4)</a:t>
            </a:r>
            <a:endParaRPr lang="en-US" sz="1500" dirty="0"/>
          </a:p>
        </p:txBody>
      </p:sp>
      <p:sp>
        <p:nvSpPr>
          <p:cNvPr id="9" name="Text 6"/>
          <p:cNvSpPr/>
          <p:nvPr/>
        </p:nvSpPr>
        <p:spPr>
          <a:xfrm>
            <a:off x="1402403" y="3383281"/>
            <a:ext cx="1508760" cy="777240"/>
          </a:xfrm>
          <a:prstGeom prst="rect">
            <a:avLst/>
          </a:prstGeom>
          <a:solidFill>
            <a:srgbClr val="EAF4FF"/>
          </a:solidFill>
          <a:ln w="12700">
            <a:solidFill>
              <a:srgbClr val="00245D"/>
            </a:solidFill>
          </a:ln>
        </p:spPr>
        <p:txBody>
          <a:bodyPr wrap="square" lIns="762" tIns="762" rIns="762" bIns="762" rtlCol="0" anchor="ctr">
            <a:normAutofit/>
          </a:bodyPr>
          <a:lstStyle/>
          <a:p>
            <a:pPr marL="0" indent="0" algn="ctr">
              <a:buNone/>
            </a:pPr>
            <a:r>
              <a:rPr lang="en-US" sz="1500" b="1" dirty="0">
                <a:solidFill>
                  <a:srgbClr val="000000"/>
                </a:solidFill>
                <a:latin typeface="Arial" pitchFamily="34" charset="0"/>
                <a:ea typeface="Arial" pitchFamily="34" charset="-122"/>
                <a:cs typeface="Arial" pitchFamily="34" charset="-120"/>
              </a:rPr>
              <a:t>FP16</a:t>
            </a:r>
            <a:endParaRPr lang="en-US" sz="1500" dirty="0"/>
          </a:p>
          <a:p>
            <a:pPr marL="0" indent="0" algn="ctr">
              <a:buNone/>
            </a:pPr>
            <a:r>
              <a:rPr lang="en-US" sz="1500" b="1" dirty="0">
                <a:solidFill>
                  <a:srgbClr val="000000"/>
                </a:solidFill>
                <a:latin typeface="Arial" pitchFamily="34" charset="0"/>
                <a:ea typeface="Arial" pitchFamily="34" charset="-122"/>
                <a:cs typeface="Arial" pitchFamily="34" charset="-120"/>
              </a:rPr>
              <a:t>Activation</a:t>
            </a:r>
            <a:endParaRPr lang="en-US" sz="1500" dirty="0"/>
          </a:p>
        </p:txBody>
      </p:sp>
      <p:sp>
        <p:nvSpPr>
          <p:cNvPr id="10" name="Shape 7"/>
          <p:cNvSpPr/>
          <p:nvPr/>
        </p:nvSpPr>
        <p:spPr>
          <a:xfrm>
            <a:off x="3075754" y="2377440"/>
            <a:ext cx="1122787" cy="322207"/>
          </a:xfrm>
          <a:prstGeom prst="line">
            <a:avLst/>
          </a:prstGeom>
          <a:noFill/>
          <a:ln w="27940">
            <a:solidFill>
              <a:srgbClr val="B8202A"/>
            </a:solidFill>
            <a:prstDash val="solid"/>
            <a:tailEnd type="triangle"/>
          </a:ln>
        </p:spPr>
        <p:txBody>
          <a:bodyPr/>
          <a:lstStyle/>
          <a:p>
            <a:endParaRPr lang="ko-KR" altLang="en-US"/>
          </a:p>
        </p:txBody>
      </p:sp>
      <p:sp>
        <p:nvSpPr>
          <p:cNvPr id="11" name="Shape 8"/>
          <p:cNvSpPr/>
          <p:nvPr/>
        </p:nvSpPr>
        <p:spPr>
          <a:xfrm flipV="1">
            <a:off x="3075755" y="3156847"/>
            <a:ext cx="1122786" cy="592194"/>
          </a:xfrm>
          <a:prstGeom prst="line">
            <a:avLst/>
          </a:prstGeom>
          <a:noFill/>
          <a:ln w="27940">
            <a:solidFill>
              <a:srgbClr val="00245D"/>
            </a:solidFill>
            <a:prstDash val="solid"/>
            <a:tailEnd type="triangle"/>
          </a:ln>
        </p:spPr>
        <p:txBody>
          <a:bodyPr/>
          <a:lstStyle/>
          <a:p>
            <a:endParaRPr lang="ko-KR" altLang="en-US"/>
          </a:p>
        </p:txBody>
      </p:sp>
      <p:sp>
        <p:nvSpPr>
          <p:cNvPr id="13" name="Text 10"/>
          <p:cNvSpPr/>
          <p:nvPr/>
        </p:nvSpPr>
        <p:spPr>
          <a:xfrm>
            <a:off x="4375645" y="2745366"/>
            <a:ext cx="411480" cy="320040"/>
          </a:xfrm>
          <a:prstGeom prst="rect">
            <a:avLst/>
          </a:prstGeom>
          <a:noFill/>
          <a:ln/>
        </p:spPr>
        <p:txBody>
          <a:bodyPr wrap="square" lIns="635" tIns="635" rIns="635" bIns="635" rtlCol="0" anchor="ctr">
            <a:normAutofit lnSpcReduction="10000"/>
          </a:bodyPr>
          <a:lstStyle/>
          <a:p>
            <a:pPr marL="0" indent="0" algn="ctr">
              <a:buNone/>
            </a:pPr>
            <a:r>
              <a:rPr lang="en-US" sz="2200" b="1" dirty="0">
                <a:solidFill>
                  <a:srgbClr val="B8202A"/>
                </a:solidFill>
                <a:latin typeface="Arial" pitchFamily="34" charset="0"/>
                <a:ea typeface="Arial" pitchFamily="34" charset="-122"/>
                <a:cs typeface="Arial" pitchFamily="34" charset="-120"/>
              </a:rPr>
              <a:t>✕</a:t>
            </a:r>
            <a:endParaRPr lang="en-US" sz="2200" dirty="0"/>
          </a:p>
        </p:txBody>
      </p:sp>
      <p:sp>
        <p:nvSpPr>
          <p:cNvPr id="14" name="Shape 11"/>
          <p:cNvSpPr/>
          <p:nvPr/>
        </p:nvSpPr>
        <p:spPr>
          <a:xfrm>
            <a:off x="5120640" y="2880360"/>
            <a:ext cx="914400" cy="0"/>
          </a:xfrm>
          <a:prstGeom prst="line">
            <a:avLst/>
          </a:prstGeom>
          <a:noFill/>
          <a:ln w="31750">
            <a:solidFill>
              <a:srgbClr val="00245D"/>
            </a:solidFill>
            <a:prstDash val="solid"/>
            <a:tailEnd type="triangle"/>
          </a:ln>
        </p:spPr>
        <p:txBody>
          <a:bodyPr/>
          <a:lstStyle/>
          <a:p>
            <a:endParaRPr lang="ko-KR" altLang="en-US"/>
          </a:p>
        </p:txBody>
      </p:sp>
      <p:sp>
        <p:nvSpPr>
          <p:cNvPr id="15" name="Text 12"/>
          <p:cNvSpPr/>
          <p:nvPr/>
        </p:nvSpPr>
        <p:spPr>
          <a:xfrm>
            <a:off x="6080760" y="2377440"/>
            <a:ext cx="1645920" cy="1005840"/>
          </a:xfrm>
          <a:prstGeom prst="rect">
            <a:avLst/>
          </a:prstGeom>
          <a:solidFill>
            <a:srgbClr val="F6F6F6"/>
          </a:solidFill>
          <a:ln w="12700">
            <a:solidFill>
              <a:srgbClr val="A6B7C8"/>
            </a:solidFill>
          </a:ln>
        </p:spPr>
        <p:txBody>
          <a:bodyPr wrap="square" lIns="762" tIns="762" rIns="762" bIns="762" rtlCol="0" anchor="ctr">
            <a:normAutofit/>
          </a:bodyPr>
          <a:lstStyle/>
          <a:p>
            <a:pPr marL="0" indent="0" algn="ctr">
              <a:buNone/>
            </a:pPr>
            <a:r>
              <a:rPr lang="en-US" sz="1500" b="1" dirty="0">
                <a:solidFill>
                  <a:srgbClr val="000000"/>
                </a:solidFill>
                <a:latin typeface="Arial" pitchFamily="34" charset="0"/>
                <a:ea typeface="Arial" pitchFamily="34" charset="-122"/>
                <a:cs typeface="Arial" pitchFamily="34" charset="-120"/>
              </a:rPr>
              <a:t>Dequantize</a:t>
            </a:r>
            <a:endParaRPr lang="en-US" sz="1500" dirty="0"/>
          </a:p>
          <a:p>
            <a:pPr marL="0" indent="0" algn="ctr">
              <a:buNone/>
            </a:pPr>
            <a:r>
              <a:rPr lang="en-US" sz="1500" b="1" dirty="0">
                <a:solidFill>
                  <a:srgbClr val="000000"/>
                </a:solidFill>
                <a:latin typeface="Arial" pitchFamily="34" charset="0"/>
                <a:ea typeface="Arial" pitchFamily="34" charset="-122"/>
                <a:cs typeface="Arial" pitchFamily="34" charset="-120"/>
              </a:rPr>
              <a:t>weight to FP16</a:t>
            </a:r>
            <a:endParaRPr lang="en-US" sz="1500" dirty="0"/>
          </a:p>
        </p:txBody>
      </p:sp>
      <p:sp>
        <p:nvSpPr>
          <p:cNvPr id="16" name="Shape 13"/>
          <p:cNvSpPr/>
          <p:nvPr/>
        </p:nvSpPr>
        <p:spPr>
          <a:xfrm>
            <a:off x="7909560" y="2880360"/>
            <a:ext cx="914400" cy="0"/>
          </a:xfrm>
          <a:prstGeom prst="line">
            <a:avLst/>
          </a:prstGeom>
          <a:noFill/>
          <a:ln w="31750">
            <a:solidFill>
              <a:srgbClr val="00245D"/>
            </a:solidFill>
            <a:prstDash val="solid"/>
            <a:tailEnd type="triangle"/>
          </a:ln>
        </p:spPr>
        <p:txBody>
          <a:bodyPr/>
          <a:lstStyle/>
          <a:p>
            <a:endParaRPr lang="ko-KR" altLang="en-US"/>
          </a:p>
        </p:txBody>
      </p:sp>
      <p:sp>
        <p:nvSpPr>
          <p:cNvPr id="17" name="Text 14"/>
          <p:cNvSpPr/>
          <p:nvPr/>
        </p:nvSpPr>
        <p:spPr>
          <a:xfrm>
            <a:off x="8869680" y="2286000"/>
            <a:ext cx="1965960" cy="1188720"/>
          </a:xfrm>
          <a:prstGeom prst="rect">
            <a:avLst/>
          </a:prstGeom>
          <a:solidFill>
            <a:srgbClr val="EAF4FF"/>
          </a:solidFill>
          <a:ln w="12700">
            <a:solidFill>
              <a:srgbClr val="00245D"/>
            </a:solidFill>
          </a:ln>
        </p:spPr>
        <p:txBody>
          <a:bodyPr wrap="square" lIns="762" tIns="762" rIns="762" bIns="762" rtlCol="0" anchor="ctr">
            <a:normAutofit/>
          </a:bodyPr>
          <a:lstStyle/>
          <a:p>
            <a:pPr marL="0" indent="0" algn="ctr">
              <a:buNone/>
            </a:pPr>
            <a:r>
              <a:rPr lang="en-US" sz="1600" b="1" dirty="0">
                <a:solidFill>
                  <a:srgbClr val="000000"/>
                </a:solidFill>
                <a:latin typeface="Arial" pitchFamily="34" charset="0"/>
                <a:ea typeface="Arial" pitchFamily="34" charset="-122"/>
                <a:cs typeface="Arial" pitchFamily="34" charset="-120"/>
              </a:rPr>
              <a:t>FP16 Weight</a:t>
            </a:r>
            <a:endParaRPr lang="en-US" sz="1600" dirty="0"/>
          </a:p>
          <a:p>
            <a:pPr marL="0" indent="0" algn="ctr">
              <a:buNone/>
            </a:pPr>
            <a:r>
              <a:rPr lang="en-US" sz="1600" b="1" dirty="0">
                <a:solidFill>
                  <a:srgbClr val="000000"/>
                </a:solidFill>
                <a:latin typeface="Arial" pitchFamily="34" charset="0"/>
                <a:ea typeface="Arial" pitchFamily="34" charset="-122"/>
                <a:cs typeface="Arial" pitchFamily="34" charset="-120"/>
              </a:rPr>
              <a:t>×</a:t>
            </a:r>
            <a:endParaRPr lang="en-US" sz="1600" dirty="0"/>
          </a:p>
          <a:p>
            <a:pPr marL="0" indent="0" algn="ctr">
              <a:buNone/>
            </a:pPr>
            <a:r>
              <a:rPr lang="en-US" sz="1600" b="1" dirty="0">
                <a:solidFill>
                  <a:srgbClr val="000000"/>
                </a:solidFill>
                <a:latin typeface="Arial" pitchFamily="34" charset="0"/>
                <a:ea typeface="Arial" pitchFamily="34" charset="-122"/>
                <a:cs typeface="Arial" pitchFamily="34" charset="-120"/>
              </a:rPr>
              <a:t>FP16 Activation</a:t>
            </a:r>
            <a:endParaRPr lang="en-US" sz="1600" dirty="0"/>
          </a:p>
        </p:txBody>
      </p:sp>
      <p:sp>
        <p:nvSpPr>
          <p:cNvPr id="18" name="Text 15"/>
          <p:cNvSpPr/>
          <p:nvPr/>
        </p:nvSpPr>
        <p:spPr>
          <a:xfrm>
            <a:off x="8595360" y="3703320"/>
            <a:ext cx="2514600" cy="320040"/>
          </a:xfrm>
          <a:prstGeom prst="rect">
            <a:avLst/>
          </a:prstGeom>
          <a:noFill/>
          <a:ln/>
        </p:spPr>
        <p:txBody>
          <a:bodyPr wrap="square" lIns="635" tIns="635" rIns="635" bIns="635" rtlCol="0" anchor="ctr">
            <a:normAutofit/>
          </a:bodyPr>
          <a:lstStyle/>
          <a:p>
            <a:pPr marL="0" indent="0" algn="ctr">
              <a:buNone/>
            </a:pPr>
            <a:r>
              <a:rPr lang="en-US" sz="1400" b="1" dirty="0">
                <a:solidFill>
                  <a:srgbClr val="00245D"/>
                </a:solidFill>
                <a:latin typeface="Arial" pitchFamily="34" charset="0"/>
                <a:ea typeface="Arial" pitchFamily="34" charset="-122"/>
                <a:cs typeface="Arial" pitchFamily="34" charset="-120"/>
              </a:rPr>
              <a:t>GPU Floating-Point Pipeline</a:t>
            </a:r>
            <a:endParaRPr lang="en-US" sz="1400" dirty="0"/>
          </a:p>
        </p:txBody>
      </p:sp>
      <p:sp>
        <p:nvSpPr>
          <p:cNvPr id="19" name="Text 16"/>
          <p:cNvSpPr/>
          <p:nvPr/>
        </p:nvSpPr>
        <p:spPr>
          <a:xfrm>
            <a:off x="658368" y="4871585"/>
            <a:ext cx="1234440" cy="274320"/>
          </a:xfrm>
          <a:prstGeom prst="rect">
            <a:avLst/>
          </a:prstGeom>
          <a:noFill/>
          <a:ln/>
        </p:spPr>
        <p:txBody>
          <a:bodyPr wrap="square" lIns="635" tIns="635" rIns="635" bIns="635" rtlCol="0" anchor="ctr">
            <a:normAutofit/>
          </a:bodyPr>
          <a:lstStyle/>
          <a:p>
            <a:pPr marL="0" indent="0" algn="l">
              <a:buNone/>
            </a:pPr>
            <a:r>
              <a:rPr lang="en-US" sz="1600" b="1" dirty="0">
                <a:solidFill>
                  <a:srgbClr val="00245D"/>
                </a:solidFill>
                <a:latin typeface="Arial" pitchFamily="34" charset="0"/>
                <a:ea typeface="Arial" pitchFamily="34" charset="-122"/>
                <a:cs typeface="Arial" pitchFamily="34" charset="-120"/>
              </a:rPr>
              <a:t>Therefore</a:t>
            </a:r>
            <a:endParaRPr lang="en-US" sz="1600" dirty="0"/>
          </a:p>
        </p:txBody>
      </p:sp>
      <p:sp>
        <p:nvSpPr>
          <p:cNvPr id="20" name="Text 17"/>
          <p:cNvSpPr/>
          <p:nvPr/>
        </p:nvSpPr>
        <p:spPr>
          <a:xfrm>
            <a:off x="1965960" y="4578977"/>
            <a:ext cx="9784080" cy="960120"/>
          </a:xfrm>
          <a:prstGeom prst="rect">
            <a:avLst/>
          </a:prstGeom>
          <a:noFill/>
          <a:ln/>
        </p:spPr>
        <p:txBody>
          <a:bodyPr wrap="square" lIns="635" tIns="635" rIns="635" bIns="635" rtlCol="0" anchor="ctr">
            <a:normAutofit/>
          </a:bodyPr>
          <a:lstStyle/>
          <a:p>
            <a:pPr marL="0" indent="0">
              <a:buNone/>
            </a:pPr>
            <a:r>
              <a:rPr lang="en-US" sz="1600" dirty="0">
                <a:solidFill>
                  <a:srgbClr val="000000"/>
                </a:solidFill>
                <a:latin typeface="Arial" pitchFamily="34" charset="0"/>
                <a:ea typeface="Arial" pitchFamily="34" charset="-122"/>
                <a:cs typeface="Arial" pitchFamily="34" charset="-120"/>
              </a:rPr>
              <a:t>• Weight-only PTQ saves memory, but GPUs often restore low-bit weights to FP16 before computation.
• The advantage of low-precision weight is not fully translated into compute efficiency.
• BitMoD targets this gap with hardware that directly handles low-precision weight × FP16 activation.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472" y="320040"/>
            <a:ext cx="11430000" cy="530352"/>
          </a:xfrm>
          <a:prstGeom prst="rect">
            <a:avLst/>
          </a:prstGeom>
          <a:noFill/>
        </p:spPr>
        <p:txBody>
          <a:bodyPr wrap="square" lIns="27432" tIns="18288" rIns="27432" bIns="18288">
            <a:spAutoFit/>
          </a:bodyPr>
          <a:lstStyle/>
          <a:p>
            <a:r>
              <a:rPr sz="2400" b="1">
                <a:solidFill>
                  <a:srgbClr val="141414"/>
                </a:solidFill>
                <a:latin typeface="Arial"/>
              </a:rPr>
              <a:t>Existing Approaches Before BitMoD</a:t>
            </a:r>
          </a:p>
        </p:txBody>
      </p:sp>
      <p:sp>
        <p:nvSpPr>
          <p:cNvPr id="3" name="Rectangle 2"/>
          <p:cNvSpPr/>
          <p:nvPr/>
        </p:nvSpPr>
        <p:spPr>
          <a:xfrm>
            <a:off x="329184" y="960120"/>
            <a:ext cx="11503152" cy="41148"/>
          </a:xfrm>
          <a:prstGeom prst="rect">
            <a:avLst/>
          </a:prstGeom>
          <a:solidFill>
            <a:srgbClr val="002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28232"/>
            <a:ext cx="12191695" cy="429768"/>
          </a:xfrm>
          <a:prstGeom prst="rect">
            <a:avLst/>
          </a:prstGeom>
          <a:solidFill>
            <a:srgbClr val="002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91440" y="6483096"/>
            <a:ext cx="1234440" cy="274320"/>
          </a:xfrm>
          <a:prstGeom prst="rect">
            <a:avLst/>
          </a:prstGeom>
        </p:spPr>
      </p:pic>
      <p:sp>
        <p:nvSpPr>
          <p:cNvPr id="7" name="TextBox 6"/>
          <p:cNvSpPr txBox="1"/>
          <p:nvPr/>
        </p:nvSpPr>
        <p:spPr>
          <a:xfrm>
            <a:off x="548640" y="1170432"/>
            <a:ext cx="11155680" cy="329184"/>
          </a:xfrm>
          <a:prstGeom prst="rect">
            <a:avLst/>
          </a:prstGeom>
          <a:noFill/>
        </p:spPr>
        <p:txBody>
          <a:bodyPr wrap="square" lIns="27432" tIns="18288" rIns="27432" bIns="18288">
            <a:spAutoFit/>
          </a:bodyPr>
          <a:lstStyle/>
          <a:p>
            <a:r>
              <a:rPr sz="1600" b="0">
                <a:solidFill>
                  <a:srgbClr val="555555"/>
                </a:solidFill>
                <a:latin typeface="Arial"/>
              </a:rPr>
              <a:t>After weight-only PTQ, prior work tried to avoid the “low-bit storage but FP16 compute” problem in different ways.</a:t>
            </a:r>
          </a:p>
        </p:txBody>
      </p:sp>
      <p:sp>
        <p:nvSpPr>
          <p:cNvPr id="8" name="Rounded Rectangle 7"/>
          <p:cNvSpPr/>
          <p:nvPr/>
        </p:nvSpPr>
        <p:spPr>
          <a:xfrm>
            <a:off x="685800" y="1828800"/>
            <a:ext cx="5212080" cy="1691640"/>
          </a:xfrm>
          <a:prstGeom prst="roundRect">
            <a:avLst/>
          </a:prstGeom>
          <a:solidFill>
            <a:srgbClr val="F8FAFC"/>
          </a:solidFill>
          <a:ln w="1524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1828800"/>
            <a:ext cx="5212080" cy="137160"/>
          </a:xfrm>
          <a:prstGeom prst="rect">
            <a:avLst/>
          </a:prstGeom>
          <a:solidFill>
            <a:srgbClr val="2460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029968"/>
            <a:ext cx="4937760" cy="274320"/>
          </a:xfrm>
          <a:prstGeom prst="rect">
            <a:avLst/>
          </a:prstGeom>
          <a:noFill/>
        </p:spPr>
        <p:txBody>
          <a:bodyPr wrap="square" lIns="27432" tIns="18288" rIns="27432" bIns="18288">
            <a:spAutoFit/>
          </a:bodyPr>
          <a:lstStyle/>
          <a:p>
            <a:r>
              <a:rPr sz="1800" b="1">
                <a:solidFill>
                  <a:srgbClr val="2460A6"/>
                </a:solidFill>
                <a:latin typeface="Arial"/>
              </a:rPr>
              <a:t>FIGNA</a:t>
            </a:r>
          </a:p>
        </p:txBody>
      </p:sp>
      <p:sp>
        <p:nvSpPr>
          <p:cNvPr id="11" name="TextBox 10"/>
          <p:cNvSpPr txBox="1"/>
          <p:nvPr/>
        </p:nvSpPr>
        <p:spPr>
          <a:xfrm>
            <a:off x="822960" y="2423160"/>
            <a:ext cx="4937760" cy="960120"/>
          </a:xfrm>
          <a:prstGeom prst="rect">
            <a:avLst/>
          </a:prstGeom>
          <a:noFill/>
        </p:spPr>
        <p:txBody>
          <a:bodyPr wrap="square" lIns="27432" tIns="18288" rIns="27432" bIns="18288">
            <a:normAutofit/>
          </a:bodyPr>
          <a:lstStyle/>
          <a:p>
            <a:r>
              <a:rPr sz="1400" b="0" dirty="0">
                <a:solidFill>
                  <a:srgbClr val="141414"/>
                </a:solidFill>
                <a:latin typeface="Arial"/>
              </a:rPr>
              <a:t>Integer Weight ×</a:t>
            </a:r>
            <a:r>
              <a:rPr lang="en-US" sz="1400" b="0" dirty="0">
                <a:solidFill>
                  <a:srgbClr val="141414"/>
                </a:solidFill>
                <a:latin typeface="Arial"/>
              </a:rPr>
              <a:t> </a:t>
            </a:r>
            <a:r>
              <a:rPr sz="1400" b="0" dirty="0">
                <a:solidFill>
                  <a:srgbClr val="141414"/>
                </a:solidFill>
                <a:latin typeface="Arial"/>
              </a:rPr>
              <a:t>Floating-point Activation</a:t>
            </a:r>
            <a:br>
              <a:rPr dirty="0"/>
            </a:br>
            <a:br>
              <a:rPr dirty="0"/>
            </a:br>
            <a:r>
              <a:rPr sz="1400" b="0" dirty="0">
                <a:solidFill>
                  <a:srgbClr val="141414"/>
                </a:solidFill>
                <a:latin typeface="Arial"/>
              </a:rPr>
              <a:t>Goal: </a:t>
            </a:r>
            <a:r>
              <a:rPr sz="1400" b="0" dirty="0">
                <a:solidFill>
                  <a:srgbClr val="CA1814"/>
                </a:solidFill>
                <a:latin typeface="Arial"/>
              </a:rPr>
              <a:t>compute quantized weights directly</a:t>
            </a:r>
            <a:r>
              <a:rPr sz="1400" b="0" dirty="0">
                <a:solidFill>
                  <a:srgbClr val="141414"/>
                </a:solidFill>
                <a:latin typeface="Arial"/>
              </a:rPr>
              <a:t>, instead of restoring all weights to FP16.</a:t>
            </a:r>
          </a:p>
        </p:txBody>
      </p:sp>
      <p:sp>
        <p:nvSpPr>
          <p:cNvPr id="12" name="Rounded Rectangle 11"/>
          <p:cNvSpPr/>
          <p:nvPr/>
        </p:nvSpPr>
        <p:spPr>
          <a:xfrm>
            <a:off x="6309360" y="1828800"/>
            <a:ext cx="5212080" cy="1691640"/>
          </a:xfrm>
          <a:prstGeom prst="roundRect">
            <a:avLst/>
          </a:prstGeom>
          <a:solidFill>
            <a:srgbClr val="F8FAFC"/>
          </a:solidFill>
          <a:ln w="1524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1828800"/>
            <a:ext cx="5212080" cy="137160"/>
          </a:xfrm>
          <a:prstGeom prst="rect">
            <a:avLst/>
          </a:prstGeom>
          <a:solidFill>
            <a:srgbClr val="E17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2029968"/>
            <a:ext cx="4937760" cy="274320"/>
          </a:xfrm>
          <a:prstGeom prst="rect">
            <a:avLst/>
          </a:prstGeom>
          <a:noFill/>
        </p:spPr>
        <p:txBody>
          <a:bodyPr wrap="square" lIns="27432" tIns="18288" rIns="27432" bIns="18288">
            <a:spAutoFit/>
          </a:bodyPr>
          <a:lstStyle/>
          <a:p>
            <a:r>
              <a:rPr sz="1800" b="1">
                <a:solidFill>
                  <a:srgbClr val="E17E23"/>
                </a:solidFill>
                <a:latin typeface="Arial"/>
              </a:rPr>
              <a:t>Microscaling</a:t>
            </a:r>
          </a:p>
        </p:txBody>
      </p:sp>
      <p:sp>
        <p:nvSpPr>
          <p:cNvPr id="15" name="TextBox 14"/>
          <p:cNvSpPr txBox="1"/>
          <p:nvPr/>
        </p:nvSpPr>
        <p:spPr>
          <a:xfrm>
            <a:off x="6446520" y="2423160"/>
            <a:ext cx="4937760" cy="960120"/>
          </a:xfrm>
          <a:prstGeom prst="rect">
            <a:avLst/>
          </a:prstGeom>
          <a:noFill/>
        </p:spPr>
        <p:txBody>
          <a:bodyPr wrap="square" lIns="27432" tIns="18288" rIns="27432" bIns="18288">
            <a:normAutofit/>
          </a:bodyPr>
          <a:lstStyle/>
          <a:p>
            <a:r>
              <a:rPr sz="1400" b="0" dirty="0">
                <a:solidFill>
                  <a:srgbClr val="141414"/>
                </a:solidFill>
                <a:latin typeface="Arial"/>
              </a:rPr>
              <a:t>Low-precision group</a:t>
            </a:r>
            <a:r>
              <a:rPr lang="en-US" sz="1400" b="0" dirty="0">
                <a:solidFill>
                  <a:srgbClr val="141414"/>
                </a:solidFill>
                <a:latin typeface="Arial"/>
              </a:rPr>
              <a:t> </a:t>
            </a:r>
            <a:r>
              <a:rPr sz="1400" b="0" dirty="0">
                <a:solidFill>
                  <a:srgbClr val="141414"/>
                </a:solidFill>
                <a:latin typeface="Arial"/>
              </a:rPr>
              <a:t>+ shared exponent</a:t>
            </a:r>
            <a:br>
              <a:rPr dirty="0"/>
            </a:br>
            <a:br>
              <a:rPr dirty="0"/>
            </a:br>
            <a:r>
              <a:rPr sz="1400" b="0" dirty="0">
                <a:solidFill>
                  <a:srgbClr val="141414"/>
                </a:solidFill>
                <a:latin typeface="Arial"/>
              </a:rPr>
              <a:t>Goal: reduce </a:t>
            </a:r>
            <a:r>
              <a:rPr sz="1400" b="0" dirty="0">
                <a:solidFill>
                  <a:srgbClr val="FF0000"/>
                </a:solidFill>
                <a:latin typeface="Arial"/>
              </a:rPr>
              <a:t>exponent</a:t>
            </a:r>
            <a:r>
              <a:rPr sz="1400" b="0" dirty="0">
                <a:solidFill>
                  <a:srgbClr val="141414"/>
                </a:solidFill>
                <a:latin typeface="Arial"/>
              </a:rPr>
              <a:t> overhead by </a:t>
            </a:r>
            <a:r>
              <a:rPr sz="1400" b="0" dirty="0">
                <a:solidFill>
                  <a:srgbClr val="FF0000"/>
                </a:solidFill>
                <a:latin typeface="Arial"/>
              </a:rPr>
              <a:t>sharing</a:t>
            </a:r>
            <a:r>
              <a:rPr sz="1400" b="0" dirty="0">
                <a:solidFill>
                  <a:srgbClr val="141414"/>
                </a:solidFill>
                <a:latin typeface="Arial"/>
              </a:rPr>
              <a:t> scale-like information across several values.</a:t>
            </a:r>
          </a:p>
        </p:txBody>
      </p:sp>
      <p:sp>
        <p:nvSpPr>
          <p:cNvPr id="16" name="Rounded Rectangle 15"/>
          <p:cNvSpPr/>
          <p:nvPr/>
        </p:nvSpPr>
        <p:spPr>
          <a:xfrm>
            <a:off x="685800" y="3816662"/>
            <a:ext cx="5212080" cy="1691640"/>
          </a:xfrm>
          <a:prstGeom prst="roundRect">
            <a:avLst/>
          </a:prstGeom>
          <a:solidFill>
            <a:srgbClr val="F8FAFC"/>
          </a:solidFill>
          <a:ln w="1524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85800" y="3816662"/>
            <a:ext cx="5212080" cy="137160"/>
          </a:xfrm>
          <a:prstGeom prst="rect">
            <a:avLst/>
          </a:prstGeom>
          <a:solidFill>
            <a:srgbClr val="6E4D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017830"/>
            <a:ext cx="4937760" cy="274320"/>
          </a:xfrm>
          <a:prstGeom prst="rect">
            <a:avLst/>
          </a:prstGeom>
          <a:noFill/>
        </p:spPr>
        <p:txBody>
          <a:bodyPr wrap="square" lIns="27432" tIns="18288" rIns="27432" bIns="18288">
            <a:spAutoFit/>
          </a:bodyPr>
          <a:lstStyle/>
          <a:p>
            <a:r>
              <a:rPr sz="1800" b="1">
                <a:solidFill>
                  <a:srgbClr val="6E4D9C"/>
                </a:solidFill>
                <a:latin typeface="Arial"/>
              </a:rPr>
              <a:t>ANT</a:t>
            </a:r>
          </a:p>
        </p:txBody>
      </p:sp>
      <p:sp>
        <p:nvSpPr>
          <p:cNvPr id="19" name="TextBox 18"/>
          <p:cNvSpPr txBox="1"/>
          <p:nvPr/>
        </p:nvSpPr>
        <p:spPr>
          <a:xfrm>
            <a:off x="822960" y="4411022"/>
            <a:ext cx="4937760" cy="960120"/>
          </a:xfrm>
          <a:prstGeom prst="rect">
            <a:avLst/>
          </a:prstGeom>
          <a:noFill/>
        </p:spPr>
        <p:txBody>
          <a:bodyPr wrap="square" lIns="27432" tIns="18288" rIns="27432" bIns="18288">
            <a:normAutofit/>
          </a:bodyPr>
          <a:lstStyle/>
          <a:p>
            <a:r>
              <a:rPr sz="1400" b="0" dirty="0">
                <a:solidFill>
                  <a:srgbClr val="141414"/>
                </a:solidFill>
                <a:latin typeface="Arial"/>
              </a:rPr>
              <a:t>Adaptive Numeric Type</a:t>
            </a:r>
            <a:br>
              <a:rPr dirty="0"/>
            </a:br>
            <a:br>
              <a:rPr dirty="0"/>
            </a:br>
            <a:r>
              <a:rPr sz="1400" b="0" dirty="0">
                <a:solidFill>
                  <a:srgbClr val="141414"/>
                </a:solidFill>
                <a:latin typeface="Arial"/>
              </a:rPr>
              <a:t>Goal: </a:t>
            </a:r>
            <a:r>
              <a:rPr sz="1400" b="0" dirty="0">
                <a:solidFill>
                  <a:srgbClr val="FF0000"/>
                </a:solidFill>
                <a:latin typeface="Arial"/>
              </a:rPr>
              <a:t>choose a data type </a:t>
            </a:r>
            <a:r>
              <a:rPr sz="1400" b="0" dirty="0">
                <a:solidFill>
                  <a:srgbClr val="141414"/>
                </a:solidFill>
                <a:latin typeface="Arial"/>
              </a:rPr>
              <a:t>that better matches </a:t>
            </a:r>
            <a:r>
              <a:rPr sz="1400" b="0" dirty="0">
                <a:solidFill>
                  <a:srgbClr val="FF0000"/>
                </a:solidFill>
                <a:latin typeface="Arial"/>
              </a:rPr>
              <a:t>tensor distribution </a:t>
            </a:r>
            <a:r>
              <a:rPr sz="1400" b="0" dirty="0">
                <a:solidFill>
                  <a:srgbClr val="141414"/>
                </a:solidFill>
                <a:latin typeface="Arial"/>
              </a:rPr>
              <a:t>and reduces quantization error.</a:t>
            </a:r>
          </a:p>
        </p:txBody>
      </p:sp>
      <p:sp>
        <p:nvSpPr>
          <p:cNvPr id="20" name="Rounded Rectangle 19"/>
          <p:cNvSpPr/>
          <p:nvPr/>
        </p:nvSpPr>
        <p:spPr>
          <a:xfrm>
            <a:off x="6309360" y="3816662"/>
            <a:ext cx="5212080" cy="1691640"/>
          </a:xfrm>
          <a:prstGeom prst="roundRect">
            <a:avLst/>
          </a:prstGeom>
          <a:solidFill>
            <a:srgbClr val="F8FAFC"/>
          </a:solidFill>
          <a:ln w="15240">
            <a:solidFill>
              <a:srgbClr val="BE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09360" y="3816662"/>
            <a:ext cx="5212080" cy="137160"/>
          </a:xfrm>
          <a:prstGeom prst="rect">
            <a:avLst/>
          </a:prstGeom>
          <a:solidFill>
            <a:srgbClr val="26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4017830"/>
            <a:ext cx="4937760" cy="274320"/>
          </a:xfrm>
          <a:prstGeom prst="rect">
            <a:avLst/>
          </a:prstGeom>
          <a:noFill/>
        </p:spPr>
        <p:txBody>
          <a:bodyPr wrap="square" lIns="27432" tIns="18288" rIns="27432" bIns="18288">
            <a:spAutoFit/>
          </a:bodyPr>
          <a:lstStyle/>
          <a:p>
            <a:r>
              <a:rPr sz="1800" b="1">
                <a:solidFill>
                  <a:srgbClr val="267D55"/>
                </a:solidFill>
                <a:latin typeface="Arial"/>
              </a:rPr>
              <a:t>OliVe</a:t>
            </a:r>
          </a:p>
        </p:txBody>
      </p:sp>
      <p:sp>
        <p:nvSpPr>
          <p:cNvPr id="23" name="TextBox 22"/>
          <p:cNvSpPr txBox="1"/>
          <p:nvPr/>
        </p:nvSpPr>
        <p:spPr>
          <a:xfrm>
            <a:off x="6446520" y="4411022"/>
            <a:ext cx="4937760" cy="960120"/>
          </a:xfrm>
          <a:prstGeom prst="rect">
            <a:avLst/>
          </a:prstGeom>
          <a:noFill/>
        </p:spPr>
        <p:txBody>
          <a:bodyPr wrap="square" lIns="27432" tIns="18288" rIns="27432" bIns="18288">
            <a:normAutofit/>
          </a:bodyPr>
          <a:lstStyle/>
          <a:p>
            <a:r>
              <a:rPr sz="1400" b="0" dirty="0">
                <a:solidFill>
                  <a:srgbClr val="141414"/>
                </a:solidFill>
                <a:latin typeface="Arial"/>
              </a:rPr>
              <a:t>Outlier-aware value encoding</a:t>
            </a:r>
            <a:br>
              <a:rPr dirty="0"/>
            </a:br>
            <a:br>
              <a:rPr dirty="0"/>
            </a:br>
            <a:r>
              <a:rPr sz="1400" b="0" dirty="0">
                <a:solidFill>
                  <a:srgbClr val="141414"/>
                </a:solidFill>
                <a:latin typeface="Arial"/>
              </a:rPr>
              <a:t>Goal: protect very large </a:t>
            </a:r>
            <a:r>
              <a:rPr sz="1400" b="0" dirty="0">
                <a:solidFill>
                  <a:srgbClr val="FF0000"/>
                </a:solidFill>
                <a:latin typeface="Arial"/>
              </a:rPr>
              <a:t>outliers</a:t>
            </a:r>
            <a:r>
              <a:rPr sz="1400" b="0" dirty="0">
                <a:solidFill>
                  <a:srgbClr val="141414"/>
                </a:solidFill>
                <a:latin typeface="Arial"/>
              </a:rPr>
              <a:t> by sacrificing small “victim” values.</a:t>
            </a:r>
          </a:p>
        </p:txBody>
      </p:sp>
      <p:sp>
        <p:nvSpPr>
          <p:cNvPr id="24" name="Rounded Rectangle 23"/>
          <p:cNvSpPr/>
          <p:nvPr/>
        </p:nvSpPr>
        <p:spPr>
          <a:xfrm>
            <a:off x="2810096" y="5802826"/>
            <a:ext cx="6675120" cy="384048"/>
          </a:xfrm>
          <a:prstGeom prst="round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46672" y="5839402"/>
            <a:ext cx="6601968" cy="310896"/>
          </a:xfrm>
          <a:prstGeom prst="rect">
            <a:avLst/>
          </a:prstGeom>
          <a:noFill/>
        </p:spPr>
        <p:txBody>
          <a:bodyPr wrap="square" lIns="27432" tIns="18288" rIns="27432" bIns="18288" anchor="ctr">
            <a:normAutofit fontScale="85000" lnSpcReduction="20000"/>
          </a:bodyPr>
          <a:lstStyle/>
          <a:p>
            <a:pPr algn="ctr"/>
            <a:r>
              <a:rPr sz="1300" b="1" dirty="0">
                <a:solidFill>
                  <a:srgbClr val="FFFFFF"/>
                </a:solidFill>
                <a:latin typeface="Arial"/>
              </a:rPr>
              <a:t>Common goal: keep the memory benefit of </a:t>
            </a:r>
            <a:r>
              <a:rPr sz="1300" b="1" dirty="0">
                <a:solidFill>
                  <a:srgbClr val="FF9933"/>
                </a:solidFill>
                <a:latin typeface="Arial"/>
              </a:rPr>
              <a:t>low-bit weights</a:t>
            </a:r>
            <a:br>
              <a:rPr dirty="0"/>
            </a:br>
            <a:r>
              <a:rPr sz="1300" b="1" dirty="0">
                <a:solidFill>
                  <a:srgbClr val="FFFFFF"/>
                </a:solidFill>
                <a:latin typeface="Arial"/>
              </a:rPr>
              <a:t>while making the hardware compute path efficient</a:t>
            </a:r>
          </a:p>
        </p:txBody>
      </p:sp>
      <p:sp>
        <p:nvSpPr>
          <p:cNvPr id="33" name="Text 3">
            <a:extLst>
              <a:ext uri="{FF2B5EF4-FFF2-40B4-BE49-F238E27FC236}">
                <a16:creationId xmlns:a16="http://schemas.microsoft.com/office/drawing/2014/main" id="{EEFD19C5-4259-F360-3F72-C3181201CCC0}"/>
              </a:ext>
            </a:extLst>
          </p:cNvPr>
          <p:cNvSpPr/>
          <p:nvPr/>
        </p:nvSpPr>
        <p:spPr>
          <a:xfrm>
            <a:off x="11567160" y="6473952"/>
            <a:ext cx="365760" cy="274320"/>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472" y="350120"/>
            <a:ext cx="11430000" cy="406265"/>
          </a:xfrm>
          <a:prstGeom prst="rect">
            <a:avLst/>
          </a:prstGeom>
          <a:noFill/>
        </p:spPr>
        <p:txBody>
          <a:bodyPr wrap="square" lIns="27432" tIns="18288" rIns="27432" bIns="18288">
            <a:spAutoFit/>
          </a:bodyPr>
          <a:lstStyle/>
          <a:p>
            <a:r>
              <a:rPr lang="en-US" sz="2400" b="1" dirty="0">
                <a:solidFill>
                  <a:srgbClr val="141414"/>
                </a:solidFill>
                <a:latin typeface="Arial"/>
              </a:rPr>
              <a:t>Compare</a:t>
            </a:r>
            <a:r>
              <a:rPr lang="ko-KR" altLang="en-US" sz="2400" b="1" dirty="0">
                <a:solidFill>
                  <a:srgbClr val="141414"/>
                </a:solidFill>
                <a:latin typeface="Arial"/>
              </a:rPr>
              <a:t> </a:t>
            </a:r>
            <a:r>
              <a:rPr lang="en-US" altLang="ko-KR" sz="2400" b="1" dirty="0">
                <a:solidFill>
                  <a:srgbClr val="141414"/>
                </a:solidFill>
                <a:latin typeface="Arial"/>
              </a:rPr>
              <a:t>with</a:t>
            </a:r>
            <a:r>
              <a:rPr lang="ko-KR" altLang="en-US" sz="2400" b="1" dirty="0">
                <a:solidFill>
                  <a:srgbClr val="141414"/>
                </a:solidFill>
                <a:latin typeface="Arial"/>
              </a:rPr>
              <a:t> </a:t>
            </a:r>
            <a:r>
              <a:rPr lang="en-US" altLang="ko-KR" sz="2400" b="1" dirty="0" err="1">
                <a:solidFill>
                  <a:srgbClr val="141414"/>
                </a:solidFill>
                <a:latin typeface="Arial"/>
              </a:rPr>
              <a:t>BitMoD</a:t>
            </a:r>
            <a:endParaRPr sz="2400" b="1" dirty="0">
              <a:solidFill>
                <a:srgbClr val="141414"/>
              </a:solidFill>
              <a:latin typeface="Arial"/>
            </a:endParaRPr>
          </a:p>
        </p:txBody>
      </p:sp>
      <p:sp>
        <p:nvSpPr>
          <p:cNvPr id="3" name="Rectangle 2"/>
          <p:cNvSpPr/>
          <p:nvPr/>
        </p:nvSpPr>
        <p:spPr>
          <a:xfrm>
            <a:off x="329184" y="960120"/>
            <a:ext cx="11503152" cy="41148"/>
          </a:xfrm>
          <a:prstGeom prst="rect">
            <a:avLst/>
          </a:prstGeom>
          <a:solidFill>
            <a:srgbClr val="002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28232"/>
            <a:ext cx="12191695" cy="429768"/>
          </a:xfrm>
          <a:prstGeom prst="rect">
            <a:avLst/>
          </a:prstGeom>
          <a:solidFill>
            <a:srgbClr val="0024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91440" y="6483096"/>
            <a:ext cx="1234440" cy="274320"/>
          </a:xfrm>
          <a:prstGeom prst="rect">
            <a:avLst/>
          </a:prstGeom>
        </p:spPr>
      </p:pic>
      <p:sp>
        <p:nvSpPr>
          <p:cNvPr id="7" name="TextBox 6"/>
          <p:cNvSpPr txBox="1"/>
          <p:nvPr/>
        </p:nvSpPr>
        <p:spPr>
          <a:xfrm>
            <a:off x="548640" y="1155032"/>
            <a:ext cx="10972800" cy="320040"/>
          </a:xfrm>
          <a:prstGeom prst="rect">
            <a:avLst/>
          </a:prstGeom>
          <a:noFill/>
        </p:spPr>
        <p:txBody>
          <a:bodyPr wrap="square" lIns="27432" tIns="18288" rIns="27432" bIns="18288">
            <a:spAutoFit/>
          </a:bodyPr>
          <a:lstStyle/>
          <a:p>
            <a:r>
              <a:rPr sz="1600" b="0" dirty="0">
                <a:solidFill>
                  <a:srgbClr val="555555"/>
                </a:solidFill>
                <a:latin typeface="Arial"/>
              </a:rPr>
              <a:t>Existing approaches solve part of the problem, but not all requirements at the same time.</a:t>
            </a:r>
          </a:p>
        </p:txBody>
      </p:sp>
      <p:sp>
        <p:nvSpPr>
          <p:cNvPr id="8" name="Rectangle 7"/>
          <p:cNvSpPr/>
          <p:nvPr/>
        </p:nvSpPr>
        <p:spPr>
          <a:xfrm>
            <a:off x="594360" y="1691640"/>
            <a:ext cx="1508760" cy="530352"/>
          </a:xfrm>
          <a:prstGeom prst="rect">
            <a:avLst/>
          </a:prstGeom>
          <a:solidFill>
            <a:srgbClr val="00245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 y="1755648"/>
            <a:ext cx="1472184" cy="438912"/>
          </a:xfrm>
          <a:prstGeom prst="rect">
            <a:avLst/>
          </a:prstGeom>
          <a:noFill/>
        </p:spPr>
        <p:txBody>
          <a:bodyPr wrap="square" lIns="27432" tIns="18288" rIns="27432" bIns="18288" anchor="ctr">
            <a:spAutoFit/>
          </a:bodyPr>
          <a:lstStyle/>
          <a:p>
            <a:pPr algn="ctr"/>
            <a:r>
              <a:rPr sz="1200" b="1">
                <a:solidFill>
                  <a:srgbClr val="FFFFFF"/>
                </a:solidFill>
                <a:latin typeface="Arial"/>
              </a:rPr>
              <a:t>Framework</a:t>
            </a:r>
          </a:p>
        </p:txBody>
      </p:sp>
      <p:sp>
        <p:nvSpPr>
          <p:cNvPr id="10" name="Rectangle 9"/>
          <p:cNvSpPr/>
          <p:nvPr/>
        </p:nvSpPr>
        <p:spPr>
          <a:xfrm>
            <a:off x="2103120" y="1691640"/>
            <a:ext cx="1417320" cy="530352"/>
          </a:xfrm>
          <a:prstGeom prst="rect">
            <a:avLst/>
          </a:prstGeom>
          <a:solidFill>
            <a:srgbClr val="00245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21408" y="1755648"/>
            <a:ext cx="1380744" cy="438912"/>
          </a:xfrm>
          <a:prstGeom prst="rect">
            <a:avLst/>
          </a:prstGeom>
          <a:noFill/>
        </p:spPr>
        <p:txBody>
          <a:bodyPr wrap="square" lIns="27432" tIns="18288" rIns="27432" bIns="18288" anchor="ctr">
            <a:spAutoFit/>
          </a:bodyPr>
          <a:lstStyle/>
          <a:p>
            <a:pPr algn="ctr"/>
            <a:r>
              <a:rPr sz="1200" b="1">
                <a:solidFill>
                  <a:srgbClr val="FFFFFF"/>
                </a:solidFill>
                <a:latin typeface="Arial"/>
              </a:rPr>
              <a:t>Per-Group</a:t>
            </a:r>
          </a:p>
        </p:txBody>
      </p:sp>
      <p:sp>
        <p:nvSpPr>
          <p:cNvPr id="12" name="Rectangle 11"/>
          <p:cNvSpPr/>
          <p:nvPr/>
        </p:nvSpPr>
        <p:spPr>
          <a:xfrm>
            <a:off x="3520439" y="1691640"/>
            <a:ext cx="1508760" cy="530352"/>
          </a:xfrm>
          <a:prstGeom prst="rect">
            <a:avLst/>
          </a:prstGeom>
          <a:solidFill>
            <a:srgbClr val="00245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38727" y="1755648"/>
            <a:ext cx="1472184" cy="438912"/>
          </a:xfrm>
          <a:prstGeom prst="rect">
            <a:avLst/>
          </a:prstGeom>
          <a:noFill/>
        </p:spPr>
        <p:txBody>
          <a:bodyPr wrap="square" lIns="27432" tIns="18288" rIns="27432" bIns="18288" anchor="ctr">
            <a:spAutoFit/>
          </a:bodyPr>
          <a:lstStyle/>
          <a:p>
            <a:pPr algn="ctr"/>
            <a:r>
              <a:rPr sz="1200" b="1">
                <a:solidFill>
                  <a:srgbClr val="FFFFFF"/>
                </a:solidFill>
                <a:latin typeface="Arial"/>
              </a:rPr>
              <a:t>Flexible</a:t>
            </a:r>
            <a:br/>
            <a:r>
              <a:rPr sz="1200" b="1">
                <a:solidFill>
                  <a:srgbClr val="FFFFFF"/>
                </a:solidFill>
                <a:latin typeface="Arial"/>
              </a:rPr>
              <a:t>Precision</a:t>
            </a:r>
          </a:p>
        </p:txBody>
      </p:sp>
      <p:sp>
        <p:nvSpPr>
          <p:cNvPr id="14" name="Rectangle 13"/>
          <p:cNvSpPr/>
          <p:nvPr/>
        </p:nvSpPr>
        <p:spPr>
          <a:xfrm>
            <a:off x="5029200" y="1691640"/>
            <a:ext cx="1417320" cy="530352"/>
          </a:xfrm>
          <a:prstGeom prst="rect">
            <a:avLst/>
          </a:prstGeom>
          <a:solidFill>
            <a:srgbClr val="00245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47488" y="1755648"/>
            <a:ext cx="1380744" cy="438912"/>
          </a:xfrm>
          <a:prstGeom prst="rect">
            <a:avLst/>
          </a:prstGeom>
          <a:noFill/>
        </p:spPr>
        <p:txBody>
          <a:bodyPr wrap="square" lIns="27432" tIns="18288" rIns="27432" bIns="18288" anchor="ctr">
            <a:spAutoFit/>
          </a:bodyPr>
          <a:lstStyle/>
          <a:p>
            <a:pPr algn="ctr"/>
            <a:r>
              <a:rPr sz="1200" b="1">
                <a:solidFill>
                  <a:srgbClr val="FFFFFF"/>
                </a:solidFill>
                <a:latin typeface="Arial"/>
              </a:rPr>
              <a:t>3-bit</a:t>
            </a:r>
            <a:br/>
            <a:r>
              <a:rPr sz="1200" b="1">
                <a:solidFill>
                  <a:srgbClr val="FFFFFF"/>
                </a:solidFill>
                <a:latin typeface="Arial"/>
              </a:rPr>
              <a:t>Accuracy</a:t>
            </a:r>
          </a:p>
        </p:txBody>
      </p:sp>
      <p:sp>
        <p:nvSpPr>
          <p:cNvPr id="16" name="Rectangle 15"/>
          <p:cNvSpPr/>
          <p:nvPr/>
        </p:nvSpPr>
        <p:spPr>
          <a:xfrm>
            <a:off x="6446520" y="1691640"/>
            <a:ext cx="1417320" cy="530352"/>
          </a:xfrm>
          <a:prstGeom prst="rect">
            <a:avLst/>
          </a:prstGeom>
          <a:solidFill>
            <a:srgbClr val="00245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7" y="1755648"/>
            <a:ext cx="1380744" cy="438912"/>
          </a:xfrm>
          <a:prstGeom prst="rect">
            <a:avLst/>
          </a:prstGeom>
          <a:noFill/>
        </p:spPr>
        <p:txBody>
          <a:bodyPr wrap="square" lIns="27432" tIns="18288" rIns="27432" bIns="18288" anchor="ctr">
            <a:spAutoFit/>
          </a:bodyPr>
          <a:lstStyle/>
          <a:p>
            <a:pPr algn="ctr"/>
            <a:r>
              <a:rPr sz="1200" b="1">
                <a:solidFill>
                  <a:srgbClr val="FFFFFF"/>
                </a:solidFill>
                <a:latin typeface="Arial"/>
              </a:rPr>
              <a:t>HW</a:t>
            </a:r>
            <a:br/>
            <a:r>
              <a:rPr sz="1200" b="1">
                <a:solidFill>
                  <a:srgbClr val="FFFFFF"/>
                </a:solidFill>
                <a:latin typeface="Arial"/>
              </a:rPr>
              <a:t>Efficiency</a:t>
            </a:r>
          </a:p>
        </p:txBody>
      </p:sp>
      <p:sp>
        <p:nvSpPr>
          <p:cNvPr id="18" name="Rectangle 17"/>
          <p:cNvSpPr/>
          <p:nvPr/>
        </p:nvSpPr>
        <p:spPr>
          <a:xfrm>
            <a:off x="7863840" y="1691640"/>
            <a:ext cx="3703320" cy="530352"/>
          </a:xfrm>
          <a:prstGeom prst="rect">
            <a:avLst/>
          </a:prstGeom>
          <a:solidFill>
            <a:srgbClr val="00245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82127" y="1755648"/>
            <a:ext cx="3666744" cy="438912"/>
          </a:xfrm>
          <a:prstGeom prst="rect">
            <a:avLst/>
          </a:prstGeom>
          <a:noFill/>
        </p:spPr>
        <p:txBody>
          <a:bodyPr wrap="square" lIns="27432" tIns="18288" rIns="27432" bIns="18288" anchor="ctr">
            <a:spAutoFit/>
          </a:bodyPr>
          <a:lstStyle/>
          <a:p>
            <a:pPr algn="ctr"/>
            <a:r>
              <a:rPr sz="1200" b="1">
                <a:solidFill>
                  <a:srgbClr val="FFFFFF"/>
                </a:solidFill>
                <a:latin typeface="Arial"/>
              </a:rPr>
              <a:t>Main Limitation</a:t>
            </a:r>
          </a:p>
        </p:txBody>
      </p:sp>
      <p:sp>
        <p:nvSpPr>
          <p:cNvPr id="20" name="Rectangle 19"/>
          <p:cNvSpPr/>
          <p:nvPr/>
        </p:nvSpPr>
        <p:spPr>
          <a:xfrm>
            <a:off x="594360" y="2221992"/>
            <a:ext cx="150876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 y="2295144"/>
            <a:ext cx="1453895" cy="420623"/>
          </a:xfrm>
          <a:prstGeom prst="rect">
            <a:avLst/>
          </a:prstGeom>
          <a:noFill/>
        </p:spPr>
        <p:txBody>
          <a:bodyPr wrap="square" lIns="27432" tIns="18288" rIns="27432" bIns="18288" anchor="ctr">
            <a:normAutofit/>
          </a:bodyPr>
          <a:lstStyle/>
          <a:p>
            <a:pPr algn="ctr"/>
            <a:r>
              <a:rPr sz="1200" b="1">
                <a:solidFill>
                  <a:srgbClr val="141414"/>
                </a:solidFill>
                <a:latin typeface="Arial"/>
              </a:rPr>
              <a:t>FIGNA</a:t>
            </a:r>
          </a:p>
        </p:txBody>
      </p:sp>
      <p:sp>
        <p:nvSpPr>
          <p:cNvPr id="22" name="Rectangle 21"/>
          <p:cNvSpPr/>
          <p:nvPr/>
        </p:nvSpPr>
        <p:spPr>
          <a:xfrm>
            <a:off x="2103120" y="2221992"/>
            <a:ext cx="141732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130551" y="2295144"/>
            <a:ext cx="1362456" cy="420623"/>
          </a:xfrm>
          <a:prstGeom prst="rect">
            <a:avLst/>
          </a:prstGeom>
          <a:noFill/>
        </p:spPr>
        <p:txBody>
          <a:bodyPr wrap="square" lIns="27432" tIns="18288" rIns="27432" bIns="18288" anchor="ctr">
            <a:normAutofit/>
          </a:bodyPr>
          <a:lstStyle/>
          <a:p>
            <a:pPr algn="ctr"/>
            <a:r>
              <a:rPr sz="1200" b="0">
                <a:solidFill>
                  <a:srgbClr val="BE2D2D"/>
                </a:solidFill>
                <a:latin typeface="Arial"/>
              </a:rPr>
              <a:t>X</a:t>
            </a:r>
          </a:p>
        </p:txBody>
      </p:sp>
      <p:sp>
        <p:nvSpPr>
          <p:cNvPr id="24" name="Rectangle 23"/>
          <p:cNvSpPr/>
          <p:nvPr/>
        </p:nvSpPr>
        <p:spPr>
          <a:xfrm>
            <a:off x="3520439" y="2221992"/>
            <a:ext cx="150876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47871" y="2295144"/>
            <a:ext cx="1453895" cy="420623"/>
          </a:xfrm>
          <a:prstGeom prst="rect">
            <a:avLst/>
          </a:prstGeom>
          <a:noFill/>
        </p:spPr>
        <p:txBody>
          <a:bodyPr wrap="square" lIns="27432" tIns="18288" rIns="27432" bIns="18288" anchor="ctr">
            <a:normAutofit/>
          </a:bodyPr>
          <a:lstStyle/>
          <a:p>
            <a:pPr algn="ctr"/>
            <a:r>
              <a:rPr sz="1200" b="0">
                <a:solidFill>
                  <a:srgbClr val="141414"/>
                </a:solidFill>
                <a:latin typeface="Arial"/>
              </a:rPr>
              <a:t>Limited</a:t>
            </a:r>
          </a:p>
        </p:txBody>
      </p:sp>
      <p:sp>
        <p:nvSpPr>
          <p:cNvPr id="26" name="Rectangle 25"/>
          <p:cNvSpPr/>
          <p:nvPr/>
        </p:nvSpPr>
        <p:spPr>
          <a:xfrm>
            <a:off x="5029200" y="2221992"/>
            <a:ext cx="141732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56632" y="2295144"/>
            <a:ext cx="1362456" cy="420623"/>
          </a:xfrm>
          <a:prstGeom prst="rect">
            <a:avLst/>
          </a:prstGeom>
          <a:noFill/>
        </p:spPr>
        <p:txBody>
          <a:bodyPr wrap="square" lIns="27432" tIns="18288" rIns="27432" bIns="18288" anchor="ctr">
            <a:normAutofit/>
          </a:bodyPr>
          <a:lstStyle/>
          <a:p>
            <a:pPr algn="ctr"/>
            <a:r>
              <a:rPr sz="1200" b="0">
                <a:solidFill>
                  <a:srgbClr val="141414"/>
                </a:solidFill>
                <a:latin typeface="Arial"/>
              </a:rPr>
              <a:t>Low</a:t>
            </a:r>
          </a:p>
        </p:txBody>
      </p:sp>
      <p:sp>
        <p:nvSpPr>
          <p:cNvPr id="28" name="Rectangle 27"/>
          <p:cNvSpPr/>
          <p:nvPr/>
        </p:nvSpPr>
        <p:spPr>
          <a:xfrm>
            <a:off x="6446520" y="2221992"/>
            <a:ext cx="141732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73952" y="2295144"/>
            <a:ext cx="1362456" cy="420623"/>
          </a:xfrm>
          <a:prstGeom prst="rect">
            <a:avLst/>
          </a:prstGeom>
          <a:noFill/>
        </p:spPr>
        <p:txBody>
          <a:bodyPr wrap="square" lIns="27432" tIns="18288" rIns="27432" bIns="18288" anchor="ctr">
            <a:normAutofit/>
          </a:bodyPr>
          <a:lstStyle/>
          <a:p>
            <a:pPr algn="ctr"/>
            <a:r>
              <a:rPr sz="1200" b="0">
                <a:solidFill>
                  <a:srgbClr val="141414"/>
                </a:solidFill>
                <a:latin typeface="Arial"/>
              </a:rPr>
              <a:t>High</a:t>
            </a:r>
          </a:p>
        </p:txBody>
      </p:sp>
      <p:sp>
        <p:nvSpPr>
          <p:cNvPr id="30" name="Rectangle 29"/>
          <p:cNvSpPr/>
          <p:nvPr/>
        </p:nvSpPr>
        <p:spPr>
          <a:xfrm>
            <a:off x="7863840" y="2221992"/>
            <a:ext cx="370332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891271" y="2295144"/>
            <a:ext cx="3648456" cy="420623"/>
          </a:xfrm>
          <a:prstGeom prst="rect">
            <a:avLst/>
          </a:prstGeom>
          <a:noFill/>
        </p:spPr>
        <p:txBody>
          <a:bodyPr wrap="square" lIns="27432" tIns="18288" rIns="27432" bIns="18288" anchor="ctr">
            <a:normAutofit/>
          </a:bodyPr>
          <a:lstStyle/>
          <a:p>
            <a:pPr algn="l"/>
            <a:r>
              <a:rPr sz="1050" b="0">
                <a:solidFill>
                  <a:srgbClr val="141414"/>
                </a:solidFill>
                <a:latin typeface="Arial"/>
              </a:rPr>
              <a:t>Direct mixed compute, but limited data type / precision scope</a:t>
            </a:r>
          </a:p>
        </p:txBody>
      </p:sp>
      <p:sp>
        <p:nvSpPr>
          <p:cNvPr id="32" name="Rectangle 31"/>
          <p:cNvSpPr/>
          <p:nvPr/>
        </p:nvSpPr>
        <p:spPr>
          <a:xfrm>
            <a:off x="594360" y="2752344"/>
            <a:ext cx="150876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 y="2825496"/>
            <a:ext cx="1453895" cy="420623"/>
          </a:xfrm>
          <a:prstGeom prst="rect">
            <a:avLst/>
          </a:prstGeom>
          <a:noFill/>
        </p:spPr>
        <p:txBody>
          <a:bodyPr wrap="square" lIns="27432" tIns="18288" rIns="27432" bIns="18288" anchor="ctr">
            <a:normAutofit/>
          </a:bodyPr>
          <a:lstStyle/>
          <a:p>
            <a:pPr algn="ctr"/>
            <a:r>
              <a:rPr sz="1200" b="1">
                <a:solidFill>
                  <a:srgbClr val="141414"/>
                </a:solidFill>
                <a:latin typeface="Arial"/>
              </a:rPr>
              <a:t>ANT</a:t>
            </a:r>
          </a:p>
        </p:txBody>
      </p:sp>
      <p:sp>
        <p:nvSpPr>
          <p:cNvPr id="34" name="Rectangle 33"/>
          <p:cNvSpPr/>
          <p:nvPr/>
        </p:nvSpPr>
        <p:spPr>
          <a:xfrm>
            <a:off x="2103120" y="2752344"/>
            <a:ext cx="141732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130551" y="2825496"/>
            <a:ext cx="1362456" cy="420623"/>
          </a:xfrm>
          <a:prstGeom prst="rect">
            <a:avLst/>
          </a:prstGeom>
          <a:noFill/>
        </p:spPr>
        <p:txBody>
          <a:bodyPr wrap="square" lIns="27432" tIns="18288" rIns="27432" bIns="18288" anchor="ctr">
            <a:normAutofit/>
          </a:bodyPr>
          <a:lstStyle/>
          <a:p>
            <a:pPr algn="ctr"/>
            <a:r>
              <a:rPr sz="1200" b="0">
                <a:solidFill>
                  <a:srgbClr val="BE2D2D"/>
                </a:solidFill>
                <a:latin typeface="Arial"/>
              </a:rPr>
              <a:t>X</a:t>
            </a:r>
          </a:p>
        </p:txBody>
      </p:sp>
      <p:sp>
        <p:nvSpPr>
          <p:cNvPr id="36" name="Rectangle 35"/>
          <p:cNvSpPr/>
          <p:nvPr/>
        </p:nvSpPr>
        <p:spPr>
          <a:xfrm>
            <a:off x="3520439" y="2752344"/>
            <a:ext cx="150876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547871" y="2825496"/>
            <a:ext cx="1453895" cy="420623"/>
          </a:xfrm>
          <a:prstGeom prst="rect">
            <a:avLst/>
          </a:prstGeom>
          <a:noFill/>
        </p:spPr>
        <p:txBody>
          <a:bodyPr wrap="square" lIns="27432" tIns="18288" rIns="27432" bIns="18288" anchor="ctr">
            <a:normAutofit/>
          </a:bodyPr>
          <a:lstStyle/>
          <a:p>
            <a:pPr algn="ctr"/>
            <a:r>
              <a:rPr sz="1200" b="0">
                <a:solidFill>
                  <a:srgbClr val="141414"/>
                </a:solidFill>
                <a:latin typeface="Arial"/>
              </a:rPr>
              <a:t>Limited</a:t>
            </a:r>
          </a:p>
        </p:txBody>
      </p:sp>
      <p:sp>
        <p:nvSpPr>
          <p:cNvPr id="38" name="Rectangle 37"/>
          <p:cNvSpPr/>
          <p:nvPr/>
        </p:nvSpPr>
        <p:spPr>
          <a:xfrm>
            <a:off x="5029200" y="2752344"/>
            <a:ext cx="141732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56632" y="2825496"/>
            <a:ext cx="1362456" cy="420623"/>
          </a:xfrm>
          <a:prstGeom prst="rect">
            <a:avLst/>
          </a:prstGeom>
          <a:noFill/>
        </p:spPr>
        <p:txBody>
          <a:bodyPr wrap="square" lIns="27432" tIns="18288" rIns="27432" bIns="18288" anchor="ctr">
            <a:normAutofit/>
          </a:bodyPr>
          <a:lstStyle/>
          <a:p>
            <a:pPr algn="ctr"/>
            <a:r>
              <a:rPr sz="1200" b="0">
                <a:solidFill>
                  <a:srgbClr val="141414"/>
                </a:solidFill>
                <a:latin typeface="Arial"/>
              </a:rPr>
              <a:t>Low</a:t>
            </a:r>
          </a:p>
        </p:txBody>
      </p:sp>
      <p:sp>
        <p:nvSpPr>
          <p:cNvPr id="40" name="Rectangle 39"/>
          <p:cNvSpPr/>
          <p:nvPr/>
        </p:nvSpPr>
        <p:spPr>
          <a:xfrm>
            <a:off x="6446520" y="2752344"/>
            <a:ext cx="141732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73952" y="2825496"/>
            <a:ext cx="1362456" cy="420623"/>
          </a:xfrm>
          <a:prstGeom prst="rect">
            <a:avLst/>
          </a:prstGeom>
          <a:noFill/>
        </p:spPr>
        <p:txBody>
          <a:bodyPr wrap="square" lIns="27432" tIns="18288" rIns="27432" bIns="18288" anchor="ctr">
            <a:normAutofit/>
          </a:bodyPr>
          <a:lstStyle/>
          <a:p>
            <a:pPr algn="ctr"/>
            <a:r>
              <a:rPr sz="1200" b="0">
                <a:solidFill>
                  <a:srgbClr val="141414"/>
                </a:solidFill>
                <a:latin typeface="Arial"/>
              </a:rPr>
              <a:t>High</a:t>
            </a:r>
          </a:p>
        </p:txBody>
      </p:sp>
      <p:sp>
        <p:nvSpPr>
          <p:cNvPr id="42" name="Rectangle 41"/>
          <p:cNvSpPr/>
          <p:nvPr/>
        </p:nvSpPr>
        <p:spPr>
          <a:xfrm>
            <a:off x="7863840" y="2752344"/>
            <a:ext cx="370332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891271" y="2825496"/>
            <a:ext cx="3648456" cy="420623"/>
          </a:xfrm>
          <a:prstGeom prst="rect">
            <a:avLst/>
          </a:prstGeom>
          <a:noFill/>
        </p:spPr>
        <p:txBody>
          <a:bodyPr wrap="square" lIns="27432" tIns="18288" rIns="27432" bIns="18288" anchor="ctr">
            <a:normAutofit/>
          </a:bodyPr>
          <a:lstStyle/>
          <a:p>
            <a:pPr algn="l"/>
            <a:r>
              <a:rPr sz="1050" b="0">
                <a:solidFill>
                  <a:srgbClr val="141414"/>
                </a:solidFill>
                <a:latin typeface="Arial"/>
              </a:rPr>
              <a:t>Data types are mainly per-channel oriented</a:t>
            </a:r>
          </a:p>
        </p:txBody>
      </p:sp>
      <p:sp>
        <p:nvSpPr>
          <p:cNvPr id="44" name="Rectangle 43"/>
          <p:cNvSpPr/>
          <p:nvPr/>
        </p:nvSpPr>
        <p:spPr>
          <a:xfrm>
            <a:off x="594360" y="3282696"/>
            <a:ext cx="150876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1792" y="3355848"/>
            <a:ext cx="1453895" cy="420623"/>
          </a:xfrm>
          <a:prstGeom prst="rect">
            <a:avLst/>
          </a:prstGeom>
          <a:noFill/>
        </p:spPr>
        <p:txBody>
          <a:bodyPr wrap="square" lIns="27432" tIns="18288" rIns="27432" bIns="18288" anchor="ctr">
            <a:normAutofit/>
          </a:bodyPr>
          <a:lstStyle/>
          <a:p>
            <a:pPr algn="ctr"/>
            <a:r>
              <a:rPr sz="1200" b="1">
                <a:solidFill>
                  <a:srgbClr val="141414"/>
                </a:solidFill>
                <a:latin typeface="Arial"/>
              </a:rPr>
              <a:t>OliVe</a:t>
            </a:r>
          </a:p>
        </p:txBody>
      </p:sp>
      <p:sp>
        <p:nvSpPr>
          <p:cNvPr id="46" name="Rectangle 45"/>
          <p:cNvSpPr/>
          <p:nvPr/>
        </p:nvSpPr>
        <p:spPr>
          <a:xfrm>
            <a:off x="2103120" y="3282696"/>
            <a:ext cx="141732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130551" y="3355848"/>
            <a:ext cx="1362456" cy="420623"/>
          </a:xfrm>
          <a:prstGeom prst="rect">
            <a:avLst/>
          </a:prstGeom>
          <a:noFill/>
        </p:spPr>
        <p:txBody>
          <a:bodyPr wrap="square" lIns="27432" tIns="18288" rIns="27432" bIns="18288" anchor="ctr">
            <a:normAutofit/>
          </a:bodyPr>
          <a:lstStyle/>
          <a:p>
            <a:pPr algn="ctr"/>
            <a:r>
              <a:rPr sz="1200" b="0">
                <a:solidFill>
                  <a:srgbClr val="BE2D2D"/>
                </a:solidFill>
                <a:latin typeface="Arial"/>
              </a:rPr>
              <a:t>X</a:t>
            </a:r>
          </a:p>
        </p:txBody>
      </p:sp>
      <p:sp>
        <p:nvSpPr>
          <p:cNvPr id="48" name="Rectangle 47"/>
          <p:cNvSpPr/>
          <p:nvPr/>
        </p:nvSpPr>
        <p:spPr>
          <a:xfrm>
            <a:off x="3520439" y="3282696"/>
            <a:ext cx="150876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547871" y="3355848"/>
            <a:ext cx="1453895" cy="420623"/>
          </a:xfrm>
          <a:prstGeom prst="rect">
            <a:avLst/>
          </a:prstGeom>
          <a:noFill/>
        </p:spPr>
        <p:txBody>
          <a:bodyPr wrap="square" lIns="27432" tIns="18288" rIns="27432" bIns="18288" anchor="ctr">
            <a:normAutofit/>
          </a:bodyPr>
          <a:lstStyle/>
          <a:p>
            <a:pPr algn="ctr"/>
            <a:r>
              <a:rPr sz="1200" b="0">
                <a:solidFill>
                  <a:srgbClr val="141414"/>
                </a:solidFill>
                <a:latin typeface="Arial"/>
              </a:rPr>
              <a:t>Limited</a:t>
            </a:r>
          </a:p>
        </p:txBody>
      </p:sp>
      <p:sp>
        <p:nvSpPr>
          <p:cNvPr id="50" name="Rectangle 49"/>
          <p:cNvSpPr/>
          <p:nvPr/>
        </p:nvSpPr>
        <p:spPr>
          <a:xfrm>
            <a:off x="5029200" y="3282696"/>
            <a:ext cx="141732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056632" y="3355848"/>
            <a:ext cx="1362456" cy="420623"/>
          </a:xfrm>
          <a:prstGeom prst="rect">
            <a:avLst/>
          </a:prstGeom>
          <a:noFill/>
        </p:spPr>
        <p:txBody>
          <a:bodyPr wrap="square" lIns="27432" tIns="18288" rIns="27432" bIns="18288" anchor="ctr">
            <a:normAutofit/>
          </a:bodyPr>
          <a:lstStyle/>
          <a:p>
            <a:pPr algn="ctr"/>
            <a:r>
              <a:rPr sz="1200" b="0">
                <a:solidFill>
                  <a:srgbClr val="141414"/>
                </a:solidFill>
                <a:latin typeface="Arial"/>
              </a:rPr>
              <a:t>Mid</a:t>
            </a:r>
          </a:p>
        </p:txBody>
      </p:sp>
      <p:sp>
        <p:nvSpPr>
          <p:cNvPr id="52" name="Rectangle 51"/>
          <p:cNvSpPr/>
          <p:nvPr/>
        </p:nvSpPr>
        <p:spPr>
          <a:xfrm>
            <a:off x="6446520" y="3282696"/>
            <a:ext cx="141732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73952" y="3355848"/>
            <a:ext cx="1362456" cy="420623"/>
          </a:xfrm>
          <a:prstGeom prst="rect">
            <a:avLst/>
          </a:prstGeom>
          <a:noFill/>
        </p:spPr>
        <p:txBody>
          <a:bodyPr wrap="square" lIns="27432" tIns="18288" rIns="27432" bIns="18288" anchor="ctr">
            <a:normAutofit/>
          </a:bodyPr>
          <a:lstStyle/>
          <a:p>
            <a:pPr algn="ctr"/>
            <a:r>
              <a:rPr sz="1200" b="0">
                <a:solidFill>
                  <a:srgbClr val="141414"/>
                </a:solidFill>
                <a:latin typeface="Arial"/>
              </a:rPr>
              <a:t>High</a:t>
            </a:r>
          </a:p>
        </p:txBody>
      </p:sp>
      <p:sp>
        <p:nvSpPr>
          <p:cNvPr id="54" name="Rectangle 53"/>
          <p:cNvSpPr/>
          <p:nvPr/>
        </p:nvSpPr>
        <p:spPr>
          <a:xfrm>
            <a:off x="7863840" y="3282696"/>
            <a:ext cx="3703320" cy="530352"/>
          </a:xfrm>
          <a:prstGeom prst="rect">
            <a:avLst/>
          </a:prstGeom>
          <a:solidFill>
            <a:srgbClr val="FAFA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91271" y="3355848"/>
            <a:ext cx="3648456" cy="420623"/>
          </a:xfrm>
          <a:prstGeom prst="rect">
            <a:avLst/>
          </a:prstGeom>
          <a:noFill/>
        </p:spPr>
        <p:txBody>
          <a:bodyPr wrap="square" lIns="27432" tIns="18288" rIns="27432" bIns="18288" anchor="ctr">
            <a:normAutofit/>
          </a:bodyPr>
          <a:lstStyle/>
          <a:p>
            <a:pPr algn="l"/>
            <a:r>
              <a:rPr sz="1050" b="0">
                <a:solidFill>
                  <a:srgbClr val="141414"/>
                </a:solidFill>
                <a:latin typeface="Arial"/>
              </a:rPr>
              <a:t>Outlier protection needs victim values and special handling</a:t>
            </a:r>
          </a:p>
        </p:txBody>
      </p:sp>
      <p:sp>
        <p:nvSpPr>
          <p:cNvPr id="56" name="Rectangle 55"/>
          <p:cNvSpPr/>
          <p:nvPr/>
        </p:nvSpPr>
        <p:spPr>
          <a:xfrm>
            <a:off x="594360" y="3813048"/>
            <a:ext cx="150876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21792" y="3886200"/>
            <a:ext cx="1453895" cy="420623"/>
          </a:xfrm>
          <a:prstGeom prst="rect">
            <a:avLst/>
          </a:prstGeom>
          <a:noFill/>
        </p:spPr>
        <p:txBody>
          <a:bodyPr wrap="square" lIns="27432" tIns="18288" rIns="27432" bIns="18288" anchor="ctr">
            <a:normAutofit/>
          </a:bodyPr>
          <a:lstStyle/>
          <a:p>
            <a:pPr algn="ctr"/>
            <a:r>
              <a:rPr sz="1200" b="1">
                <a:solidFill>
                  <a:srgbClr val="141414"/>
                </a:solidFill>
                <a:latin typeface="Arial"/>
              </a:rPr>
              <a:t>Microscaling</a:t>
            </a:r>
          </a:p>
        </p:txBody>
      </p:sp>
      <p:sp>
        <p:nvSpPr>
          <p:cNvPr id="58" name="Rectangle 57"/>
          <p:cNvSpPr/>
          <p:nvPr/>
        </p:nvSpPr>
        <p:spPr>
          <a:xfrm>
            <a:off x="2103120" y="3813048"/>
            <a:ext cx="141732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130551" y="3886200"/>
            <a:ext cx="1362456" cy="420623"/>
          </a:xfrm>
          <a:prstGeom prst="rect">
            <a:avLst/>
          </a:prstGeom>
          <a:noFill/>
        </p:spPr>
        <p:txBody>
          <a:bodyPr wrap="square" lIns="27432" tIns="18288" rIns="27432" bIns="18288" anchor="ctr">
            <a:normAutofit/>
          </a:bodyPr>
          <a:lstStyle/>
          <a:p>
            <a:pPr algn="ctr"/>
            <a:r>
              <a:rPr sz="1200" b="0">
                <a:solidFill>
                  <a:srgbClr val="00245D"/>
                </a:solidFill>
                <a:latin typeface="Arial"/>
              </a:rPr>
              <a:t>O</a:t>
            </a:r>
          </a:p>
        </p:txBody>
      </p:sp>
      <p:sp>
        <p:nvSpPr>
          <p:cNvPr id="60" name="Rectangle 59"/>
          <p:cNvSpPr/>
          <p:nvPr/>
        </p:nvSpPr>
        <p:spPr>
          <a:xfrm>
            <a:off x="3520439" y="3813048"/>
            <a:ext cx="150876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547871" y="3886200"/>
            <a:ext cx="1453895" cy="420623"/>
          </a:xfrm>
          <a:prstGeom prst="rect">
            <a:avLst/>
          </a:prstGeom>
          <a:noFill/>
        </p:spPr>
        <p:txBody>
          <a:bodyPr wrap="square" lIns="27432" tIns="18288" rIns="27432" bIns="18288" anchor="ctr">
            <a:normAutofit/>
          </a:bodyPr>
          <a:lstStyle/>
          <a:p>
            <a:pPr algn="ctr"/>
            <a:r>
              <a:rPr sz="1200" b="0">
                <a:solidFill>
                  <a:srgbClr val="00245D"/>
                </a:solidFill>
                <a:latin typeface="Arial"/>
              </a:rPr>
              <a:t>O</a:t>
            </a:r>
          </a:p>
        </p:txBody>
      </p:sp>
      <p:sp>
        <p:nvSpPr>
          <p:cNvPr id="62" name="Rectangle 61"/>
          <p:cNvSpPr/>
          <p:nvPr/>
        </p:nvSpPr>
        <p:spPr>
          <a:xfrm>
            <a:off x="5029200" y="3813048"/>
            <a:ext cx="141732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056632" y="3886200"/>
            <a:ext cx="1362456" cy="420623"/>
          </a:xfrm>
          <a:prstGeom prst="rect">
            <a:avLst/>
          </a:prstGeom>
          <a:noFill/>
        </p:spPr>
        <p:txBody>
          <a:bodyPr wrap="square" lIns="27432" tIns="18288" rIns="27432" bIns="18288" anchor="ctr">
            <a:normAutofit/>
          </a:bodyPr>
          <a:lstStyle/>
          <a:p>
            <a:pPr algn="ctr"/>
            <a:r>
              <a:rPr sz="1200" b="0">
                <a:solidFill>
                  <a:srgbClr val="141414"/>
                </a:solidFill>
                <a:latin typeface="Arial"/>
              </a:rPr>
              <a:t>Low</a:t>
            </a:r>
          </a:p>
        </p:txBody>
      </p:sp>
      <p:sp>
        <p:nvSpPr>
          <p:cNvPr id="64" name="Rectangle 63"/>
          <p:cNvSpPr/>
          <p:nvPr/>
        </p:nvSpPr>
        <p:spPr>
          <a:xfrm>
            <a:off x="6446520" y="3813048"/>
            <a:ext cx="141732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473952" y="3886200"/>
            <a:ext cx="1362456" cy="420623"/>
          </a:xfrm>
          <a:prstGeom prst="rect">
            <a:avLst/>
          </a:prstGeom>
          <a:noFill/>
        </p:spPr>
        <p:txBody>
          <a:bodyPr wrap="square" lIns="27432" tIns="18288" rIns="27432" bIns="18288" anchor="ctr">
            <a:normAutofit/>
          </a:bodyPr>
          <a:lstStyle/>
          <a:p>
            <a:pPr algn="ctr"/>
            <a:r>
              <a:rPr sz="1200" b="0">
                <a:solidFill>
                  <a:srgbClr val="141414"/>
                </a:solidFill>
                <a:latin typeface="Arial"/>
              </a:rPr>
              <a:t>Mid</a:t>
            </a:r>
          </a:p>
        </p:txBody>
      </p:sp>
      <p:sp>
        <p:nvSpPr>
          <p:cNvPr id="66" name="Rectangle 65"/>
          <p:cNvSpPr/>
          <p:nvPr/>
        </p:nvSpPr>
        <p:spPr>
          <a:xfrm>
            <a:off x="7863840" y="3813048"/>
            <a:ext cx="3703320" cy="530352"/>
          </a:xfrm>
          <a:prstGeom prst="rect">
            <a:avLst/>
          </a:prstGeom>
          <a:solidFill>
            <a:srgbClr val="F5F7FA"/>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891271" y="3886200"/>
            <a:ext cx="3648456" cy="420623"/>
          </a:xfrm>
          <a:prstGeom prst="rect">
            <a:avLst/>
          </a:prstGeom>
          <a:noFill/>
        </p:spPr>
        <p:txBody>
          <a:bodyPr wrap="square" lIns="27432" tIns="18288" rIns="27432" bIns="18288" anchor="ctr">
            <a:normAutofit/>
          </a:bodyPr>
          <a:lstStyle/>
          <a:p>
            <a:pPr algn="l"/>
            <a:r>
              <a:rPr sz="1050" b="0">
                <a:solidFill>
                  <a:srgbClr val="141414"/>
                </a:solidFill>
                <a:latin typeface="Arial"/>
              </a:rPr>
              <a:t>Shared exponent / FP-like path increases energy cost</a:t>
            </a:r>
          </a:p>
        </p:txBody>
      </p:sp>
      <p:sp>
        <p:nvSpPr>
          <p:cNvPr id="68" name="Rectangle 67"/>
          <p:cNvSpPr/>
          <p:nvPr/>
        </p:nvSpPr>
        <p:spPr>
          <a:xfrm>
            <a:off x="594360" y="4343400"/>
            <a:ext cx="1508760" cy="530352"/>
          </a:xfrm>
          <a:prstGeom prst="rect">
            <a:avLst/>
          </a:prstGeom>
          <a:solidFill>
            <a:srgbClr val="F0F7FD"/>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21792" y="4416552"/>
            <a:ext cx="1453895" cy="420623"/>
          </a:xfrm>
          <a:prstGeom prst="rect">
            <a:avLst/>
          </a:prstGeom>
          <a:noFill/>
        </p:spPr>
        <p:txBody>
          <a:bodyPr wrap="square" lIns="27432" tIns="18288" rIns="27432" bIns="18288" anchor="ctr">
            <a:normAutofit/>
          </a:bodyPr>
          <a:lstStyle/>
          <a:p>
            <a:pPr algn="ctr"/>
            <a:r>
              <a:rPr sz="1200" b="1">
                <a:solidFill>
                  <a:srgbClr val="00245D"/>
                </a:solidFill>
                <a:latin typeface="Arial"/>
              </a:rPr>
              <a:t>BitMoD</a:t>
            </a:r>
          </a:p>
        </p:txBody>
      </p:sp>
      <p:sp>
        <p:nvSpPr>
          <p:cNvPr id="70" name="Rectangle 69"/>
          <p:cNvSpPr/>
          <p:nvPr/>
        </p:nvSpPr>
        <p:spPr>
          <a:xfrm>
            <a:off x="2103120" y="4343400"/>
            <a:ext cx="1417320" cy="530352"/>
          </a:xfrm>
          <a:prstGeom prst="rect">
            <a:avLst/>
          </a:prstGeom>
          <a:solidFill>
            <a:srgbClr val="F0F7FD"/>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130551" y="4416552"/>
            <a:ext cx="1362456" cy="420623"/>
          </a:xfrm>
          <a:prstGeom prst="rect">
            <a:avLst/>
          </a:prstGeom>
          <a:noFill/>
        </p:spPr>
        <p:txBody>
          <a:bodyPr wrap="square" lIns="27432" tIns="18288" rIns="27432" bIns="18288" anchor="ctr">
            <a:normAutofit/>
          </a:bodyPr>
          <a:lstStyle/>
          <a:p>
            <a:pPr algn="ctr"/>
            <a:r>
              <a:rPr sz="1200" b="1">
                <a:solidFill>
                  <a:srgbClr val="00245D"/>
                </a:solidFill>
                <a:latin typeface="Arial"/>
              </a:rPr>
              <a:t>O</a:t>
            </a:r>
          </a:p>
        </p:txBody>
      </p:sp>
      <p:sp>
        <p:nvSpPr>
          <p:cNvPr id="72" name="Rectangle 71"/>
          <p:cNvSpPr/>
          <p:nvPr/>
        </p:nvSpPr>
        <p:spPr>
          <a:xfrm>
            <a:off x="3520439" y="4343400"/>
            <a:ext cx="1508760" cy="530352"/>
          </a:xfrm>
          <a:prstGeom prst="rect">
            <a:avLst/>
          </a:prstGeom>
          <a:solidFill>
            <a:srgbClr val="F0F7FD"/>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547871" y="4416552"/>
            <a:ext cx="1453895" cy="420623"/>
          </a:xfrm>
          <a:prstGeom prst="rect">
            <a:avLst/>
          </a:prstGeom>
          <a:noFill/>
        </p:spPr>
        <p:txBody>
          <a:bodyPr wrap="square" lIns="27432" tIns="18288" rIns="27432" bIns="18288" anchor="ctr">
            <a:normAutofit/>
          </a:bodyPr>
          <a:lstStyle/>
          <a:p>
            <a:pPr algn="ctr"/>
            <a:r>
              <a:rPr sz="1200" b="1">
                <a:solidFill>
                  <a:srgbClr val="00245D"/>
                </a:solidFill>
                <a:latin typeface="Arial"/>
              </a:rPr>
              <a:t>O</a:t>
            </a:r>
          </a:p>
        </p:txBody>
      </p:sp>
      <p:sp>
        <p:nvSpPr>
          <p:cNvPr id="74" name="Rectangle 73"/>
          <p:cNvSpPr/>
          <p:nvPr/>
        </p:nvSpPr>
        <p:spPr>
          <a:xfrm>
            <a:off x="5029200" y="4343400"/>
            <a:ext cx="1417320" cy="530352"/>
          </a:xfrm>
          <a:prstGeom prst="rect">
            <a:avLst/>
          </a:prstGeom>
          <a:solidFill>
            <a:srgbClr val="F0F7FD"/>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056632" y="4416552"/>
            <a:ext cx="1362456" cy="420623"/>
          </a:xfrm>
          <a:prstGeom prst="rect">
            <a:avLst/>
          </a:prstGeom>
          <a:noFill/>
        </p:spPr>
        <p:txBody>
          <a:bodyPr wrap="square" lIns="27432" tIns="18288" rIns="27432" bIns="18288" anchor="ctr">
            <a:normAutofit/>
          </a:bodyPr>
          <a:lstStyle/>
          <a:p>
            <a:pPr algn="ctr"/>
            <a:r>
              <a:rPr sz="1200" b="1">
                <a:solidFill>
                  <a:srgbClr val="00245D"/>
                </a:solidFill>
                <a:latin typeface="Arial"/>
              </a:rPr>
              <a:t>High</a:t>
            </a:r>
          </a:p>
        </p:txBody>
      </p:sp>
      <p:sp>
        <p:nvSpPr>
          <p:cNvPr id="76" name="Rectangle 75"/>
          <p:cNvSpPr/>
          <p:nvPr/>
        </p:nvSpPr>
        <p:spPr>
          <a:xfrm>
            <a:off x="6446520" y="4343400"/>
            <a:ext cx="1417320" cy="530352"/>
          </a:xfrm>
          <a:prstGeom prst="rect">
            <a:avLst/>
          </a:prstGeom>
          <a:solidFill>
            <a:srgbClr val="F0F7FD"/>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473952" y="4416552"/>
            <a:ext cx="1362456" cy="420623"/>
          </a:xfrm>
          <a:prstGeom prst="rect">
            <a:avLst/>
          </a:prstGeom>
          <a:noFill/>
        </p:spPr>
        <p:txBody>
          <a:bodyPr wrap="square" lIns="27432" tIns="18288" rIns="27432" bIns="18288" anchor="ctr">
            <a:normAutofit/>
          </a:bodyPr>
          <a:lstStyle/>
          <a:p>
            <a:pPr algn="ctr"/>
            <a:r>
              <a:rPr sz="1200" b="1">
                <a:solidFill>
                  <a:srgbClr val="00245D"/>
                </a:solidFill>
                <a:latin typeface="Arial"/>
              </a:rPr>
              <a:t>High</a:t>
            </a:r>
          </a:p>
        </p:txBody>
      </p:sp>
      <p:sp>
        <p:nvSpPr>
          <p:cNvPr id="78" name="Rectangle 77"/>
          <p:cNvSpPr/>
          <p:nvPr/>
        </p:nvSpPr>
        <p:spPr>
          <a:xfrm>
            <a:off x="7863840" y="4343400"/>
            <a:ext cx="3703320" cy="530352"/>
          </a:xfrm>
          <a:prstGeom prst="rect">
            <a:avLst/>
          </a:prstGeom>
          <a:solidFill>
            <a:srgbClr val="F0F7FD"/>
          </a:solidFill>
          <a:ln w="6350">
            <a:solidFill>
              <a:srgbClr val="D2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891271" y="4416552"/>
            <a:ext cx="3648456" cy="420623"/>
          </a:xfrm>
          <a:prstGeom prst="rect">
            <a:avLst/>
          </a:prstGeom>
          <a:noFill/>
        </p:spPr>
        <p:txBody>
          <a:bodyPr wrap="square" lIns="27432" tIns="18288" rIns="27432" bIns="18288" anchor="ctr">
            <a:normAutofit/>
          </a:bodyPr>
          <a:lstStyle/>
          <a:p>
            <a:pPr algn="l"/>
            <a:r>
              <a:rPr sz="1050" b="1">
                <a:solidFill>
                  <a:srgbClr val="00245D"/>
                </a:solidFill>
                <a:latin typeface="Arial"/>
              </a:rPr>
              <a:t>Target: satisfy all four goals together</a:t>
            </a:r>
          </a:p>
        </p:txBody>
      </p:sp>
      <p:sp>
        <p:nvSpPr>
          <p:cNvPr id="80" name="TextBox 79"/>
          <p:cNvSpPr txBox="1"/>
          <p:nvPr/>
        </p:nvSpPr>
        <p:spPr>
          <a:xfrm>
            <a:off x="717080" y="5394960"/>
            <a:ext cx="1828800" cy="274320"/>
          </a:xfrm>
          <a:prstGeom prst="rect">
            <a:avLst/>
          </a:prstGeom>
          <a:noFill/>
        </p:spPr>
        <p:txBody>
          <a:bodyPr wrap="square" lIns="27432" tIns="18288" rIns="27432" bIns="18288">
            <a:spAutoFit/>
          </a:bodyPr>
          <a:lstStyle/>
          <a:p>
            <a:r>
              <a:rPr sz="1600" b="1">
                <a:solidFill>
                  <a:srgbClr val="00245D"/>
                </a:solidFill>
                <a:latin typeface="Arial"/>
              </a:rPr>
              <a:t>Design target</a:t>
            </a:r>
          </a:p>
        </p:txBody>
      </p:sp>
      <p:sp>
        <p:nvSpPr>
          <p:cNvPr id="81" name="Rounded Rectangle 80"/>
          <p:cNvSpPr/>
          <p:nvPr/>
        </p:nvSpPr>
        <p:spPr>
          <a:xfrm>
            <a:off x="2148840" y="5230368"/>
            <a:ext cx="1828800" cy="566928"/>
          </a:xfrm>
          <a:prstGeom prst="roundRect">
            <a:avLst/>
          </a:prstGeom>
          <a:solidFill>
            <a:srgbClr val="E0EEFA"/>
          </a:solidFill>
          <a:ln>
            <a:solidFill>
              <a:srgbClr val="E0EE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2185416" y="5266944"/>
            <a:ext cx="1755648" cy="493776"/>
          </a:xfrm>
          <a:prstGeom prst="rect">
            <a:avLst/>
          </a:prstGeom>
          <a:noFill/>
        </p:spPr>
        <p:txBody>
          <a:bodyPr wrap="square" lIns="27432" tIns="18288" rIns="27432" bIns="18288" anchor="ctr">
            <a:normAutofit/>
          </a:bodyPr>
          <a:lstStyle/>
          <a:p>
            <a:pPr algn="ctr"/>
            <a:r>
              <a:rPr sz="1200" b="1">
                <a:solidFill>
                  <a:srgbClr val="141414"/>
                </a:solidFill>
                <a:latin typeface="Arial"/>
              </a:rPr>
              <a:t>Per-Group</a:t>
            </a:r>
            <a:br/>
            <a:r>
              <a:rPr sz="1200" b="1">
                <a:solidFill>
                  <a:srgbClr val="141414"/>
                </a:solidFill>
                <a:latin typeface="Arial"/>
              </a:rPr>
              <a:t>Quantization</a:t>
            </a:r>
          </a:p>
        </p:txBody>
      </p:sp>
      <p:sp>
        <p:nvSpPr>
          <p:cNvPr id="83" name="TextBox 82"/>
          <p:cNvSpPr txBox="1"/>
          <p:nvPr/>
        </p:nvSpPr>
        <p:spPr>
          <a:xfrm>
            <a:off x="4160520" y="5349240"/>
            <a:ext cx="274320" cy="274320"/>
          </a:xfrm>
          <a:prstGeom prst="rect">
            <a:avLst/>
          </a:prstGeom>
          <a:noFill/>
        </p:spPr>
        <p:txBody>
          <a:bodyPr wrap="square" lIns="27432" tIns="18288" rIns="27432" bIns="18288">
            <a:spAutoFit/>
          </a:bodyPr>
          <a:lstStyle/>
          <a:p>
            <a:r>
              <a:rPr sz="1800" b="1">
                <a:solidFill>
                  <a:srgbClr val="141414"/>
                </a:solidFill>
                <a:latin typeface="Arial"/>
              </a:rPr>
              <a:t>+</a:t>
            </a:r>
          </a:p>
        </p:txBody>
      </p:sp>
      <p:sp>
        <p:nvSpPr>
          <p:cNvPr id="84" name="Rounded Rectangle 83"/>
          <p:cNvSpPr/>
          <p:nvPr/>
        </p:nvSpPr>
        <p:spPr>
          <a:xfrm>
            <a:off x="4526280" y="5230368"/>
            <a:ext cx="1645920" cy="566928"/>
          </a:xfrm>
          <a:prstGeom prst="roundRect">
            <a:avLst/>
          </a:prstGeom>
          <a:solidFill>
            <a:srgbClr val="E0EEFA"/>
          </a:solidFill>
          <a:ln>
            <a:solidFill>
              <a:srgbClr val="E0EE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562856" y="5266944"/>
            <a:ext cx="1572768" cy="493776"/>
          </a:xfrm>
          <a:prstGeom prst="rect">
            <a:avLst/>
          </a:prstGeom>
          <a:noFill/>
        </p:spPr>
        <p:txBody>
          <a:bodyPr wrap="square" lIns="27432" tIns="18288" rIns="27432" bIns="18288" anchor="ctr">
            <a:normAutofit/>
          </a:bodyPr>
          <a:lstStyle/>
          <a:p>
            <a:pPr algn="ctr"/>
            <a:r>
              <a:rPr sz="1200" b="1">
                <a:solidFill>
                  <a:srgbClr val="141414"/>
                </a:solidFill>
                <a:latin typeface="Arial"/>
              </a:rPr>
              <a:t>Flexible</a:t>
            </a:r>
            <a:br/>
            <a:r>
              <a:rPr sz="1200" b="1">
                <a:solidFill>
                  <a:srgbClr val="141414"/>
                </a:solidFill>
                <a:latin typeface="Arial"/>
              </a:rPr>
              <a:t>Bit-width</a:t>
            </a:r>
          </a:p>
        </p:txBody>
      </p:sp>
      <p:sp>
        <p:nvSpPr>
          <p:cNvPr id="86" name="TextBox 85"/>
          <p:cNvSpPr txBox="1"/>
          <p:nvPr/>
        </p:nvSpPr>
        <p:spPr>
          <a:xfrm>
            <a:off x="6309360" y="5349240"/>
            <a:ext cx="274320" cy="274320"/>
          </a:xfrm>
          <a:prstGeom prst="rect">
            <a:avLst/>
          </a:prstGeom>
          <a:noFill/>
        </p:spPr>
        <p:txBody>
          <a:bodyPr wrap="square" lIns="27432" tIns="18288" rIns="27432" bIns="18288">
            <a:spAutoFit/>
          </a:bodyPr>
          <a:lstStyle/>
          <a:p>
            <a:r>
              <a:rPr sz="1800" b="1">
                <a:solidFill>
                  <a:srgbClr val="141414"/>
                </a:solidFill>
                <a:latin typeface="Arial"/>
              </a:rPr>
              <a:t>+</a:t>
            </a:r>
          </a:p>
        </p:txBody>
      </p:sp>
      <p:sp>
        <p:nvSpPr>
          <p:cNvPr id="87" name="Rounded Rectangle 86"/>
          <p:cNvSpPr/>
          <p:nvPr/>
        </p:nvSpPr>
        <p:spPr>
          <a:xfrm>
            <a:off x="6675120" y="5230368"/>
            <a:ext cx="1783080" cy="566928"/>
          </a:xfrm>
          <a:prstGeom prst="roundRect">
            <a:avLst/>
          </a:prstGeom>
          <a:solidFill>
            <a:srgbClr val="E0EEFA"/>
          </a:solidFill>
          <a:ln>
            <a:solidFill>
              <a:srgbClr val="E0EE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6711696" y="5266944"/>
            <a:ext cx="1709928" cy="493776"/>
          </a:xfrm>
          <a:prstGeom prst="rect">
            <a:avLst/>
          </a:prstGeom>
          <a:noFill/>
        </p:spPr>
        <p:txBody>
          <a:bodyPr wrap="square" lIns="27432" tIns="18288" rIns="27432" bIns="18288" anchor="ctr">
            <a:normAutofit/>
          </a:bodyPr>
          <a:lstStyle/>
          <a:p>
            <a:pPr algn="ctr"/>
            <a:r>
              <a:rPr sz="1200" b="1">
                <a:solidFill>
                  <a:srgbClr val="141414"/>
                </a:solidFill>
                <a:latin typeface="Arial"/>
              </a:rPr>
              <a:t>Sub-4-bit</a:t>
            </a:r>
            <a:br/>
            <a:r>
              <a:rPr sz="1200" b="1">
                <a:solidFill>
                  <a:srgbClr val="141414"/>
                </a:solidFill>
                <a:latin typeface="Arial"/>
              </a:rPr>
              <a:t>Accuracy</a:t>
            </a:r>
          </a:p>
        </p:txBody>
      </p:sp>
      <p:sp>
        <p:nvSpPr>
          <p:cNvPr id="89" name="TextBox 88"/>
          <p:cNvSpPr txBox="1"/>
          <p:nvPr/>
        </p:nvSpPr>
        <p:spPr>
          <a:xfrm>
            <a:off x="8613648" y="5349240"/>
            <a:ext cx="274320" cy="274320"/>
          </a:xfrm>
          <a:prstGeom prst="rect">
            <a:avLst/>
          </a:prstGeom>
          <a:noFill/>
        </p:spPr>
        <p:txBody>
          <a:bodyPr wrap="square" lIns="27432" tIns="18288" rIns="27432" bIns="18288">
            <a:spAutoFit/>
          </a:bodyPr>
          <a:lstStyle/>
          <a:p>
            <a:r>
              <a:rPr sz="1800" b="1">
                <a:solidFill>
                  <a:srgbClr val="141414"/>
                </a:solidFill>
                <a:latin typeface="Arial"/>
              </a:rPr>
              <a:t>+</a:t>
            </a:r>
          </a:p>
        </p:txBody>
      </p:sp>
      <p:sp>
        <p:nvSpPr>
          <p:cNvPr id="90" name="Rounded Rectangle 89"/>
          <p:cNvSpPr/>
          <p:nvPr/>
        </p:nvSpPr>
        <p:spPr>
          <a:xfrm>
            <a:off x="8979408" y="5230368"/>
            <a:ext cx="1645920" cy="566928"/>
          </a:xfrm>
          <a:prstGeom prst="roundRect">
            <a:avLst/>
          </a:prstGeom>
          <a:solidFill>
            <a:srgbClr val="E0EEFA"/>
          </a:solidFill>
          <a:ln>
            <a:solidFill>
              <a:srgbClr val="E0EE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9015984" y="5266944"/>
            <a:ext cx="1572768" cy="493776"/>
          </a:xfrm>
          <a:prstGeom prst="rect">
            <a:avLst/>
          </a:prstGeom>
          <a:noFill/>
        </p:spPr>
        <p:txBody>
          <a:bodyPr wrap="square" lIns="27432" tIns="18288" rIns="27432" bIns="18288" anchor="ctr">
            <a:normAutofit/>
          </a:bodyPr>
          <a:lstStyle/>
          <a:p>
            <a:pPr algn="ctr"/>
            <a:r>
              <a:rPr sz="1200" b="1">
                <a:solidFill>
                  <a:srgbClr val="141414"/>
                </a:solidFill>
                <a:latin typeface="Arial"/>
              </a:rPr>
              <a:t>Efficient</a:t>
            </a:r>
            <a:br/>
            <a:r>
              <a:rPr sz="1200" b="1">
                <a:solidFill>
                  <a:srgbClr val="141414"/>
                </a:solidFill>
                <a:latin typeface="Arial"/>
              </a:rPr>
              <a:t>Hardware</a:t>
            </a:r>
          </a:p>
        </p:txBody>
      </p:sp>
      <p:sp>
        <p:nvSpPr>
          <p:cNvPr id="92" name="TextBox 91"/>
          <p:cNvSpPr txBox="1"/>
          <p:nvPr/>
        </p:nvSpPr>
        <p:spPr>
          <a:xfrm>
            <a:off x="10744200" y="5330952"/>
            <a:ext cx="1143000" cy="274320"/>
          </a:xfrm>
          <a:prstGeom prst="rect">
            <a:avLst/>
          </a:prstGeom>
          <a:noFill/>
        </p:spPr>
        <p:txBody>
          <a:bodyPr wrap="square" lIns="27432" tIns="18288" rIns="27432" bIns="18288">
            <a:normAutofit fontScale="77500" lnSpcReduction="20000"/>
          </a:bodyPr>
          <a:lstStyle/>
          <a:p>
            <a:pPr algn="ctr"/>
            <a:r>
              <a:rPr sz="1200" b="1">
                <a:solidFill>
                  <a:srgbClr val="00245D"/>
                </a:solidFill>
                <a:latin typeface="Arial"/>
              </a:rPr>
              <a:t>= BitMoD motivation</a:t>
            </a:r>
          </a:p>
        </p:txBody>
      </p:sp>
      <p:sp>
        <p:nvSpPr>
          <p:cNvPr id="94" name="Text 3">
            <a:extLst>
              <a:ext uri="{FF2B5EF4-FFF2-40B4-BE49-F238E27FC236}">
                <a16:creationId xmlns:a16="http://schemas.microsoft.com/office/drawing/2014/main" id="{94A9100C-A9FD-6BF1-236D-B4CBE54DB1B2}"/>
              </a:ext>
            </a:extLst>
          </p:cNvPr>
          <p:cNvSpPr/>
          <p:nvPr/>
        </p:nvSpPr>
        <p:spPr>
          <a:xfrm>
            <a:off x="11567160" y="6473952"/>
            <a:ext cx="365760" cy="274320"/>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template_extract/ppt/media/image1.png"/>
          <p:cNvPicPr>
            <a:picLocks noChangeAspect="1"/>
          </p:cNvPicPr>
          <p:nvPr/>
        </p:nvPicPr>
        <p:blipFill>
          <a:blip r:embed="rId3"/>
          <a:stretch>
            <a:fillRect/>
          </a:stretch>
        </p:blipFill>
        <p:spPr>
          <a:xfrm>
            <a:off x="502920" y="320040"/>
            <a:ext cx="2240280" cy="621792"/>
          </a:xfrm>
          <a:prstGeom prst="rect">
            <a:avLst/>
          </a:prstGeom>
        </p:spPr>
      </p:pic>
      <p:sp>
        <p:nvSpPr>
          <p:cNvPr id="3" name="Shape 0"/>
          <p:cNvSpPr/>
          <p:nvPr/>
        </p:nvSpPr>
        <p:spPr>
          <a:xfrm>
            <a:off x="502920" y="969264"/>
            <a:ext cx="11155680" cy="0"/>
          </a:xfrm>
          <a:prstGeom prst="line">
            <a:avLst/>
          </a:prstGeom>
          <a:noFill/>
          <a:ln w="25400">
            <a:solidFill>
              <a:srgbClr val="00245D"/>
            </a:solidFill>
            <a:prstDash val="solid"/>
          </a:ln>
        </p:spPr>
        <p:txBody>
          <a:bodyPr/>
          <a:lstStyle/>
          <a:p>
            <a:endParaRPr lang="ko-KR" altLang="en-US"/>
          </a:p>
        </p:txBody>
      </p:sp>
      <p:sp>
        <p:nvSpPr>
          <p:cNvPr id="4" name="Text 1"/>
          <p:cNvSpPr/>
          <p:nvPr/>
        </p:nvSpPr>
        <p:spPr>
          <a:xfrm>
            <a:off x="822960" y="2816352"/>
            <a:ext cx="10607040" cy="640080"/>
          </a:xfrm>
          <a:prstGeom prst="rect">
            <a:avLst/>
          </a:prstGeom>
          <a:noFill/>
          <a:ln/>
        </p:spPr>
        <p:txBody>
          <a:bodyPr wrap="square" lIns="0" tIns="0" rIns="0" bIns="0" rtlCol="0" anchor="ctr"/>
          <a:lstStyle/>
          <a:p>
            <a:pPr marL="0" indent="0" algn="ctr">
              <a:buNone/>
            </a:pPr>
            <a:r>
              <a:rPr lang="en-US" sz="3200" b="1" dirty="0">
                <a:solidFill>
                  <a:srgbClr val="111111"/>
                </a:solidFill>
                <a:latin typeface="Arial" pitchFamily="34" charset="0"/>
                <a:ea typeface="Arial" pitchFamily="34" charset="-122"/>
                <a:cs typeface="Arial" pitchFamily="34" charset="-120"/>
              </a:rPr>
              <a:t>Quantization Basics</a:t>
            </a:r>
            <a:endParaRPr lang="en-US" sz="3200" dirty="0"/>
          </a:p>
        </p:txBody>
      </p:sp>
      <p:sp>
        <p:nvSpPr>
          <p:cNvPr id="5" name="Shape 2"/>
          <p:cNvSpPr/>
          <p:nvPr/>
        </p:nvSpPr>
        <p:spPr>
          <a:xfrm>
            <a:off x="4370832" y="3593592"/>
            <a:ext cx="3429000" cy="0"/>
          </a:xfrm>
          <a:prstGeom prst="line">
            <a:avLst/>
          </a:prstGeom>
          <a:noFill/>
          <a:ln w="25400">
            <a:solidFill>
              <a:srgbClr val="00245D"/>
            </a:solidFill>
            <a:prstDash val="solid"/>
          </a:ln>
        </p:spPr>
        <p:txBody>
          <a:bodyPr/>
          <a:lstStyle/>
          <a:p>
            <a:endParaRPr lang="ko-KR" altLang="en-US"/>
          </a:p>
        </p:txBody>
      </p:sp>
      <p:sp>
        <p:nvSpPr>
          <p:cNvPr id="6" name="Shape 3"/>
          <p:cNvSpPr/>
          <p:nvPr/>
        </p:nvSpPr>
        <p:spPr>
          <a:xfrm>
            <a:off x="0" y="6412832"/>
            <a:ext cx="12191695" cy="445168"/>
          </a:xfrm>
          <a:prstGeom prst="rect">
            <a:avLst/>
          </a:prstGeom>
          <a:solidFill>
            <a:srgbClr val="00245D"/>
          </a:solidFill>
          <a:ln w="12700">
            <a:solidFill>
              <a:srgbClr val="00245D"/>
            </a:solidFill>
            <a:prstDash val="solid"/>
          </a:ln>
        </p:spPr>
        <p:txBody>
          <a:bodyPr/>
          <a:lstStyle/>
          <a:p>
            <a:endParaRPr lang="ko-KR" altLang="en-US"/>
          </a:p>
        </p:txBody>
      </p:sp>
      <p:pic>
        <p:nvPicPr>
          <p:cNvPr id="7" name="Image 1" descr="/mnt/data/template_extract/ppt/media/image3.png"/>
          <p:cNvPicPr>
            <a:picLocks noChangeAspect="1"/>
          </p:cNvPicPr>
          <p:nvPr/>
        </p:nvPicPr>
        <p:blipFill>
          <a:blip r:embed="rId4"/>
          <a:stretch>
            <a:fillRect/>
          </a:stretch>
        </p:blipFill>
        <p:spPr>
          <a:xfrm>
            <a:off x="73152" y="6537960"/>
            <a:ext cx="1097280" cy="301752"/>
          </a:xfrm>
          <a:prstGeom prst="rect">
            <a:avLst/>
          </a:prstGeom>
        </p:spPr>
      </p:pic>
      <p:sp>
        <p:nvSpPr>
          <p:cNvPr id="10" name="Text 3">
            <a:extLst>
              <a:ext uri="{FF2B5EF4-FFF2-40B4-BE49-F238E27FC236}">
                <a16:creationId xmlns:a16="http://schemas.microsoft.com/office/drawing/2014/main" id="{2E62995F-510E-4A86-7EA1-B0E1153758A3}"/>
              </a:ext>
            </a:extLst>
          </p:cNvPr>
          <p:cNvSpPr/>
          <p:nvPr/>
        </p:nvSpPr>
        <p:spPr>
          <a:xfrm>
            <a:off x="11567160" y="6473952"/>
            <a:ext cx="365760" cy="274320"/>
          </a:xfrm>
          <a:prstGeom prst="rect">
            <a:avLst/>
          </a:prstGeom>
          <a:noFill/>
          <a:ln/>
        </p:spPr>
        <p:txBody>
          <a:bodyPr wrap="square" lIns="635" tIns="635" rIns="635" bIns="635" rtlCol="0" anchor="ctr">
            <a:normAutofit/>
          </a:bodyPr>
          <a:lstStyle/>
          <a:p>
            <a:pPr marL="0" indent="0" algn="ctr">
              <a:buNone/>
            </a:pPr>
            <a:r>
              <a:rPr lang="en-US" sz="1400" b="1" dirty="0">
                <a:solidFill>
                  <a:srgbClr val="FFFFFF"/>
                </a:solidFill>
                <a:latin typeface="Arial" pitchFamily="34" charset="0"/>
                <a:ea typeface="Arial" pitchFamily="34" charset="-122"/>
                <a:cs typeface="Arial" pitchFamily="34" charset="-120"/>
              </a:rPr>
              <a:t>12</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10789920" cy="411480"/>
          </a:xfrm>
          <a:prstGeom prst="rect">
            <a:avLst/>
          </a:prstGeom>
          <a:noFill/>
          <a:ln/>
        </p:spPr>
        <p:txBody>
          <a:bodyPr wrap="square" lIns="0" tIns="0" rIns="0" bIns="0" rtlCol="0" anchor="ctr"/>
          <a:lstStyle/>
          <a:p>
            <a:pPr marL="0" indent="0">
              <a:buNone/>
            </a:pPr>
            <a:r>
              <a:rPr lang="en-US" sz="2600" b="1" dirty="0">
                <a:solidFill>
                  <a:srgbClr val="111111"/>
                </a:solidFill>
                <a:latin typeface="Arial" pitchFamily="34" charset="0"/>
                <a:ea typeface="Arial" pitchFamily="34" charset="-122"/>
                <a:cs typeface="Arial" pitchFamily="34" charset="-120"/>
              </a:rPr>
              <a:t>Quantization Basics: Scale + Round</a:t>
            </a:r>
            <a:endParaRPr lang="en-US" sz="2600" dirty="0"/>
          </a:p>
        </p:txBody>
      </p:sp>
      <p:sp>
        <p:nvSpPr>
          <p:cNvPr id="4" name="Shape 2"/>
          <p:cNvSpPr/>
          <p:nvPr/>
        </p:nvSpPr>
        <p:spPr>
          <a:xfrm>
            <a:off x="411480" y="758952"/>
            <a:ext cx="1115568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28816"/>
            <a:ext cx="12191695" cy="329184"/>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extract/ppt/media/image3.png"/>
          <p:cNvPicPr>
            <a:picLocks noChangeAspect="1"/>
          </p:cNvPicPr>
          <p:nvPr/>
        </p:nvPicPr>
        <p:blipFill>
          <a:blip r:embed="rId3"/>
          <a:stretch>
            <a:fillRect/>
          </a:stretch>
        </p:blipFill>
        <p:spPr>
          <a:xfrm>
            <a:off x="73152" y="6537960"/>
            <a:ext cx="1097280" cy="301752"/>
          </a:xfrm>
          <a:prstGeom prst="rect">
            <a:avLst/>
          </a:prstGeom>
        </p:spPr>
      </p:pic>
      <p:sp>
        <p:nvSpPr>
          <p:cNvPr id="7" name="Text 4"/>
          <p:cNvSpPr/>
          <p:nvPr/>
        </p:nvSpPr>
        <p:spPr>
          <a:xfrm>
            <a:off x="11649456" y="6583680"/>
            <a:ext cx="320040" cy="164592"/>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13</a:t>
            </a:r>
            <a:endParaRPr lang="en-US" sz="1000" dirty="0"/>
          </a:p>
        </p:txBody>
      </p:sp>
      <p:sp>
        <p:nvSpPr>
          <p:cNvPr id="8" name="Text 5"/>
          <p:cNvSpPr/>
          <p:nvPr/>
        </p:nvSpPr>
        <p:spPr>
          <a:xfrm>
            <a:off x="640080" y="987552"/>
            <a:ext cx="10789920" cy="310896"/>
          </a:xfrm>
          <a:prstGeom prst="rect">
            <a:avLst/>
          </a:prstGeom>
          <a:noFill/>
          <a:ln/>
        </p:spPr>
        <p:txBody>
          <a:bodyPr wrap="square" lIns="635" tIns="635" rIns="635" bIns="635" rtlCol="0" anchor="ctr">
            <a:normAutofit/>
          </a:bodyPr>
          <a:lstStyle/>
          <a:p>
            <a:pPr marL="0" indent="0" algn="l">
              <a:buNone/>
            </a:pPr>
            <a:r>
              <a:rPr lang="en-US" sz="1500" dirty="0">
                <a:solidFill>
                  <a:srgbClr val="111111"/>
                </a:solidFill>
                <a:latin typeface="Arial" pitchFamily="34" charset="0"/>
                <a:ea typeface="Arial" pitchFamily="34" charset="-122"/>
                <a:cs typeface="Arial" pitchFamily="34" charset="-120"/>
              </a:rPr>
              <a:t>Integer quantization converts continuous FP weights into a small set of low-bit integer levels.</a:t>
            </a:r>
            <a:endParaRPr lang="en-US" sz="1500" dirty="0"/>
          </a:p>
        </p:txBody>
      </p:sp>
      <p:sp>
        <p:nvSpPr>
          <p:cNvPr id="9" name="Shape 6"/>
          <p:cNvSpPr/>
          <p:nvPr/>
        </p:nvSpPr>
        <p:spPr>
          <a:xfrm>
            <a:off x="658368" y="1627632"/>
            <a:ext cx="1234440" cy="749808"/>
          </a:xfrm>
          <a:prstGeom prst="roundRect">
            <a:avLst>
              <a:gd name="adj" fmla="val 9756"/>
            </a:avLst>
          </a:prstGeom>
          <a:solidFill>
            <a:srgbClr val="EAF2FD"/>
          </a:solidFill>
          <a:ln w="19050">
            <a:solidFill>
              <a:srgbClr val="00245D"/>
            </a:solidFill>
            <a:prstDash val="solid"/>
          </a:ln>
        </p:spPr>
        <p:txBody>
          <a:bodyPr/>
          <a:lstStyle/>
          <a:p>
            <a:endParaRPr lang="ko-KR" altLang="en-US"/>
          </a:p>
        </p:txBody>
      </p:sp>
      <mc:AlternateContent xmlns:mc="http://schemas.openxmlformats.org/markup-compatibility/2006" xmlns:a14="http://schemas.microsoft.com/office/drawing/2010/main">
        <mc:Choice Requires="a14">
          <p:sp>
            <p:nvSpPr>
              <p:cNvPr id="10" name="Text 7"/>
              <p:cNvSpPr/>
              <p:nvPr/>
            </p:nvSpPr>
            <p:spPr>
              <a:xfrm>
                <a:off x="731520" y="1691640"/>
                <a:ext cx="1088136" cy="621792"/>
              </a:xfrm>
              <a:prstGeom prst="rect">
                <a:avLst/>
              </a:prstGeom>
              <a:noFill/>
              <a:ln/>
            </p:spPr>
            <p:txBody>
              <a:bodyPr wrap="square" lIns="254" tIns="254" rIns="254" bIns="254" rtlCol="0" anchor="ctr">
                <a:normAutofit/>
              </a:bodyPr>
              <a:lstStyle/>
              <a:p>
                <a:pPr marL="0" indent="0" algn="ctr">
                  <a:buNone/>
                </a:pPr>
                <a:r>
                  <a:rPr lang="en-US" sz="1300" b="1" dirty="0">
                    <a:solidFill>
                      <a:srgbClr val="111111"/>
                    </a:solidFill>
                    <a:latin typeface="Arial" pitchFamily="34" charset="0"/>
                    <a:ea typeface="Arial" pitchFamily="34" charset="-122"/>
                    <a:cs typeface="Arial" pitchFamily="34" charset="-120"/>
                  </a:rPr>
                  <a:t>Original</a:t>
                </a:r>
                <a:endParaRPr lang="en-US" sz="1300" dirty="0"/>
              </a:p>
              <a:p>
                <a:pPr marL="0" indent="0" algn="ctr">
                  <a:buNone/>
                </a:pPr>
                <a:r>
                  <a:rPr lang="en-US" sz="1300" b="1" dirty="0">
                    <a:solidFill>
                      <a:srgbClr val="111111"/>
                    </a:solidFill>
                    <a:latin typeface="Arial" pitchFamily="34" charset="0"/>
                    <a:ea typeface="Arial" pitchFamily="34" charset="-122"/>
                    <a:cs typeface="Arial" pitchFamily="34" charset="-120"/>
                  </a:rPr>
                  <a:t>FP Weight</a:t>
                </a:r>
                <a:endParaRPr lang="en-US" sz="1300" dirty="0"/>
              </a:p>
              <a:p>
                <a:pPr marL="0" indent="0" algn="ctr">
                  <a:buNone/>
                </a:pPr>
                <a14:m>
                  <m:oMathPara xmlns:m="http://schemas.openxmlformats.org/officeDocument/2006/math">
                    <m:oMath>
                      <m:sSub>
                        <m:sSubPr>
                          <m:ctrlPr>
                            <a:rPr lang="ko-KR" altLang="en-US" sz="1300" b="1" i="1" dirty="0">
                              <a:solidFill>
                                <a:srgbClr val="111111"/>
                              </a:solidFill>
                              <a:latin typeface="Cambria Math" panose="02040503050406030204" pitchFamily="18" charset="0"/>
                            </a:rPr>
                          </m:ctrlPr>
                        </m:sSubPr>
                        <m:e>
                          <m:r>
                            <a:rPr lang="ko-KR" altLang="en-US" sz="1300" b="1" i="1" dirty="0">
                              <a:solidFill>
                                <a:srgbClr val="111111"/>
                              </a:solidFill>
                              <a:latin typeface="Cambria Math" panose="02040503050406030204" pitchFamily="18" charset="0"/>
                            </a:rPr>
                            <m:t>𝑊</m:t>
                          </m:r>
                        </m:e>
                        <m:sub>
                          <m:r>
                            <a:rPr lang="ko-KR" altLang="en-US" sz="1300" b="1" i="1" dirty="0">
                              <a:solidFill>
                                <a:srgbClr val="111111"/>
                              </a:solidFill>
                              <a:latin typeface="Cambria Math" panose="02040503050406030204" pitchFamily="18" charset="0"/>
                            </a:rPr>
                            <m:t>𝑓</m:t>
                          </m:r>
                        </m:sub>
                      </m:sSub>
                    </m:oMath>
                  </m:oMathPara>
                </a14:m>
                <a:endParaRPr lang="en-US" sz="1300" dirty="0"/>
              </a:p>
            </p:txBody>
          </p:sp>
        </mc:Choice>
        <mc:Fallback xmlns="">
          <p:sp>
            <p:nvSpPr>
              <p:cNvPr id="10" name="Text 7"/>
              <p:cNvSpPr>
                <a:spLocks noRot="1" noChangeAspect="1" noMove="1" noResize="1" noEditPoints="1" noAdjustHandles="1" noChangeArrowheads="1" noChangeShapeType="1" noTextEdit="1"/>
              </p:cNvSpPr>
              <p:nvPr/>
            </p:nvSpPr>
            <p:spPr>
              <a:xfrm>
                <a:off x="731520" y="1691640"/>
                <a:ext cx="1088136" cy="621792"/>
              </a:xfrm>
              <a:prstGeom prst="rect">
                <a:avLst/>
              </a:prstGeom>
              <a:blipFill>
                <a:blip r:embed="rId4"/>
                <a:stretch>
                  <a:fillRect t="-7843" b="-7843"/>
                </a:stretch>
              </a:blipFill>
              <a:ln/>
            </p:spPr>
            <p:txBody>
              <a:bodyPr/>
              <a:lstStyle/>
              <a:p>
                <a:r>
                  <a:rPr lang="ko-KR" altLang="en-US">
                    <a:noFill/>
                  </a:rPr>
                  <a:t> </a:t>
                </a:r>
              </a:p>
            </p:txBody>
          </p:sp>
        </mc:Fallback>
      </mc:AlternateContent>
      <p:sp>
        <p:nvSpPr>
          <p:cNvPr id="11" name="Shape 8"/>
          <p:cNvSpPr/>
          <p:nvPr/>
        </p:nvSpPr>
        <p:spPr>
          <a:xfrm>
            <a:off x="1892808" y="2002536"/>
            <a:ext cx="502920" cy="0"/>
          </a:xfrm>
          <a:prstGeom prst="line">
            <a:avLst/>
          </a:prstGeom>
          <a:noFill/>
          <a:ln w="17780">
            <a:solidFill>
              <a:srgbClr val="00245D"/>
            </a:solidFill>
            <a:prstDash val="solid"/>
            <a:headEnd type="none"/>
            <a:tailEnd type="triangle"/>
          </a:ln>
        </p:spPr>
        <p:txBody>
          <a:bodyPr/>
          <a:lstStyle/>
          <a:p>
            <a:endParaRPr lang="ko-KR" altLang="en-US"/>
          </a:p>
        </p:txBody>
      </p:sp>
      <p:sp>
        <p:nvSpPr>
          <p:cNvPr id="12" name="Shape 9"/>
          <p:cNvSpPr/>
          <p:nvPr/>
        </p:nvSpPr>
        <p:spPr>
          <a:xfrm>
            <a:off x="2395728" y="1627632"/>
            <a:ext cx="1234440" cy="749808"/>
          </a:xfrm>
          <a:prstGeom prst="roundRect">
            <a:avLst>
              <a:gd name="adj" fmla="val 9756"/>
            </a:avLst>
          </a:prstGeom>
          <a:solidFill>
            <a:srgbClr val="FFF3C4"/>
          </a:solidFill>
          <a:ln w="19050">
            <a:solidFill>
              <a:srgbClr val="00245D"/>
            </a:solidFill>
            <a:prstDash val="solid"/>
          </a:ln>
        </p:spPr>
        <p:txBody>
          <a:bodyPr/>
          <a:lstStyle/>
          <a:p>
            <a:endParaRPr lang="ko-KR" altLang="en-US"/>
          </a:p>
        </p:txBody>
      </p:sp>
      <mc:AlternateContent xmlns:mc="http://schemas.openxmlformats.org/markup-compatibility/2006" xmlns:a14="http://schemas.microsoft.com/office/drawing/2010/main">
        <mc:Choice Requires="a14">
          <p:sp>
            <p:nvSpPr>
              <p:cNvPr id="13" name="Text 10"/>
              <p:cNvSpPr/>
              <p:nvPr/>
            </p:nvSpPr>
            <p:spPr>
              <a:xfrm>
                <a:off x="2468880" y="1691640"/>
                <a:ext cx="1088136" cy="621792"/>
              </a:xfrm>
              <a:prstGeom prst="rect">
                <a:avLst/>
              </a:prstGeom>
              <a:noFill/>
              <a:ln/>
            </p:spPr>
            <p:txBody>
              <a:bodyPr wrap="square" lIns="254" tIns="254" rIns="254" bIns="254" rtlCol="0" anchor="ctr">
                <a:normAutofit fontScale="85000" lnSpcReduction="10000"/>
              </a:bodyPr>
              <a:lstStyle/>
              <a:p>
                <a:pPr marL="0" indent="0" algn="ctr">
                  <a:buNone/>
                </a:pPr>
                <a:r>
                  <a:rPr lang="en-US" sz="1300" b="1" dirty="0">
                    <a:solidFill>
                      <a:srgbClr val="111111"/>
                    </a:solidFill>
                    <a:latin typeface="Arial" pitchFamily="34" charset="0"/>
                    <a:ea typeface="Arial" pitchFamily="34" charset="-122"/>
                    <a:cs typeface="Arial" pitchFamily="34" charset="-120"/>
                  </a:rPr>
                  <a:t>Divide by</a:t>
                </a:r>
                <a:endParaRPr lang="en-US" sz="1300" dirty="0"/>
              </a:p>
              <a:p>
                <a:pPr marL="0" indent="0" algn="ctr">
                  <a:buNone/>
                </a:pPr>
                <a:r>
                  <a:rPr lang="en-US" sz="1300" b="1" dirty="0">
                    <a:solidFill>
                      <a:srgbClr val="111111"/>
                    </a:solidFill>
                    <a:latin typeface="Arial" pitchFamily="34" charset="0"/>
                    <a:ea typeface="Arial" pitchFamily="34" charset="-122"/>
                    <a:cs typeface="Arial" pitchFamily="34" charset="-120"/>
                  </a:rPr>
                  <a:t>Scale</a:t>
                </a:r>
                <a:endParaRPr lang="en-US" sz="1300" dirty="0"/>
              </a:p>
              <a:p>
                <a:pPr algn="ctr"/>
                <a14:m>
                  <m:oMathPara xmlns:m="http://schemas.openxmlformats.org/officeDocument/2006/math">
                    <m:oMath>
                      <m:f>
                        <m:fPr>
                          <m:ctrlPr>
                            <a:rPr lang="ko-KR" altLang="en-US" sz="1300" b="1" i="1" dirty="0">
                              <a:solidFill>
                                <a:srgbClr val="111111"/>
                              </a:solidFill>
                              <a:latin typeface="Cambria Math" panose="02040503050406030204" pitchFamily="18" charset="0"/>
                            </a:rPr>
                          </m:ctrlPr>
                        </m:fPr>
                        <m:num>
                          <m:sSub>
                            <m:sSubPr>
                              <m:ctrlPr>
                                <a:rPr lang="ko-KR" altLang="en-US" sz="1300" b="1" i="1" dirty="0">
                                  <a:solidFill>
                                    <a:srgbClr val="111111"/>
                                  </a:solidFill>
                                  <a:latin typeface="Cambria Math" panose="02040503050406030204" pitchFamily="18" charset="0"/>
                                </a:rPr>
                              </m:ctrlPr>
                            </m:sSubPr>
                            <m:e>
                              <m:r>
                                <a:rPr lang="ko-KR" altLang="en-US" sz="1300" b="1" i="1" dirty="0">
                                  <a:solidFill>
                                    <a:srgbClr val="111111"/>
                                  </a:solidFill>
                                  <a:latin typeface="Cambria Math" panose="02040503050406030204" pitchFamily="18" charset="0"/>
                                </a:rPr>
                                <m:t>𝑊</m:t>
                              </m:r>
                            </m:e>
                            <m:sub>
                              <m:r>
                                <a:rPr lang="ko-KR" altLang="en-US" sz="1300" b="1" i="1" dirty="0">
                                  <a:solidFill>
                                    <a:srgbClr val="111111"/>
                                  </a:solidFill>
                                  <a:latin typeface="Cambria Math" panose="02040503050406030204" pitchFamily="18" charset="0"/>
                                </a:rPr>
                                <m:t>𝑓</m:t>
                              </m:r>
                            </m:sub>
                          </m:sSub>
                        </m:num>
                        <m:den>
                          <m:r>
                            <a:rPr lang="ko-KR" altLang="en-US" sz="1300" b="1" i="1" dirty="0">
                              <a:solidFill>
                                <a:srgbClr val="111111"/>
                              </a:solidFill>
                              <a:latin typeface="Cambria Math" panose="02040503050406030204" pitchFamily="18" charset="0"/>
                            </a:rPr>
                            <m:t>𝛥</m:t>
                          </m:r>
                        </m:den>
                      </m:f>
                    </m:oMath>
                  </m:oMathPara>
                </a14:m>
                <a:endParaRPr lang="en-US" sz="1300" dirty="0"/>
              </a:p>
            </p:txBody>
          </p:sp>
        </mc:Choice>
        <mc:Fallback xmlns="">
          <p:sp>
            <p:nvSpPr>
              <p:cNvPr id="13" name="Text 10"/>
              <p:cNvSpPr>
                <a:spLocks noRot="1" noChangeAspect="1" noMove="1" noResize="1" noEditPoints="1" noAdjustHandles="1" noChangeArrowheads="1" noChangeShapeType="1" noTextEdit="1"/>
              </p:cNvSpPr>
              <p:nvPr/>
            </p:nvSpPr>
            <p:spPr>
              <a:xfrm>
                <a:off x="2468880" y="1691640"/>
                <a:ext cx="1088136" cy="621792"/>
              </a:xfrm>
              <a:prstGeom prst="rect">
                <a:avLst/>
              </a:prstGeom>
              <a:blipFill>
                <a:blip r:embed="rId5"/>
                <a:stretch>
                  <a:fillRect t="-10784" b="-6863"/>
                </a:stretch>
              </a:blipFill>
              <a:ln/>
            </p:spPr>
            <p:txBody>
              <a:bodyPr/>
              <a:lstStyle/>
              <a:p>
                <a:r>
                  <a:rPr lang="ko-KR" altLang="en-US">
                    <a:noFill/>
                  </a:rPr>
                  <a:t> </a:t>
                </a:r>
              </a:p>
            </p:txBody>
          </p:sp>
        </mc:Fallback>
      </mc:AlternateContent>
      <p:sp>
        <p:nvSpPr>
          <p:cNvPr id="14" name="Shape 11"/>
          <p:cNvSpPr/>
          <p:nvPr/>
        </p:nvSpPr>
        <p:spPr>
          <a:xfrm>
            <a:off x="3630168" y="2002536"/>
            <a:ext cx="502920" cy="0"/>
          </a:xfrm>
          <a:prstGeom prst="line">
            <a:avLst/>
          </a:prstGeom>
          <a:noFill/>
          <a:ln w="17780">
            <a:solidFill>
              <a:srgbClr val="00245D"/>
            </a:solidFill>
            <a:prstDash val="solid"/>
            <a:headEnd type="none"/>
            <a:tailEnd type="triangle"/>
          </a:ln>
        </p:spPr>
        <p:txBody>
          <a:bodyPr/>
          <a:lstStyle/>
          <a:p>
            <a:endParaRPr lang="ko-KR" altLang="en-US"/>
          </a:p>
        </p:txBody>
      </p:sp>
      <p:sp>
        <p:nvSpPr>
          <p:cNvPr id="15" name="Shape 12"/>
          <p:cNvSpPr/>
          <p:nvPr/>
        </p:nvSpPr>
        <p:spPr>
          <a:xfrm>
            <a:off x="4133088" y="1627632"/>
            <a:ext cx="1143000" cy="749808"/>
          </a:xfrm>
          <a:prstGeom prst="roundRect">
            <a:avLst>
              <a:gd name="adj" fmla="val 9756"/>
            </a:avLst>
          </a:prstGeom>
          <a:solidFill>
            <a:srgbClr val="FFF2E8"/>
          </a:solidFill>
          <a:ln w="19050">
            <a:solidFill>
              <a:srgbClr val="00245D"/>
            </a:solidFill>
            <a:prstDash val="solid"/>
          </a:ln>
        </p:spPr>
        <p:txBody>
          <a:bodyPr/>
          <a:lstStyle/>
          <a:p>
            <a:endParaRPr lang="ko-KR" altLang="en-US"/>
          </a:p>
        </p:txBody>
      </p:sp>
      <p:sp>
        <p:nvSpPr>
          <p:cNvPr id="16" name="Text 13"/>
          <p:cNvSpPr/>
          <p:nvPr/>
        </p:nvSpPr>
        <p:spPr>
          <a:xfrm>
            <a:off x="4206240" y="1691640"/>
            <a:ext cx="996696" cy="621792"/>
          </a:xfrm>
          <a:prstGeom prst="rect">
            <a:avLst/>
          </a:prstGeom>
          <a:noFill/>
          <a:ln/>
        </p:spPr>
        <p:txBody>
          <a:bodyPr wrap="square" lIns="254" tIns="254" rIns="254" bIns="254" rtlCol="0" anchor="ctr">
            <a:normAutofit/>
          </a:bodyPr>
          <a:lstStyle/>
          <a:p>
            <a:pPr marL="0" indent="0" algn="ctr">
              <a:buNone/>
            </a:pPr>
            <a:r>
              <a:rPr lang="en-US" sz="1300" b="1" dirty="0">
                <a:solidFill>
                  <a:srgbClr val="111111"/>
                </a:solidFill>
                <a:latin typeface="Arial" pitchFamily="34" charset="0"/>
                <a:ea typeface="Arial" pitchFamily="34" charset="-122"/>
                <a:cs typeface="Arial" pitchFamily="34" charset="-120"/>
              </a:rPr>
              <a:t>Round(·)</a:t>
            </a:r>
            <a:endParaRPr lang="en-US" sz="1300" dirty="0"/>
          </a:p>
        </p:txBody>
      </p:sp>
      <p:sp>
        <p:nvSpPr>
          <p:cNvPr id="17" name="Shape 14"/>
          <p:cNvSpPr/>
          <p:nvPr/>
        </p:nvSpPr>
        <p:spPr>
          <a:xfrm>
            <a:off x="5276088" y="2002536"/>
            <a:ext cx="502920" cy="0"/>
          </a:xfrm>
          <a:prstGeom prst="line">
            <a:avLst/>
          </a:prstGeom>
          <a:noFill/>
          <a:ln w="17780">
            <a:solidFill>
              <a:srgbClr val="00245D"/>
            </a:solidFill>
            <a:prstDash val="solid"/>
            <a:headEnd type="none"/>
            <a:tailEnd type="triangle"/>
          </a:ln>
        </p:spPr>
        <p:txBody>
          <a:bodyPr/>
          <a:lstStyle/>
          <a:p>
            <a:endParaRPr lang="ko-KR" altLang="en-US"/>
          </a:p>
        </p:txBody>
      </p:sp>
      <p:sp>
        <p:nvSpPr>
          <p:cNvPr id="18" name="Shape 15"/>
          <p:cNvSpPr/>
          <p:nvPr/>
        </p:nvSpPr>
        <p:spPr>
          <a:xfrm>
            <a:off x="5779008" y="1627632"/>
            <a:ext cx="1234440" cy="749808"/>
          </a:xfrm>
          <a:prstGeom prst="roundRect">
            <a:avLst>
              <a:gd name="adj" fmla="val 9756"/>
            </a:avLst>
          </a:prstGeom>
          <a:solidFill>
            <a:srgbClr val="EAF2FD"/>
          </a:solidFill>
          <a:ln w="19050">
            <a:solidFill>
              <a:srgbClr val="00245D"/>
            </a:solidFill>
            <a:prstDash val="solid"/>
          </a:ln>
        </p:spPr>
        <p:txBody>
          <a:bodyPr/>
          <a:lstStyle/>
          <a:p>
            <a:endParaRPr lang="ko-KR" altLang="en-US"/>
          </a:p>
        </p:txBody>
      </p:sp>
      <mc:AlternateContent xmlns:mc="http://schemas.openxmlformats.org/markup-compatibility/2006" xmlns:a14="http://schemas.microsoft.com/office/drawing/2010/main">
        <mc:Choice Requires="a14">
          <p:sp>
            <p:nvSpPr>
              <p:cNvPr id="19" name="Text 16"/>
              <p:cNvSpPr/>
              <p:nvPr/>
            </p:nvSpPr>
            <p:spPr>
              <a:xfrm>
                <a:off x="5852160" y="1691640"/>
                <a:ext cx="1088136" cy="621792"/>
              </a:xfrm>
              <a:prstGeom prst="rect">
                <a:avLst/>
              </a:prstGeom>
              <a:noFill/>
              <a:ln/>
            </p:spPr>
            <p:txBody>
              <a:bodyPr wrap="square" lIns="254" tIns="254" rIns="254" bIns="254" rtlCol="0" anchor="ctr">
                <a:normAutofit/>
              </a:bodyPr>
              <a:lstStyle/>
              <a:p>
                <a:pPr marL="0" indent="0" algn="ctr">
                  <a:buNone/>
                </a:pPr>
                <a:r>
                  <a:rPr lang="en-US" sz="1300" b="1" dirty="0">
                    <a:solidFill>
                      <a:srgbClr val="111111"/>
                    </a:solidFill>
                    <a:latin typeface="Arial" pitchFamily="34" charset="0"/>
                    <a:ea typeface="Arial" pitchFamily="34" charset="-122"/>
                    <a:cs typeface="Arial" pitchFamily="34" charset="-120"/>
                  </a:rPr>
                  <a:t>Quantized</a:t>
                </a:r>
                <a:endParaRPr lang="en-US" sz="1300" dirty="0"/>
              </a:p>
              <a:p>
                <a:pPr marL="0" indent="0" algn="ctr">
                  <a:buNone/>
                </a:pPr>
                <a:r>
                  <a:rPr lang="en-US" sz="1300" b="1" dirty="0">
                    <a:solidFill>
                      <a:srgbClr val="111111"/>
                    </a:solidFill>
                    <a:latin typeface="Arial" pitchFamily="34" charset="0"/>
                    <a:ea typeface="Arial" pitchFamily="34" charset="-122"/>
                    <a:cs typeface="Arial" pitchFamily="34" charset="-120"/>
                  </a:rPr>
                  <a:t>Integer</a:t>
                </a:r>
                <a:endParaRPr lang="en-US" sz="1300" dirty="0"/>
              </a:p>
              <a:p>
                <a:pPr marL="0" indent="0" algn="ctr">
                  <a:buNone/>
                </a:pPr>
                <a14:m>
                  <m:oMathPara xmlns:m="http://schemas.openxmlformats.org/officeDocument/2006/math">
                    <m:oMath>
                      <m:sSub>
                        <m:sSubPr>
                          <m:ctrlPr>
                            <a:rPr lang="ko-KR" altLang="en-US" sz="1300" b="1" i="1" dirty="0">
                              <a:solidFill>
                                <a:srgbClr val="111111"/>
                              </a:solidFill>
                              <a:latin typeface="Cambria Math" panose="02040503050406030204" pitchFamily="18" charset="0"/>
                            </a:rPr>
                          </m:ctrlPr>
                        </m:sSubPr>
                        <m:e>
                          <m:r>
                            <a:rPr lang="ko-KR" altLang="en-US" sz="1300" b="1" i="1" dirty="0">
                              <a:solidFill>
                                <a:srgbClr val="111111"/>
                              </a:solidFill>
                              <a:latin typeface="Cambria Math" panose="02040503050406030204" pitchFamily="18" charset="0"/>
                            </a:rPr>
                            <m:t>𝑊</m:t>
                          </m:r>
                        </m:e>
                        <m:sub>
                          <m:r>
                            <a:rPr lang="ko-KR" altLang="en-US" sz="1300" b="1" i="1" dirty="0">
                              <a:solidFill>
                                <a:srgbClr val="111111"/>
                              </a:solidFill>
                              <a:latin typeface="Cambria Math" panose="02040503050406030204" pitchFamily="18" charset="0"/>
                            </a:rPr>
                            <m:t>𝑞</m:t>
                          </m:r>
                        </m:sub>
                      </m:sSub>
                    </m:oMath>
                  </m:oMathPara>
                </a14:m>
                <a:endParaRPr lang="en-US" sz="1300" dirty="0"/>
              </a:p>
            </p:txBody>
          </p:sp>
        </mc:Choice>
        <mc:Fallback xmlns="">
          <p:sp>
            <p:nvSpPr>
              <p:cNvPr id="19" name="Text 16"/>
              <p:cNvSpPr>
                <a:spLocks noRot="1" noChangeAspect="1" noMove="1" noResize="1" noEditPoints="1" noAdjustHandles="1" noChangeArrowheads="1" noChangeShapeType="1" noTextEdit="1"/>
              </p:cNvSpPr>
              <p:nvPr/>
            </p:nvSpPr>
            <p:spPr>
              <a:xfrm>
                <a:off x="5852160" y="1691640"/>
                <a:ext cx="1088136" cy="621792"/>
              </a:xfrm>
              <a:prstGeom prst="rect">
                <a:avLst/>
              </a:prstGeom>
              <a:blipFill>
                <a:blip r:embed="rId6"/>
                <a:stretch>
                  <a:fillRect t="-7843" b="-6863"/>
                </a:stretch>
              </a:blipFill>
              <a:ln/>
            </p:spPr>
            <p:txBody>
              <a:bodyPr/>
              <a:lstStyle/>
              <a:p>
                <a:r>
                  <a:rPr lang="ko-KR" altLang="en-US">
                    <a:noFill/>
                  </a:rPr>
                  <a:t> </a:t>
                </a:r>
              </a:p>
            </p:txBody>
          </p:sp>
        </mc:Fallback>
      </mc:AlternateContent>
      <p:sp>
        <p:nvSpPr>
          <p:cNvPr id="20" name="Shape 17"/>
          <p:cNvSpPr/>
          <p:nvPr/>
        </p:nvSpPr>
        <p:spPr>
          <a:xfrm>
            <a:off x="7013448" y="2002536"/>
            <a:ext cx="502920" cy="0"/>
          </a:xfrm>
          <a:prstGeom prst="line">
            <a:avLst/>
          </a:prstGeom>
          <a:noFill/>
          <a:ln w="17780">
            <a:solidFill>
              <a:srgbClr val="00245D"/>
            </a:solidFill>
            <a:prstDash val="solid"/>
            <a:headEnd type="none"/>
            <a:tailEnd type="triangle"/>
          </a:ln>
        </p:spPr>
        <p:txBody>
          <a:bodyPr/>
          <a:lstStyle/>
          <a:p>
            <a:endParaRPr lang="ko-KR" altLang="en-US"/>
          </a:p>
        </p:txBody>
      </p:sp>
      <p:sp>
        <p:nvSpPr>
          <p:cNvPr id="21" name="Shape 18"/>
          <p:cNvSpPr/>
          <p:nvPr/>
        </p:nvSpPr>
        <p:spPr>
          <a:xfrm>
            <a:off x="7516368" y="1627632"/>
            <a:ext cx="1234440" cy="749808"/>
          </a:xfrm>
          <a:prstGeom prst="roundRect">
            <a:avLst>
              <a:gd name="adj" fmla="val 9756"/>
            </a:avLst>
          </a:prstGeom>
          <a:solidFill>
            <a:srgbClr val="EAF6ED"/>
          </a:solidFill>
          <a:ln w="19050">
            <a:solidFill>
              <a:srgbClr val="00245D"/>
            </a:solidFill>
            <a:prstDash val="solid"/>
          </a:ln>
        </p:spPr>
        <p:txBody>
          <a:bodyPr/>
          <a:lstStyle/>
          <a:p>
            <a:endParaRPr lang="ko-KR" altLang="en-US"/>
          </a:p>
        </p:txBody>
      </p:sp>
      <mc:AlternateContent xmlns:mc="http://schemas.openxmlformats.org/markup-compatibility/2006" xmlns:a14="http://schemas.microsoft.com/office/drawing/2010/main">
        <mc:Choice Requires="a14">
          <p:sp>
            <p:nvSpPr>
              <p:cNvPr id="22" name="Text 19"/>
              <p:cNvSpPr/>
              <p:nvPr/>
            </p:nvSpPr>
            <p:spPr>
              <a:xfrm>
                <a:off x="7589520" y="1691640"/>
                <a:ext cx="1088136" cy="621792"/>
              </a:xfrm>
              <a:prstGeom prst="rect">
                <a:avLst/>
              </a:prstGeom>
              <a:noFill/>
              <a:ln/>
            </p:spPr>
            <p:txBody>
              <a:bodyPr wrap="square" lIns="254" tIns="254" rIns="254" bIns="254" rtlCol="0" anchor="ctr">
                <a:normAutofit/>
              </a:bodyPr>
              <a:lstStyle/>
              <a:p>
                <a:pPr marL="0" indent="0" algn="ctr">
                  <a:buNone/>
                </a:pPr>
                <a:r>
                  <a:rPr lang="en-US" sz="1300" b="1" dirty="0">
                    <a:solidFill>
                      <a:srgbClr val="111111"/>
                    </a:solidFill>
                    <a:latin typeface="Arial" pitchFamily="34" charset="0"/>
                    <a:ea typeface="Arial" pitchFamily="34" charset="-122"/>
                    <a:cs typeface="Arial" pitchFamily="34" charset="-120"/>
                  </a:rPr>
                  <a:t>Optional</a:t>
                </a:r>
                <a:endParaRPr lang="en-US" sz="1300" dirty="0"/>
              </a:p>
              <a:p>
                <a:pPr marL="0" indent="0" algn="ctr">
                  <a:buNone/>
                </a:pPr>
                <a:r>
                  <a:rPr lang="en-US" sz="1300" b="1" dirty="0">
                    <a:solidFill>
                      <a:srgbClr val="111111"/>
                    </a:solidFill>
                    <a:latin typeface="Arial" pitchFamily="34" charset="0"/>
                    <a:ea typeface="Arial" pitchFamily="34" charset="-122"/>
                    <a:cs typeface="Arial" pitchFamily="34" charset="-120"/>
                  </a:rPr>
                  <a:t>Dequantize</a:t>
                </a:r>
                <a:endParaRPr lang="en-US" sz="1300" dirty="0"/>
              </a:p>
              <a:p>
                <a:pPr marL="0" indent="0" algn="ctr">
                  <a:buNone/>
                </a:pPr>
                <a14:m>
                  <m:oMathPara xmlns:m="http://schemas.openxmlformats.org/officeDocument/2006/math">
                    <m:oMath>
                      <m:sSub>
                        <m:sSubPr>
                          <m:ctrlPr>
                            <a:rPr lang="ko-KR" altLang="en-US" sz="1300" b="1" i="1" dirty="0" smtClean="0">
                              <a:solidFill>
                                <a:srgbClr val="111111"/>
                              </a:solidFill>
                              <a:latin typeface="Cambria Math" panose="02040503050406030204" pitchFamily="18" charset="0"/>
                            </a:rPr>
                          </m:ctrlPr>
                        </m:sSubPr>
                        <m:e>
                          <m:r>
                            <a:rPr lang="ko-KR" altLang="en-US" sz="1300" b="1" i="1" dirty="0" smtClean="0">
                              <a:solidFill>
                                <a:srgbClr val="111111"/>
                              </a:solidFill>
                              <a:latin typeface="Cambria Math" panose="02040503050406030204" pitchFamily="18" charset="0"/>
                            </a:rPr>
                            <m:t>𝑊</m:t>
                          </m:r>
                        </m:e>
                        <m:sub>
                          <m:r>
                            <a:rPr lang="ko-KR" altLang="en-US" sz="1300" b="1" i="1" dirty="0" smtClean="0">
                              <a:solidFill>
                                <a:srgbClr val="111111"/>
                              </a:solidFill>
                              <a:latin typeface="Cambria Math" panose="02040503050406030204" pitchFamily="18" charset="0"/>
                            </a:rPr>
                            <m:t>𝑞𝑓</m:t>
                          </m:r>
                        </m:sub>
                      </m:sSub>
                    </m:oMath>
                  </m:oMathPara>
                </a14:m>
                <a:endParaRPr lang="en-US" sz="1300" dirty="0"/>
              </a:p>
            </p:txBody>
          </p:sp>
        </mc:Choice>
        <mc:Fallback xmlns="">
          <p:sp>
            <p:nvSpPr>
              <p:cNvPr id="22" name="Text 19"/>
              <p:cNvSpPr>
                <a:spLocks noRot="1" noChangeAspect="1" noMove="1" noResize="1" noEditPoints="1" noAdjustHandles="1" noChangeArrowheads="1" noChangeShapeType="1" noTextEdit="1"/>
              </p:cNvSpPr>
              <p:nvPr/>
            </p:nvSpPr>
            <p:spPr>
              <a:xfrm>
                <a:off x="7589520" y="1691640"/>
                <a:ext cx="1088136" cy="621792"/>
              </a:xfrm>
              <a:prstGeom prst="rect">
                <a:avLst/>
              </a:prstGeom>
              <a:blipFill>
                <a:blip r:embed="rId7"/>
                <a:stretch>
                  <a:fillRect l="-559" t="-7843" b="-7843"/>
                </a:stretch>
              </a:blipFill>
              <a:ln/>
            </p:spPr>
            <p:txBody>
              <a:bodyPr/>
              <a:lstStyle/>
              <a:p>
                <a:r>
                  <a:rPr lang="ko-KR" altLang="en-US">
                    <a:noFill/>
                  </a:rPr>
                  <a:t> </a:t>
                </a:r>
              </a:p>
            </p:txBody>
          </p:sp>
        </mc:Fallback>
      </mc:AlternateContent>
      <p:sp>
        <p:nvSpPr>
          <p:cNvPr id="23" name="Shape 20"/>
          <p:cNvSpPr/>
          <p:nvPr/>
        </p:nvSpPr>
        <p:spPr>
          <a:xfrm>
            <a:off x="9006840" y="1389888"/>
            <a:ext cx="2468880" cy="1152144"/>
          </a:xfrm>
          <a:prstGeom prst="roundRect">
            <a:avLst>
              <a:gd name="adj" fmla="val 3968"/>
            </a:avLst>
          </a:prstGeom>
          <a:solidFill>
            <a:srgbClr val="F7F9FC"/>
          </a:solidFill>
          <a:ln w="12700">
            <a:solidFill>
              <a:srgbClr val="B7C5D8"/>
            </a:solidFill>
            <a:prstDash val="solid"/>
          </a:ln>
        </p:spPr>
        <p:txBody>
          <a:bodyPr/>
          <a:lstStyle/>
          <a:p>
            <a:endParaRPr lang="ko-KR" altLang="en-US"/>
          </a:p>
        </p:txBody>
      </p:sp>
      <mc:AlternateContent xmlns:mc="http://schemas.openxmlformats.org/markup-compatibility/2006" xmlns:a14="http://schemas.microsoft.com/office/drawing/2010/main">
        <mc:Choice Requires="a14">
          <p:sp>
            <p:nvSpPr>
              <p:cNvPr id="24" name="Text 21"/>
              <p:cNvSpPr/>
              <p:nvPr/>
            </p:nvSpPr>
            <p:spPr>
              <a:xfrm>
                <a:off x="9116568" y="1472184"/>
                <a:ext cx="2249424" cy="987552"/>
              </a:xfrm>
              <a:prstGeom prst="rect">
                <a:avLst/>
              </a:prstGeom>
              <a:noFill/>
              <a:ln/>
            </p:spPr>
            <p:txBody>
              <a:bodyPr wrap="square" lIns="0" tIns="0" rIns="0" bIns="0" rtlCol="0" anchor="ctr">
                <a:normAutofit/>
              </a:bodyPr>
              <a:lstStyle/>
              <a:p>
                <a:pPr algn="ctr"/>
                <a14:m>
                  <m:oMath xmlns:m="http://schemas.openxmlformats.org/officeDocument/2006/math">
                    <m:sSub>
                      <m:sSubPr>
                        <m:ctrlPr>
                          <a:rPr lang="ko-KR" altLang="en-US" i="1" dirty="0">
                            <a:solidFill>
                              <a:srgbClr val="111111"/>
                            </a:solidFill>
                            <a:latin typeface="Cambria Math" panose="02040503050406030204" pitchFamily="18" charset="0"/>
                          </a:rPr>
                        </m:ctrlPr>
                      </m:sSubPr>
                      <m:e>
                        <m:r>
                          <a:rPr lang="ko-KR" altLang="en-US" i="1" dirty="0">
                            <a:solidFill>
                              <a:srgbClr val="111111"/>
                            </a:solidFill>
                            <a:latin typeface="Cambria Math" panose="02040503050406030204" pitchFamily="18" charset="0"/>
                          </a:rPr>
                          <m:t>𝑊</m:t>
                        </m:r>
                      </m:e>
                      <m:sub>
                        <m:r>
                          <a:rPr lang="ko-KR" altLang="en-US" i="1" dirty="0">
                            <a:solidFill>
                              <a:srgbClr val="111111"/>
                            </a:solidFill>
                            <a:latin typeface="Cambria Math" panose="02040503050406030204" pitchFamily="18" charset="0"/>
                          </a:rPr>
                          <m:t>𝑞</m:t>
                        </m:r>
                      </m:sub>
                    </m:sSub>
                    <m:r>
                      <a:rPr lang="en-US" altLang="ko-KR" i="0" dirty="0">
                        <a:solidFill>
                          <a:srgbClr val="111111"/>
                        </a:solidFill>
                        <a:latin typeface="Cambria Math" panose="02040503050406030204" pitchFamily="18" charset="0"/>
                      </a:rPr>
                      <m:t>=</m:t>
                    </m:r>
                  </m:oMath>
                </a14:m>
                <a:r>
                  <a:rPr lang="en-US" dirty="0">
                    <a:solidFill>
                      <a:srgbClr val="111111"/>
                    </a:solidFill>
                    <a:latin typeface="Times New Roman" pitchFamily="34" charset="0"/>
                    <a:ea typeface="Times New Roman" pitchFamily="34" charset="-122"/>
                    <a:cs typeface="Times New Roman" pitchFamily="34" charset="-120"/>
                  </a:rPr>
                  <a:t>Round(</a:t>
                </a:r>
                <a14:m>
                  <m:oMath xmlns:m="http://schemas.openxmlformats.org/officeDocument/2006/math">
                    <m:f>
                      <m:fPr>
                        <m:ctrlPr>
                          <a:rPr lang="ko-KR" altLang="en-US" b="1" i="1" dirty="0">
                            <a:solidFill>
                              <a:srgbClr val="111111"/>
                            </a:solidFill>
                            <a:latin typeface="Cambria Math" panose="02040503050406030204" pitchFamily="18" charset="0"/>
                          </a:rPr>
                        </m:ctrlPr>
                      </m:fPr>
                      <m:num>
                        <m:sSub>
                          <m:sSubPr>
                            <m:ctrlPr>
                              <a:rPr lang="ko-KR" altLang="en-US" b="1" i="1" dirty="0">
                                <a:solidFill>
                                  <a:srgbClr val="111111"/>
                                </a:solidFill>
                                <a:latin typeface="Cambria Math" panose="02040503050406030204" pitchFamily="18" charset="0"/>
                              </a:rPr>
                            </m:ctrlPr>
                          </m:sSubPr>
                          <m:e>
                            <m:r>
                              <a:rPr lang="ko-KR" altLang="en-US" b="1" i="1" dirty="0">
                                <a:solidFill>
                                  <a:srgbClr val="111111"/>
                                </a:solidFill>
                                <a:latin typeface="Cambria Math" panose="02040503050406030204" pitchFamily="18" charset="0"/>
                              </a:rPr>
                              <m:t>𝑊</m:t>
                            </m:r>
                          </m:e>
                          <m:sub>
                            <m:r>
                              <a:rPr lang="ko-KR" altLang="en-US" b="1" i="1" dirty="0">
                                <a:solidFill>
                                  <a:srgbClr val="111111"/>
                                </a:solidFill>
                                <a:latin typeface="Cambria Math" panose="02040503050406030204" pitchFamily="18" charset="0"/>
                              </a:rPr>
                              <m:t>𝑓</m:t>
                            </m:r>
                          </m:sub>
                        </m:sSub>
                      </m:num>
                      <m:den>
                        <m:r>
                          <a:rPr lang="ko-KR" altLang="en-US" b="1" i="1" dirty="0">
                            <a:solidFill>
                              <a:srgbClr val="111111"/>
                            </a:solidFill>
                            <a:latin typeface="Cambria Math" panose="02040503050406030204" pitchFamily="18" charset="0"/>
                          </a:rPr>
                          <m:t>𝛥</m:t>
                        </m:r>
                      </m:den>
                    </m:f>
                  </m:oMath>
                </a14:m>
                <a:r>
                  <a:rPr lang="en-US" dirty="0">
                    <a:solidFill>
                      <a:srgbClr val="111111"/>
                    </a:solidFill>
                    <a:latin typeface="Times New Roman" pitchFamily="34" charset="0"/>
                    <a:ea typeface="Times New Roman" pitchFamily="34" charset="-122"/>
                    <a:cs typeface="Times New Roman" pitchFamily="34" charset="-120"/>
                  </a:rPr>
                  <a:t>)</a:t>
                </a:r>
                <a:endParaRPr lang="en-US" dirty="0"/>
              </a:p>
              <a:p>
                <a:pPr marL="0" indent="0" algn="ctr">
                  <a:buNone/>
                </a:pPr>
                <a14:m>
                  <m:oMathPara xmlns:m="http://schemas.openxmlformats.org/officeDocument/2006/math">
                    <m:oMath>
                      <m:sSub>
                        <m:sSubPr>
                          <m:ctrlPr>
                            <a:rPr lang="ko-KR" altLang="en-US" i="1" dirty="0">
                              <a:solidFill>
                                <a:srgbClr val="111111"/>
                              </a:solidFill>
                              <a:latin typeface="Cambria Math" panose="02040503050406030204" pitchFamily="18" charset="0"/>
                            </a:rPr>
                          </m:ctrlPr>
                        </m:sSubPr>
                        <m:e>
                          <m:r>
                            <a:rPr lang="ko-KR" altLang="en-US" i="1" dirty="0">
                              <a:solidFill>
                                <a:srgbClr val="111111"/>
                              </a:solidFill>
                              <a:latin typeface="Cambria Math" panose="02040503050406030204" pitchFamily="18" charset="0"/>
                            </a:rPr>
                            <m:t>𝑊</m:t>
                          </m:r>
                        </m:e>
                        <m:sub>
                          <m:r>
                            <a:rPr lang="ko-KR" altLang="en-US" i="1" dirty="0">
                              <a:solidFill>
                                <a:srgbClr val="111111"/>
                              </a:solidFill>
                              <a:latin typeface="Cambria Math" panose="02040503050406030204" pitchFamily="18" charset="0"/>
                            </a:rPr>
                            <m:t>𝑞𝑓</m:t>
                          </m:r>
                        </m:sub>
                      </m:sSub>
                      <m:r>
                        <a:rPr lang="en-US" altLang="ko-KR" i="0" dirty="0">
                          <a:solidFill>
                            <a:srgbClr val="111111"/>
                          </a:solidFill>
                          <a:latin typeface="Cambria Math" panose="02040503050406030204" pitchFamily="18" charset="0"/>
                        </a:rPr>
                        <m:t>=</m:t>
                      </m:r>
                      <m:sSub>
                        <m:sSubPr>
                          <m:ctrlPr>
                            <a:rPr lang="ko-KR" altLang="en-US" i="1" dirty="0">
                              <a:solidFill>
                                <a:srgbClr val="111111"/>
                              </a:solidFill>
                              <a:latin typeface="Cambria Math" panose="02040503050406030204" pitchFamily="18" charset="0"/>
                            </a:rPr>
                          </m:ctrlPr>
                        </m:sSubPr>
                        <m:e>
                          <m:r>
                            <a:rPr lang="ko-KR" altLang="en-US" i="1" dirty="0">
                              <a:solidFill>
                                <a:srgbClr val="111111"/>
                              </a:solidFill>
                              <a:latin typeface="Cambria Math" panose="02040503050406030204" pitchFamily="18" charset="0"/>
                            </a:rPr>
                            <m:t>𝑊</m:t>
                          </m:r>
                        </m:e>
                        <m:sub>
                          <m:r>
                            <a:rPr lang="ko-KR" altLang="en-US" i="1" dirty="0">
                              <a:solidFill>
                                <a:srgbClr val="111111"/>
                              </a:solidFill>
                              <a:latin typeface="Cambria Math" panose="02040503050406030204" pitchFamily="18" charset="0"/>
                            </a:rPr>
                            <m:t>𝑞</m:t>
                          </m:r>
                        </m:sub>
                      </m:sSub>
                      <m:r>
                        <a:rPr lang="en-US" altLang="ko-KR" i="0" dirty="0">
                          <a:solidFill>
                            <a:srgbClr val="111111"/>
                          </a:solidFill>
                          <a:latin typeface="Cambria Math" panose="02040503050406030204" pitchFamily="18" charset="0"/>
                        </a:rPr>
                        <m:t>·</m:t>
                      </m:r>
                      <m:r>
                        <a:rPr lang="ko-KR" altLang="en-US" i="1" dirty="0">
                          <a:solidFill>
                            <a:srgbClr val="111111"/>
                          </a:solidFill>
                          <a:latin typeface="Cambria Math" panose="02040503050406030204" pitchFamily="18" charset="0"/>
                        </a:rPr>
                        <m:t>𝛥</m:t>
                      </m:r>
                    </m:oMath>
                  </m:oMathPara>
                </a14:m>
                <a:endParaRPr lang="en-US" dirty="0"/>
              </a:p>
            </p:txBody>
          </p:sp>
        </mc:Choice>
        <mc:Fallback xmlns="">
          <p:sp>
            <p:nvSpPr>
              <p:cNvPr id="24" name="Text 21"/>
              <p:cNvSpPr>
                <a:spLocks noRot="1" noChangeAspect="1" noMove="1" noResize="1" noEditPoints="1" noAdjustHandles="1" noChangeArrowheads="1" noChangeShapeType="1" noTextEdit="1"/>
              </p:cNvSpPr>
              <p:nvPr/>
            </p:nvSpPr>
            <p:spPr>
              <a:xfrm>
                <a:off x="9116568" y="1472184"/>
                <a:ext cx="2249424" cy="987552"/>
              </a:xfrm>
              <a:prstGeom prst="rect">
                <a:avLst/>
              </a:prstGeom>
              <a:blipFill>
                <a:blip r:embed="rId8"/>
                <a:stretch>
                  <a:fillRect/>
                </a:stretch>
              </a:blipFill>
              <a:ln/>
            </p:spPr>
            <p:txBody>
              <a:bodyPr/>
              <a:lstStyle/>
              <a:p>
                <a:r>
                  <a:rPr lang="ko-KR" altLang="en-US">
                    <a:noFill/>
                  </a:rPr>
                  <a:t> </a:t>
                </a:r>
              </a:p>
            </p:txBody>
          </p:sp>
        </mc:Fallback>
      </mc:AlternateContent>
      <p:sp>
        <p:nvSpPr>
          <p:cNvPr id="25" name="Shape 22"/>
          <p:cNvSpPr/>
          <p:nvPr/>
        </p:nvSpPr>
        <p:spPr>
          <a:xfrm>
            <a:off x="804672" y="2880360"/>
            <a:ext cx="10515600" cy="566928"/>
          </a:xfrm>
          <a:prstGeom prst="roundRect">
            <a:avLst>
              <a:gd name="adj" fmla="val 11290"/>
            </a:avLst>
          </a:prstGeom>
          <a:solidFill>
            <a:srgbClr val="F4F8FE"/>
          </a:solidFill>
          <a:ln w="13970">
            <a:solidFill>
              <a:srgbClr val="6D8FC4"/>
            </a:solidFill>
            <a:prstDash val="solid"/>
          </a:ln>
        </p:spPr>
        <p:txBody>
          <a:bodyPr/>
          <a:lstStyle/>
          <a:p>
            <a:endParaRPr lang="ko-KR" altLang="en-US"/>
          </a:p>
        </p:txBody>
      </p:sp>
      <p:sp>
        <p:nvSpPr>
          <p:cNvPr id="26" name="Text 23"/>
          <p:cNvSpPr/>
          <p:nvPr/>
        </p:nvSpPr>
        <p:spPr>
          <a:xfrm>
            <a:off x="914400" y="2953512"/>
            <a:ext cx="10296144" cy="420624"/>
          </a:xfrm>
          <a:prstGeom prst="rect">
            <a:avLst/>
          </a:prstGeom>
          <a:noFill/>
          <a:ln/>
        </p:spPr>
        <p:txBody>
          <a:bodyPr wrap="square" lIns="254" tIns="254" rIns="254" bIns="254" rtlCol="0" anchor="ctr">
            <a:normAutofit/>
          </a:bodyPr>
          <a:lstStyle/>
          <a:p>
            <a:pPr marL="0" indent="0" algn="ctr">
              <a:buNone/>
            </a:pPr>
            <a:r>
              <a:rPr lang="en-US" sz="1500" b="1" dirty="0">
                <a:solidFill>
                  <a:srgbClr val="00245D"/>
                </a:solidFill>
                <a:latin typeface="Arial" pitchFamily="34" charset="0"/>
                <a:ea typeface="Arial" pitchFamily="34" charset="-122"/>
                <a:cs typeface="Arial" pitchFamily="34" charset="-120"/>
              </a:rPr>
              <a:t>Core trade-off: fewer representable values → smaller memory, but larger quantization error.</a:t>
            </a:r>
            <a:endParaRPr lang="en-US" sz="1500" dirty="0"/>
          </a:p>
        </p:txBody>
      </p:sp>
      <p:sp>
        <p:nvSpPr>
          <p:cNvPr id="27" name="Text 24"/>
          <p:cNvSpPr/>
          <p:nvPr/>
        </p:nvSpPr>
        <p:spPr>
          <a:xfrm>
            <a:off x="640080" y="3749040"/>
            <a:ext cx="10972800" cy="274320"/>
          </a:xfrm>
          <a:prstGeom prst="rect">
            <a:avLst/>
          </a:prstGeom>
          <a:noFill/>
          <a:ln/>
        </p:spPr>
        <p:txBody>
          <a:bodyPr wrap="square" lIns="635" tIns="635" rIns="635" bIns="635" rtlCol="0" anchor="ctr">
            <a:normAutofit/>
          </a:bodyPr>
          <a:lstStyle/>
          <a:p>
            <a:pPr marL="0" indent="0" algn="l">
              <a:buNone/>
            </a:pPr>
            <a:r>
              <a:rPr lang="en-US" sz="1500" b="1" dirty="0">
                <a:solidFill>
                  <a:srgbClr val="00245D"/>
                </a:solidFill>
                <a:latin typeface="Arial" pitchFamily="34" charset="0"/>
                <a:ea typeface="Arial" pitchFamily="34" charset="-122"/>
                <a:cs typeface="Arial" pitchFamily="34" charset="-120"/>
              </a:rPr>
              <a:t>Two common integer modes differ in how the real-value range is mapped to integer levels.</a:t>
            </a:r>
            <a:endParaRPr lang="en-US" sz="1500" dirty="0"/>
          </a:p>
        </p:txBody>
      </p:sp>
      <p:sp>
        <p:nvSpPr>
          <p:cNvPr id="28" name="Shape 25"/>
          <p:cNvSpPr/>
          <p:nvPr/>
        </p:nvSpPr>
        <p:spPr>
          <a:xfrm>
            <a:off x="1188720" y="4279392"/>
            <a:ext cx="2468880" cy="1143000"/>
          </a:xfrm>
          <a:prstGeom prst="roundRect">
            <a:avLst>
              <a:gd name="adj" fmla="val 6400"/>
            </a:avLst>
          </a:prstGeom>
          <a:solidFill>
            <a:srgbClr val="F8FBFF"/>
          </a:solidFill>
          <a:ln w="19050">
            <a:solidFill>
              <a:srgbClr val="00245D"/>
            </a:solidFill>
            <a:prstDash val="solid"/>
          </a:ln>
        </p:spPr>
        <p:txBody>
          <a:bodyPr/>
          <a:lstStyle/>
          <a:p>
            <a:endParaRPr lang="ko-KR" altLang="en-US"/>
          </a:p>
        </p:txBody>
      </p:sp>
      <p:sp>
        <p:nvSpPr>
          <p:cNvPr id="29" name="Text 26"/>
          <p:cNvSpPr/>
          <p:nvPr/>
        </p:nvSpPr>
        <p:spPr>
          <a:xfrm>
            <a:off x="1261872" y="4343400"/>
            <a:ext cx="2322576" cy="1014984"/>
          </a:xfrm>
          <a:prstGeom prst="rect">
            <a:avLst/>
          </a:prstGeom>
          <a:noFill/>
          <a:ln/>
        </p:spPr>
        <p:txBody>
          <a:bodyPr wrap="square" lIns="254" tIns="254" rIns="254" bIns="254" rtlCol="0" anchor="ctr">
            <a:normAutofit/>
          </a:bodyPr>
          <a:lstStyle/>
          <a:p>
            <a:pPr marL="0" indent="0" algn="ctr">
              <a:buNone/>
            </a:pPr>
            <a:r>
              <a:rPr lang="en-US" sz="1600" b="1" dirty="0">
                <a:solidFill>
                  <a:srgbClr val="111111"/>
                </a:solidFill>
                <a:latin typeface="Arial" pitchFamily="34" charset="0"/>
                <a:ea typeface="Arial" pitchFamily="34" charset="-122"/>
                <a:cs typeface="Arial" pitchFamily="34" charset="-120"/>
              </a:rPr>
              <a:t>Symmetric</a:t>
            </a:r>
            <a:endParaRPr lang="en-US" sz="1600" dirty="0"/>
          </a:p>
          <a:p>
            <a:pPr marL="0" indent="0" algn="ctr">
              <a:buNone/>
            </a:pPr>
            <a:r>
              <a:rPr lang="en-US" sz="1600" b="1" dirty="0">
                <a:solidFill>
                  <a:srgbClr val="111111"/>
                </a:solidFill>
                <a:latin typeface="Arial" pitchFamily="34" charset="0"/>
                <a:ea typeface="Arial" pitchFamily="34" charset="-122"/>
                <a:cs typeface="Arial" pitchFamily="34" charset="-120"/>
              </a:rPr>
              <a:t>quantization</a:t>
            </a:r>
            <a:endParaRPr lang="en-US" sz="1600" dirty="0"/>
          </a:p>
          <a:p>
            <a:pPr marL="0" indent="0" algn="ctr">
              <a:buNone/>
            </a:pPr>
            <a:endParaRPr lang="en-US" sz="1600" dirty="0"/>
          </a:p>
          <a:p>
            <a:pPr marL="0" indent="0" algn="ctr">
              <a:buNone/>
            </a:pPr>
            <a:r>
              <a:rPr lang="en-US" sz="1600" b="1" dirty="0">
                <a:solidFill>
                  <a:srgbClr val="111111"/>
                </a:solidFill>
                <a:latin typeface="Arial" pitchFamily="34" charset="0"/>
                <a:ea typeface="Arial" pitchFamily="34" charset="-122"/>
                <a:cs typeface="Arial" pitchFamily="34" charset="-120"/>
              </a:rPr>
              <a:t>0-centered grid</a:t>
            </a:r>
            <a:endParaRPr lang="en-US" sz="1600" dirty="0"/>
          </a:p>
        </p:txBody>
      </p:sp>
      <p:sp>
        <p:nvSpPr>
          <p:cNvPr id="30" name="Shape 27"/>
          <p:cNvSpPr/>
          <p:nvPr/>
        </p:nvSpPr>
        <p:spPr>
          <a:xfrm>
            <a:off x="4800600" y="4279392"/>
            <a:ext cx="2468880" cy="1143000"/>
          </a:xfrm>
          <a:prstGeom prst="roundRect">
            <a:avLst>
              <a:gd name="adj" fmla="val 6400"/>
            </a:avLst>
          </a:prstGeom>
          <a:solidFill>
            <a:srgbClr val="F8FBFF"/>
          </a:solidFill>
          <a:ln w="19050">
            <a:solidFill>
              <a:srgbClr val="00245D"/>
            </a:solidFill>
            <a:prstDash val="solid"/>
          </a:ln>
        </p:spPr>
        <p:txBody>
          <a:bodyPr/>
          <a:lstStyle/>
          <a:p>
            <a:endParaRPr lang="ko-KR" altLang="en-US"/>
          </a:p>
        </p:txBody>
      </p:sp>
      <p:sp>
        <p:nvSpPr>
          <p:cNvPr id="31" name="Text 28"/>
          <p:cNvSpPr/>
          <p:nvPr/>
        </p:nvSpPr>
        <p:spPr>
          <a:xfrm>
            <a:off x="4873752" y="4343400"/>
            <a:ext cx="2322576" cy="1014984"/>
          </a:xfrm>
          <a:prstGeom prst="rect">
            <a:avLst/>
          </a:prstGeom>
          <a:noFill/>
          <a:ln/>
        </p:spPr>
        <p:txBody>
          <a:bodyPr wrap="square" lIns="254" tIns="254" rIns="254" bIns="254" rtlCol="0" anchor="ctr">
            <a:normAutofit/>
          </a:bodyPr>
          <a:lstStyle/>
          <a:p>
            <a:pPr marL="0" indent="0" algn="ctr">
              <a:buNone/>
            </a:pPr>
            <a:r>
              <a:rPr lang="en-US" sz="1600" b="1" dirty="0">
                <a:solidFill>
                  <a:srgbClr val="111111"/>
                </a:solidFill>
                <a:latin typeface="Arial" pitchFamily="34" charset="0"/>
                <a:ea typeface="Arial" pitchFamily="34" charset="-122"/>
                <a:cs typeface="Arial" pitchFamily="34" charset="-120"/>
              </a:rPr>
              <a:t>Asymmetric</a:t>
            </a:r>
            <a:endParaRPr lang="en-US" sz="1600" dirty="0"/>
          </a:p>
          <a:p>
            <a:pPr marL="0" indent="0" algn="ctr">
              <a:buNone/>
            </a:pPr>
            <a:r>
              <a:rPr lang="en-US" sz="1600" b="1" dirty="0">
                <a:solidFill>
                  <a:srgbClr val="111111"/>
                </a:solidFill>
                <a:latin typeface="Arial" pitchFamily="34" charset="0"/>
                <a:ea typeface="Arial" pitchFamily="34" charset="-122"/>
                <a:cs typeface="Arial" pitchFamily="34" charset="-120"/>
              </a:rPr>
              <a:t>quantization</a:t>
            </a:r>
            <a:endParaRPr lang="en-US" sz="1600" dirty="0"/>
          </a:p>
          <a:p>
            <a:pPr marL="0" indent="0" algn="ctr">
              <a:buNone/>
            </a:pPr>
            <a:endParaRPr lang="en-US" sz="1600" dirty="0"/>
          </a:p>
          <a:p>
            <a:pPr marL="0" indent="0" algn="ctr">
              <a:buNone/>
            </a:pPr>
            <a:r>
              <a:rPr lang="en-US" sz="1600" b="1" dirty="0">
                <a:solidFill>
                  <a:srgbClr val="111111"/>
                </a:solidFill>
                <a:latin typeface="Arial" pitchFamily="34" charset="0"/>
                <a:ea typeface="Arial" pitchFamily="34" charset="-122"/>
                <a:cs typeface="Arial" pitchFamily="34" charset="-120"/>
              </a:rPr>
              <a:t>scale + zero-point</a:t>
            </a:r>
            <a:endParaRPr lang="en-US" sz="1600" dirty="0"/>
          </a:p>
        </p:txBody>
      </p:sp>
      <p:sp>
        <p:nvSpPr>
          <p:cNvPr id="32" name="Shape 29"/>
          <p:cNvSpPr/>
          <p:nvPr/>
        </p:nvSpPr>
        <p:spPr>
          <a:xfrm>
            <a:off x="8275320" y="4133088"/>
            <a:ext cx="2743200" cy="1417320"/>
          </a:xfrm>
          <a:prstGeom prst="roundRect">
            <a:avLst>
              <a:gd name="adj" fmla="val 5161"/>
            </a:avLst>
          </a:prstGeom>
          <a:solidFill>
            <a:srgbClr val="F5F7FB"/>
          </a:solidFill>
          <a:ln w="19050">
            <a:solidFill>
              <a:srgbClr val="B7C5D8"/>
            </a:solidFill>
            <a:prstDash val="solid"/>
          </a:ln>
        </p:spPr>
        <p:txBody>
          <a:bodyPr/>
          <a:lstStyle/>
          <a:p>
            <a:endParaRPr lang="ko-KR" altLang="en-US"/>
          </a:p>
        </p:txBody>
      </p:sp>
      <p:sp>
        <p:nvSpPr>
          <p:cNvPr id="33" name="Text 30"/>
          <p:cNvSpPr/>
          <p:nvPr/>
        </p:nvSpPr>
        <p:spPr>
          <a:xfrm>
            <a:off x="8348472" y="4197096"/>
            <a:ext cx="2596896" cy="1289304"/>
          </a:xfrm>
          <a:prstGeom prst="rect">
            <a:avLst/>
          </a:prstGeom>
          <a:noFill/>
          <a:ln/>
        </p:spPr>
        <p:txBody>
          <a:bodyPr wrap="square" lIns="254" tIns="254" rIns="254" bIns="254" rtlCol="0" anchor="ctr">
            <a:normAutofit/>
          </a:bodyPr>
          <a:lstStyle/>
          <a:p>
            <a:pPr marL="0" indent="0" algn="ctr">
              <a:buNone/>
            </a:pPr>
            <a:r>
              <a:rPr lang="en-US" sz="1400" b="1" dirty="0">
                <a:solidFill>
                  <a:srgbClr val="111111"/>
                </a:solidFill>
                <a:latin typeface="Arial" pitchFamily="34" charset="0"/>
                <a:ea typeface="Arial" pitchFamily="34" charset="-122"/>
                <a:cs typeface="Arial" pitchFamily="34" charset="-120"/>
              </a:rPr>
              <a:t>Question for this section</a:t>
            </a:r>
            <a:endParaRPr lang="en-US" sz="1400" dirty="0"/>
          </a:p>
          <a:p>
            <a:pPr marL="0" indent="0" algn="ctr">
              <a:buNone/>
            </a:pPr>
            <a:endParaRPr lang="en-US" sz="1400" dirty="0"/>
          </a:p>
          <a:p>
            <a:pPr marL="0" indent="0" algn="ctr">
              <a:buNone/>
            </a:pPr>
            <a:r>
              <a:rPr lang="en-US" sz="1400" b="1" dirty="0">
                <a:solidFill>
                  <a:srgbClr val="111111"/>
                </a:solidFill>
                <a:latin typeface="Arial" pitchFamily="34" charset="0"/>
                <a:ea typeface="Arial" pitchFamily="34" charset="-122"/>
                <a:cs typeface="Arial" pitchFamily="34" charset="-120"/>
              </a:rPr>
              <a:t>When is each mapping good, and what error does it create?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Symmetric Integer Quantization</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14</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Assumption: the minimum and maximum values have the same absolute range around 0.</a:t>
            </a:r>
            <a:endParaRPr lang="en-US" sz="1300" dirty="0"/>
          </a:p>
        </p:txBody>
      </p:sp>
      <p:sp>
        <p:nvSpPr>
          <p:cNvPr id="9" name="Shape 6"/>
          <p:cNvSpPr/>
          <p:nvPr/>
        </p:nvSpPr>
        <p:spPr>
          <a:xfrm>
            <a:off x="685800" y="1481328"/>
            <a:ext cx="5074920" cy="4160520"/>
          </a:xfrm>
          <a:prstGeom prst="roundRect">
            <a:avLst>
              <a:gd name="adj" fmla="val 1319"/>
            </a:avLst>
          </a:prstGeom>
          <a:solidFill>
            <a:srgbClr val="F3F8FF"/>
          </a:solidFill>
          <a:ln w="13970">
            <a:solidFill>
              <a:srgbClr val="9EADCC"/>
            </a:solidFill>
            <a:prstDash val="solid"/>
          </a:ln>
        </p:spPr>
        <p:txBody>
          <a:bodyPr/>
          <a:lstStyle/>
          <a:p>
            <a:endParaRPr lang="ko-KR" altLang="en-US"/>
          </a:p>
        </p:txBody>
      </p:sp>
      <p:sp>
        <p:nvSpPr>
          <p:cNvPr id="10" name="Text 7"/>
          <p:cNvSpPr/>
          <p:nvPr/>
        </p:nvSpPr>
        <p:spPr>
          <a:xfrm>
            <a:off x="850392" y="1609344"/>
            <a:ext cx="474573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Core equations</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60120" y="1965960"/>
                <a:ext cx="4526280" cy="6858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𝛥</m:t>
                      </m:r>
                      <m:r>
                        <a:rPr lang="ko-KR" altLang="en-US" sz="1200" smtClean="0">
                          <a:latin typeface="Cambria Math"/>
                        </a:rPr>
                        <m:t>=</m:t>
                      </m:r>
                      <m:f>
                        <m:fPr>
                          <m:ctrlPr>
                            <a:rPr lang="ko-KR" altLang="en-US" sz="1200" i="1" smtClean="0">
                              <a:latin typeface="Cambria Math" panose="02040503050406030204" pitchFamily="18" charset="0"/>
                            </a:rPr>
                          </m:ctrlPr>
                        </m:fPr>
                        <m:num>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𝑓</m:t>
                              </m:r>
                              <m:r>
                                <a:rPr lang="ko-KR" altLang="en-US" sz="1200" smtClean="0">
                                  <a:latin typeface="Cambria Math"/>
                                </a:rPr>
                                <m:t>,</m:t>
                              </m:r>
                              <m:r>
                                <m:rPr>
                                  <m:sty m:val="p"/>
                                </m:rPr>
                                <a:rPr lang="ko-KR" altLang="en-US" sz="1200" smtClean="0">
                                  <a:latin typeface="Cambria Math"/>
                                </a:rPr>
                                <m:t>max</m:t>
                              </m:r>
                            </m:sub>
                          </m:sSub>
                        </m:num>
                        <m:den>
                          <m:sSup>
                            <m:sSupPr>
                              <m:ctrlPr>
                                <a:rPr lang="ko-KR" altLang="en-US" sz="1200" smtClean="0">
                                  <a:latin typeface="Cambria Math"/>
                                </a:rPr>
                              </m:ctrlPr>
                            </m:sSupPr>
                            <m:e>
                              <m:r>
                                <a:rPr lang="ko-KR" altLang="en-US" sz="1200" smtClean="0">
                                  <a:latin typeface="Cambria Math"/>
                                </a:rPr>
                                <m:t>2</m:t>
                              </m:r>
                            </m:e>
                            <m:sup>
                              <m:r>
                                <a:rPr lang="ko-KR" altLang="en-US" sz="1200" smtClean="0">
                                  <a:latin typeface="Cambria Math"/>
                                </a:rPr>
                                <m:t>𝑏</m:t>
                              </m:r>
                              <m:r>
                                <a:rPr lang="ko-KR" altLang="en-US" sz="1200" smtClean="0">
                                  <a:latin typeface="Cambria Math"/>
                                </a:rPr>
                                <m:t>−1</m:t>
                              </m:r>
                            </m:sup>
                          </m:sSup>
                          <m:r>
                            <a:rPr lang="ko-KR" altLang="en-US" sz="1200" smtClean="0">
                              <a:latin typeface="Cambria Math"/>
                            </a:rPr>
                            <m:t>−1</m:t>
                          </m:r>
                        </m:den>
                      </m:f>
                    </m:oMath>
                  </m:oMathPara>
                </a14:m>
                <a:endParaRPr dirty="0"/>
              </a:p>
            </p:txBody>
          </p:sp>
        </mc:Choice>
        <mc:Fallback xmlns="">
          <p:sp>
            <p:nvSpPr>
              <p:cNvPr id="11" name="Text 8"/>
              <p:cNvSpPr>
                <a:spLocks noRot="1" noChangeAspect="1" noMove="1" noResize="1" noEditPoints="1" noAdjustHandles="1" noChangeArrowheads="1" noChangeShapeType="1" noTextEdit="1"/>
              </p:cNvSpPr>
              <p:nvPr/>
            </p:nvSpPr>
            <p:spPr>
              <a:xfrm>
                <a:off x="960120" y="1965960"/>
                <a:ext cx="4526280" cy="685800"/>
              </a:xfrm>
              <a:prstGeom prst="rect">
                <a:avLst/>
              </a:prstGeom>
              <a:blipFill>
                <a:blip r:embed="rId4"/>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 9"/>
              <p:cNvSpPr/>
              <p:nvPr/>
            </p:nvSpPr>
            <p:spPr>
              <a:xfrm>
                <a:off x="960120" y="2926080"/>
                <a:ext cx="4526280" cy="6858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r>
                        <a:rPr lang="ko-KR" altLang="en-US" sz="1200" smtClean="0">
                          <a:latin typeface="Cambria Math"/>
                        </a:rPr>
                        <m:t>=</m:t>
                      </m:r>
                      <m:r>
                        <m:rPr>
                          <m:sty m:val="p"/>
                        </m:rPr>
                        <a:rPr lang="ko-KR" altLang="en-US" sz="1200" smtClean="0">
                          <a:latin typeface="Cambria Math"/>
                        </a:rPr>
                        <m:t>Round</m:t>
                      </m:r>
                      <m:d>
                        <m:dPr>
                          <m:ctrlPr>
                            <a:rPr lang="ko-KR" altLang="en-US" sz="1200" i="1" smtClean="0">
                              <a:latin typeface="Cambria Math" panose="02040503050406030204" pitchFamily="18" charset="0"/>
                            </a:rPr>
                          </m:ctrlPr>
                        </m:dPr>
                        <m:e>
                          <m:f>
                            <m:fPr>
                              <m:ctrlPr>
                                <a:rPr lang="ko-KR" altLang="en-US" sz="1200" i="1" smtClean="0">
                                  <a:latin typeface="Cambria Math" panose="02040503050406030204" pitchFamily="18" charset="0"/>
                                </a:rPr>
                              </m:ctrlPr>
                            </m:fPr>
                            <m:num>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𝑓</m:t>
                                  </m:r>
                                </m:sub>
                              </m:sSub>
                            </m:num>
                            <m:den>
                              <m:r>
                                <a:rPr lang="ko-KR" altLang="en-US" sz="1200" smtClean="0">
                                  <a:latin typeface="Cambria Math"/>
                                </a:rPr>
                                <m:t>𝛥</m:t>
                              </m:r>
                            </m:den>
                          </m:f>
                        </m:e>
                      </m:d>
                    </m:oMath>
                  </m:oMathPara>
                </a14:m>
                <a:endParaRPr dirty="0"/>
              </a:p>
            </p:txBody>
          </p:sp>
        </mc:Choice>
        <mc:Fallback xmlns="">
          <p:sp>
            <p:nvSpPr>
              <p:cNvPr id="12" name="Text 9"/>
              <p:cNvSpPr>
                <a:spLocks noRot="1" noChangeAspect="1" noMove="1" noResize="1" noEditPoints="1" noAdjustHandles="1" noChangeArrowheads="1" noChangeShapeType="1" noTextEdit="1"/>
              </p:cNvSpPr>
              <p:nvPr/>
            </p:nvSpPr>
            <p:spPr>
              <a:xfrm>
                <a:off x="960120" y="2926080"/>
                <a:ext cx="4526280" cy="685800"/>
              </a:xfrm>
              <a:prstGeom prst="rect">
                <a:avLst/>
              </a:prstGeom>
              <a:blipFill>
                <a:blip r:embed="rId5"/>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 10"/>
              <p:cNvSpPr/>
              <p:nvPr/>
            </p:nvSpPr>
            <p:spPr>
              <a:xfrm>
                <a:off x="960120" y="3886200"/>
                <a:ext cx="4526280" cy="6858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𝑞𝑓</m:t>
                          </m:r>
                        </m:sub>
                      </m:sSub>
                      <m:r>
                        <a:rPr lang="ko-KR" altLang="en-US" sz="1200" smtClean="0">
                          <a:latin typeface="Cambria Math"/>
                        </a:rPr>
                        <m:t>=</m:t>
                      </m:r>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r>
                        <a:rPr lang="ko-KR" altLang="en-US" sz="1200" smtClean="0">
                          <a:latin typeface="Cambria Math"/>
                        </a:rPr>
                        <m:t>⋅</m:t>
                      </m:r>
                      <m:r>
                        <a:rPr lang="ko-KR" altLang="en-US" sz="1200" smtClean="0">
                          <a:latin typeface="Cambria Math"/>
                        </a:rPr>
                        <m:t>𝛥</m:t>
                      </m:r>
                    </m:oMath>
                  </m:oMathPara>
                </a14:m>
                <a:endParaRPr/>
              </a:p>
            </p:txBody>
          </p:sp>
        </mc:Choice>
        <mc:Fallback xmlns="">
          <p:sp>
            <p:nvSpPr>
              <p:cNvPr id="13" name="Text 10"/>
              <p:cNvSpPr>
                <a:spLocks noRot="1" noChangeAspect="1" noMove="1" noResize="1" noEditPoints="1" noAdjustHandles="1" noChangeArrowheads="1" noChangeShapeType="1" noTextEdit="1"/>
              </p:cNvSpPr>
              <p:nvPr/>
            </p:nvSpPr>
            <p:spPr>
              <a:xfrm>
                <a:off x="960120" y="3886200"/>
                <a:ext cx="4526280" cy="685800"/>
              </a:xfrm>
              <a:prstGeom prst="rect">
                <a:avLst/>
              </a:prstGeom>
              <a:blipFill>
                <a:blip r:embed="rId6"/>
                <a:stretch>
                  <a:fillRect/>
                </a:stretch>
              </a:blipFill>
              <a:ln/>
            </p:spPr>
            <p:txBody>
              <a:bodyPr/>
              <a:lstStyle/>
              <a:p>
                <a:r>
                  <a:rPr lang="ko-KR" altLang="en-US">
                    <a:noFill/>
                  </a:rPr>
                  <a:t> </a:t>
                </a:r>
              </a:p>
            </p:txBody>
          </p:sp>
        </mc:Fallback>
      </mc:AlternateContent>
      <p:sp>
        <p:nvSpPr>
          <p:cNvPr id="14" name="Text 11"/>
          <p:cNvSpPr/>
          <p:nvPr/>
        </p:nvSpPr>
        <p:spPr>
          <a:xfrm>
            <a:off x="1005840" y="4983480"/>
            <a:ext cx="4434840" cy="292608"/>
          </a:xfrm>
          <a:prstGeom prst="rect">
            <a:avLst/>
          </a:prstGeom>
          <a:noFill/>
          <a:ln/>
        </p:spPr>
        <p:txBody>
          <a:bodyPr wrap="square" lIns="254" tIns="254" rIns="254" bIns="254" rtlCol="0" anchor="ctr">
            <a:normAutofit fontScale="92500"/>
          </a:bodyPr>
          <a:lstStyle/>
          <a:p>
            <a:pPr marL="0" indent="0" algn="ctr">
              <a:buNone/>
            </a:pPr>
            <a:r>
              <a:rPr lang="en-US" sz="1130" b="1" dirty="0">
                <a:solidFill>
                  <a:srgbClr val="00245D"/>
                </a:solidFill>
                <a:latin typeface="Arial" pitchFamily="34" charset="0"/>
                <a:ea typeface="Arial" pitchFamily="34" charset="-122"/>
                <a:cs typeface="Arial" pitchFamily="34" charset="-120"/>
              </a:rPr>
              <a:t>Real zero maps to integer zero, so no zero-point metadata is needed.</a:t>
            </a:r>
            <a:endParaRPr lang="en-US" sz="1130" dirty="0"/>
          </a:p>
        </p:txBody>
      </p:sp>
      <p:sp>
        <p:nvSpPr>
          <p:cNvPr id="15" name="Shape 12"/>
          <p:cNvSpPr/>
          <p:nvPr/>
        </p:nvSpPr>
        <p:spPr>
          <a:xfrm>
            <a:off x="6172200" y="1481328"/>
            <a:ext cx="5257800" cy="4160520"/>
          </a:xfrm>
          <a:prstGeom prst="roundRect">
            <a:avLst>
              <a:gd name="adj" fmla="val 1319"/>
            </a:avLst>
          </a:prstGeom>
          <a:solidFill>
            <a:srgbClr val="FFFDF2"/>
          </a:solidFill>
          <a:ln w="13970">
            <a:solidFill>
              <a:srgbClr val="D6B656"/>
            </a:solidFill>
            <a:prstDash val="solid"/>
          </a:ln>
        </p:spPr>
        <p:txBody>
          <a:bodyPr/>
          <a:lstStyle/>
          <a:p>
            <a:endParaRPr lang="ko-KR" altLang="en-US"/>
          </a:p>
        </p:txBody>
      </p:sp>
      <p:sp>
        <p:nvSpPr>
          <p:cNvPr id="16" name="Text 13"/>
          <p:cNvSpPr/>
          <p:nvPr/>
        </p:nvSpPr>
        <p:spPr>
          <a:xfrm>
            <a:off x="6336792" y="1609344"/>
            <a:ext cx="492861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Interpretation</a:t>
            </a:r>
            <a:endParaRPr lang="en-US" sz="1200" dirty="0"/>
          </a:p>
        </p:txBody>
      </p:sp>
      <p:sp>
        <p:nvSpPr>
          <p:cNvPr id="17" name="Text 14"/>
          <p:cNvSpPr/>
          <p:nvPr/>
        </p:nvSpPr>
        <p:spPr>
          <a:xfrm>
            <a:off x="6492240" y="1965960"/>
            <a:ext cx="4617720" cy="1051560"/>
          </a:xfrm>
          <a:prstGeom prst="rect">
            <a:avLst/>
          </a:prstGeom>
          <a:noFill/>
          <a:ln/>
        </p:spPr>
        <p:txBody>
          <a:bodyPr wrap="square" lIns="254" tIns="254" rIns="254" bIns="254" rtlCol="0" anchor="ctr">
            <a:normAutofit/>
          </a:bodyPr>
          <a:lstStyle/>
          <a:p>
            <a:pPr marL="0" indent="0">
              <a:buNone/>
            </a:pPr>
            <a:r>
              <a:rPr lang="en-US" sz="1250" dirty="0">
                <a:solidFill>
                  <a:srgbClr val="222222"/>
                </a:solidFill>
                <a:latin typeface="Arial" pitchFamily="34" charset="0"/>
                <a:ea typeface="Arial" pitchFamily="34" charset="-122"/>
                <a:cs typeface="Arial" pitchFamily="34" charset="-120"/>
              </a:rPr>
              <a:t>1. Choose the largest absolute weight value.</a:t>
            </a:r>
            <a:endParaRPr lang="en-US" sz="1250" dirty="0"/>
          </a:p>
          <a:p>
            <a:pPr marL="0" indent="0">
              <a:buNone/>
            </a:pPr>
            <a:r>
              <a:rPr lang="en-US" sz="1250" dirty="0">
                <a:solidFill>
                  <a:srgbClr val="222222"/>
                </a:solidFill>
                <a:latin typeface="Arial" pitchFamily="34" charset="0"/>
                <a:ea typeface="Arial" pitchFamily="34" charset="-122"/>
                <a:cs typeface="Arial" pitchFamily="34" charset="-120"/>
              </a:rPr>
              <a:t>2. Divide it by the largest signed integer value.</a:t>
            </a:r>
            <a:endParaRPr lang="en-US" sz="1250" dirty="0"/>
          </a:p>
          <a:p>
            <a:pPr marL="0" indent="0">
              <a:buNone/>
            </a:pPr>
            <a:r>
              <a:rPr lang="en-US" sz="1250" dirty="0">
                <a:solidFill>
                  <a:srgbClr val="222222"/>
                </a:solidFill>
                <a:latin typeface="Arial" pitchFamily="34" charset="0"/>
                <a:ea typeface="Arial" pitchFamily="34" charset="-122"/>
                <a:cs typeface="Arial" pitchFamily="34" charset="-120"/>
              </a:rPr>
              <a:t>3. Use that scale Δ to round every floating-point weight.</a:t>
            </a:r>
            <a:endParaRPr lang="en-US" sz="1250" dirty="0"/>
          </a:p>
          <a:p>
            <a:pPr marL="0" indent="0">
              <a:buNone/>
            </a:pPr>
            <a:r>
              <a:rPr lang="en-US" sz="1250" dirty="0">
                <a:solidFill>
                  <a:srgbClr val="222222"/>
                </a:solidFill>
                <a:latin typeface="Arial" pitchFamily="34" charset="0"/>
                <a:ea typeface="Arial" pitchFamily="34" charset="-122"/>
                <a:cs typeface="Arial" pitchFamily="34" charset="-120"/>
              </a:rPr>
              <a:t>4. Optionally multiply back by Δ for dequantization.</a:t>
            </a:r>
            <a:endParaRPr lang="en-US" sz="1250" dirty="0"/>
          </a:p>
        </p:txBody>
      </p:sp>
      <p:sp>
        <p:nvSpPr>
          <p:cNvPr id="18" name="Text 15"/>
          <p:cNvSpPr/>
          <p:nvPr/>
        </p:nvSpPr>
        <p:spPr>
          <a:xfrm>
            <a:off x="6492240" y="3337560"/>
            <a:ext cx="1463040" cy="182880"/>
          </a:xfrm>
          <a:prstGeom prst="rect">
            <a:avLst/>
          </a:prstGeom>
          <a:noFill/>
          <a:ln/>
        </p:spPr>
        <p:txBody>
          <a:bodyPr wrap="square" lIns="0" tIns="0" rIns="0" bIns="0" rtlCol="0" anchor="ctr"/>
          <a:lstStyle/>
          <a:p>
            <a:pPr marL="0" indent="0">
              <a:buNone/>
            </a:pPr>
            <a:r>
              <a:rPr lang="en-US" sz="1150" b="1" dirty="0">
                <a:solidFill>
                  <a:srgbClr val="222222"/>
                </a:solidFill>
                <a:latin typeface="Arial" pitchFamily="34" charset="0"/>
                <a:ea typeface="Arial" pitchFamily="34" charset="-122"/>
                <a:cs typeface="Arial" pitchFamily="34" charset="-120"/>
              </a:rPr>
              <a:t>4-bit signed range</a:t>
            </a:r>
            <a:endParaRPr lang="en-US" sz="1150" dirty="0"/>
          </a:p>
        </p:txBody>
      </p:sp>
      <mc:AlternateContent xmlns:mc="http://schemas.openxmlformats.org/markup-compatibility/2006" xmlns:a14="http://schemas.microsoft.com/office/drawing/2010/main">
        <mc:Choice Requires="a14">
          <p:sp>
            <p:nvSpPr>
              <p:cNvPr id="19" name="Text 16"/>
              <p:cNvSpPr/>
              <p:nvPr/>
            </p:nvSpPr>
            <p:spPr>
              <a:xfrm>
                <a:off x="7132320" y="3474720"/>
                <a:ext cx="3657600" cy="5029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{−7,−6,…,0,…,+6,+7}</m:t>
                      </m:r>
                    </m:oMath>
                  </m:oMathPara>
                </a14:m>
                <a:endParaRPr/>
              </a:p>
            </p:txBody>
          </p:sp>
        </mc:Choice>
        <mc:Fallback xmlns="">
          <p:sp>
            <p:nvSpPr>
              <p:cNvPr id="19" name="Text 16"/>
              <p:cNvSpPr>
                <a:spLocks noRot="1" noChangeAspect="1" noMove="1" noResize="1" noEditPoints="1" noAdjustHandles="1" noChangeArrowheads="1" noChangeShapeType="1" noTextEdit="1"/>
              </p:cNvSpPr>
              <p:nvPr/>
            </p:nvSpPr>
            <p:spPr>
              <a:xfrm>
                <a:off x="7132320" y="3474720"/>
                <a:ext cx="3657600" cy="502920"/>
              </a:xfrm>
              <a:prstGeom prst="rect">
                <a:avLst/>
              </a:prstGeom>
              <a:blipFill>
                <a:blip r:embed="rId7"/>
                <a:stretch>
                  <a:fillRect/>
                </a:stretch>
              </a:blipFill>
              <a:ln/>
            </p:spPr>
            <p:txBody>
              <a:bodyPr/>
              <a:lstStyle/>
              <a:p>
                <a:r>
                  <a:rPr lang="ko-KR" altLang="en-US">
                    <a:noFill/>
                  </a:rPr>
                  <a:t> </a:t>
                </a:r>
              </a:p>
            </p:txBody>
          </p:sp>
        </mc:Fallback>
      </mc:AlternateContent>
      <p:sp>
        <p:nvSpPr>
          <p:cNvPr id="20" name="Shape 17"/>
          <p:cNvSpPr/>
          <p:nvPr/>
        </p:nvSpPr>
        <p:spPr>
          <a:xfrm>
            <a:off x="6537960" y="4828032"/>
            <a:ext cx="4389120" cy="502920"/>
          </a:xfrm>
          <a:prstGeom prst="roundRect">
            <a:avLst>
              <a:gd name="adj" fmla="val 10909"/>
            </a:avLst>
          </a:prstGeom>
          <a:solidFill>
            <a:srgbClr val="FDECEC"/>
          </a:solidFill>
          <a:ln w="12700">
            <a:solidFill>
              <a:srgbClr val="E6B8B7"/>
            </a:solidFill>
            <a:prstDash val="solid"/>
          </a:ln>
        </p:spPr>
        <p:txBody>
          <a:bodyPr/>
          <a:lstStyle/>
          <a:p>
            <a:endParaRPr lang="ko-KR" altLang="en-US"/>
          </a:p>
        </p:txBody>
      </p:sp>
      <p:sp>
        <p:nvSpPr>
          <p:cNvPr id="21" name="Text 18"/>
          <p:cNvSpPr/>
          <p:nvPr/>
        </p:nvSpPr>
        <p:spPr>
          <a:xfrm>
            <a:off x="6720840" y="4998243"/>
            <a:ext cx="4023360" cy="164592"/>
          </a:xfrm>
          <a:prstGeom prst="rect">
            <a:avLst/>
          </a:prstGeom>
          <a:noFill/>
          <a:ln/>
        </p:spPr>
        <p:txBody>
          <a:bodyPr wrap="square" lIns="0" tIns="0" rIns="0" bIns="0" rtlCol="0" anchor="ctr">
            <a:normAutofit fontScale="62500" lnSpcReduction="20000"/>
          </a:bodyPr>
          <a:lstStyle/>
          <a:p>
            <a:pPr marL="0" indent="0" algn="ctr">
              <a:buNone/>
            </a:pPr>
            <a:r>
              <a:rPr lang="en-US" sz="1090" b="1" dirty="0">
                <a:solidFill>
                  <a:srgbClr val="C00000"/>
                </a:solidFill>
                <a:latin typeface="Arial" pitchFamily="34" charset="0"/>
                <a:ea typeface="Arial" pitchFamily="34" charset="-122"/>
                <a:cs typeface="Arial" pitchFamily="34" charset="-120"/>
              </a:rPr>
              <a:t>Limitation: if the weight distribution is skewed, many integer levels may be wasted.</a:t>
            </a:r>
            <a:endParaRPr lang="en-US" sz="10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Symmetric Quantization Example</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15</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Example: 4-bit signed integer, |W|max = 3.5, and one original weight Wf = 1.2.</a:t>
            </a:r>
            <a:endParaRPr lang="en-US" sz="1300" dirty="0"/>
          </a:p>
        </p:txBody>
      </p:sp>
      <p:sp>
        <p:nvSpPr>
          <p:cNvPr id="9" name="Shape 6"/>
          <p:cNvSpPr/>
          <p:nvPr/>
        </p:nvSpPr>
        <p:spPr>
          <a:xfrm>
            <a:off x="685800" y="1417320"/>
            <a:ext cx="5257800" cy="1508760"/>
          </a:xfrm>
          <a:prstGeom prst="roundRect">
            <a:avLst>
              <a:gd name="adj" fmla="val 3636"/>
            </a:avLst>
          </a:prstGeom>
          <a:solidFill>
            <a:srgbClr val="F3F8FF"/>
          </a:solidFill>
          <a:ln w="13970">
            <a:solidFill>
              <a:srgbClr val="9EADCC"/>
            </a:solidFill>
            <a:prstDash val="solid"/>
          </a:ln>
        </p:spPr>
        <p:txBody>
          <a:bodyPr/>
          <a:lstStyle/>
          <a:p>
            <a:endParaRPr lang="ko-KR" altLang="en-US"/>
          </a:p>
        </p:txBody>
      </p:sp>
      <p:sp>
        <p:nvSpPr>
          <p:cNvPr id="10" name="Text 7"/>
          <p:cNvSpPr/>
          <p:nvPr/>
        </p:nvSpPr>
        <p:spPr>
          <a:xfrm>
            <a:off x="850392" y="1545336"/>
            <a:ext cx="492861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Step 1. Scaling factor</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1005840" y="1874520"/>
                <a:ext cx="4572000" cy="6858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𝛥</m:t>
                      </m:r>
                      <m:r>
                        <a:rPr lang="ko-KR" altLang="en-US" sz="1200" smtClean="0">
                          <a:latin typeface="Cambria Math"/>
                        </a:rPr>
                        <m:t>=</m:t>
                      </m:r>
                      <m:f>
                        <m:fPr>
                          <m:ctrlPr>
                            <a:rPr lang="ko-KR" altLang="en-US" sz="1200" smtClean="0">
                              <a:latin typeface="Cambria Math"/>
                            </a:rPr>
                          </m:ctrlPr>
                        </m:fPr>
                        <m:num>
                          <m:r>
                            <a:rPr lang="ko-KR" altLang="en-US" sz="1200" smtClean="0">
                              <a:latin typeface="Cambria Math"/>
                            </a:rPr>
                            <m:t>3.5</m:t>
                          </m:r>
                        </m:num>
                        <m:den>
                          <m:sSup>
                            <m:sSupPr>
                              <m:ctrlPr>
                                <a:rPr lang="ko-KR" altLang="en-US" sz="1200" smtClean="0">
                                  <a:latin typeface="Cambria Math"/>
                                </a:rPr>
                              </m:ctrlPr>
                            </m:sSupPr>
                            <m:e>
                              <m:r>
                                <a:rPr lang="ko-KR" altLang="en-US" sz="1200" smtClean="0">
                                  <a:latin typeface="Cambria Math"/>
                                </a:rPr>
                                <m:t>2</m:t>
                              </m:r>
                            </m:e>
                            <m:sup>
                              <m:r>
                                <a:rPr lang="ko-KR" altLang="en-US" sz="1200" smtClean="0">
                                  <a:latin typeface="Cambria Math"/>
                                </a:rPr>
                                <m:t>4−1</m:t>
                              </m:r>
                            </m:sup>
                          </m:sSup>
                          <m:r>
                            <a:rPr lang="ko-KR" altLang="en-US" sz="1200" smtClean="0">
                              <a:latin typeface="Cambria Math"/>
                            </a:rPr>
                            <m:t>−1</m:t>
                          </m:r>
                        </m:den>
                      </m:f>
                      <m:r>
                        <a:rPr lang="ko-KR" altLang="en-US" sz="1200" smtClean="0">
                          <a:latin typeface="Cambria Math"/>
                        </a:rPr>
                        <m:t>=</m:t>
                      </m:r>
                      <m:f>
                        <m:fPr>
                          <m:ctrlPr>
                            <a:rPr lang="ko-KR" altLang="en-US" sz="1200" smtClean="0">
                              <a:latin typeface="Cambria Math"/>
                            </a:rPr>
                          </m:ctrlPr>
                        </m:fPr>
                        <m:num>
                          <m:r>
                            <a:rPr lang="ko-KR" altLang="en-US" sz="1200" smtClean="0">
                              <a:latin typeface="Cambria Math"/>
                            </a:rPr>
                            <m:t>3.5</m:t>
                          </m:r>
                        </m:num>
                        <m:den>
                          <m:r>
                            <a:rPr lang="ko-KR" altLang="en-US" sz="1200" smtClean="0">
                              <a:latin typeface="Cambria Math"/>
                            </a:rPr>
                            <m:t>7</m:t>
                          </m:r>
                        </m:den>
                      </m:f>
                      <m:r>
                        <a:rPr lang="ko-KR" altLang="en-US" sz="1200" smtClean="0">
                          <a:latin typeface="Cambria Math"/>
                        </a:rPr>
                        <m:t>=0.5</m:t>
                      </m:r>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1005840" y="1874520"/>
                <a:ext cx="4572000" cy="685800"/>
              </a:xfrm>
              <a:prstGeom prst="rect">
                <a:avLst/>
              </a:prstGeom>
              <a:blipFill>
                <a:blip r:embed="rId4"/>
                <a:stretch>
                  <a:fillRect/>
                </a:stretch>
              </a:blipFill>
              <a:ln/>
            </p:spPr>
            <p:txBody>
              <a:bodyPr/>
              <a:lstStyle/>
              <a:p>
                <a:r>
                  <a:rPr lang="ko-KR" altLang="en-US">
                    <a:noFill/>
                  </a:rPr>
                  <a:t> </a:t>
                </a:r>
              </a:p>
            </p:txBody>
          </p:sp>
        </mc:Fallback>
      </mc:AlternateContent>
      <p:sp>
        <p:nvSpPr>
          <p:cNvPr id="12" name="Shape 9"/>
          <p:cNvSpPr/>
          <p:nvPr/>
        </p:nvSpPr>
        <p:spPr>
          <a:xfrm>
            <a:off x="6263640" y="1417320"/>
            <a:ext cx="5257800" cy="1508760"/>
          </a:xfrm>
          <a:prstGeom prst="roundRect">
            <a:avLst>
              <a:gd name="adj" fmla="val 3636"/>
            </a:avLst>
          </a:prstGeom>
          <a:solidFill>
            <a:srgbClr val="FFFDF2"/>
          </a:solidFill>
          <a:ln w="13970">
            <a:solidFill>
              <a:srgbClr val="D6B656"/>
            </a:solidFill>
            <a:prstDash val="solid"/>
          </a:ln>
        </p:spPr>
        <p:txBody>
          <a:bodyPr/>
          <a:lstStyle/>
          <a:p>
            <a:endParaRPr lang="ko-KR" altLang="en-US"/>
          </a:p>
        </p:txBody>
      </p:sp>
      <p:sp>
        <p:nvSpPr>
          <p:cNvPr id="13" name="Text 10"/>
          <p:cNvSpPr/>
          <p:nvPr/>
        </p:nvSpPr>
        <p:spPr>
          <a:xfrm>
            <a:off x="6428232" y="1545336"/>
            <a:ext cx="492861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Step 2. Quantize one weight</a:t>
            </a:r>
            <a:endParaRPr lang="en-US" sz="1200" dirty="0"/>
          </a:p>
        </p:txBody>
      </p:sp>
      <mc:AlternateContent xmlns:mc="http://schemas.openxmlformats.org/markup-compatibility/2006" xmlns:a14="http://schemas.microsoft.com/office/drawing/2010/main">
        <mc:Choice Requires="a14">
          <p:sp>
            <p:nvSpPr>
              <p:cNvPr id="14" name="Text 11"/>
              <p:cNvSpPr/>
              <p:nvPr/>
            </p:nvSpPr>
            <p:spPr>
              <a:xfrm>
                <a:off x="6583680" y="1874520"/>
                <a:ext cx="4572000" cy="6858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r>
                        <a:rPr lang="ko-KR" altLang="en-US" sz="1200" smtClean="0">
                          <a:latin typeface="Cambria Math"/>
                        </a:rPr>
                        <m:t>=</m:t>
                      </m:r>
                      <m:r>
                        <m:rPr>
                          <m:sty m:val="p"/>
                        </m:rPr>
                        <a:rPr lang="ko-KR" altLang="en-US" sz="1200" smtClean="0">
                          <a:latin typeface="Cambria Math"/>
                        </a:rPr>
                        <m:t>Round</m:t>
                      </m:r>
                      <m:d>
                        <m:dPr>
                          <m:ctrlPr>
                            <a:rPr lang="ko-KR" altLang="en-US" sz="1200" i="1" smtClean="0">
                              <a:latin typeface="Cambria Math" panose="02040503050406030204" pitchFamily="18" charset="0"/>
                            </a:rPr>
                          </m:ctrlPr>
                        </m:dPr>
                        <m:e>
                          <m:f>
                            <m:fPr>
                              <m:ctrlPr>
                                <a:rPr lang="ko-KR" altLang="en-US" sz="1200" smtClean="0">
                                  <a:latin typeface="Cambria Math"/>
                                </a:rPr>
                              </m:ctrlPr>
                            </m:fPr>
                            <m:num>
                              <m:r>
                                <a:rPr lang="ko-KR" altLang="en-US" sz="1200" smtClean="0">
                                  <a:latin typeface="Cambria Math"/>
                                </a:rPr>
                                <m:t>1.2</m:t>
                              </m:r>
                            </m:num>
                            <m:den>
                              <m:r>
                                <a:rPr lang="ko-KR" altLang="en-US" sz="1200" smtClean="0">
                                  <a:latin typeface="Cambria Math"/>
                                </a:rPr>
                                <m:t>0.5</m:t>
                              </m:r>
                            </m:den>
                          </m:f>
                        </m:e>
                      </m:d>
                      <m:r>
                        <a:rPr lang="ko-KR" altLang="en-US" sz="1200" smtClean="0">
                          <a:latin typeface="Cambria Math"/>
                        </a:rPr>
                        <m:t>=</m:t>
                      </m:r>
                      <m:r>
                        <m:rPr>
                          <m:sty m:val="p"/>
                        </m:rPr>
                        <a:rPr lang="ko-KR" altLang="en-US" sz="1200" smtClean="0">
                          <a:latin typeface="Cambria Math"/>
                        </a:rPr>
                        <m:t>Round</m:t>
                      </m:r>
                      <m:d>
                        <m:dPr>
                          <m:ctrlPr>
                            <a:rPr lang="ko-KR" altLang="en-US" sz="1200" smtClean="0">
                              <a:latin typeface="Cambria Math"/>
                            </a:rPr>
                          </m:ctrlPr>
                        </m:dPr>
                        <m:e>
                          <m:r>
                            <a:rPr lang="ko-KR" altLang="en-US" sz="1200" smtClean="0">
                              <a:latin typeface="Cambria Math"/>
                            </a:rPr>
                            <m:t>2.4</m:t>
                          </m:r>
                        </m:e>
                      </m:d>
                      <m:r>
                        <a:rPr lang="ko-KR" altLang="en-US" sz="1200" smtClean="0">
                          <a:latin typeface="Cambria Math"/>
                        </a:rPr>
                        <m:t>=2</m:t>
                      </m:r>
                    </m:oMath>
                  </m:oMathPara>
                </a14:m>
                <a:endParaRPr/>
              </a:p>
            </p:txBody>
          </p:sp>
        </mc:Choice>
        <mc:Fallback xmlns="">
          <p:sp>
            <p:nvSpPr>
              <p:cNvPr id="14" name="Text 11"/>
              <p:cNvSpPr>
                <a:spLocks noRot="1" noChangeAspect="1" noMove="1" noResize="1" noEditPoints="1" noAdjustHandles="1" noChangeArrowheads="1" noChangeShapeType="1" noTextEdit="1"/>
              </p:cNvSpPr>
              <p:nvPr/>
            </p:nvSpPr>
            <p:spPr>
              <a:xfrm>
                <a:off x="6583680" y="1874520"/>
                <a:ext cx="4572000" cy="685800"/>
              </a:xfrm>
              <a:prstGeom prst="rect">
                <a:avLst/>
              </a:prstGeom>
              <a:blipFill>
                <a:blip r:embed="rId5"/>
                <a:stretch>
                  <a:fillRect/>
                </a:stretch>
              </a:blipFill>
              <a:ln/>
            </p:spPr>
            <p:txBody>
              <a:bodyPr/>
              <a:lstStyle/>
              <a:p>
                <a:r>
                  <a:rPr lang="ko-KR" altLang="en-US">
                    <a:noFill/>
                  </a:rPr>
                  <a:t> </a:t>
                </a:r>
              </a:p>
            </p:txBody>
          </p:sp>
        </mc:Fallback>
      </mc:AlternateContent>
      <p:sp>
        <p:nvSpPr>
          <p:cNvPr id="15" name="Shape 12"/>
          <p:cNvSpPr/>
          <p:nvPr/>
        </p:nvSpPr>
        <p:spPr>
          <a:xfrm>
            <a:off x="3429000" y="3246120"/>
            <a:ext cx="5257800" cy="1508760"/>
          </a:xfrm>
          <a:prstGeom prst="roundRect">
            <a:avLst>
              <a:gd name="adj" fmla="val 3636"/>
            </a:avLst>
          </a:prstGeom>
          <a:solidFill>
            <a:srgbClr val="F3F8FF"/>
          </a:solidFill>
          <a:ln w="13970">
            <a:solidFill>
              <a:srgbClr val="9EADCC"/>
            </a:solidFill>
            <a:prstDash val="solid"/>
          </a:ln>
        </p:spPr>
        <p:txBody>
          <a:bodyPr/>
          <a:lstStyle/>
          <a:p>
            <a:endParaRPr lang="ko-KR" altLang="en-US"/>
          </a:p>
        </p:txBody>
      </p:sp>
      <p:sp>
        <p:nvSpPr>
          <p:cNvPr id="16" name="Text 13"/>
          <p:cNvSpPr/>
          <p:nvPr/>
        </p:nvSpPr>
        <p:spPr>
          <a:xfrm>
            <a:off x="3593592" y="3374136"/>
            <a:ext cx="492861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Step 3. Optional dequantization</a:t>
            </a:r>
            <a:endParaRPr lang="en-US" sz="1200" dirty="0"/>
          </a:p>
        </p:txBody>
      </p:sp>
      <mc:AlternateContent xmlns:mc="http://schemas.openxmlformats.org/markup-compatibility/2006" xmlns:a14="http://schemas.microsoft.com/office/drawing/2010/main">
        <mc:Choice Requires="a14">
          <p:sp>
            <p:nvSpPr>
              <p:cNvPr id="17" name="Text 14"/>
              <p:cNvSpPr/>
              <p:nvPr/>
            </p:nvSpPr>
            <p:spPr>
              <a:xfrm>
                <a:off x="3749040" y="3703320"/>
                <a:ext cx="4572000" cy="6858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𝑞𝑓</m:t>
                          </m:r>
                        </m:sub>
                      </m:sSub>
                      <m:r>
                        <a:rPr lang="ko-KR" altLang="en-US" sz="1200" smtClean="0">
                          <a:latin typeface="Cambria Math"/>
                        </a:rPr>
                        <m:t>=2×0.5=1.0</m:t>
                      </m:r>
                    </m:oMath>
                  </m:oMathPara>
                </a14:m>
                <a:endParaRPr/>
              </a:p>
            </p:txBody>
          </p:sp>
        </mc:Choice>
        <mc:Fallback xmlns="">
          <p:sp>
            <p:nvSpPr>
              <p:cNvPr id="17" name="Text 14"/>
              <p:cNvSpPr>
                <a:spLocks noRot="1" noChangeAspect="1" noMove="1" noResize="1" noEditPoints="1" noAdjustHandles="1" noChangeArrowheads="1" noChangeShapeType="1" noTextEdit="1"/>
              </p:cNvSpPr>
              <p:nvPr/>
            </p:nvSpPr>
            <p:spPr>
              <a:xfrm>
                <a:off x="3749040" y="3703320"/>
                <a:ext cx="4572000" cy="685800"/>
              </a:xfrm>
              <a:prstGeom prst="rect">
                <a:avLst/>
              </a:prstGeom>
              <a:blipFill>
                <a:blip r:embed="rId6"/>
                <a:stretch>
                  <a:fillRect/>
                </a:stretch>
              </a:blipFill>
              <a:ln/>
            </p:spPr>
            <p:txBody>
              <a:bodyPr/>
              <a:lstStyle/>
              <a:p>
                <a:r>
                  <a:rPr lang="ko-KR" altLang="en-US">
                    <a:noFill/>
                  </a:rPr>
                  <a:t> </a:t>
                </a:r>
              </a:p>
            </p:txBody>
          </p:sp>
        </mc:Fallback>
      </mc:AlternateContent>
      <p:sp>
        <p:nvSpPr>
          <p:cNvPr id="18" name="Shape 15"/>
          <p:cNvSpPr/>
          <p:nvPr/>
        </p:nvSpPr>
        <p:spPr>
          <a:xfrm>
            <a:off x="822960" y="5166360"/>
            <a:ext cx="1508760" cy="566928"/>
          </a:xfrm>
          <a:prstGeom prst="roundRect">
            <a:avLst>
              <a:gd name="adj" fmla="val 9677"/>
            </a:avLst>
          </a:prstGeom>
          <a:solidFill>
            <a:srgbClr val="EAF2FF"/>
          </a:solidFill>
          <a:ln w="12700">
            <a:solidFill>
              <a:srgbClr val="00245D"/>
            </a:solidFill>
            <a:prstDash val="solid"/>
          </a:ln>
        </p:spPr>
        <p:txBody>
          <a:bodyPr/>
          <a:lstStyle/>
          <a:p>
            <a:endParaRPr lang="ko-KR" altLang="en-US"/>
          </a:p>
        </p:txBody>
      </p:sp>
      <p:sp>
        <p:nvSpPr>
          <p:cNvPr id="19" name="Text 16"/>
          <p:cNvSpPr/>
          <p:nvPr/>
        </p:nvSpPr>
        <p:spPr>
          <a:xfrm>
            <a:off x="896112" y="5239512"/>
            <a:ext cx="1362456" cy="457200"/>
          </a:xfrm>
          <a:prstGeom prst="rect">
            <a:avLst/>
          </a:prstGeom>
          <a:noFill/>
          <a:ln/>
        </p:spPr>
        <p:txBody>
          <a:bodyPr wrap="square" lIns="254" tIns="254" rIns="254" bIns="254" rtlCol="0" anchor="ctr">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Original</a:t>
            </a:r>
            <a:endParaRPr lang="en-US" sz="1100" dirty="0"/>
          </a:p>
          <a:p>
            <a:pPr marL="0" indent="0" algn="ctr">
              <a:buNone/>
            </a:pPr>
            <a:r>
              <a:rPr lang="en-US" sz="1100" b="1" dirty="0">
                <a:solidFill>
                  <a:srgbClr val="222222"/>
                </a:solidFill>
                <a:latin typeface="Arial" pitchFamily="34" charset="0"/>
                <a:ea typeface="Arial" pitchFamily="34" charset="-122"/>
                <a:cs typeface="Arial" pitchFamily="34" charset="-120"/>
              </a:rPr>
              <a:t>1.2</a:t>
            </a:r>
            <a:endParaRPr lang="en-US" sz="1100" dirty="0"/>
          </a:p>
        </p:txBody>
      </p:sp>
      <p:sp>
        <p:nvSpPr>
          <p:cNvPr id="20" name="Shape 17"/>
          <p:cNvSpPr/>
          <p:nvPr/>
        </p:nvSpPr>
        <p:spPr>
          <a:xfrm>
            <a:off x="2331720" y="5449824"/>
            <a:ext cx="731520" cy="0"/>
          </a:xfrm>
          <a:prstGeom prst="line">
            <a:avLst/>
          </a:prstGeom>
          <a:noFill/>
          <a:ln w="15240">
            <a:solidFill>
              <a:srgbClr val="00245D"/>
            </a:solidFill>
            <a:prstDash val="solid"/>
            <a:tailEnd type="triangle"/>
          </a:ln>
        </p:spPr>
        <p:txBody>
          <a:bodyPr/>
          <a:lstStyle/>
          <a:p>
            <a:endParaRPr lang="ko-KR" altLang="en-US"/>
          </a:p>
        </p:txBody>
      </p:sp>
      <p:sp>
        <p:nvSpPr>
          <p:cNvPr id="21" name="Shape 18"/>
          <p:cNvSpPr/>
          <p:nvPr/>
        </p:nvSpPr>
        <p:spPr>
          <a:xfrm>
            <a:off x="3063240" y="5166360"/>
            <a:ext cx="1645920" cy="566928"/>
          </a:xfrm>
          <a:prstGeom prst="roundRect">
            <a:avLst>
              <a:gd name="adj" fmla="val 9677"/>
            </a:avLst>
          </a:prstGeom>
          <a:solidFill>
            <a:srgbClr val="FFF2CC"/>
          </a:solidFill>
          <a:ln w="12700">
            <a:solidFill>
              <a:srgbClr val="00245D"/>
            </a:solidFill>
            <a:prstDash val="solid"/>
          </a:ln>
        </p:spPr>
        <p:txBody>
          <a:bodyPr/>
          <a:lstStyle/>
          <a:p>
            <a:endParaRPr lang="ko-KR" altLang="en-US"/>
          </a:p>
        </p:txBody>
      </p:sp>
      <p:sp>
        <p:nvSpPr>
          <p:cNvPr id="22" name="Text 19"/>
          <p:cNvSpPr/>
          <p:nvPr/>
        </p:nvSpPr>
        <p:spPr>
          <a:xfrm>
            <a:off x="3136392" y="5239512"/>
            <a:ext cx="1499616" cy="457200"/>
          </a:xfrm>
          <a:prstGeom prst="rect">
            <a:avLst/>
          </a:prstGeom>
          <a:noFill/>
          <a:ln/>
        </p:spPr>
        <p:txBody>
          <a:bodyPr wrap="square" lIns="254" tIns="254" rIns="254" bIns="254" rtlCol="0" anchor="ctr">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Divide</a:t>
            </a:r>
            <a:endParaRPr lang="en-US" sz="1100" dirty="0"/>
          </a:p>
          <a:p>
            <a:pPr marL="0" indent="0" algn="ctr">
              <a:buNone/>
            </a:pPr>
            <a:r>
              <a:rPr lang="en-US" sz="1100" b="1" dirty="0">
                <a:solidFill>
                  <a:srgbClr val="222222"/>
                </a:solidFill>
                <a:latin typeface="Arial" pitchFamily="34" charset="0"/>
                <a:ea typeface="Arial" pitchFamily="34" charset="-122"/>
                <a:cs typeface="Arial" pitchFamily="34" charset="-120"/>
              </a:rPr>
              <a:t>1.2/0.5</a:t>
            </a:r>
            <a:endParaRPr lang="en-US" sz="1100" dirty="0"/>
          </a:p>
        </p:txBody>
      </p:sp>
      <p:sp>
        <p:nvSpPr>
          <p:cNvPr id="23" name="Shape 20"/>
          <p:cNvSpPr/>
          <p:nvPr/>
        </p:nvSpPr>
        <p:spPr>
          <a:xfrm>
            <a:off x="4709160" y="5449824"/>
            <a:ext cx="731520" cy="0"/>
          </a:xfrm>
          <a:prstGeom prst="line">
            <a:avLst/>
          </a:prstGeom>
          <a:noFill/>
          <a:ln w="15240">
            <a:solidFill>
              <a:srgbClr val="00245D"/>
            </a:solidFill>
            <a:prstDash val="solid"/>
            <a:tailEnd type="triangle"/>
          </a:ln>
        </p:spPr>
        <p:txBody>
          <a:bodyPr/>
          <a:lstStyle/>
          <a:p>
            <a:endParaRPr lang="ko-KR" altLang="en-US"/>
          </a:p>
        </p:txBody>
      </p:sp>
      <p:sp>
        <p:nvSpPr>
          <p:cNvPr id="24" name="Shape 21"/>
          <p:cNvSpPr/>
          <p:nvPr/>
        </p:nvSpPr>
        <p:spPr>
          <a:xfrm>
            <a:off x="5440680" y="5166360"/>
            <a:ext cx="1325880" cy="566928"/>
          </a:xfrm>
          <a:prstGeom prst="roundRect">
            <a:avLst>
              <a:gd name="adj" fmla="val 9677"/>
            </a:avLst>
          </a:prstGeom>
          <a:solidFill>
            <a:srgbClr val="FCE4D6"/>
          </a:solidFill>
          <a:ln w="12700">
            <a:solidFill>
              <a:srgbClr val="00245D"/>
            </a:solidFill>
            <a:prstDash val="solid"/>
          </a:ln>
        </p:spPr>
        <p:txBody>
          <a:bodyPr/>
          <a:lstStyle/>
          <a:p>
            <a:endParaRPr lang="ko-KR" altLang="en-US"/>
          </a:p>
        </p:txBody>
      </p:sp>
      <p:sp>
        <p:nvSpPr>
          <p:cNvPr id="25" name="Text 22"/>
          <p:cNvSpPr/>
          <p:nvPr/>
        </p:nvSpPr>
        <p:spPr>
          <a:xfrm>
            <a:off x="5513832" y="5239512"/>
            <a:ext cx="1179576" cy="457200"/>
          </a:xfrm>
          <a:prstGeom prst="rect">
            <a:avLst/>
          </a:prstGeom>
          <a:noFill/>
          <a:ln/>
        </p:spPr>
        <p:txBody>
          <a:bodyPr wrap="square" lIns="254" tIns="254" rIns="254" bIns="254" rtlCol="0" anchor="ctr">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Round</a:t>
            </a:r>
            <a:endParaRPr lang="en-US" sz="1100" dirty="0"/>
          </a:p>
          <a:p>
            <a:pPr marL="0" indent="0" algn="ctr">
              <a:buNone/>
            </a:pPr>
            <a:r>
              <a:rPr lang="en-US" sz="1100" b="1" dirty="0">
                <a:solidFill>
                  <a:srgbClr val="222222"/>
                </a:solidFill>
                <a:latin typeface="Arial" pitchFamily="34" charset="0"/>
                <a:ea typeface="Arial" pitchFamily="34" charset="-122"/>
                <a:cs typeface="Arial" pitchFamily="34" charset="-120"/>
              </a:rPr>
              <a:t>2.4→2</a:t>
            </a:r>
            <a:endParaRPr lang="en-US" sz="1100" dirty="0"/>
          </a:p>
        </p:txBody>
      </p:sp>
      <p:sp>
        <p:nvSpPr>
          <p:cNvPr id="26" name="Shape 23"/>
          <p:cNvSpPr/>
          <p:nvPr/>
        </p:nvSpPr>
        <p:spPr>
          <a:xfrm>
            <a:off x="6766560" y="5449824"/>
            <a:ext cx="731520" cy="0"/>
          </a:xfrm>
          <a:prstGeom prst="line">
            <a:avLst/>
          </a:prstGeom>
          <a:noFill/>
          <a:ln w="15240">
            <a:solidFill>
              <a:srgbClr val="00245D"/>
            </a:solidFill>
            <a:prstDash val="solid"/>
            <a:tailEnd type="triangle"/>
          </a:ln>
        </p:spPr>
        <p:txBody>
          <a:bodyPr/>
          <a:lstStyle/>
          <a:p>
            <a:endParaRPr lang="ko-KR" altLang="en-US"/>
          </a:p>
        </p:txBody>
      </p:sp>
      <p:sp>
        <p:nvSpPr>
          <p:cNvPr id="27" name="Shape 24"/>
          <p:cNvSpPr/>
          <p:nvPr/>
        </p:nvSpPr>
        <p:spPr>
          <a:xfrm>
            <a:off x="7498080" y="5166360"/>
            <a:ext cx="1417320" cy="566928"/>
          </a:xfrm>
          <a:prstGeom prst="roundRect">
            <a:avLst>
              <a:gd name="adj" fmla="val 9677"/>
            </a:avLst>
          </a:prstGeom>
          <a:solidFill>
            <a:srgbClr val="EAF2FF"/>
          </a:solidFill>
          <a:ln w="12700">
            <a:solidFill>
              <a:srgbClr val="00245D"/>
            </a:solidFill>
            <a:prstDash val="solid"/>
          </a:ln>
        </p:spPr>
        <p:txBody>
          <a:bodyPr/>
          <a:lstStyle/>
          <a:p>
            <a:endParaRPr lang="ko-KR" altLang="en-US"/>
          </a:p>
        </p:txBody>
      </p:sp>
      <p:sp>
        <p:nvSpPr>
          <p:cNvPr id="28" name="Text 25"/>
          <p:cNvSpPr/>
          <p:nvPr/>
        </p:nvSpPr>
        <p:spPr>
          <a:xfrm>
            <a:off x="7571232" y="5239512"/>
            <a:ext cx="1271016" cy="457200"/>
          </a:xfrm>
          <a:prstGeom prst="rect">
            <a:avLst/>
          </a:prstGeom>
          <a:noFill/>
          <a:ln/>
        </p:spPr>
        <p:txBody>
          <a:bodyPr wrap="square" lIns="254" tIns="254" rIns="254" bIns="254" rtlCol="0" anchor="ctr">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Wq</a:t>
            </a:r>
            <a:endParaRPr lang="en-US" sz="1100" dirty="0"/>
          </a:p>
          <a:p>
            <a:pPr marL="0" indent="0" algn="ctr">
              <a:buNone/>
            </a:pPr>
            <a:r>
              <a:rPr lang="en-US" sz="1100" b="1" dirty="0">
                <a:solidFill>
                  <a:srgbClr val="222222"/>
                </a:solidFill>
                <a:latin typeface="Arial" pitchFamily="34" charset="0"/>
                <a:ea typeface="Arial" pitchFamily="34" charset="-122"/>
                <a:cs typeface="Arial" pitchFamily="34" charset="-120"/>
              </a:rPr>
              <a:t>=2</a:t>
            </a:r>
            <a:endParaRPr lang="en-US" sz="1100" dirty="0"/>
          </a:p>
        </p:txBody>
      </p:sp>
      <p:sp>
        <p:nvSpPr>
          <p:cNvPr id="29" name="Shape 26"/>
          <p:cNvSpPr/>
          <p:nvPr/>
        </p:nvSpPr>
        <p:spPr>
          <a:xfrm>
            <a:off x="8915400" y="5449824"/>
            <a:ext cx="731520" cy="0"/>
          </a:xfrm>
          <a:prstGeom prst="line">
            <a:avLst/>
          </a:prstGeom>
          <a:noFill/>
          <a:ln w="15240">
            <a:solidFill>
              <a:srgbClr val="00245D"/>
            </a:solidFill>
            <a:prstDash val="solid"/>
            <a:tailEnd type="triangle"/>
          </a:ln>
        </p:spPr>
        <p:txBody>
          <a:bodyPr/>
          <a:lstStyle/>
          <a:p>
            <a:endParaRPr lang="ko-KR" altLang="en-US"/>
          </a:p>
        </p:txBody>
      </p:sp>
      <p:sp>
        <p:nvSpPr>
          <p:cNvPr id="30" name="Shape 27"/>
          <p:cNvSpPr/>
          <p:nvPr/>
        </p:nvSpPr>
        <p:spPr>
          <a:xfrm>
            <a:off x="9646920" y="5166360"/>
            <a:ext cx="1645920" cy="566928"/>
          </a:xfrm>
          <a:prstGeom prst="roundRect">
            <a:avLst>
              <a:gd name="adj" fmla="val 9677"/>
            </a:avLst>
          </a:prstGeom>
          <a:solidFill>
            <a:srgbClr val="E2F0D9"/>
          </a:solidFill>
          <a:ln w="12700">
            <a:solidFill>
              <a:srgbClr val="548235"/>
            </a:solidFill>
            <a:prstDash val="solid"/>
          </a:ln>
        </p:spPr>
        <p:txBody>
          <a:bodyPr/>
          <a:lstStyle/>
          <a:p>
            <a:endParaRPr lang="ko-KR" altLang="en-US"/>
          </a:p>
        </p:txBody>
      </p:sp>
      <p:sp>
        <p:nvSpPr>
          <p:cNvPr id="31" name="Text 28"/>
          <p:cNvSpPr/>
          <p:nvPr/>
        </p:nvSpPr>
        <p:spPr>
          <a:xfrm>
            <a:off x="9720072" y="5239512"/>
            <a:ext cx="1499616" cy="457200"/>
          </a:xfrm>
          <a:prstGeom prst="rect">
            <a:avLst/>
          </a:prstGeom>
          <a:noFill/>
          <a:ln/>
        </p:spPr>
        <p:txBody>
          <a:bodyPr wrap="square" lIns="254" tIns="254" rIns="254" bIns="254" rtlCol="0" anchor="ctr">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Wqf</a:t>
            </a:r>
            <a:endParaRPr lang="en-US" sz="1100" dirty="0"/>
          </a:p>
          <a:p>
            <a:pPr marL="0" indent="0" algn="ctr">
              <a:buNone/>
            </a:pPr>
            <a:r>
              <a:rPr lang="en-US" sz="1100" b="1" dirty="0">
                <a:solidFill>
                  <a:srgbClr val="222222"/>
                </a:solidFill>
                <a:latin typeface="Arial" pitchFamily="34" charset="0"/>
                <a:ea typeface="Arial" pitchFamily="34" charset="-122"/>
                <a:cs typeface="Arial" pitchFamily="34" charset="-120"/>
              </a:rPr>
              <a:t>=1.0</a:t>
            </a:r>
            <a:endParaRPr lang="en-US" sz="1100" dirty="0"/>
          </a:p>
        </p:txBody>
      </p:sp>
      <p:sp>
        <p:nvSpPr>
          <p:cNvPr id="32" name="Text 29"/>
          <p:cNvSpPr/>
          <p:nvPr/>
        </p:nvSpPr>
        <p:spPr>
          <a:xfrm>
            <a:off x="1005840" y="5989320"/>
            <a:ext cx="10149840" cy="201168"/>
          </a:xfrm>
          <a:prstGeom prst="rect">
            <a:avLst/>
          </a:prstGeom>
          <a:noFill/>
          <a:ln/>
        </p:spPr>
        <p:txBody>
          <a:bodyPr wrap="square" lIns="0" tIns="0" rIns="0" bIns="0" rtlCol="0" anchor="ctr"/>
          <a:lstStyle/>
          <a:p>
            <a:pPr marL="0" indent="0" algn="ctr">
              <a:buNone/>
            </a:pPr>
            <a:r>
              <a:rPr lang="en-US" sz="1150" b="1" dirty="0">
                <a:solidFill>
                  <a:srgbClr val="00245D"/>
                </a:solidFill>
                <a:latin typeface="Arial" pitchFamily="34" charset="0"/>
                <a:ea typeface="Arial" pitchFamily="34" charset="-122"/>
                <a:cs typeface="Arial" pitchFamily="34" charset="-120"/>
              </a:rPr>
              <a:t>Result: 1.2 is approximated as 1.0, so the quantization error is 0.2.</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Asymmetric Integer Quantization</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16</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Asymmetric quantization does not force the range to be centered at zero. It adds a zero-point z.</a:t>
            </a:r>
            <a:endParaRPr lang="en-US" sz="1300" dirty="0"/>
          </a:p>
        </p:txBody>
      </p:sp>
      <p:sp>
        <p:nvSpPr>
          <p:cNvPr id="9" name="Shape 6"/>
          <p:cNvSpPr/>
          <p:nvPr/>
        </p:nvSpPr>
        <p:spPr>
          <a:xfrm>
            <a:off x="685800" y="1371600"/>
            <a:ext cx="5532120" cy="4389120"/>
          </a:xfrm>
          <a:prstGeom prst="roundRect">
            <a:avLst>
              <a:gd name="adj" fmla="val 1250"/>
            </a:avLst>
          </a:prstGeom>
          <a:solidFill>
            <a:srgbClr val="F3F8FF"/>
          </a:solidFill>
          <a:ln w="13970">
            <a:solidFill>
              <a:srgbClr val="9EADCC"/>
            </a:solidFill>
            <a:prstDash val="solid"/>
          </a:ln>
        </p:spPr>
        <p:txBody>
          <a:bodyPr/>
          <a:lstStyle/>
          <a:p>
            <a:endParaRPr lang="ko-KR" altLang="en-US"/>
          </a:p>
        </p:txBody>
      </p:sp>
      <p:sp>
        <p:nvSpPr>
          <p:cNvPr id="10" name="Text 7"/>
          <p:cNvSpPr/>
          <p:nvPr/>
        </p:nvSpPr>
        <p:spPr>
          <a:xfrm>
            <a:off x="850392" y="1499616"/>
            <a:ext cx="520293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Core equations</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60120" y="1783080"/>
                <a:ext cx="4983480" cy="6400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𝛥</m:t>
                      </m:r>
                      <m:r>
                        <a:rPr lang="ko-KR" altLang="en-US" sz="1200" smtClean="0">
                          <a:latin typeface="Cambria Math"/>
                        </a:rPr>
                        <m:t>=</m:t>
                      </m:r>
                      <m:f>
                        <m:fPr>
                          <m:ctrlPr>
                            <a:rPr lang="ko-KR" altLang="en-US" sz="1200" smtClean="0">
                              <a:latin typeface="Cambria Math"/>
                            </a:rPr>
                          </m:ctrlPr>
                        </m:fPr>
                        <m:num>
                          <m:r>
                            <m:rPr>
                              <m:sty m:val="p"/>
                            </m:rPr>
                            <a:rPr lang="ko-KR" altLang="en-US" sz="1200" smtClean="0">
                              <a:latin typeface="Cambria Math"/>
                            </a:rPr>
                            <m:t>Range</m:t>
                          </m:r>
                          <m:d>
                            <m:dPr>
                              <m:ctrlPr>
                                <a:rPr lang="ko-KR" altLang="en-US" sz="1200" i="1" smtClean="0">
                                  <a:latin typeface="Cambria Math" panose="02040503050406030204" pitchFamily="18" charset="0"/>
                                </a:rPr>
                              </m:ctrlPr>
                            </m:dPr>
                            <m:e>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𝑓</m:t>
                                  </m:r>
                                </m:sub>
                              </m:sSub>
                            </m:e>
                          </m:d>
                        </m:num>
                        <m:den>
                          <m:sSup>
                            <m:sSupPr>
                              <m:ctrlPr>
                                <a:rPr lang="ko-KR" altLang="en-US" sz="1200" smtClean="0">
                                  <a:latin typeface="Cambria Math"/>
                                </a:rPr>
                              </m:ctrlPr>
                            </m:sSupPr>
                            <m:e>
                              <m:r>
                                <a:rPr lang="ko-KR" altLang="en-US" sz="1200" smtClean="0">
                                  <a:latin typeface="Cambria Math"/>
                                </a:rPr>
                                <m:t>2</m:t>
                              </m:r>
                            </m:e>
                            <m:sup>
                              <m:r>
                                <a:rPr lang="ko-KR" altLang="en-US" sz="1200" smtClean="0">
                                  <a:latin typeface="Cambria Math"/>
                                </a:rPr>
                                <m:t>𝑏</m:t>
                              </m:r>
                            </m:sup>
                          </m:sSup>
                          <m:r>
                            <a:rPr lang="ko-KR" altLang="en-US" sz="1200" smtClean="0">
                              <a:latin typeface="Cambria Math"/>
                            </a:rPr>
                            <m:t>−1</m:t>
                          </m:r>
                        </m:den>
                      </m:f>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60120" y="1783080"/>
                <a:ext cx="4983480" cy="640080"/>
              </a:xfrm>
              <a:prstGeom prst="rect">
                <a:avLst/>
              </a:prstGeom>
              <a:blipFill>
                <a:blip r:embed="rId4"/>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 9"/>
              <p:cNvSpPr/>
              <p:nvPr/>
            </p:nvSpPr>
            <p:spPr>
              <a:xfrm>
                <a:off x="960120" y="2606040"/>
                <a:ext cx="4983480" cy="6400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𝑧</m:t>
                      </m:r>
                      <m:r>
                        <a:rPr lang="ko-KR" altLang="en-US" sz="1200" smtClean="0">
                          <a:latin typeface="Cambria Math"/>
                        </a:rPr>
                        <m:t>=</m:t>
                      </m:r>
                      <m:r>
                        <m:rPr>
                          <m:sty m:val="p"/>
                        </m:rPr>
                        <a:rPr lang="ko-KR" altLang="en-US" sz="1200" smtClean="0">
                          <a:latin typeface="Cambria Math"/>
                        </a:rPr>
                        <m:t>Round</m:t>
                      </m:r>
                      <m:d>
                        <m:dPr>
                          <m:ctrlPr>
                            <a:rPr lang="ko-KR" altLang="en-US" sz="1200" i="1" smtClean="0">
                              <a:latin typeface="Cambria Math" panose="02040503050406030204" pitchFamily="18" charset="0"/>
                            </a:rPr>
                          </m:ctrlPr>
                        </m:dPr>
                        <m:e>
                          <m:f>
                            <m:fPr>
                              <m:ctrlPr>
                                <a:rPr lang="ko-KR" altLang="en-US" sz="1200" smtClean="0">
                                  <a:latin typeface="Cambria Math"/>
                                </a:rPr>
                              </m:ctrlPr>
                            </m:fPr>
                            <m:num>
                              <m:r>
                                <a:rPr lang="ko-KR" altLang="en-US" sz="1200" smtClean="0">
                                  <a:latin typeface="Cambria Math"/>
                                </a:rPr>
                                <m:t>−</m:t>
                              </m:r>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𝑓</m:t>
                                  </m:r>
                                  <m:r>
                                    <a:rPr lang="ko-KR" altLang="en-US" sz="1200" smtClean="0">
                                      <a:latin typeface="Cambria Math"/>
                                    </a:rPr>
                                    <m:t>,</m:t>
                                  </m:r>
                                  <m:r>
                                    <m:rPr>
                                      <m:sty m:val="p"/>
                                    </m:rPr>
                                    <a:rPr lang="ko-KR" altLang="en-US" sz="1200" smtClean="0">
                                      <a:latin typeface="Cambria Math"/>
                                    </a:rPr>
                                    <m:t>min</m:t>
                                  </m:r>
                                </m:sub>
                              </m:sSub>
                            </m:num>
                            <m:den>
                              <m:r>
                                <a:rPr lang="ko-KR" altLang="en-US" sz="1200" smtClean="0">
                                  <a:latin typeface="Cambria Math"/>
                                </a:rPr>
                                <m:t>𝛥</m:t>
                              </m:r>
                            </m:den>
                          </m:f>
                        </m:e>
                      </m:d>
                    </m:oMath>
                  </m:oMathPara>
                </a14:m>
                <a:endParaRPr/>
              </a:p>
            </p:txBody>
          </p:sp>
        </mc:Choice>
        <mc:Fallback xmlns="">
          <p:sp>
            <p:nvSpPr>
              <p:cNvPr id="12" name="Text 9"/>
              <p:cNvSpPr>
                <a:spLocks noRot="1" noChangeAspect="1" noMove="1" noResize="1" noEditPoints="1" noAdjustHandles="1" noChangeArrowheads="1" noChangeShapeType="1" noTextEdit="1"/>
              </p:cNvSpPr>
              <p:nvPr/>
            </p:nvSpPr>
            <p:spPr>
              <a:xfrm>
                <a:off x="960120" y="2606040"/>
                <a:ext cx="4983480" cy="640080"/>
              </a:xfrm>
              <a:prstGeom prst="rect">
                <a:avLst/>
              </a:prstGeom>
              <a:blipFill>
                <a:blip r:embed="rId5"/>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 10"/>
              <p:cNvSpPr/>
              <p:nvPr/>
            </p:nvSpPr>
            <p:spPr>
              <a:xfrm>
                <a:off x="960120" y="3429000"/>
                <a:ext cx="4983480" cy="6400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r>
                        <a:rPr lang="ko-KR" altLang="en-US" sz="1200" smtClean="0">
                          <a:latin typeface="Cambria Math"/>
                        </a:rPr>
                        <m:t>=</m:t>
                      </m:r>
                      <m:r>
                        <m:rPr>
                          <m:sty m:val="p"/>
                        </m:rPr>
                        <a:rPr lang="ko-KR" altLang="en-US" sz="1200" smtClean="0">
                          <a:latin typeface="Cambria Math"/>
                        </a:rPr>
                        <m:t>Round</m:t>
                      </m:r>
                      <m:d>
                        <m:dPr>
                          <m:ctrlPr>
                            <a:rPr lang="ko-KR" altLang="en-US" sz="1200" i="1" smtClean="0">
                              <a:latin typeface="Cambria Math" panose="02040503050406030204" pitchFamily="18" charset="0"/>
                            </a:rPr>
                          </m:ctrlPr>
                        </m:dPr>
                        <m:e>
                          <m:f>
                            <m:fPr>
                              <m:ctrlPr>
                                <a:rPr lang="ko-KR" altLang="en-US" sz="1200" i="1" smtClean="0">
                                  <a:latin typeface="Cambria Math" panose="02040503050406030204" pitchFamily="18" charset="0"/>
                                </a:rPr>
                              </m:ctrlPr>
                            </m:fPr>
                            <m:num>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𝑓</m:t>
                                  </m:r>
                                </m:sub>
                              </m:sSub>
                            </m:num>
                            <m:den>
                              <m:r>
                                <a:rPr lang="ko-KR" altLang="en-US" sz="1200" smtClean="0">
                                  <a:latin typeface="Cambria Math"/>
                                </a:rPr>
                                <m:t>𝛥</m:t>
                              </m:r>
                            </m:den>
                          </m:f>
                        </m:e>
                      </m:d>
                      <m:r>
                        <a:rPr lang="ko-KR" altLang="en-US" sz="1200" smtClean="0">
                          <a:latin typeface="Cambria Math"/>
                        </a:rPr>
                        <m:t>+</m:t>
                      </m:r>
                      <m:r>
                        <a:rPr lang="ko-KR" altLang="en-US" sz="1200" smtClean="0">
                          <a:latin typeface="Cambria Math"/>
                        </a:rPr>
                        <m:t>𝑧</m:t>
                      </m:r>
                    </m:oMath>
                  </m:oMathPara>
                </a14:m>
                <a:endParaRPr/>
              </a:p>
            </p:txBody>
          </p:sp>
        </mc:Choice>
        <mc:Fallback xmlns="">
          <p:sp>
            <p:nvSpPr>
              <p:cNvPr id="13" name="Text 10"/>
              <p:cNvSpPr>
                <a:spLocks noRot="1" noChangeAspect="1" noMove="1" noResize="1" noEditPoints="1" noAdjustHandles="1" noChangeArrowheads="1" noChangeShapeType="1" noTextEdit="1"/>
              </p:cNvSpPr>
              <p:nvPr/>
            </p:nvSpPr>
            <p:spPr>
              <a:xfrm>
                <a:off x="960120" y="3429000"/>
                <a:ext cx="4983480" cy="640080"/>
              </a:xfrm>
              <a:prstGeom prst="rect">
                <a:avLst/>
              </a:prstGeom>
              <a:blipFill>
                <a:blip r:embed="rId6"/>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Text 11"/>
              <p:cNvSpPr/>
              <p:nvPr/>
            </p:nvSpPr>
            <p:spPr>
              <a:xfrm>
                <a:off x="960120" y="4251960"/>
                <a:ext cx="4983480" cy="6400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𝑞𝑓</m:t>
                          </m:r>
                        </m:sub>
                      </m:sSub>
                      <m:r>
                        <a:rPr lang="ko-KR" altLang="en-US" sz="1200" smtClean="0">
                          <a:latin typeface="Cambria Math"/>
                        </a:rPr>
                        <m:t>=</m:t>
                      </m:r>
                      <m:d>
                        <m:dPr>
                          <m:ctrlPr>
                            <a:rPr lang="ko-KR" altLang="en-US" sz="1200" i="1" smtClean="0">
                              <a:latin typeface="Cambria Math" panose="02040503050406030204" pitchFamily="18" charset="0"/>
                            </a:rPr>
                          </m:ctrlPr>
                        </m:dPr>
                        <m:e>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r>
                            <a:rPr lang="ko-KR" altLang="en-US" sz="1200" smtClean="0">
                              <a:latin typeface="Cambria Math"/>
                            </a:rPr>
                            <m:t>−</m:t>
                          </m:r>
                          <m:r>
                            <a:rPr lang="ko-KR" altLang="en-US" sz="1200" smtClean="0">
                              <a:latin typeface="Cambria Math"/>
                            </a:rPr>
                            <m:t>𝑧</m:t>
                          </m:r>
                        </m:e>
                      </m:d>
                      <m:r>
                        <a:rPr lang="ko-KR" altLang="en-US" sz="1200" smtClean="0">
                          <a:latin typeface="Cambria Math"/>
                        </a:rPr>
                        <m:t>⋅</m:t>
                      </m:r>
                      <m:r>
                        <a:rPr lang="ko-KR" altLang="en-US" sz="1200" smtClean="0">
                          <a:latin typeface="Cambria Math"/>
                        </a:rPr>
                        <m:t>𝛥</m:t>
                      </m:r>
                    </m:oMath>
                  </m:oMathPara>
                </a14:m>
                <a:endParaRPr/>
              </a:p>
            </p:txBody>
          </p:sp>
        </mc:Choice>
        <mc:Fallback xmlns="">
          <p:sp>
            <p:nvSpPr>
              <p:cNvPr id="14" name="Text 11"/>
              <p:cNvSpPr>
                <a:spLocks noRot="1" noChangeAspect="1" noMove="1" noResize="1" noEditPoints="1" noAdjustHandles="1" noChangeArrowheads="1" noChangeShapeType="1" noTextEdit="1"/>
              </p:cNvSpPr>
              <p:nvPr/>
            </p:nvSpPr>
            <p:spPr>
              <a:xfrm>
                <a:off x="960120" y="4251960"/>
                <a:ext cx="4983480" cy="640080"/>
              </a:xfrm>
              <a:prstGeom prst="rect">
                <a:avLst/>
              </a:prstGeom>
              <a:blipFill>
                <a:blip r:embed="rId7"/>
                <a:stretch>
                  <a:fillRect/>
                </a:stretch>
              </a:blipFill>
              <a:ln/>
            </p:spPr>
            <p:txBody>
              <a:bodyPr/>
              <a:lstStyle/>
              <a:p>
                <a:r>
                  <a:rPr lang="ko-KR" altLang="en-US">
                    <a:noFill/>
                  </a:rPr>
                  <a:t> </a:t>
                </a:r>
              </a:p>
            </p:txBody>
          </p:sp>
        </mc:Fallback>
      </mc:AlternateContent>
      <p:sp>
        <p:nvSpPr>
          <p:cNvPr id="15" name="Shape 12"/>
          <p:cNvSpPr/>
          <p:nvPr/>
        </p:nvSpPr>
        <p:spPr>
          <a:xfrm>
            <a:off x="6537960" y="1371600"/>
            <a:ext cx="4892040" cy="4389120"/>
          </a:xfrm>
          <a:prstGeom prst="roundRect">
            <a:avLst>
              <a:gd name="adj" fmla="val 1250"/>
            </a:avLst>
          </a:prstGeom>
          <a:solidFill>
            <a:srgbClr val="FFFDF2"/>
          </a:solidFill>
          <a:ln w="13970">
            <a:solidFill>
              <a:srgbClr val="D6B656"/>
            </a:solidFill>
            <a:prstDash val="solid"/>
          </a:ln>
        </p:spPr>
        <p:txBody>
          <a:bodyPr/>
          <a:lstStyle/>
          <a:p>
            <a:endParaRPr lang="ko-KR" altLang="en-US"/>
          </a:p>
        </p:txBody>
      </p:sp>
      <p:sp>
        <p:nvSpPr>
          <p:cNvPr id="16" name="Text 13"/>
          <p:cNvSpPr/>
          <p:nvPr/>
        </p:nvSpPr>
        <p:spPr>
          <a:xfrm>
            <a:off x="6702552" y="1499616"/>
            <a:ext cx="456285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What does zero-point do?</a:t>
            </a:r>
            <a:endParaRPr lang="en-US" sz="1200" dirty="0"/>
          </a:p>
        </p:txBody>
      </p:sp>
      <p:sp>
        <p:nvSpPr>
          <p:cNvPr id="17" name="Text 14"/>
          <p:cNvSpPr/>
          <p:nvPr/>
        </p:nvSpPr>
        <p:spPr>
          <a:xfrm>
            <a:off x="6812280" y="1874520"/>
            <a:ext cx="4343400" cy="960120"/>
          </a:xfrm>
          <a:prstGeom prst="rect">
            <a:avLst/>
          </a:prstGeom>
          <a:noFill/>
          <a:ln/>
        </p:spPr>
        <p:txBody>
          <a:bodyPr wrap="square" lIns="254" tIns="254" rIns="254" bIns="254" rtlCol="0" anchor="ctr">
            <a:normAutofit/>
          </a:bodyPr>
          <a:lstStyle/>
          <a:p>
            <a:pPr marL="0" indent="0">
              <a:buNone/>
            </a:pPr>
            <a:r>
              <a:rPr lang="en-US" sz="1240" dirty="0">
                <a:solidFill>
                  <a:srgbClr val="222222"/>
                </a:solidFill>
                <a:latin typeface="Arial" pitchFamily="34" charset="0"/>
                <a:ea typeface="Arial" pitchFamily="34" charset="-122"/>
                <a:cs typeface="Arial" pitchFamily="34" charset="-120"/>
              </a:rPr>
              <a:t>z is the integer location that represents real 0.</a:t>
            </a:r>
            <a:endParaRPr lang="en-US" sz="1240" dirty="0"/>
          </a:p>
          <a:p>
            <a:pPr marL="0" indent="0">
              <a:buNone/>
            </a:pPr>
            <a:endParaRPr lang="en-US" sz="1240" dirty="0"/>
          </a:p>
          <a:p>
            <a:pPr marL="0" indent="0">
              <a:buNone/>
            </a:pPr>
            <a:r>
              <a:rPr lang="en-US" sz="1240" dirty="0">
                <a:solidFill>
                  <a:srgbClr val="222222"/>
                </a:solidFill>
                <a:latin typeface="Arial" pitchFamily="34" charset="0"/>
                <a:ea typeface="Arial" pitchFamily="34" charset="-122"/>
                <a:cs typeface="Arial" pitchFamily="34" charset="-120"/>
              </a:rPr>
              <a:t>This allows the integer grid to shift with the actual tensor range instead of forcing symmetry.</a:t>
            </a:r>
            <a:endParaRPr lang="en-US" sz="1240" dirty="0"/>
          </a:p>
        </p:txBody>
      </p:sp>
      <p:sp>
        <p:nvSpPr>
          <p:cNvPr id="18" name="Text 15"/>
          <p:cNvSpPr/>
          <p:nvPr/>
        </p:nvSpPr>
        <p:spPr>
          <a:xfrm>
            <a:off x="6812280" y="3337560"/>
            <a:ext cx="2011680" cy="201168"/>
          </a:xfrm>
          <a:prstGeom prst="rect">
            <a:avLst/>
          </a:prstGeom>
          <a:noFill/>
          <a:ln/>
        </p:spPr>
        <p:txBody>
          <a:bodyPr wrap="square" lIns="0" tIns="0" rIns="0" bIns="0" rtlCol="0" anchor="ctr"/>
          <a:lstStyle/>
          <a:p>
            <a:pPr marL="0" indent="0">
              <a:buNone/>
            </a:pPr>
            <a:r>
              <a:rPr lang="en-US" sz="1150" b="1" dirty="0">
                <a:solidFill>
                  <a:srgbClr val="00245D"/>
                </a:solidFill>
                <a:latin typeface="Arial" pitchFamily="34" charset="0"/>
                <a:ea typeface="Arial" pitchFamily="34" charset="-122"/>
                <a:cs typeface="Arial" pitchFamily="34" charset="-120"/>
              </a:rPr>
              <a:t>Example mapping idea</a:t>
            </a:r>
            <a:endParaRPr lang="en-US" sz="1150" dirty="0"/>
          </a:p>
        </p:txBody>
      </p:sp>
      <p:sp>
        <p:nvSpPr>
          <p:cNvPr id="19" name="Shape 16"/>
          <p:cNvSpPr/>
          <p:nvPr/>
        </p:nvSpPr>
        <p:spPr>
          <a:xfrm>
            <a:off x="7132320" y="4160520"/>
            <a:ext cx="3474720" cy="0"/>
          </a:xfrm>
          <a:prstGeom prst="line">
            <a:avLst/>
          </a:prstGeom>
          <a:noFill/>
          <a:ln w="20320">
            <a:solidFill>
              <a:srgbClr val="00245D"/>
            </a:solidFill>
            <a:prstDash val="solid"/>
            <a:tailEnd type="triangle"/>
          </a:ln>
        </p:spPr>
        <p:txBody>
          <a:bodyPr/>
          <a:lstStyle/>
          <a:p>
            <a:endParaRPr lang="ko-KR" altLang="en-US"/>
          </a:p>
        </p:txBody>
      </p:sp>
      <p:sp>
        <p:nvSpPr>
          <p:cNvPr id="20" name="Shape 17"/>
          <p:cNvSpPr/>
          <p:nvPr/>
        </p:nvSpPr>
        <p:spPr>
          <a:xfrm>
            <a:off x="7132320" y="4059936"/>
            <a:ext cx="0" cy="201168"/>
          </a:xfrm>
          <a:prstGeom prst="line">
            <a:avLst/>
          </a:prstGeom>
          <a:noFill/>
          <a:ln w="13970">
            <a:solidFill>
              <a:srgbClr val="00245D"/>
            </a:solidFill>
            <a:prstDash val="solid"/>
          </a:ln>
        </p:spPr>
        <p:txBody>
          <a:bodyPr/>
          <a:lstStyle/>
          <a:p>
            <a:endParaRPr lang="ko-KR" altLang="en-US"/>
          </a:p>
        </p:txBody>
      </p:sp>
      <p:sp>
        <p:nvSpPr>
          <p:cNvPr id="21" name="Text 18"/>
          <p:cNvSpPr/>
          <p:nvPr/>
        </p:nvSpPr>
        <p:spPr>
          <a:xfrm>
            <a:off x="6903720" y="3840480"/>
            <a:ext cx="548640" cy="164592"/>
          </a:xfrm>
          <a:prstGeom prst="rect">
            <a:avLst/>
          </a:prstGeom>
          <a:noFill/>
          <a:ln/>
        </p:spPr>
        <p:txBody>
          <a:bodyPr wrap="square" lIns="0" tIns="0" rIns="0" bIns="0" rtlCol="0" anchor="ctr"/>
          <a:lstStyle/>
          <a:p>
            <a:pPr marL="0" indent="0" algn="ctr">
              <a:buNone/>
            </a:pPr>
            <a:r>
              <a:rPr lang="en-US" sz="1050" dirty="0">
                <a:solidFill>
                  <a:srgbClr val="222222"/>
                </a:solidFill>
                <a:latin typeface="Arial" pitchFamily="34" charset="0"/>
                <a:ea typeface="Arial" pitchFamily="34" charset="-122"/>
                <a:cs typeface="Arial" pitchFamily="34" charset="-120"/>
              </a:rPr>
              <a:t>min</a:t>
            </a:r>
            <a:endParaRPr lang="en-US" sz="1050" dirty="0"/>
          </a:p>
        </p:txBody>
      </p:sp>
      <p:sp>
        <p:nvSpPr>
          <p:cNvPr id="22" name="Text 19"/>
          <p:cNvSpPr/>
          <p:nvPr/>
        </p:nvSpPr>
        <p:spPr>
          <a:xfrm>
            <a:off x="6903720" y="4343400"/>
            <a:ext cx="548640" cy="164592"/>
          </a:xfrm>
          <a:prstGeom prst="rect">
            <a:avLst/>
          </a:prstGeom>
          <a:noFill/>
          <a:ln/>
        </p:spPr>
        <p:txBody>
          <a:bodyPr wrap="square" lIns="0" tIns="0" rIns="0" bIns="0" rtlCol="0" anchor="ctr"/>
          <a:lstStyle/>
          <a:p>
            <a:pPr marL="0" indent="0" algn="ctr">
              <a:buNone/>
            </a:pPr>
            <a:r>
              <a:rPr lang="en-US" sz="1050" b="1" dirty="0">
                <a:solidFill>
                  <a:srgbClr val="2F75B5"/>
                </a:solidFill>
                <a:latin typeface="Arial" pitchFamily="34" charset="0"/>
                <a:ea typeface="Arial" pitchFamily="34" charset="-122"/>
                <a:cs typeface="Arial" pitchFamily="34" charset="-120"/>
              </a:rPr>
              <a:t>0</a:t>
            </a:r>
            <a:endParaRPr lang="en-US" sz="1050" dirty="0"/>
          </a:p>
        </p:txBody>
      </p:sp>
      <p:sp>
        <p:nvSpPr>
          <p:cNvPr id="23" name="Shape 20"/>
          <p:cNvSpPr/>
          <p:nvPr/>
        </p:nvSpPr>
        <p:spPr>
          <a:xfrm>
            <a:off x="8412480" y="4059936"/>
            <a:ext cx="0" cy="201168"/>
          </a:xfrm>
          <a:prstGeom prst="line">
            <a:avLst/>
          </a:prstGeom>
          <a:noFill/>
          <a:ln w="13970">
            <a:solidFill>
              <a:srgbClr val="00245D"/>
            </a:solidFill>
            <a:prstDash val="solid"/>
          </a:ln>
        </p:spPr>
        <p:txBody>
          <a:bodyPr/>
          <a:lstStyle/>
          <a:p>
            <a:endParaRPr lang="ko-KR" altLang="en-US"/>
          </a:p>
        </p:txBody>
      </p:sp>
      <p:sp>
        <p:nvSpPr>
          <p:cNvPr id="24" name="Text 21"/>
          <p:cNvSpPr/>
          <p:nvPr/>
        </p:nvSpPr>
        <p:spPr>
          <a:xfrm>
            <a:off x="8183880" y="3840480"/>
            <a:ext cx="548640" cy="164592"/>
          </a:xfrm>
          <a:prstGeom prst="rect">
            <a:avLst/>
          </a:prstGeom>
          <a:noFill/>
          <a:ln/>
        </p:spPr>
        <p:txBody>
          <a:bodyPr wrap="square" lIns="0" tIns="0" rIns="0" bIns="0" rtlCol="0" anchor="ct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25" name="Text 22"/>
          <p:cNvSpPr/>
          <p:nvPr/>
        </p:nvSpPr>
        <p:spPr>
          <a:xfrm>
            <a:off x="8183880" y="4343400"/>
            <a:ext cx="548640" cy="164592"/>
          </a:xfrm>
          <a:prstGeom prst="rect">
            <a:avLst/>
          </a:prstGeom>
          <a:noFill/>
          <a:ln/>
        </p:spPr>
        <p:txBody>
          <a:bodyPr wrap="square" lIns="0" tIns="0" rIns="0" bIns="0" rtlCol="0" anchor="ctr"/>
          <a:lstStyle/>
          <a:p>
            <a:pPr marL="0" indent="0" algn="ctr">
              <a:buNone/>
            </a:pPr>
            <a:r>
              <a:rPr lang="en-US" sz="1050" b="1" dirty="0">
                <a:solidFill>
                  <a:srgbClr val="2F75B5"/>
                </a:solidFill>
                <a:latin typeface="Arial" pitchFamily="34" charset="0"/>
                <a:ea typeface="Arial" pitchFamily="34" charset="-122"/>
                <a:cs typeface="Arial" pitchFamily="34" charset="-120"/>
              </a:rPr>
              <a:t>z</a:t>
            </a:r>
            <a:endParaRPr lang="en-US" sz="1050" dirty="0"/>
          </a:p>
        </p:txBody>
      </p:sp>
      <p:sp>
        <p:nvSpPr>
          <p:cNvPr id="26" name="Shape 23"/>
          <p:cNvSpPr/>
          <p:nvPr/>
        </p:nvSpPr>
        <p:spPr>
          <a:xfrm>
            <a:off x="10241280" y="4059936"/>
            <a:ext cx="0" cy="201168"/>
          </a:xfrm>
          <a:prstGeom prst="line">
            <a:avLst/>
          </a:prstGeom>
          <a:noFill/>
          <a:ln w="13970">
            <a:solidFill>
              <a:srgbClr val="00245D"/>
            </a:solidFill>
            <a:prstDash val="solid"/>
          </a:ln>
        </p:spPr>
        <p:txBody>
          <a:bodyPr/>
          <a:lstStyle/>
          <a:p>
            <a:endParaRPr lang="ko-KR" altLang="en-US"/>
          </a:p>
        </p:txBody>
      </p:sp>
      <p:sp>
        <p:nvSpPr>
          <p:cNvPr id="27" name="Text 24"/>
          <p:cNvSpPr/>
          <p:nvPr/>
        </p:nvSpPr>
        <p:spPr>
          <a:xfrm>
            <a:off x="10012680" y="3840480"/>
            <a:ext cx="548640" cy="164592"/>
          </a:xfrm>
          <a:prstGeom prst="rect">
            <a:avLst/>
          </a:prstGeom>
          <a:noFill/>
          <a:ln/>
        </p:spPr>
        <p:txBody>
          <a:bodyPr wrap="square" lIns="0" tIns="0" rIns="0" bIns="0" rtlCol="0" anchor="ctr"/>
          <a:lstStyle/>
          <a:p>
            <a:pPr marL="0" indent="0" algn="ctr">
              <a:buNone/>
            </a:pPr>
            <a:r>
              <a:rPr lang="en-US" sz="1050" dirty="0">
                <a:solidFill>
                  <a:srgbClr val="222222"/>
                </a:solidFill>
                <a:latin typeface="Arial" pitchFamily="34" charset="0"/>
                <a:ea typeface="Arial" pitchFamily="34" charset="-122"/>
                <a:cs typeface="Arial" pitchFamily="34" charset="-120"/>
              </a:rPr>
              <a:t>max</a:t>
            </a:r>
            <a:endParaRPr lang="en-US" sz="1050" dirty="0"/>
          </a:p>
        </p:txBody>
      </p:sp>
      <p:sp>
        <p:nvSpPr>
          <p:cNvPr id="28" name="Text 25"/>
          <p:cNvSpPr/>
          <p:nvPr/>
        </p:nvSpPr>
        <p:spPr>
          <a:xfrm>
            <a:off x="10012680" y="4343400"/>
            <a:ext cx="548640" cy="164592"/>
          </a:xfrm>
          <a:prstGeom prst="rect">
            <a:avLst/>
          </a:prstGeom>
          <a:noFill/>
          <a:ln/>
        </p:spPr>
        <p:txBody>
          <a:bodyPr wrap="square" lIns="0" tIns="0" rIns="0" bIns="0" rtlCol="0" anchor="ctr"/>
          <a:lstStyle/>
          <a:p>
            <a:pPr marL="0" indent="0" algn="ctr">
              <a:buNone/>
            </a:pPr>
            <a:r>
              <a:rPr lang="en-US" sz="1050" b="1" dirty="0">
                <a:solidFill>
                  <a:srgbClr val="2F75B5"/>
                </a:solidFill>
                <a:latin typeface="Arial" pitchFamily="34" charset="0"/>
                <a:ea typeface="Arial" pitchFamily="34" charset="-122"/>
                <a:cs typeface="Arial" pitchFamily="34" charset="-120"/>
              </a:rPr>
              <a:t>15</a:t>
            </a:r>
            <a:endParaRPr lang="en-US" sz="1050" dirty="0"/>
          </a:p>
        </p:txBody>
      </p:sp>
      <p:sp>
        <p:nvSpPr>
          <p:cNvPr id="29" name="Shape 26"/>
          <p:cNvSpPr/>
          <p:nvPr/>
        </p:nvSpPr>
        <p:spPr>
          <a:xfrm>
            <a:off x="6812280" y="5074920"/>
            <a:ext cx="4251960" cy="502920"/>
          </a:xfrm>
          <a:prstGeom prst="roundRect">
            <a:avLst>
              <a:gd name="adj" fmla="val 10909"/>
            </a:avLst>
          </a:prstGeom>
          <a:solidFill>
            <a:srgbClr val="EAF2FF"/>
          </a:solidFill>
          <a:ln w="12700">
            <a:solidFill>
              <a:srgbClr val="7EA6E0"/>
            </a:solidFill>
            <a:prstDash val="solid"/>
          </a:ln>
        </p:spPr>
        <p:txBody>
          <a:bodyPr/>
          <a:lstStyle/>
          <a:p>
            <a:endParaRPr lang="ko-KR" altLang="en-US"/>
          </a:p>
        </p:txBody>
      </p:sp>
      <p:sp>
        <p:nvSpPr>
          <p:cNvPr id="30" name="Text 27"/>
          <p:cNvSpPr/>
          <p:nvPr/>
        </p:nvSpPr>
        <p:spPr>
          <a:xfrm>
            <a:off x="6995160" y="5212080"/>
            <a:ext cx="3886200" cy="164592"/>
          </a:xfrm>
          <a:prstGeom prst="rect">
            <a:avLst/>
          </a:prstGeom>
          <a:noFill/>
          <a:ln/>
        </p:spPr>
        <p:txBody>
          <a:bodyPr wrap="square" lIns="0" tIns="0" rIns="0" bIns="0" rtlCol="0" anchor="ctr">
            <a:normAutofit lnSpcReduction="10000"/>
          </a:bodyPr>
          <a:lstStyle/>
          <a:p>
            <a:pPr marL="0" indent="0" algn="ctr">
              <a:buNone/>
            </a:pPr>
            <a:r>
              <a:rPr lang="en-US" sz="1100" b="1" dirty="0">
                <a:solidFill>
                  <a:srgbClr val="00245D"/>
                </a:solidFill>
                <a:latin typeface="Arial" pitchFamily="34" charset="0"/>
                <a:ea typeface="Arial" pitchFamily="34" charset="-122"/>
                <a:cs typeface="Arial" pitchFamily="34" charset="-120"/>
              </a:rPr>
              <a:t>Better fit for skewed / asymmetric weight groups.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Asymmetric Quantization Example</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17</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Example: real range [-1.0, 3.0], 4-bit unsigned integers [0, 15], and Wf = 1.3.</a:t>
            </a:r>
            <a:endParaRPr lang="en-US" sz="1300" dirty="0"/>
          </a:p>
        </p:txBody>
      </p:sp>
      <p:sp>
        <p:nvSpPr>
          <p:cNvPr id="9" name="Shape 6"/>
          <p:cNvSpPr/>
          <p:nvPr/>
        </p:nvSpPr>
        <p:spPr>
          <a:xfrm>
            <a:off x="685800" y="1389888"/>
            <a:ext cx="5394960" cy="1417320"/>
          </a:xfrm>
          <a:prstGeom prst="roundRect">
            <a:avLst>
              <a:gd name="adj" fmla="val 3871"/>
            </a:avLst>
          </a:prstGeom>
          <a:solidFill>
            <a:srgbClr val="F3F8FF"/>
          </a:solidFill>
          <a:ln w="13970">
            <a:solidFill>
              <a:srgbClr val="9EADCC"/>
            </a:solidFill>
            <a:prstDash val="solid"/>
          </a:ln>
        </p:spPr>
        <p:txBody>
          <a:bodyPr/>
          <a:lstStyle/>
          <a:p>
            <a:endParaRPr lang="ko-KR" altLang="en-US"/>
          </a:p>
        </p:txBody>
      </p:sp>
      <p:sp>
        <p:nvSpPr>
          <p:cNvPr id="10" name="Text 7"/>
          <p:cNvSpPr/>
          <p:nvPr/>
        </p:nvSpPr>
        <p:spPr>
          <a:xfrm>
            <a:off x="850392" y="1517904"/>
            <a:ext cx="506577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Step 1. Compute scale</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60120" y="1783080"/>
                <a:ext cx="4892040" cy="6858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𝛥</m:t>
                      </m:r>
                      <m:r>
                        <a:rPr lang="ko-KR" altLang="en-US" sz="1200" smtClean="0">
                          <a:latin typeface="Cambria Math"/>
                        </a:rPr>
                        <m:t>=</m:t>
                      </m:r>
                      <m:f>
                        <m:fPr>
                          <m:ctrlPr>
                            <a:rPr lang="ko-KR" altLang="en-US" sz="1200" smtClean="0">
                              <a:latin typeface="Cambria Math"/>
                            </a:rPr>
                          </m:ctrlPr>
                        </m:fPr>
                        <m:num>
                          <m:r>
                            <a:rPr lang="ko-KR" altLang="en-US" sz="1200" smtClean="0">
                              <a:latin typeface="Cambria Math"/>
                            </a:rPr>
                            <m:t>3.0−</m:t>
                          </m:r>
                          <m:d>
                            <m:dPr>
                              <m:ctrlPr>
                                <a:rPr lang="ko-KR" altLang="en-US" sz="1200" smtClean="0">
                                  <a:latin typeface="Cambria Math"/>
                                </a:rPr>
                              </m:ctrlPr>
                            </m:dPr>
                            <m:e>
                              <m:r>
                                <a:rPr lang="ko-KR" altLang="en-US" sz="1200" smtClean="0">
                                  <a:latin typeface="Cambria Math"/>
                                </a:rPr>
                                <m:t>−1.0</m:t>
                              </m:r>
                            </m:e>
                          </m:d>
                        </m:num>
                        <m:den>
                          <m:sSup>
                            <m:sSupPr>
                              <m:ctrlPr>
                                <a:rPr lang="ko-KR" altLang="en-US" sz="1200" smtClean="0">
                                  <a:latin typeface="Cambria Math"/>
                                </a:rPr>
                              </m:ctrlPr>
                            </m:sSupPr>
                            <m:e>
                              <m:r>
                                <a:rPr lang="ko-KR" altLang="en-US" sz="1200" smtClean="0">
                                  <a:latin typeface="Cambria Math"/>
                                </a:rPr>
                                <m:t>2</m:t>
                              </m:r>
                            </m:e>
                            <m:sup>
                              <m:r>
                                <a:rPr lang="ko-KR" altLang="en-US" sz="1200" smtClean="0">
                                  <a:latin typeface="Cambria Math"/>
                                </a:rPr>
                                <m:t>4</m:t>
                              </m:r>
                            </m:sup>
                          </m:sSup>
                          <m:r>
                            <a:rPr lang="ko-KR" altLang="en-US" sz="1200" smtClean="0">
                              <a:latin typeface="Cambria Math"/>
                            </a:rPr>
                            <m:t>−1</m:t>
                          </m:r>
                        </m:den>
                      </m:f>
                      <m:r>
                        <a:rPr lang="ko-KR" altLang="en-US" sz="1200" smtClean="0">
                          <a:latin typeface="Cambria Math"/>
                        </a:rPr>
                        <m:t>=</m:t>
                      </m:r>
                      <m:f>
                        <m:fPr>
                          <m:ctrlPr>
                            <a:rPr lang="ko-KR" altLang="en-US" sz="1200" smtClean="0">
                              <a:latin typeface="Cambria Math"/>
                            </a:rPr>
                          </m:ctrlPr>
                        </m:fPr>
                        <m:num>
                          <m:r>
                            <a:rPr lang="ko-KR" altLang="en-US" sz="1200" smtClean="0">
                              <a:latin typeface="Cambria Math"/>
                            </a:rPr>
                            <m:t>4.0</m:t>
                          </m:r>
                        </m:num>
                        <m:den>
                          <m:r>
                            <a:rPr lang="ko-KR" altLang="en-US" sz="1200" smtClean="0">
                              <a:latin typeface="Cambria Math"/>
                            </a:rPr>
                            <m:t>15</m:t>
                          </m:r>
                        </m:den>
                      </m:f>
                      <m:r>
                        <a:rPr lang="ko-KR" altLang="en-US" sz="1200" smtClean="0">
                          <a:latin typeface="Cambria Math"/>
                        </a:rPr>
                        <m:t>≈0.2667</m:t>
                      </m:r>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60120" y="1783080"/>
                <a:ext cx="4892040" cy="685800"/>
              </a:xfrm>
              <a:prstGeom prst="rect">
                <a:avLst/>
              </a:prstGeom>
              <a:blipFill>
                <a:blip r:embed="rId4"/>
                <a:stretch>
                  <a:fillRect/>
                </a:stretch>
              </a:blipFill>
              <a:ln/>
            </p:spPr>
            <p:txBody>
              <a:bodyPr/>
              <a:lstStyle/>
              <a:p>
                <a:r>
                  <a:rPr lang="ko-KR" altLang="en-US">
                    <a:noFill/>
                  </a:rPr>
                  <a:t> </a:t>
                </a:r>
              </a:p>
            </p:txBody>
          </p:sp>
        </mc:Fallback>
      </mc:AlternateContent>
      <p:sp>
        <p:nvSpPr>
          <p:cNvPr id="12" name="Shape 9"/>
          <p:cNvSpPr/>
          <p:nvPr/>
        </p:nvSpPr>
        <p:spPr>
          <a:xfrm>
            <a:off x="6355080" y="1389888"/>
            <a:ext cx="5074920" cy="1417320"/>
          </a:xfrm>
          <a:prstGeom prst="roundRect">
            <a:avLst>
              <a:gd name="adj" fmla="val 3871"/>
            </a:avLst>
          </a:prstGeom>
          <a:solidFill>
            <a:srgbClr val="FFFDF2"/>
          </a:solidFill>
          <a:ln w="13970">
            <a:solidFill>
              <a:srgbClr val="D6B656"/>
            </a:solidFill>
            <a:prstDash val="solid"/>
          </a:ln>
        </p:spPr>
        <p:txBody>
          <a:bodyPr/>
          <a:lstStyle/>
          <a:p>
            <a:endParaRPr lang="ko-KR" altLang="en-US"/>
          </a:p>
        </p:txBody>
      </p:sp>
      <p:sp>
        <p:nvSpPr>
          <p:cNvPr id="13" name="Text 10"/>
          <p:cNvSpPr/>
          <p:nvPr/>
        </p:nvSpPr>
        <p:spPr>
          <a:xfrm>
            <a:off x="6519672" y="1517904"/>
            <a:ext cx="474573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Step 2. Compute zero-point</a:t>
            </a:r>
            <a:endParaRPr lang="en-US" sz="1200" dirty="0"/>
          </a:p>
        </p:txBody>
      </p:sp>
      <mc:AlternateContent xmlns:mc="http://schemas.openxmlformats.org/markup-compatibility/2006" xmlns:a14="http://schemas.microsoft.com/office/drawing/2010/main">
        <mc:Choice Requires="a14">
          <p:sp>
            <p:nvSpPr>
              <p:cNvPr id="14" name="Text 11"/>
              <p:cNvSpPr/>
              <p:nvPr/>
            </p:nvSpPr>
            <p:spPr>
              <a:xfrm>
                <a:off x="6629400" y="1783080"/>
                <a:ext cx="4572000" cy="6858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𝑧</m:t>
                      </m:r>
                      <m:r>
                        <a:rPr lang="ko-KR" altLang="en-US" sz="1200" smtClean="0">
                          <a:latin typeface="Cambria Math"/>
                        </a:rPr>
                        <m:t>=</m:t>
                      </m:r>
                      <m:r>
                        <m:rPr>
                          <m:sty m:val="p"/>
                        </m:rPr>
                        <a:rPr lang="ko-KR" altLang="en-US" sz="1200" smtClean="0">
                          <a:latin typeface="Cambria Math"/>
                        </a:rPr>
                        <m:t>Round</m:t>
                      </m:r>
                      <m:d>
                        <m:dPr>
                          <m:ctrlPr>
                            <a:rPr lang="ko-KR" altLang="en-US" sz="1200" i="1" smtClean="0">
                              <a:latin typeface="Cambria Math" panose="02040503050406030204" pitchFamily="18" charset="0"/>
                            </a:rPr>
                          </m:ctrlPr>
                        </m:dPr>
                        <m:e>
                          <m:f>
                            <m:fPr>
                              <m:ctrlPr>
                                <a:rPr lang="ko-KR" altLang="en-US" sz="1200" smtClean="0">
                                  <a:latin typeface="Cambria Math"/>
                                </a:rPr>
                              </m:ctrlPr>
                            </m:fPr>
                            <m:num>
                              <m:r>
                                <a:rPr lang="ko-KR" altLang="en-US" sz="1200" smtClean="0">
                                  <a:latin typeface="Cambria Math"/>
                                </a:rPr>
                                <m:t>1.0</m:t>
                              </m:r>
                            </m:num>
                            <m:den>
                              <m:r>
                                <a:rPr lang="ko-KR" altLang="en-US" sz="1200" smtClean="0">
                                  <a:latin typeface="Cambria Math"/>
                                </a:rPr>
                                <m:t>0.2667</m:t>
                              </m:r>
                            </m:den>
                          </m:f>
                        </m:e>
                      </m:d>
                      <m:r>
                        <a:rPr lang="ko-KR" altLang="en-US" sz="1200" smtClean="0">
                          <a:latin typeface="Cambria Math"/>
                        </a:rPr>
                        <m:t>=4</m:t>
                      </m:r>
                    </m:oMath>
                  </m:oMathPara>
                </a14:m>
                <a:endParaRPr/>
              </a:p>
            </p:txBody>
          </p:sp>
        </mc:Choice>
        <mc:Fallback xmlns="">
          <p:sp>
            <p:nvSpPr>
              <p:cNvPr id="14" name="Text 11"/>
              <p:cNvSpPr>
                <a:spLocks noRot="1" noChangeAspect="1" noMove="1" noResize="1" noEditPoints="1" noAdjustHandles="1" noChangeArrowheads="1" noChangeShapeType="1" noTextEdit="1"/>
              </p:cNvSpPr>
              <p:nvPr/>
            </p:nvSpPr>
            <p:spPr>
              <a:xfrm>
                <a:off x="6629400" y="1783080"/>
                <a:ext cx="4572000" cy="685800"/>
              </a:xfrm>
              <a:prstGeom prst="rect">
                <a:avLst/>
              </a:prstGeom>
              <a:blipFill>
                <a:blip r:embed="rId5"/>
                <a:stretch>
                  <a:fillRect/>
                </a:stretch>
              </a:blipFill>
              <a:ln/>
            </p:spPr>
            <p:txBody>
              <a:bodyPr/>
              <a:lstStyle/>
              <a:p>
                <a:r>
                  <a:rPr lang="ko-KR" altLang="en-US">
                    <a:noFill/>
                  </a:rPr>
                  <a:t> </a:t>
                </a:r>
              </a:p>
            </p:txBody>
          </p:sp>
        </mc:Fallback>
      </mc:AlternateContent>
      <p:sp>
        <p:nvSpPr>
          <p:cNvPr id="15" name="Shape 12"/>
          <p:cNvSpPr/>
          <p:nvPr/>
        </p:nvSpPr>
        <p:spPr>
          <a:xfrm>
            <a:off x="685800" y="3154680"/>
            <a:ext cx="5394960" cy="1417320"/>
          </a:xfrm>
          <a:prstGeom prst="roundRect">
            <a:avLst>
              <a:gd name="adj" fmla="val 3871"/>
            </a:avLst>
          </a:prstGeom>
          <a:solidFill>
            <a:srgbClr val="F3F8FF"/>
          </a:solidFill>
          <a:ln w="13970">
            <a:solidFill>
              <a:srgbClr val="9EADCC"/>
            </a:solidFill>
            <a:prstDash val="solid"/>
          </a:ln>
        </p:spPr>
        <p:txBody>
          <a:bodyPr/>
          <a:lstStyle/>
          <a:p>
            <a:endParaRPr lang="ko-KR" altLang="en-US"/>
          </a:p>
        </p:txBody>
      </p:sp>
      <p:sp>
        <p:nvSpPr>
          <p:cNvPr id="16" name="Text 13"/>
          <p:cNvSpPr/>
          <p:nvPr/>
        </p:nvSpPr>
        <p:spPr>
          <a:xfrm>
            <a:off x="850392" y="3282696"/>
            <a:ext cx="506577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Step 3. Quantize one weight</a:t>
            </a:r>
            <a:endParaRPr lang="en-US" sz="1200" dirty="0"/>
          </a:p>
        </p:txBody>
      </p:sp>
      <mc:AlternateContent xmlns:mc="http://schemas.openxmlformats.org/markup-compatibility/2006" xmlns:a14="http://schemas.microsoft.com/office/drawing/2010/main">
        <mc:Choice Requires="a14">
          <p:sp>
            <p:nvSpPr>
              <p:cNvPr id="17" name="Text 14"/>
              <p:cNvSpPr/>
              <p:nvPr/>
            </p:nvSpPr>
            <p:spPr>
              <a:xfrm>
                <a:off x="960120" y="3502152"/>
                <a:ext cx="4892040" cy="56692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r>
                        <a:rPr lang="ko-KR" altLang="en-US" sz="1200" smtClean="0">
                          <a:latin typeface="Cambria Math"/>
                        </a:rPr>
                        <m:t>=</m:t>
                      </m:r>
                      <m:r>
                        <m:rPr>
                          <m:sty m:val="p"/>
                        </m:rPr>
                        <a:rPr lang="ko-KR" altLang="en-US" sz="1200" smtClean="0">
                          <a:latin typeface="Cambria Math"/>
                        </a:rPr>
                        <m:t>Round</m:t>
                      </m:r>
                      <m:d>
                        <m:dPr>
                          <m:ctrlPr>
                            <a:rPr lang="ko-KR" altLang="en-US" sz="1200" i="1" smtClean="0">
                              <a:latin typeface="Cambria Math" panose="02040503050406030204" pitchFamily="18" charset="0"/>
                            </a:rPr>
                          </m:ctrlPr>
                        </m:dPr>
                        <m:e>
                          <m:f>
                            <m:fPr>
                              <m:ctrlPr>
                                <a:rPr lang="ko-KR" altLang="en-US" sz="1200" smtClean="0">
                                  <a:latin typeface="Cambria Math"/>
                                </a:rPr>
                              </m:ctrlPr>
                            </m:fPr>
                            <m:num>
                              <m:r>
                                <a:rPr lang="ko-KR" altLang="en-US" sz="1200" smtClean="0">
                                  <a:latin typeface="Cambria Math"/>
                                </a:rPr>
                                <m:t>1.3</m:t>
                              </m:r>
                            </m:num>
                            <m:den>
                              <m:r>
                                <a:rPr lang="ko-KR" altLang="en-US" sz="1200" smtClean="0">
                                  <a:latin typeface="Cambria Math"/>
                                </a:rPr>
                                <m:t>0.2667</m:t>
                              </m:r>
                            </m:den>
                          </m:f>
                        </m:e>
                      </m:d>
                      <m:r>
                        <a:rPr lang="ko-KR" altLang="en-US" sz="1200" smtClean="0">
                          <a:latin typeface="Cambria Math"/>
                        </a:rPr>
                        <m:t>+4</m:t>
                      </m:r>
                    </m:oMath>
                  </m:oMathPara>
                </a14:m>
                <a:endParaRPr/>
              </a:p>
            </p:txBody>
          </p:sp>
        </mc:Choice>
        <mc:Fallback xmlns="">
          <p:sp>
            <p:nvSpPr>
              <p:cNvPr id="17" name="Text 14"/>
              <p:cNvSpPr>
                <a:spLocks noRot="1" noChangeAspect="1" noMove="1" noResize="1" noEditPoints="1" noAdjustHandles="1" noChangeArrowheads="1" noChangeShapeType="1" noTextEdit="1"/>
              </p:cNvSpPr>
              <p:nvPr/>
            </p:nvSpPr>
            <p:spPr>
              <a:xfrm>
                <a:off x="960120" y="3502152"/>
                <a:ext cx="4892040" cy="566928"/>
              </a:xfrm>
              <a:prstGeom prst="rect">
                <a:avLst/>
              </a:prstGeom>
              <a:blipFill>
                <a:blip r:embed="rId6"/>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Text 15"/>
              <p:cNvSpPr/>
              <p:nvPr/>
            </p:nvSpPr>
            <p:spPr>
              <a:xfrm>
                <a:off x="1005840" y="4041648"/>
                <a:ext cx="4846320" cy="4114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m:t>
                      </m:r>
                      <m:r>
                        <m:rPr>
                          <m:sty m:val="p"/>
                        </m:rPr>
                        <a:rPr lang="ko-KR" altLang="en-US" sz="1200" smtClean="0">
                          <a:latin typeface="Cambria Math"/>
                        </a:rPr>
                        <m:t>Round</m:t>
                      </m:r>
                      <m:d>
                        <m:dPr>
                          <m:ctrlPr>
                            <a:rPr lang="ko-KR" altLang="en-US" sz="1200" smtClean="0">
                              <a:latin typeface="Cambria Math"/>
                            </a:rPr>
                          </m:ctrlPr>
                        </m:dPr>
                        <m:e>
                          <m:r>
                            <a:rPr lang="ko-KR" altLang="en-US" sz="1200" smtClean="0">
                              <a:latin typeface="Cambria Math"/>
                            </a:rPr>
                            <m:t>4.875</m:t>
                          </m:r>
                        </m:e>
                      </m:d>
                      <m:r>
                        <a:rPr lang="ko-KR" altLang="en-US" sz="1200" smtClean="0">
                          <a:latin typeface="Cambria Math"/>
                        </a:rPr>
                        <m:t>+4=5+4=9</m:t>
                      </m:r>
                    </m:oMath>
                  </m:oMathPara>
                </a14:m>
                <a:endParaRPr/>
              </a:p>
            </p:txBody>
          </p:sp>
        </mc:Choice>
        <mc:Fallback xmlns="">
          <p:sp>
            <p:nvSpPr>
              <p:cNvPr id="18" name="Text 15"/>
              <p:cNvSpPr>
                <a:spLocks noRot="1" noChangeAspect="1" noMove="1" noResize="1" noEditPoints="1" noAdjustHandles="1" noChangeArrowheads="1" noChangeShapeType="1" noTextEdit="1"/>
              </p:cNvSpPr>
              <p:nvPr/>
            </p:nvSpPr>
            <p:spPr>
              <a:xfrm>
                <a:off x="1005840" y="4041648"/>
                <a:ext cx="4846320" cy="411480"/>
              </a:xfrm>
              <a:prstGeom prst="rect">
                <a:avLst/>
              </a:prstGeom>
              <a:blipFill>
                <a:blip r:embed="rId7"/>
                <a:stretch>
                  <a:fillRect/>
                </a:stretch>
              </a:blipFill>
              <a:ln/>
            </p:spPr>
            <p:txBody>
              <a:bodyPr/>
              <a:lstStyle/>
              <a:p>
                <a:r>
                  <a:rPr lang="ko-KR" altLang="en-US">
                    <a:noFill/>
                  </a:rPr>
                  <a:t> </a:t>
                </a:r>
              </a:p>
            </p:txBody>
          </p:sp>
        </mc:Fallback>
      </mc:AlternateContent>
      <p:sp>
        <p:nvSpPr>
          <p:cNvPr id="19" name="Shape 16"/>
          <p:cNvSpPr/>
          <p:nvPr/>
        </p:nvSpPr>
        <p:spPr>
          <a:xfrm>
            <a:off x="6355080" y="3154680"/>
            <a:ext cx="5074920" cy="1417320"/>
          </a:xfrm>
          <a:prstGeom prst="roundRect">
            <a:avLst>
              <a:gd name="adj" fmla="val 3871"/>
            </a:avLst>
          </a:prstGeom>
          <a:solidFill>
            <a:srgbClr val="FFFDF2"/>
          </a:solidFill>
          <a:ln w="13970">
            <a:solidFill>
              <a:srgbClr val="D6B656"/>
            </a:solidFill>
            <a:prstDash val="solid"/>
          </a:ln>
        </p:spPr>
        <p:txBody>
          <a:bodyPr/>
          <a:lstStyle/>
          <a:p>
            <a:endParaRPr lang="ko-KR" altLang="en-US"/>
          </a:p>
        </p:txBody>
      </p:sp>
      <p:sp>
        <p:nvSpPr>
          <p:cNvPr id="20" name="Text 17"/>
          <p:cNvSpPr/>
          <p:nvPr/>
        </p:nvSpPr>
        <p:spPr>
          <a:xfrm>
            <a:off x="6519672" y="3282696"/>
            <a:ext cx="474573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Meaning</a:t>
            </a:r>
            <a:endParaRPr lang="en-US" sz="1200" dirty="0"/>
          </a:p>
        </p:txBody>
      </p:sp>
      <p:sp>
        <p:nvSpPr>
          <p:cNvPr id="21" name="Text 18"/>
          <p:cNvSpPr/>
          <p:nvPr/>
        </p:nvSpPr>
        <p:spPr>
          <a:xfrm>
            <a:off x="6629400" y="3547872"/>
            <a:ext cx="4572000" cy="713232"/>
          </a:xfrm>
          <a:prstGeom prst="rect">
            <a:avLst/>
          </a:prstGeom>
          <a:noFill/>
          <a:ln/>
        </p:spPr>
        <p:txBody>
          <a:bodyPr wrap="square" lIns="254" tIns="254" rIns="254" bIns="254" rtlCol="0" anchor="ctr">
            <a:normAutofit lnSpcReduction="10000"/>
          </a:bodyPr>
          <a:lstStyle/>
          <a:p>
            <a:pPr marL="0" indent="0">
              <a:buNone/>
            </a:pPr>
            <a:r>
              <a:rPr lang="en-US" sz="1200" dirty="0">
                <a:solidFill>
                  <a:srgbClr val="222222"/>
                </a:solidFill>
                <a:latin typeface="Arial" pitchFamily="34" charset="0"/>
                <a:ea typeface="Arial" pitchFamily="34" charset="-122"/>
                <a:cs typeface="Arial" pitchFamily="34" charset="-120"/>
              </a:rPr>
              <a:t>The +z term shifts the rounded value so that the integer grid aligns with the real range.</a:t>
            </a:r>
            <a:endParaRPr lang="en-US" sz="1200" dirty="0"/>
          </a:p>
          <a:p>
            <a:pPr marL="0" indent="0">
              <a:buNone/>
            </a:pPr>
            <a:endParaRPr lang="en-US" sz="1200" dirty="0"/>
          </a:p>
          <a:p>
            <a:pPr marL="0" indent="0">
              <a:buNone/>
            </a:pPr>
            <a:r>
              <a:rPr lang="en-US" sz="1200" dirty="0">
                <a:solidFill>
                  <a:srgbClr val="222222"/>
                </a:solidFill>
                <a:latin typeface="Arial" pitchFamily="34" charset="0"/>
                <a:ea typeface="Arial" pitchFamily="34" charset="-122"/>
                <a:cs typeface="Arial" pitchFamily="34" charset="-120"/>
              </a:rPr>
              <a:t>Therefore Wf = 1.3 becomes integer 9.</a:t>
            </a:r>
            <a:endParaRPr lang="en-US" sz="1200" dirty="0"/>
          </a:p>
        </p:txBody>
      </p:sp>
      <p:sp>
        <p:nvSpPr>
          <p:cNvPr id="22" name="Text 19"/>
          <p:cNvSpPr/>
          <p:nvPr/>
        </p:nvSpPr>
        <p:spPr>
          <a:xfrm>
            <a:off x="868680" y="5074920"/>
            <a:ext cx="2011680" cy="219456"/>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Zero-point mapping</a:t>
            </a:r>
            <a:endParaRPr lang="en-US" sz="1200" dirty="0"/>
          </a:p>
        </p:txBody>
      </p:sp>
      <p:sp>
        <p:nvSpPr>
          <p:cNvPr id="23" name="Shape 20"/>
          <p:cNvSpPr/>
          <p:nvPr/>
        </p:nvSpPr>
        <p:spPr>
          <a:xfrm>
            <a:off x="1417320" y="5632704"/>
            <a:ext cx="8778240" cy="0"/>
          </a:xfrm>
          <a:prstGeom prst="line">
            <a:avLst/>
          </a:prstGeom>
          <a:noFill/>
          <a:ln w="21590">
            <a:solidFill>
              <a:srgbClr val="00245D"/>
            </a:solidFill>
            <a:prstDash val="solid"/>
            <a:tailEnd type="triangle"/>
          </a:ln>
        </p:spPr>
        <p:txBody>
          <a:bodyPr/>
          <a:lstStyle/>
          <a:p>
            <a:endParaRPr lang="ko-KR" altLang="en-US"/>
          </a:p>
        </p:txBody>
      </p:sp>
      <p:sp>
        <p:nvSpPr>
          <p:cNvPr id="24" name="Shape 21"/>
          <p:cNvSpPr/>
          <p:nvPr/>
        </p:nvSpPr>
        <p:spPr>
          <a:xfrm>
            <a:off x="1417320" y="5522976"/>
            <a:ext cx="0" cy="219456"/>
          </a:xfrm>
          <a:prstGeom prst="line">
            <a:avLst/>
          </a:prstGeom>
          <a:noFill/>
          <a:ln w="15240">
            <a:solidFill>
              <a:srgbClr val="00245D"/>
            </a:solidFill>
            <a:prstDash val="solid"/>
          </a:ln>
        </p:spPr>
        <p:txBody>
          <a:bodyPr/>
          <a:lstStyle/>
          <a:p>
            <a:endParaRPr lang="ko-KR" altLang="en-US"/>
          </a:p>
        </p:txBody>
      </p:sp>
      <p:sp>
        <p:nvSpPr>
          <p:cNvPr id="25" name="Text 22"/>
          <p:cNvSpPr/>
          <p:nvPr/>
        </p:nvSpPr>
        <p:spPr>
          <a:xfrm>
            <a:off x="1097280" y="5285232"/>
            <a:ext cx="731520" cy="164592"/>
          </a:xfrm>
          <a:prstGeom prst="rect">
            <a:avLst/>
          </a:prstGeom>
          <a:noFill/>
          <a:ln/>
        </p:spPr>
        <p:txBody>
          <a:bodyPr wrap="square" lIns="0" tIns="0" rIns="0" bIns="0" rtlCol="0" anchor="ctr"/>
          <a:lstStyle/>
          <a:p>
            <a:pPr marL="0" indent="0" algn="ctr">
              <a:buNone/>
            </a:pPr>
            <a:r>
              <a:rPr lang="en-US" sz="1050" dirty="0">
                <a:solidFill>
                  <a:srgbClr val="222222"/>
                </a:solidFill>
                <a:latin typeface="Arial" pitchFamily="34" charset="0"/>
                <a:ea typeface="Arial" pitchFamily="34" charset="-122"/>
                <a:cs typeface="Arial" pitchFamily="34" charset="-120"/>
              </a:rPr>
              <a:t>-1.0</a:t>
            </a:r>
            <a:endParaRPr lang="en-US" sz="1050" dirty="0"/>
          </a:p>
        </p:txBody>
      </p:sp>
      <p:sp>
        <p:nvSpPr>
          <p:cNvPr id="26" name="Text 23"/>
          <p:cNvSpPr/>
          <p:nvPr/>
        </p:nvSpPr>
        <p:spPr>
          <a:xfrm>
            <a:off x="1097280" y="5806440"/>
            <a:ext cx="731520" cy="164592"/>
          </a:xfrm>
          <a:prstGeom prst="rect">
            <a:avLst/>
          </a:prstGeom>
          <a:noFill/>
          <a:ln/>
        </p:spPr>
        <p:txBody>
          <a:bodyPr wrap="square" lIns="0" tIns="0" rIns="0" bIns="0" rtlCol="0" anchor="ctr"/>
          <a:lstStyle/>
          <a:p>
            <a:pPr marL="0" indent="0" algn="ctr">
              <a:buNone/>
            </a:pPr>
            <a:r>
              <a:rPr lang="en-US" sz="1050" b="1" dirty="0">
                <a:solidFill>
                  <a:srgbClr val="2F75B5"/>
                </a:solidFill>
                <a:latin typeface="Arial" pitchFamily="34" charset="0"/>
                <a:ea typeface="Arial" pitchFamily="34" charset="-122"/>
                <a:cs typeface="Arial" pitchFamily="34" charset="-120"/>
              </a:rPr>
              <a:t>0</a:t>
            </a:r>
            <a:endParaRPr lang="en-US" sz="1050" dirty="0"/>
          </a:p>
        </p:txBody>
      </p:sp>
      <p:sp>
        <p:nvSpPr>
          <p:cNvPr id="27" name="Shape 24"/>
          <p:cNvSpPr/>
          <p:nvPr/>
        </p:nvSpPr>
        <p:spPr>
          <a:xfrm>
            <a:off x="3657600" y="5522976"/>
            <a:ext cx="0" cy="219456"/>
          </a:xfrm>
          <a:prstGeom prst="line">
            <a:avLst/>
          </a:prstGeom>
          <a:noFill/>
          <a:ln w="15240">
            <a:solidFill>
              <a:srgbClr val="00245D"/>
            </a:solidFill>
            <a:prstDash val="solid"/>
          </a:ln>
        </p:spPr>
        <p:txBody>
          <a:bodyPr/>
          <a:lstStyle/>
          <a:p>
            <a:endParaRPr lang="ko-KR" altLang="en-US"/>
          </a:p>
        </p:txBody>
      </p:sp>
      <p:sp>
        <p:nvSpPr>
          <p:cNvPr id="28" name="Text 25"/>
          <p:cNvSpPr/>
          <p:nvPr/>
        </p:nvSpPr>
        <p:spPr>
          <a:xfrm>
            <a:off x="3337560" y="5285232"/>
            <a:ext cx="731520" cy="164592"/>
          </a:xfrm>
          <a:prstGeom prst="rect">
            <a:avLst/>
          </a:prstGeom>
          <a:noFill/>
          <a:ln/>
        </p:spPr>
        <p:txBody>
          <a:bodyPr wrap="square" lIns="0" tIns="0" rIns="0" bIns="0" rtlCol="0" anchor="ct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29" name="Text 26"/>
          <p:cNvSpPr/>
          <p:nvPr/>
        </p:nvSpPr>
        <p:spPr>
          <a:xfrm>
            <a:off x="3337560" y="5806440"/>
            <a:ext cx="731520" cy="164592"/>
          </a:xfrm>
          <a:prstGeom prst="rect">
            <a:avLst/>
          </a:prstGeom>
          <a:noFill/>
          <a:ln/>
        </p:spPr>
        <p:txBody>
          <a:bodyPr wrap="square" lIns="0" tIns="0" rIns="0" bIns="0" rtlCol="0" anchor="ctr"/>
          <a:lstStyle/>
          <a:p>
            <a:pPr marL="0" indent="0" algn="ctr">
              <a:buNone/>
            </a:pPr>
            <a:r>
              <a:rPr lang="en-US" sz="1050" b="1" dirty="0">
                <a:solidFill>
                  <a:srgbClr val="2F75B5"/>
                </a:solidFill>
                <a:latin typeface="Arial" pitchFamily="34" charset="0"/>
                <a:ea typeface="Arial" pitchFamily="34" charset="-122"/>
                <a:cs typeface="Arial" pitchFamily="34" charset="-120"/>
              </a:rPr>
              <a:t>4</a:t>
            </a:r>
            <a:endParaRPr lang="en-US" sz="1050" dirty="0"/>
          </a:p>
        </p:txBody>
      </p:sp>
      <p:sp>
        <p:nvSpPr>
          <p:cNvPr id="30" name="Shape 27"/>
          <p:cNvSpPr/>
          <p:nvPr/>
        </p:nvSpPr>
        <p:spPr>
          <a:xfrm>
            <a:off x="7818120" y="5522976"/>
            <a:ext cx="0" cy="219456"/>
          </a:xfrm>
          <a:prstGeom prst="line">
            <a:avLst/>
          </a:prstGeom>
          <a:noFill/>
          <a:ln w="15240">
            <a:solidFill>
              <a:srgbClr val="00245D"/>
            </a:solidFill>
            <a:prstDash val="solid"/>
          </a:ln>
        </p:spPr>
        <p:txBody>
          <a:bodyPr/>
          <a:lstStyle/>
          <a:p>
            <a:endParaRPr lang="ko-KR" altLang="en-US"/>
          </a:p>
        </p:txBody>
      </p:sp>
      <p:sp>
        <p:nvSpPr>
          <p:cNvPr id="31" name="Text 28"/>
          <p:cNvSpPr/>
          <p:nvPr/>
        </p:nvSpPr>
        <p:spPr>
          <a:xfrm>
            <a:off x="7498080" y="5285232"/>
            <a:ext cx="731520" cy="164592"/>
          </a:xfrm>
          <a:prstGeom prst="rect">
            <a:avLst/>
          </a:prstGeom>
          <a:noFill/>
          <a:ln/>
        </p:spPr>
        <p:txBody>
          <a:bodyPr wrap="square" lIns="0" tIns="0" rIns="0" bIns="0" rtlCol="0" anchor="ctr"/>
          <a:lstStyle/>
          <a:p>
            <a:pPr marL="0" indent="0" algn="ctr">
              <a:buNone/>
            </a:pPr>
            <a:r>
              <a:rPr lang="en-US" sz="1050" dirty="0">
                <a:solidFill>
                  <a:srgbClr val="222222"/>
                </a:solidFill>
                <a:latin typeface="Arial" pitchFamily="34" charset="0"/>
                <a:ea typeface="Arial" pitchFamily="34" charset="-122"/>
                <a:cs typeface="Arial" pitchFamily="34" charset="-120"/>
              </a:rPr>
              <a:t>1.3</a:t>
            </a:r>
            <a:endParaRPr lang="en-US" sz="1050" dirty="0"/>
          </a:p>
        </p:txBody>
      </p:sp>
      <p:sp>
        <p:nvSpPr>
          <p:cNvPr id="32" name="Text 29"/>
          <p:cNvSpPr/>
          <p:nvPr/>
        </p:nvSpPr>
        <p:spPr>
          <a:xfrm>
            <a:off x="7498080" y="5806440"/>
            <a:ext cx="731520" cy="164592"/>
          </a:xfrm>
          <a:prstGeom prst="rect">
            <a:avLst/>
          </a:prstGeom>
          <a:noFill/>
          <a:ln/>
        </p:spPr>
        <p:txBody>
          <a:bodyPr wrap="square" lIns="0" tIns="0" rIns="0" bIns="0" rtlCol="0" anchor="ctr"/>
          <a:lstStyle/>
          <a:p>
            <a:pPr marL="0" indent="0" algn="ctr">
              <a:buNone/>
            </a:pPr>
            <a:r>
              <a:rPr lang="en-US" sz="1050" b="1" dirty="0">
                <a:solidFill>
                  <a:srgbClr val="2F75B5"/>
                </a:solidFill>
                <a:latin typeface="Arial" pitchFamily="34" charset="0"/>
                <a:ea typeface="Arial" pitchFamily="34" charset="-122"/>
                <a:cs typeface="Arial" pitchFamily="34" charset="-120"/>
              </a:rPr>
              <a:t>9</a:t>
            </a:r>
            <a:endParaRPr lang="en-US" sz="1050" dirty="0"/>
          </a:p>
        </p:txBody>
      </p:sp>
      <p:sp>
        <p:nvSpPr>
          <p:cNvPr id="33" name="Shape 30"/>
          <p:cNvSpPr/>
          <p:nvPr/>
        </p:nvSpPr>
        <p:spPr>
          <a:xfrm>
            <a:off x="10149840" y="5522976"/>
            <a:ext cx="0" cy="219456"/>
          </a:xfrm>
          <a:prstGeom prst="line">
            <a:avLst/>
          </a:prstGeom>
          <a:noFill/>
          <a:ln w="15240">
            <a:solidFill>
              <a:srgbClr val="00245D"/>
            </a:solidFill>
            <a:prstDash val="solid"/>
          </a:ln>
        </p:spPr>
        <p:txBody>
          <a:bodyPr/>
          <a:lstStyle/>
          <a:p>
            <a:endParaRPr lang="ko-KR" altLang="en-US"/>
          </a:p>
        </p:txBody>
      </p:sp>
      <p:sp>
        <p:nvSpPr>
          <p:cNvPr id="34" name="Text 31"/>
          <p:cNvSpPr/>
          <p:nvPr/>
        </p:nvSpPr>
        <p:spPr>
          <a:xfrm>
            <a:off x="9829800" y="5285232"/>
            <a:ext cx="731520" cy="164592"/>
          </a:xfrm>
          <a:prstGeom prst="rect">
            <a:avLst/>
          </a:prstGeom>
          <a:noFill/>
          <a:ln/>
        </p:spPr>
        <p:txBody>
          <a:bodyPr wrap="square" lIns="0" tIns="0" rIns="0" bIns="0" rtlCol="0" anchor="ctr"/>
          <a:lstStyle/>
          <a:p>
            <a:pPr marL="0" indent="0" algn="ctr">
              <a:buNone/>
            </a:pPr>
            <a:r>
              <a:rPr lang="en-US" sz="1050" dirty="0">
                <a:solidFill>
                  <a:srgbClr val="222222"/>
                </a:solidFill>
                <a:latin typeface="Arial" pitchFamily="34" charset="0"/>
                <a:ea typeface="Arial" pitchFamily="34" charset="-122"/>
                <a:cs typeface="Arial" pitchFamily="34" charset="-120"/>
              </a:rPr>
              <a:t>3.0</a:t>
            </a:r>
            <a:endParaRPr lang="en-US" sz="1050" dirty="0"/>
          </a:p>
        </p:txBody>
      </p:sp>
      <p:sp>
        <p:nvSpPr>
          <p:cNvPr id="35" name="Text 32"/>
          <p:cNvSpPr/>
          <p:nvPr/>
        </p:nvSpPr>
        <p:spPr>
          <a:xfrm>
            <a:off x="9829800" y="5806440"/>
            <a:ext cx="731520" cy="164592"/>
          </a:xfrm>
          <a:prstGeom prst="rect">
            <a:avLst/>
          </a:prstGeom>
          <a:noFill/>
          <a:ln/>
        </p:spPr>
        <p:txBody>
          <a:bodyPr wrap="square" lIns="0" tIns="0" rIns="0" bIns="0" rtlCol="0" anchor="ctr"/>
          <a:lstStyle/>
          <a:p>
            <a:pPr marL="0" indent="0" algn="ctr">
              <a:buNone/>
            </a:pPr>
            <a:r>
              <a:rPr lang="en-US" sz="1050" b="1" dirty="0">
                <a:solidFill>
                  <a:srgbClr val="2F75B5"/>
                </a:solidFill>
                <a:latin typeface="Arial" pitchFamily="34" charset="0"/>
                <a:ea typeface="Arial" pitchFamily="34" charset="-122"/>
                <a:cs typeface="Arial" pitchFamily="34" charset="-120"/>
              </a:rPr>
              <a:t>15</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Symmetric vs Asymmetric: Summary</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18</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The key difference is whether the integer grid is fixed around zero or shifted using a zero-point.</a:t>
            </a:r>
            <a:endParaRPr lang="en-US" sz="1300" dirty="0"/>
          </a:p>
        </p:txBody>
      </p:sp>
      <p:sp>
        <p:nvSpPr>
          <p:cNvPr id="9" name="Shape 6"/>
          <p:cNvSpPr/>
          <p:nvPr/>
        </p:nvSpPr>
        <p:spPr>
          <a:xfrm>
            <a:off x="777240" y="1600200"/>
            <a:ext cx="1920240" cy="576072"/>
          </a:xfrm>
          <a:prstGeom prst="rect">
            <a:avLst/>
          </a:prstGeom>
          <a:solidFill>
            <a:srgbClr val="00245D"/>
          </a:solidFill>
          <a:ln w="8890">
            <a:solidFill>
              <a:srgbClr val="D9E2F3"/>
            </a:solidFill>
            <a:prstDash val="solid"/>
          </a:ln>
        </p:spPr>
        <p:txBody>
          <a:bodyPr/>
          <a:lstStyle/>
          <a:p>
            <a:endParaRPr lang="ko-KR" altLang="en-US"/>
          </a:p>
        </p:txBody>
      </p:sp>
      <p:sp>
        <p:nvSpPr>
          <p:cNvPr id="10" name="Text 7"/>
          <p:cNvSpPr/>
          <p:nvPr/>
        </p:nvSpPr>
        <p:spPr>
          <a:xfrm>
            <a:off x="850392" y="1746504"/>
            <a:ext cx="1773936" cy="393192"/>
          </a:xfrm>
          <a:prstGeom prst="rect">
            <a:avLst/>
          </a:prstGeom>
          <a:noFill/>
          <a:ln/>
        </p:spPr>
        <p:txBody>
          <a:bodyPr wrap="square" lIns="127" tIns="127" rIns="127" bIns="127"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Aspect</a:t>
            </a:r>
            <a:endParaRPr lang="en-US" sz="1100" dirty="0"/>
          </a:p>
        </p:txBody>
      </p:sp>
      <p:sp>
        <p:nvSpPr>
          <p:cNvPr id="11" name="Shape 8"/>
          <p:cNvSpPr/>
          <p:nvPr/>
        </p:nvSpPr>
        <p:spPr>
          <a:xfrm>
            <a:off x="2697480" y="1600200"/>
            <a:ext cx="4572000" cy="576072"/>
          </a:xfrm>
          <a:prstGeom prst="rect">
            <a:avLst/>
          </a:prstGeom>
          <a:solidFill>
            <a:srgbClr val="00245D"/>
          </a:solidFill>
          <a:ln w="8890">
            <a:solidFill>
              <a:srgbClr val="D9E2F3"/>
            </a:solidFill>
            <a:prstDash val="solid"/>
          </a:ln>
        </p:spPr>
        <p:txBody>
          <a:bodyPr/>
          <a:lstStyle/>
          <a:p>
            <a:endParaRPr lang="ko-KR" altLang="en-US"/>
          </a:p>
        </p:txBody>
      </p:sp>
      <p:sp>
        <p:nvSpPr>
          <p:cNvPr id="12" name="Text 9"/>
          <p:cNvSpPr/>
          <p:nvPr/>
        </p:nvSpPr>
        <p:spPr>
          <a:xfrm>
            <a:off x="2770632" y="1746504"/>
            <a:ext cx="4425696" cy="393192"/>
          </a:xfrm>
          <a:prstGeom prst="rect">
            <a:avLst/>
          </a:prstGeom>
          <a:noFill/>
          <a:ln/>
        </p:spPr>
        <p:txBody>
          <a:bodyPr wrap="square" lIns="127" tIns="127" rIns="127" bIns="127"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Symmetric</a:t>
            </a:r>
            <a:endParaRPr lang="en-US" sz="1100" dirty="0"/>
          </a:p>
        </p:txBody>
      </p:sp>
      <p:sp>
        <p:nvSpPr>
          <p:cNvPr id="13" name="Shape 10"/>
          <p:cNvSpPr/>
          <p:nvPr/>
        </p:nvSpPr>
        <p:spPr>
          <a:xfrm>
            <a:off x="7269480" y="1600200"/>
            <a:ext cx="4572000" cy="576072"/>
          </a:xfrm>
          <a:prstGeom prst="rect">
            <a:avLst/>
          </a:prstGeom>
          <a:solidFill>
            <a:srgbClr val="00245D"/>
          </a:solidFill>
          <a:ln w="8890">
            <a:solidFill>
              <a:srgbClr val="D9E2F3"/>
            </a:solidFill>
            <a:prstDash val="solid"/>
          </a:ln>
        </p:spPr>
        <p:txBody>
          <a:bodyPr/>
          <a:lstStyle/>
          <a:p>
            <a:endParaRPr lang="ko-KR" altLang="en-US"/>
          </a:p>
        </p:txBody>
      </p:sp>
      <p:sp>
        <p:nvSpPr>
          <p:cNvPr id="14" name="Text 11"/>
          <p:cNvSpPr/>
          <p:nvPr/>
        </p:nvSpPr>
        <p:spPr>
          <a:xfrm>
            <a:off x="7342632" y="1746504"/>
            <a:ext cx="4425696" cy="393192"/>
          </a:xfrm>
          <a:prstGeom prst="rect">
            <a:avLst/>
          </a:prstGeom>
          <a:noFill/>
          <a:ln/>
        </p:spPr>
        <p:txBody>
          <a:bodyPr wrap="square" lIns="127" tIns="127" rIns="127" bIns="127" rtlCol="0" anchor="ctr">
            <a:normAutofit/>
          </a:bodyPr>
          <a:lstStyle/>
          <a:p>
            <a:pPr marL="0" indent="0" algn="ctr">
              <a:buNone/>
            </a:pPr>
            <a:r>
              <a:rPr lang="en-US" sz="1100" b="1" dirty="0">
                <a:solidFill>
                  <a:srgbClr val="FFFFFF"/>
                </a:solidFill>
                <a:latin typeface="Arial" pitchFamily="34" charset="0"/>
                <a:ea typeface="Arial" pitchFamily="34" charset="-122"/>
                <a:cs typeface="Arial" pitchFamily="34" charset="-120"/>
              </a:rPr>
              <a:t>Asymmetric</a:t>
            </a:r>
            <a:endParaRPr lang="en-US" sz="1100" dirty="0"/>
          </a:p>
        </p:txBody>
      </p:sp>
      <p:sp>
        <p:nvSpPr>
          <p:cNvPr id="15" name="Shape 12"/>
          <p:cNvSpPr/>
          <p:nvPr/>
        </p:nvSpPr>
        <p:spPr>
          <a:xfrm>
            <a:off x="777240" y="2176272"/>
            <a:ext cx="1920240" cy="576072"/>
          </a:xfrm>
          <a:prstGeom prst="rect">
            <a:avLst/>
          </a:prstGeom>
          <a:solidFill>
            <a:srgbClr val="FFFFFF"/>
          </a:solidFill>
          <a:ln w="8890">
            <a:solidFill>
              <a:srgbClr val="D9E2F3"/>
            </a:solidFill>
            <a:prstDash val="solid"/>
          </a:ln>
        </p:spPr>
        <p:txBody>
          <a:bodyPr/>
          <a:lstStyle/>
          <a:p>
            <a:endParaRPr lang="ko-KR" altLang="en-US"/>
          </a:p>
        </p:txBody>
      </p:sp>
      <p:sp>
        <p:nvSpPr>
          <p:cNvPr id="16" name="Text 13"/>
          <p:cNvSpPr/>
          <p:nvPr/>
        </p:nvSpPr>
        <p:spPr>
          <a:xfrm>
            <a:off x="850392" y="2322576"/>
            <a:ext cx="1773936" cy="393192"/>
          </a:xfrm>
          <a:prstGeom prst="rect">
            <a:avLst/>
          </a:prstGeom>
          <a:noFill/>
          <a:ln/>
        </p:spPr>
        <p:txBody>
          <a:bodyPr wrap="square" lIns="127" tIns="127" rIns="127" bIns="127" rtlCol="0" anchor="ctr">
            <a:normAutofit/>
          </a:bodyPr>
          <a:lstStyle/>
          <a:p>
            <a:pPr marL="0" indent="0" algn="ctr">
              <a:buNone/>
            </a:pPr>
            <a:r>
              <a:rPr lang="en-US" sz="1080" b="1" dirty="0">
                <a:solidFill>
                  <a:srgbClr val="222222"/>
                </a:solidFill>
                <a:latin typeface="Arial" pitchFamily="34" charset="0"/>
                <a:ea typeface="Arial" pitchFamily="34" charset="-122"/>
                <a:cs typeface="Arial" pitchFamily="34" charset="-120"/>
              </a:rPr>
              <a:t>Integer range</a:t>
            </a:r>
            <a:endParaRPr lang="en-US" sz="1080" dirty="0"/>
          </a:p>
        </p:txBody>
      </p:sp>
      <p:sp>
        <p:nvSpPr>
          <p:cNvPr id="17" name="Shape 14"/>
          <p:cNvSpPr/>
          <p:nvPr/>
        </p:nvSpPr>
        <p:spPr>
          <a:xfrm>
            <a:off x="2697480" y="2176272"/>
            <a:ext cx="4572000" cy="576072"/>
          </a:xfrm>
          <a:prstGeom prst="rect">
            <a:avLst/>
          </a:prstGeom>
          <a:solidFill>
            <a:srgbClr val="FFFFFF"/>
          </a:solidFill>
          <a:ln w="8890">
            <a:solidFill>
              <a:srgbClr val="D9E2F3"/>
            </a:solidFill>
            <a:prstDash val="solid"/>
          </a:ln>
        </p:spPr>
        <p:txBody>
          <a:bodyPr/>
          <a:lstStyle/>
          <a:p>
            <a:endParaRPr lang="ko-KR" altLang="en-US"/>
          </a:p>
        </p:txBody>
      </p:sp>
      <p:sp>
        <p:nvSpPr>
          <p:cNvPr id="18" name="Text 15"/>
          <p:cNvSpPr/>
          <p:nvPr/>
        </p:nvSpPr>
        <p:spPr>
          <a:xfrm>
            <a:off x="2770632" y="2322576"/>
            <a:ext cx="4425696" cy="393192"/>
          </a:xfrm>
          <a:prstGeom prst="rect">
            <a:avLst/>
          </a:prstGeom>
          <a:noFill/>
          <a:ln/>
        </p:spPr>
        <p:txBody>
          <a:bodyPr wrap="square" lIns="127" tIns="127" rIns="127" bIns="127" rtlCol="0" anchor="ctr">
            <a:normAutofit/>
          </a:bodyPr>
          <a:lstStyle/>
          <a:p>
            <a:pPr marL="0" indent="0" algn="ctr">
              <a:buNone/>
            </a:pPr>
            <a:r>
              <a:rPr lang="en-US" sz="1080" dirty="0">
                <a:solidFill>
                  <a:srgbClr val="222222"/>
                </a:solidFill>
                <a:latin typeface="Arial" pitchFamily="34" charset="0"/>
                <a:ea typeface="Arial" pitchFamily="34" charset="-122"/>
                <a:cs typeface="Arial" pitchFamily="34" charset="-120"/>
              </a:rPr>
              <a:t>Signed, centered at 0</a:t>
            </a:r>
            <a:endParaRPr lang="en-US" sz="1080" dirty="0"/>
          </a:p>
        </p:txBody>
      </p:sp>
      <p:sp>
        <p:nvSpPr>
          <p:cNvPr id="19" name="Shape 16"/>
          <p:cNvSpPr/>
          <p:nvPr/>
        </p:nvSpPr>
        <p:spPr>
          <a:xfrm>
            <a:off x="7269480" y="2176272"/>
            <a:ext cx="4572000" cy="576072"/>
          </a:xfrm>
          <a:prstGeom prst="rect">
            <a:avLst/>
          </a:prstGeom>
          <a:solidFill>
            <a:srgbClr val="FFFFFF"/>
          </a:solidFill>
          <a:ln w="8890">
            <a:solidFill>
              <a:srgbClr val="D9E2F3"/>
            </a:solidFill>
            <a:prstDash val="solid"/>
          </a:ln>
        </p:spPr>
        <p:txBody>
          <a:bodyPr/>
          <a:lstStyle/>
          <a:p>
            <a:endParaRPr lang="ko-KR" altLang="en-US"/>
          </a:p>
        </p:txBody>
      </p:sp>
      <p:sp>
        <p:nvSpPr>
          <p:cNvPr id="20" name="Text 17"/>
          <p:cNvSpPr/>
          <p:nvPr/>
        </p:nvSpPr>
        <p:spPr>
          <a:xfrm>
            <a:off x="7342632" y="2322576"/>
            <a:ext cx="4425696" cy="393192"/>
          </a:xfrm>
          <a:prstGeom prst="rect">
            <a:avLst/>
          </a:prstGeom>
          <a:noFill/>
          <a:ln/>
        </p:spPr>
        <p:txBody>
          <a:bodyPr wrap="square" lIns="127" tIns="127" rIns="127" bIns="127" rtlCol="0" anchor="ctr">
            <a:normAutofit/>
          </a:bodyPr>
          <a:lstStyle/>
          <a:p>
            <a:pPr marL="0" indent="0" algn="ctr">
              <a:buNone/>
            </a:pPr>
            <a:r>
              <a:rPr lang="en-US" sz="1080" dirty="0">
                <a:solidFill>
                  <a:srgbClr val="222222"/>
                </a:solidFill>
                <a:latin typeface="Arial" pitchFamily="34" charset="0"/>
                <a:ea typeface="Arial" pitchFamily="34" charset="-122"/>
                <a:cs typeface="Arial" pitchFamily="34" charset="-120"/>
              </a:rPr>
              <a:t>Usually unsigned with zero-point</a:t>
            </a:r>
            <a:endParaRPr lang="en-US" sz="1080" dirty="0"/>
          </a:p>
        </p:txBody>
      </p:sp>
      <p:sp>
        <p:nvSpPr>
          <p:cNvPr id="21" name="Shape 18"/>
          <p:cNvSpPr/>
          <p:nvPr/>
        </p:nvSpPr>
        <p:spPr>
          <a:xfrm>
            <a:off x="777240" y="2752344"/>
            <a:ext cx="1920240" cy="576072"/>
          </a:xfrm>
          <a:prstGeom prst="rect">
            <a:avLst/>
          </a:prstGeom>
          <a:solidFill>
            <a:srgbClr val="F4F7FB"/>
          </a:solidFill>
          <a:ln w="8890">
            <a:solidFill>
              <a:srgbClr val="D9E2F3"/>
            </a:solidFill>
            <a:prstDash val="solid"/>
          </a:ln>
        </p:spPr>
        <p:txBody>
          <a:bodyPr/>
          <a:lstStyle/>
          <a:p>
            <a:endParaRPr lang="ko-KR" altLang="en-US"/>
          </a:p>
        </p:txBody>
      </p:sp>
      <p:sp>
        <p:nvSpPr>
          <p:cNvPr id="22" name="Text 19"/>
          <p:cNvSpPr/>
          <p:nvPr/>
        </p:nvSpPr>
        <p:spPr>
          <a:xfrm>
            <a:off x="850392" y="2898648"/>
            <a:ext cx="1773936" cy="393192"/>
          </a:xfrm>
          <a:prstGeom prst="rect">
            <a:avLst/>
          </a:prstGeom>
          <a:noFill/>
          <a:ln/>
        </p:spPr>
        <p:txBody>
          <a:bodyPr wrap="square" lIns="127" tIns="127" rIns="127" bIns="127" rtlCol="0" anchor="ctr">
            <a:normAutofit/>
          </a:bodyPr>
          <a:lstStyle/>
          <a:p>
            <a:pPr marL="0" indent="0" algn="ctr">
              <a:buNone/>
            </a:pPr>
            <a:r>
              <a:rPr lang="en-US" sz="1080" b="1" dirty="0">
                <a:solidFill>
                  <a:srgbClr val="222222"/>
                </a:solidFill>
                <a:latin typeface="Arial" pitchFamily="34" charset="0"/>
                <a:ea typeface="Arial" pitchFamily="34" charset="-122"/>
                <a:cs typeface="Arial" pitchFamily="34" charset="-120"/>
              </a:rPr>
              <a:t>Metadata</a:t>
            </a:r>
            <a:endParaRPr lang="en-US" sz="1080" dirty="0"/>
          </a:p>
        </p:txBody>
      </p:sp>
      <p:sp>
        <p:nvSpPr>
          <p:cNvPr id="23" name="Shape 20"/>
          <p:cNvSpPr/>
          <p:nvPr/>
        </p:nvSpPr>
        <p:spPr>
          <a:xfrm>
            <a:off x="2697480" y="2752344"/>
            <a:ext cx="4572000" cy="576072"/>
          </a:xfrm>
          <a:prstGeom prst="rect">
            <a:avLst/>
          </a:prstGeom>
          <a:solidFill>
            <a:srgbClr val="F4F7FB"/>
          </a:solidFill>
          <a:ln w="8890">
            <a:solidFill>
              <a:srgbClr val="D9E2F3"/>
            </a:solidFill>
            <a:prstDash val="solid"/>
          </a:ln>
        </p:spPr>
        <p:txBody>
          <a:bodyPr/>
          <a:lstStyle/>
          <a:p>
            <a:endParaRPr lang="ko-KR" altLang="en-US"/>
          </a:p>
        </p:txBody>
      </p:sp>
      <p:sp>
        <p:nvSpPr>
          <p:cNvPr id="24" name="Text 21"/>
          <p:cNvSpPr/>
          <p:nvPr/>
        </p:nvSpPr>
        <p:spPr>
          <a:xfrm>
            <a:off x="2770632" y="2898648"/>
            <a:ext cx="4425696" cy="393192"/>
          </a:xfrm>
          <a:prstGeom prst="rect">
            <a:avLst/>
          </a:prstGeom>
          <a:noFill/>
          <a:ln/>
        </p:spPr>
        <p:txBody>
          <a:bodyPr wrap="square" lIns="127" tIns="127" rIns="127" bIns="127" rtlCol="0" anchor="ctr">
            <a:normAutofit/>
          </a:bodyPr>
          <a:lstStyle/>
          <a:p>
            <a:pPr marL="0" indent="0" algn="ctr">
              <a:buNone/>
            </a:pPr>
            <a:r>
              <a:rPr lang="en-US" sz="1080" dirty="0">
                <a:solidFill>
                  <a:srgbClr val="222222"/>
                </a:solidFill>
                <a:latin typeface="Arial" pitchFamily="34" charset="0"/>
                <a:ea typeface="Arial" pitchFamily="34" charset="-122"/>
                <a:cs typeface="Arial" pitchFamily="34" charset="-120"/>
              </a:rPr>
              <a:t>Only scale Δ</a:t>
            </a:r>
            <a:endParaRPr lang="en-US" sz="1080" dirty="0"/>
          </a:p>
        </p:txBody>
      </p:sp>
      <p:sp>
        <p:nvSpPr>
          <p:cNvPr id="25" name="Shape 22"/>
          <p:cNvSpPr/>
          <p:nvPr/>
        </p:nvSpPr>
        <p:spPr>
          <a:xfrm>
            <a:off x="7269480" y="2752344"/>
            <a:ext cx="4572000" cy="576072"/>
          </a:xfrm>
          <a:prstGeom prst="rect">
            <a:avLst/>
          </a:prstGeom>
          <a:solidFill>
            <a:srgbClr val="F4F7FB"/>
          </a:solidFill>
          <a:ln w="8890">
            <a:solidFill>
              <a:srgbClr val="D9E2F3"/>
            </a:solidFill>
            <a:prstDash val="solid"/>
          </a:ln>
        </p:spPr>
        <p:txBody>
          <a:bodyPr/>
          <a:lstStyle/>
          <a:p>
            <a:endParaRPr lang="ko-KR" altLang="en-US"/>
          </a:p>
        </p:txBody>
      </p:sp>
      <p:sp>
        <p:nvSpPr>
          <p:cNvPr id="26" name="Text 23"/>
          <p:cNvSpPr/>
          <p:nvPr/>
        </p:nvSpPr>
        <p:spPr>
          <a:xfrm>
            <a:off x="7342632" y="2898648"/>
            <a:ext cx="4425696" cy="393192"/>
          </a:xfrm>
          <a:prstGeom prst="rect">
            <a:avLst/>
          </a:prstGeom>
          <a:noFill/>
          <a:ln/>
        </p:spPr>
        <p:txBody>
          <a:bodyPr wrap="square" lIns="127" tIns="127" rIns="127" bIns="127" rtlCol="0" anchor="ctr">
            <a:normAutofit/>
          </a:bodyPr>
          <a:lstStyle/>
          <a:p>
            <a:pPr marL="0" indent="0" algn="ctr">
              <a:buNone/>
            </a:pPr>
            <a:r>
              <a:rPr lang="en-US" sz="1080" dirty="0">
                <a:solidFill>
                  <a:srgbClr val="222222"/>
                </a:solidFill>
                <a:latin typeface="Arial" pitchFamily="34" charset="0"/>
                <a:ea typeface="Arial" pitchFamily="34" charset="-122"/>
                <a:cs typeface="Arial" pitchFamily="34" charset="-120"/>
              </a:rPr>
              <a:t>Scale Δ + zero-point z</a:t>
            </a:r>
            <a:endParaRPr lang="en-US" sz="1080" dirty="0"/>
          </a:p>
        </p:txBody>
      </p:sp>
      <p:sp>
        <p:nvSpPr>
          <p:cNvPr id="27" name="Shape 24"/>
          <p:cNvSpPr/>
          <p:nvPr/>
        </p:nvSpPr>
        <p:spPr>
          <a:xfrm>
            <a:off x="777240" y="3328416"/>
            <a:ext cx="1920240" cy="576072"/>
          </a:xfrm>
          <a:prstGeom prst="rect">
            <a:avLst/>
          </a:prstGeom>
          <a:solidFill>
            <a:srgbClr val="FFFFFF"/>
          </a:solidFill>
          <a:ln w="8890">
            <a:solidFill>
              <a:srgbClr val="D9E2F3"/>
            </a:solidFill>
            <a:prstDash val="solid"/>
          </a:ln>
        </p:spPr>
        <p:txBody>
          <a:bodyPr/>
          <a:lstStyle/>
          <a:p>
            <a:endParaRPr lang="ko-KR" altLang="en-US"/>
          </a:p>
        </p:txBody>
      </p:sp>
      <p:sp>
        <p:nvSpPr>
          <p:cNvPr id="28" name="Text 25"/>
          <p:cNvSpPr/>
          <p:nvPr/>
        </p:nvSpPr>
        <p:spPr>
          <a:xfrm>
            <a:off x="850392" y="3474720"/>
            <a:ext cx="1773936" cy="393192"/>
          </a:xfrm>
          <a:prstGeom prst="rect">
            <a:avLst/>
          </a:prstGeom>
          <a:noFill/>
          <a:ln/>
        </p:spPr>
        <p:txBody>
          <a:bodyPr wrap="square" lIns="127" tIns="127" rIns="127" bIns="127" rtlCol="0" anchor="ctr">
            <a:normAutofit/>
          </a:bodyPr>
          <a:lstStyle/>
          <a:p>
            <a:pPr marL="0" indent="0" algn="ctr">
              <a:buNone/>
            </a:pPr>
            <a:r>
              <a:rPr lang="en-US" sz="1080" b="1" dirty="0">
                <a:solidFill>
                  <a:srgbClr val="222222"/>
                </a:solidFill>
                <a:latin typeface="Arial" pitchFamily="34" charset="0"/>
                <a:ea typeface="Arial" pitchFamily="34" charset="-122"/>
                <a:cs typeface="Arial" pitchFamily="34" charset="-120"/>
              </a:rPr>
              <a:t>Best case</a:t>
            </a:r>
            <a:endParaRPr lang="en-US" sz="1080" dirty="0"/>
          </a:p>
        </p:txBody>
      </p:sp>
      <p:sp>
        <p:nvSpPr>
          <p:cNvPr id="29" name="Shape 26"/>
          <p:cNvSpPr/>
          <p:nvPr/>
        </p:nvSpPr>
        <p:spPr>
          <a:xfrm>
            <a:off x="2697480" y="3328416"/>
            <a:ext cx="4572000" cy="576072"/>
          </a:xfrm>
          <a:prstGeom prst="rect">
            <a:avLst/>
          </a:prstGeom>
          <a:solidFill>
            <a:srgbClr val="FFFFFF"/>
          </a:solidFill>
          <a:ln w="8890">
            <a:solidFill>
              <a:srgbClr val="D9E2F3"/>
            </a:solidFill>
            <a:prstDash val="solid"/>
          </a:ln>
        </p:spPr>
        <p:txBody>
          <a:bodyPr/>
          <a:lstStyle/>
          <a:p>
            <a:endParaRPr lang="ko-KR" altLang="en-US"/>
          </a:p>
        </p:txBody>
      </p:sp>
      <p:sp>
        <p:nvSpPr>
          <p:cNvPr id="30" name="Text 27"/>
          <p:cNvSpPr/>
          <p:nvPr/>
        </p:nvSpPr>
        <p:spPr>
          <a:xfrm>
            <a:off x="2770632" y="3474720"/>
            <a:ext cx="4425696" cy="393192"/>
          </a:xfrm>
          <a:prstGeom prst="rect">
            <a:avLst/>
          </a:prstGeom>
          <a:noFill/>
          <a:ln/>
        </p:spPr>
        <p:txBody>
          <a:bodyPr wrap="square" lIns="127" tIns="127" rIns="127" bIns="127" rtlCol="0" anchor="ctr">
            <a:normAutofit/>
          </a:bodyPr>
          <a:lstStyle/>
          <a:p>
            <a:pPr marL="0" indent="0" algn="ctr">
              <a:buNone/>
            </a:pPr>
            <a:r>
              <a:rPr lang="en-US" sz="1080" dirty="0">
                <a:solidFill>
                  <a:srgbClr val="222222"/>
                </a:solidFill>
                <a:latin typeface="Arial" pitchFamily="34" charset="0"/>
                <a:ea typeface="Arial" pitchFamily="34" charset="-122"/>
                <a:cs typeface="Arial" pitchFamily="34" charset="-120"/>
              </a:rPr>
              <a:t>Balanced distribution</a:t>
            </a:r>
            <a:endParaRPr lang="en-US" sz="1080" dirty="0"/>
          </a:p>
        </p:txBody>
      </p:sp>
      <p:sp>
        <p:nvSpPr>
          <p:cNvPr id="31" name="Shape 28"/>
          <p:cNvSpPr/>
          <p:nvPr/>
        </p:nvSpPr>
        <p:spPr>
          <a:xfrm>
            <a:off x="7269480" y="3328416"/>
            <a:ext cx="4572000" cy="576072"/>
          </a:xfrm>
          <a:prstGeom prst="rect">
            <a:avLst/>
          </a:prstGeom>
          <a:solidFill>
            <a:srgbClr val="FFFFFF"/>
          </a:solidFill>
          <a:ln w="8890">
            <a:solidFill>
              <a:srgbClr val="D9E2F3"/>
            </a:solidFill>
            <a:prstDash val="solid"/>
          </a:ln>
        </p:spPr>
        <p:txBody>
          <a:bodyPr/>
          <a:lstStyle/>
          <a:p>
            <a:endParaRPr lang="ko-KR" altLang="en-US"/>
          </a:p>
        </p:txBody>
      </p:sp>
      <p:sp>
        <p:nvSpPr>
          <p:cNvPr id="32" name="Text 29"/>
          <p:cNvSpPr/>
          <p:nvPr/>
        </p:nvSpPr>
        <p:spPr>
          <a:xfrm>
            <a:off x="7342632" y="3474720"/>
            <a:ext cx="4425696" cy="393192"/>
          </a:xfrm>
          <a:prstGeom prst="rect">
            <a:avLst/>
          </a:prstGeom>
          <a:noFill/>
          <a:ln/>
        </p:spPr>
        <p:txBody>
          <a:bodyPr wrap="square" lIns="127" tIns="127" rIns="127" bIns="127" rtlCol="0" anchor="ctr">
            <a:normAutofit/>
          </a:bodyPr>
          <a:lstStyle/>
          <a:p>
            <a:pPr marL="0" indent="0" algn="ctr">
              <a:buNone/>
            </a:pPr>
            <a:r>
              <a:rPr lang="en-US" sz="1080" dirty="0">
                <a:solidFill>
                  <a:srgbClr val="222222"/>
                </a:solidFill>
                <a:latin typeface="Arial" pitchFamily="34" charset="0"/>
                <a:ea typeface="Arial" pitchFamily="34" charset="-122"/>
                <a:cs typeface="Arial" pitchFamily="34" charset="-120"/>
              </a:rPr>
              <a:t>Skewed / shifted distribution</a:t>
            </a:r>
            <a:endParaRPr lang="en-US" sz="1080" dirty="0"/>
          </a:p>
        </p:txBody>
      </p:sp>
      <p:sp>
        <p:nvSpPr>
          <p:cNvPr id="33" name="Shape 30"/>
          <p:cNvSpPr/>
          <p:nvPr/>
        </p:nvSpPr>
        <p:spPr>
          <a:xfrm>
            <a:off x="777240" y="3904488"/>
            <a:ext cx="1920240" cy="576072"/>
          </a:xfrm>
          <a:prstGeom prst="rect">
            <a:avLst/>
          </a:prstGeom>
          <a:solidFill>
            <a:srgbClr val="F4F7FB"/>
          </a:solidFill>
          <a:ln w="8890">
            <a:solidFill>
              <a:srgbClr val="D9E2F3"/>
            </a:solidFill>
            <a:prstDash val="solid"/>
          </a:ln>
        </p:spPr>
        <p:txBody>
          <a:bodyPr/>
          <a:lstStyle/>
          <a:p>
            <a:endParaRPr lang="ko-KR" altLang="en-US"/>
          </a:p>
        </p:txBody>
      </p:sp>
      <p:sp>
        <p:nvSpPr>
          <p:cNvPr id="34" name="Text 31"/>
          <p:cNvSpPr/>
          <p:nvPr/>
        </p:nvSpPr>
        <p:spPr>
          <a:xfrm>
            <a:off x="850392" y="4050792"/>
            <a:ext cx="1773936" cy="393192"/>
          </a:xfrm>
          <a:prstGeom prst="rect">
            <a:avLst/>
          </a:prstGeom>
          <a:noFill/>
          <a:ln/>
        </p:spPr>
        <p:txBody>
          <a:bodyPr wrap="square" lIns="127" tIns="127" rIns="127" bIns="127" rtlCol="0" anchor="ctr">
            <a:normAutofit/>
          </a:bodyPr>
          <a:lstStyle/>
          <a:p>
            <a:pPr marL="0" indent="0" algn="ctr">
              <a:buNone/>
            </a:pPr>
            <a:r>
              <a:rPr lang="en-US" sz="1080" b="1" dirty="0">
                <a:solidFill>
                  <a:srgbClr val="222222"/>
                </a:solidFill>
                <a:latin typeface="Arial" pitchFamily="34" charset="0"/>
                <a:ea typeface="Arial" pitchFamily="34" charset="-122"/>
                <a:cs typeface="Arial" pitchFamily="34" charset="-120"/>
              </a:rPr>
              <a:t>Trade-off</a:t>
            </a:r>
            <a:endParaRPr lang="en-US" sz="1080" dirty="0"/>
          </a:p>
        </p:txBody>
      </p:sp>
      <p:sp>
        <p:nvSpPr>
          <p:cNvPr id="35" name="Shape 32"/>
          <p:cNvSpPr/>
          <p:nvPr/>
        </p:nvSpPr>
        <p:spPr>
          <a:xfrm>
            <a:off x="2697480" y="3904488"/>
            <a:ext cx="4572000" cy="576072"/>
          </a:xfrm>
          <a:prstGeom prst="rect">
            <a:avLst/>
          </a:prstGeom>
          <a:solidFill>
            <a:srgbClr val="F4F7FB"/>
          </a:solidFill>
          <a:ln w="8890">
            <a:solidFill>
              <a:srgbClr val="D9E2F3"/>
            </a:solidFill>
            <a:prstDash val="solid"/>
          </a:ln>
        </p:spPr>
        <p:txBody>
          <a:bodyPr/>
          <a:lstStyle/>
          <a:p>
            <a:endParaRPr lang="ko-KR" altLang="en-US"/>
          </a:p>
        </p:txBody>
      </p:sp>
      <p:sp>
        <p:nvSpPr>
          <p:cNvPr id="36" name="Text 33"/>
          <p:cNvSpPr/>
          <p:nvPr/>
        </p:nvSpPr>
        <p:spPr>
          <a:xfrm>
            <a:off x="2770632" y="4050792"/>
            <a:ext cx="4425696" cy="393192"/>
          </a:xfrm>
          <a:prstGeom prst="rect">
            <a:avLst/>
          </a:prstGeom>
          <a:noFill/>
          <a:ln/>
        </p:spPr>
        <p:txBody>
          <a:bodyPr wrap="square" lIns="127" tIns="127" rIns="127" bIns="127" rtlCol="0" anchor="ctr">
            <a:normAutofit/>
          </a:bodyPr>
          <a:lstStyle/>
          <a:p>
            <a:pPr marL="0" indent="0" algn="ctr">
              <a:buNone/>
            </a:pPr>
            <a:r>
              <a:rPr lang="en-US" sz="1080" dirty="0">
                <a:solidFill>
                  <a:srgbClr val="222222"/>
                </a:solidFill>
                <a:latin typeface="Arial" pitchFamily="34" charset="0"/>
                <a:ea typeface="Arial" pitchFamily="34" charset="-122"/>
                <a:cs typeface="Arial" pitchFamily="34" charset="-120"/>
              </a:rPr>
              <a:t>Simple, low metadata</a:t>
            </a:r>
            <a:endParaRPr lang="en-US" sz="1080" dirty="0"/>
          </a:p>
        </p:txBody>
      </p:sp>
      <p:sp>
        <p:nvSpPr>
          <p:cNvPr id="37" name="Shape 34"/>
          <p:cNvSpPr/>
          <p:nvPr/>
        </p:nvSpPr>
        <p:spPr>
          <a:xfrm>
            <a:off x="7269480" y="3904488"/>
            <a:ext cx="4572000" cy="576072"/>
          </a:xfrm>
          <a:prstGeom prst="rect">
            <a:avLst/>
          </a:prstGeom>
          <a:solidFill>
            <a:srgbClr val="F4F7FB"/>
          </a:solidFill>
          <a:ln w="8890">
            <a:solidFill>
              <a:srgbClr val="D9E2F3"/>
            </a:solidFill>
            <a:prstDash val="solid"/>
          </a:ln>
        </p:spPr>
        <p:txBody>
          <a:bodyPr/>
          <a:lstStyle/>
          <a:p>
            <a:endParaRPr lang="ko-KR" altLang="en-US"/>
          </a:p>
        </p:txBody>
      </p:sp>
      <p:sp>
        <p:nvSpPr>
          <p:cNvPr id="38" name="Text 35"/>
          <p:cNvSpPr/>
          <p:nvPr/>
        </p:nvSpPr>
        <p:spPr>
          <a:xfrm>
            <a:off x="7342632" y="4050792"/>
            <a:ext cx="4425696" cy="393192"/>
          </a:xfrm>
          <a:prstGeom prst="rect">
            <a:avLst/>
          </a:prstGeom>
          <a:noFill/>
          <a:ln/>
        </p:spPr>
        <p:txBody>
          <a:bodyPr wrap="square" lIns="127" tIns="127" rIns="127" bIns="127" rtlCol="0" anchor="ctr">
            <a:normAutofit/>
          </a:bodyPr>
          <a:lstStyle/>
          <a:p>
            <a:pPr marL="0" indent="0" algn="ctr">
              <a:buNone/>
            </a:pPr>
            <a:r>
              <a:rPr lang="en-US" sz="1080" dirty="0">
                <a:solidFill>
                  <a:srgbClr val="222222"/>
                </a:solidFill>
                <a:latin typeface="Arial" pitchFamily="34" charset="0"/>
                <a:ea typeface="Arial" pitchFamily="34" charset="-122"/>
                <a:cs typeface="Arial" pitchFamily="34" charset="-120"/>
              </a:rPr>
              <a:t>Better fit, more metadata</a:t>
            </a:r>
            <a:endParaRPr lang="en-US" sz="1080" dirty="0"/>
          </a:p>
        </p:txBody>
      </p:sp>
      <p:sp>
        <p:nvSpPr>
          <p:cNvPr id="39" name="Shape 36"/>
          <p:cNvSpPr/>
          <p:nvPr/>
        </p:nvSpPr>
        <p:spPr>
          <a:xfrm>
            <a:off x="822960" y="4892040"/>
            <a:ext cx="5074920" cy="777240"/>
          </a:xfrm>
          <a:prstGeom prst="roundRect">
            <a:avLst>
              <a:gd name="adj" fmla="val 7059"/>
            </a:avLst>
          </a:prstGeom>
          <a:solidFill>
            <a:srgbClr val="F3F8FF"/>
          </a:solidFill>
          <a:ln w="13970">
            <a:solidFill>
              <a:srgbClr val="9EADCC"/>
            </a:solidFill>
            <a:prstDash val="solid"/>
          </a:ln>
        </p:spPr>
        <p:txBody>
          <a:bodyPr/>
          <a:lstStyle/>
          <a:p>
            <a:endParaRPr lang="ko-KR" altLang="en-US"/>
          </a:p>
        </p:txBody>
      </p:sp>
      <p:sp>
        <p:nvSpPr>
          <p:cNvPr id="40" name="Text 37"/>
          <p:cNvSpPr/>
          <p:nvPr/>
        </p:nvSpPr>
        <p:spPr>
          <a:xfrm>
            <a:off x="987552" y="5020056"/>
            <a:ext cx="474573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Symmetric</a:t>
            </a:r>
            <a:endParaRPr lang="en-US" sz="1200" dirty="0"/>
          </a:p>
        </p:txBody>
      </p:sp>
      <mc:AlternateContent xmlns:mc="http://schemas.openxmlformats.org/markup-compatibility/2006">
        <mc:Choice xmlns:a14="http://schemas.microsoft.com/office/drawing/2010/main" Requires="a14">
          <p:sp>
            <p:nvSpPr>
              <p:cNvPr id="41" name="Text 38"/>
              <p:cNvSpPr/>
              <p:nvPr/>
            </p:nvSpPr>
            <p:spPr>
              <a:xfrm>
                <a:off x="1097280" y="5186300"/>
                <a:ext cx="4434840" cy="4114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r>
                        <a:rPr lang="ko-KR" altLang="en-US" sz="1200" smtClean="0">
                          <a:latin typeface="Cambria Math"/>
                        </a:rPr>
                        <m:t>=</m:t>
                      </m:r>
                      <m:r>
                        <m:rPr>
                          <m:sty m:val="p"/>
                        </m:rPr>
                        <a:rPr lang="ko-KR" altLang="en-US" sz="1200" smtClean="0">
                          <a:latin typeface="Cambria Math"/>
                        </a:rPr>
                        <m:t>Round</m:t>
                      </m:r>
                      <m:d>
                        <m:dPr>
                          <m:ctrlPr>
                            <a:rPr lang="ko-KR" altLang="en-US" sz="1200" i="1" smtClean="0">
                              <a:latin typeface="Cambria Math" panose="02040503050406030204" pitchFamily="18" charset="0"/>
                            </a:rPr>
                          </m:ctrlPr>
                        </m:dPr>
                        <m:e>
                          <m:f>
                            <m:fPr>
                              <m:ctrlPr>
                                <a:rPr lang="ko-KR" altLang="en-US" sz="1200" i="1" smtClean="0">
                                  <a:latin typeface="Cambria Math" panose="02040503050406030204" pitchFamily="18" charset="0"/>
                                </a:rPr>
                              </m:ctrlPr>
                            </m:fPr>
                            <m:num>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𝑓</m:t>
                                  </m:r>
                                </m:sub>
                              </m:sSub>
                            </m:num>
                            <m:den>
                              <m:r>
                                <a:rPr lang="ko-KR" altLang="en-US" sz="1200" smtClean="0">
                                  <a:latin typeface="Cambria Math"/>
                                </a:rPr>
                                <m:t>𝛥</m:t>
                              </m:r>
                            </m:den>
                          </m:f>
                        </m:e>
                      </m:d>
                    </m:oMath>
                  </m:oMathPara>
                </a14:m>
                <a:endParaRPr dirty="0"/>
              </a:p>
            </p:txBody>
          </p:sp>
        </mc:Choice>
        <mc:Fallback>
          <p:sp>
            <p:nvSpPr>
              <p:cNvPr id="41" name="Text 38"/>
              <p:cNvSpPr>
                <a:spLocks noRot="1" noChangeAspect="1" noMove="1" noResize="1" noEditPoints="1" noAdjustHandles="1" noChangeArrowheads="1" noChangeShapeType="1" noTextEdit="1"/>
              </p:cNvSpPr>
              <p:nvPr/>
            </p:nvSpPr>
            <p:spPr>
              <a:xfrm>
                <a:off x="1097280" y="5186300"/>
                <a:ext cx="4434840" cy="411480"/>
              </a:xfrm>
              <a:prstGeom prst="rect">
                <a:avLst/>
              </a:prstGeom>
              <a:blipFill>
                <a:blip r:embed="rId4"/>
                <a:stretch>
                  <a:fillRect b="-6061"/>
                </a:stretch>
              </a:blipFill>
              <a:ln/>
            </p:spPr>
            <p:txBody>
              <a:bodyPr/>
              <a:lstStyle/>
              <a:p>
                <a:r>
                  <a:rPr lang="ko-KR" altLang="en-US">
                    <a:noFill/>
                  </a:rPr>
                  <a:t> </a:t>
                </a:r>
              </a:p>
            </p:txBody>
          </p:sp>
        </mc:Fallback>
      </mc:AlternateContent>
      <p:sp>
        <p:nvSpPr>
          <p:cNvPr id="42" name="Shape 39"/>
          <p:cNvSpPr/>
          <p:nvPr/>
        </p:nvSpPr>
        <p:spPr>
          <a:xfrm>
            <a:off x="6263640" y="4892040"/>
            <a:ext cx="5074920" cy="777240"/>
          </a:xfrm>
          <a:prstGeom prst="roundRect">
            <a:avLst>
              <a:gd name="adj" fmla="val 7059"/>
            </a:avLst>
          </a:prstGeom>
          <a:solidFill>
            <a:srgbClr val="FFFDF2"/>
          </a:solidFill>
          <a:ln w="13970">
            <a:solidFill>
              <a:srgbClr val="D6B656"/>
            </a:solidFill>
            <a:prstDash val="solid"/>
          </a:ln>
        </p:spPr>
        <p:txBody>
          <a:bodyPr/>
          <a:lstStyle/>
          <a:p>
            <a:endParaRPr lang="ko-KR" altLang="en-US"/>
          </a:p>
        </p:txBody>
      </p:sp>
      <p:sp>
        <p:nvSpPr>
          <p:cNvPr id="43" name="Text 40"/>
          <p:cNvSpPr/>
          <p:nvPr/>
        </p:nvSpPr>
        <p:spPr>
          <a:xfrm>
            <a:off x="6428232" y="5020056"/>
            <a:ext cx="4745736" cy="228600"/>
          </a:xfrm>
          <a:prstGeom prst="rect">
            <a:avLst/>
          </a:prstGeom>
          <a:noFill/>
          <a:ln/>
        </p:spPr>
        <p:txBody>
          <a:bodyPr wrap="square" lIns="0" tIns="0" rIns="0" bIns="0" rtlCol="0" anchor="ctr"/>
          <a:lstStyle/>
          <a:p>
            <a:pPr marL="0" indent="0">
              <a:buNone/>
            </a:pPr>
            <a:r>
              <a:rPr lang="en-US" sz="1200" b="1" dirty="0">
                <a:solidFill>
                  <a:srgbClr val="00245D"/>
                </a:solidFill>
                <a:latin typeface="Arial" pitchFamily="34" charset="0"/>
                <a:ea typeface="Arial" pitchFamily="34" charset="-122"/>
                <a:cs typeface="Arial" pitchFamily="34" charset="-120"/>
              </a:rPr>
              <a:t>Asymmetric</a:t>
            </a:r>
            <a:endParaRPr lang="en-US" sz="1200" dirty="0"/>
          </a:p>
        </p:txBody>
      </p:sp>
      <mc:AlternateContent xmlns:mc="http://schemas.openxmlformats.org/markup-compatibility/2006">
        <mc:Choice xmlns:a14="http://schemas.microsoft.com/office/drawing/2010/main" Requires="a14">
          <p:sp>
            <p:nvSpPr>
              <p:cNvPr id="44" name="Text 41"/>
              <p:cNvSpPr/>
              <p:nvPr/>
            </p:nvSpPr>
            <p:spPr>
              <a:xfrm>
                <a:off x="6492240" y="5186300"/>
                <a:ext cx="4617720" cy="4114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r>
                        <a:rPr lang="ko-KR" altLang="en-US" sz="1200" smtClean="0">
                          <a:latin typeface="Cambria Math"/>
                        </a:rPr>
                        <m:t>=</m:t>
                      </m:r>
                      <m:r>
                        <m:rPr>
                          <m:sty m:val="p"/>
                        </m:rPr>
                        <a:rPr lang="ko-KR" altLang="en-US" sz="1200" smtClean="0">
                          <a:latin typeface="Cambria Math"/>
                        </a:rPr>
                        <m:t>Round</m:t>
                      </m:r>
                      <m:d>
                        <m:dPr>
                          <m:ctrlPr>
                            <a:rPr lang="ko-KR" altLang="en-US" sz="1200" i="1" smtClean="0">
                              <a:latin typeface="Cambria Math" panose="02040503050406030204" pitchFamily="18" charset="0"/>
                            </a:rPr>
                          </m:ctrlPr>
                        </m:dPr>
                        <m:e>
                          <m:f>
                            <m:fPr>
                              <m:ctrlPr>
                                <a:rPr lang="ko-KR" altLang="en-US" sz="1200" i="1" smtClean="0">
                                  <a:latin typeface="Cambria Math" panose="02040503050406030204" pitchFamily="18" charset="0"/>
                                </a:rPr>
                              </m:ctrlPr>
                            </m:fPr>
                            <m:num>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𝑓</m:t>
                                  </m:r>
                                </m:sub>
                              </m:sSub>
                            </m:num>
                            <m:den>
                              <m:r>
                                <a:rPr lang="ko-KR" altLang="en-US" sz="1200" smtClean="0">
                                  <a:latin typeface="Cambria Math"/>
                                </a:rPr>
                                <m:t>𝛥</m:t>
                              </m:r>
                            </m:den>
                          </m:f>
                        </m:e>
                      </m:d>
                      <m:r>
                        <a:rPr lang="ko-KR" altLang="en-US" sz="1200" smtClean="0">
                          <a:latin typeface="Cambria Math"/>
                        </a:rPr>
                        <m:t>+</m:t>
                      </m:r>
                      <m:r>
                        <a:rPr lang="ko-KR" altLang="en-US" sz="1200" smtClean="0">
                          <a:latin typeface="Cambria Math"/>
                        </a:rPr>
                        <m:t>𝑧</m:t>
                      </m:r>
                    </m:oMath>
                  </m:oMathPara>
                </a14:m>
                <a:endParaRPr dirty="0"/>
              </a:p>
            </p:txBody>
          </p:sp>
        </mc:Choice>
        <mc:Fallback>
          <p:sp>
            <p:nvSpPr>
              <p:cNvPr id="44" name="Text 41"/>
              <p:cNvSpPr>
                <a:spLocks noRot="1" noChangeAspect="1" noMove="1" noResize="1" noEditPoints="1" noAdjustHandles="1" noChangeArrowheads="1" noChangeShapeType="1" noTextEdit="1"/>
              </p:cNvSpPr>
              <p:nvPr/>
            </p:nvSpPr>
            <p:spPr>
              <a:xfrm>
                <a:off x="6492240" y="5186300"/>
                <a:ext cx="4617720" cy="411480"/>
              </a:xfrm>
              <a:prstGeom prst="rect">
                <a:avLst/>
              </a:prstGeom>
              <a:blipFill>
                <a:blip r:embed="rId5"/>
                <a:stretch>
                  <a:fillRect b="-6061"/>
                </a:stretch>
              </a:blipFill>
              <a:ln/>
            </p:spPr>
            <p:txBody>
              <a:bodyPr/>
              <a:lstStyle/>
              <a:p>
                <a:r>
                  <a:rPr lang="ko-KR" altLang="en-US">
                    <a:noFill/>
                  </a:rPr>
                  <a:t> </a:t>
                </a:r>
              </a:p>
            </p:txBody>
          </p:sp>
        </mc:Fallback>
      </mc:AlternateContent>
      <p:sp>
        <p:nvSpPr>
          <p:cNvPr id="45" name="Shape 42"/>
          <p:cNvSpPr/>
          <p:nvPr/>
        </p:nvSpPr>
        <p:spPr>
          <a:xfrm>
            <a:off x="960120" y="5989320"/>
            <a:ext cx="10287000" cy="384048"/>
          </a:xfrm>
          <a:prstGeom prst="roundRect">
            <a:avLst>
              <a:gd name="adj" fmla="val 14286"/>
            </a:avLst>
          </a:prstGeom>
          <a:solidFill>
            <a:srgbClr val="EAF2FF"/>
          </a:solidFill>
          <a:ln w="12700">
            <a:solidFill>
              <a:srgbClr val="7EA6E0"/>
            </a:solidFill>
            <a:prstDash val="solid"/>
          </a:ln>
        </p:spPr>
        <p:txBody>
          <a:bodyPr/>
          <a:lstStyle/>
          <a:p>
            <a:endParaRPr lang="ko-KR" altLang="en-US"/>
          </a:p>
        </p:txBody>
      </p:sp>
      <p:sp>
        <p:nvSpPr>
          <p:cNvPr id="46" name="Text 43"/>
          <p:cNvSpPr/>
          <p:nvPr/>
        </p:nvSpPr>
        <p:spPr>
          <a:xfrm>
            <a:off x="1143000" y="6089904"/>
            <a:ext cx="9921240" cy="146304"/>
          </a:xfrm>
          <a:prstGeom prst="rect">
            <a:avLst/>
          </a:prstGeom>
          <a:noFill/>
          <a:ln/>
        </p:spPr>
        <p:txBody>
          <a:bodyPr wrap="square" lIns="0" tIns="0" rIns="0" bIns="0" rtlCol="0" anchor="ctr">
            <a:normAutofit lnSpcReduction="10000"/>
          </a:bodyPr>
          <a:lstStyle/>
          <a:p>
            <a:pPr marL="0" indent="0" algn="ctr">
              <a:buNone/>
            </a:pPr>
            <a:r>
              <a:rPr lang="en-US" sz="1060" b="1" dirty="0">
                <a:solidFill>
                  <a:srgbClr val="00245D"/>
                </a:solidFill>
                <a:latin typeface="Arial" pitchFamily="34" charset="0"/>
                <a:ea typeface="Arial" pitchFamily="34" charset="-122"/>
                <a:cs typeface="Arial" pitchFamily="34" charset="-120"/>
              </a:rPr>
              <a:t>Connection to BitMoD: LLM weight groups are often locally asymmetric, so BitMoD later keeps the benefit of asymmetry using FP3/FP4 special values.</a:t>
            </a:r>
            <a:endParaRPr lang="en-US" sz="10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Quantization Granularity: What Shares One Scale?</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19</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Granularity decides how many weights share the same scaling factor Δ.</a:t>
            </a:r>
            <a:endParaRPr lang="en-US" sz="1300" dirty="0"/>
          </a:p>
        </p:txBody>
      </p:sp>
      <p:sp>
        <p:nvSpPr>
          <p:cNvPr id="9" name="Shape 6"/>
          <p:cNvSpPr/>
          <p:nvPr/>
        </p:nvSpPr>
        <p:spPr>
          <a:xfrm>
            <a:off x="685800" y="1481328"/>
            <a:ext cx="5257800" cy="4389120"/>
          </a:xfrm>
          <a:prstGeom prst="roundRect">
            <a:avLst>
              <a:gd name="adj" fmla="val 1250"/>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600200"/>
            <a:ext cx="49286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Weight tensor view</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1097280" y="1920240"/>
                <a:ext cx="4480560" cy="54864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𝑓</m:t>
                          </m:r>
                        </m:sub>
                      </m:sSub>
                      <m:r>
                        <a:rPr lang="en-US" altLang="ko-KR" sz="1150" smtClean="0">
                          <a:latin typeface="Cambria Math"/>
                        </a:rPr>
                        <m:t>∈</m:t>
                      </m:r>
                      <m:sSup>
                        <m:sSupPr>
                          <m:ctrlPr>
                            <a:rPr lang="en-US" altLang="ko-KR" sz="1150" smtClean="0">
                              <a:latin typeface="Cambria Math"/>
                            </a:rPr>
                          </m:ctrlPr>
                        </m:sSupPr>
                        <m:e>
                          <m:r>
                            <a:rPr lang="en-US" altLang="ko-KR" sz="1150" smtClean="0">
                              <a:latin typeface="Cambria Math"/>
                            </a:rPr>
                            <m:t>ℝ</m:t>
                          </m:r>
                        </m:e>
                        <m:sup>
                          <m:r>
                            <a:rPr lang="en-US" altLang="ko-KR" sz="1150" smtClean="0">
                              <a:latin typeface="Cambria Math"/>
                            </a:rPr>
                            <m:t>𝐾</m:t>
                          </m:r>
                          <m:r>
                            <a:rPr lang="en-US" altLang="ko-KR" sz="1150" smtClean="0">
                              <a:latin typeface="Cambria Math"/>
                            </a:rPr>
                            <m:t>×</m:t>
                          </m:r>
                          <m:r>
                            <a:rPr lang="en-US" altLang="ko-KR" sz="1150" smtClean="0">
                              <a:latin typeface="Cambria Math"/>
                            </a:rPr>
                            <m:t>𝐷</m:t>
                          </m:r>
                        </m:sup>
                      </m:sSup>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1097280" y="1920240"/>
                <a:ext cx="4480560" cy="548640"/>
              </a:xfrm>
              <a:prstGeom prst="rect">
                <a:avLst/>
              </a:prstGeom>
              <a:blipFill>
                <a:blip r:embed="rId4"/>
                <a:stretch>
                  <a:fillRect/>
                </a:stretch>
              </a:blipFill>
              <a:ln/>
            </p:spPr>
            <p:txBody>
              <a:bodyPr/>
              <a:lstStyle/>
              <a:p>
                <a:r>
                  <a:rPr lang="ko-KR" altLang="en-US">
                    <a:noFill/>
                  </a:rPr>
                  <a:t> </a:t>
                </a:r>
              </a:p>
            </p:txBody>
          </p:sp>
        </mc:Fallback>
      </mc:AlternateContent>
      <p:sp>
        <p:nvSpPr>
          <p:cNvPr id="12" name="Text 9"/>
          <p:cNvSpPr/>
          <p:nvPr/>
        </p:nvSpPr>
        <p:spPr>
          <a:xfrm>
            <a:off x="1051560" y="2670048"/>
            <a:ext cx="4526280" cy="548640"/>
          </a:xfrm>
          <a:prstGeom prst="rect">
            <a:avLst/>
          </a:prstGeom>
          <a:noFill/>
          <a:ln/>
        </p:spPr>
        <p:txBody>
          <a:bodyPr wrap="square" lIns="254" tIns="254" rIns="254" bIns="254" rtlCol="0" anchor="ctr">
            <a:normAutofit/>
          </a:bodyPr>
          <a:lstStyle/>
          <a:p>
            <a:pPr marL="0" indent="0" algn="ctr">
              <a:buNone/>
            </a:pPr>
            <a:r>
              <a:rPr lang="en-US" sz="1200" dirty="0">
                <a:solidFill>
                  <a:srgbClr val="222222"/>
                </a:solidFill>
                <a:latin typeface="Arial" pitchFamily="34" charset="0"/>
                <a:ea typeface="Arial" pitchFamily="34" charset="-122"/>
                <a:cs typeface="Arial" pitchFamily="34" charset="-120"/>
              </a:rPr>
              <a:t>K = number of output channels</a:t>
            </a:r>
            <a:endParaRPr lang="en-US" sz="1200" dirty="0"/>
          </a:p>
          <a:p>
            <a:pPr marL="0" indent="0" algn="ctr">
              <a:buNone/>
            </a:pPr>
            <a:r>
              <a:rPr lang="en-US" sz="1200" dirty="0">
                <a:solidFill>
                  <a:srgbClr val="222222"/>
                </a:solidFill>
                <a:latin typeface="Arial" pitchFamily="34" charset="0"/>
                <a:ea typeface="Arial" pitchFamily="34" charset="-122"/>
                <a:cs typeface="Arial" pitchFamily="34" charset="-120"/>
              </a:rPr>
              <a:t>D = number of weights in each channel</a:t>
            </a:r>
            <a:endParaRPr lang="en-US" sz="1200" dirty="0"/>
          </a:p>
        </p:txBody>
      </p:sp>
      <p:sp>
        <p:nvSpPr>
          <p:cNvPr id="13" name="Text 10"/>
          <p:cNvSpPr/>
          <p:nvPr/>
        </p:nvSpPr>
        <p:spPr>
          <a:xfrm>
            <a:off x="1005840" y="3538728"/>
            <a:ext cx="960120" cy="219456"/>
          </a:xfrm>
          <a:prstGeom prst="rect">
            <a:avLst/>
          </a:prstGeom>
          <a:noFill/>
          <a:ln/>
        </p:spPr>
        <p:txBody>
          <a:bodyPr wrap="square" lIns="0" tIns="0" rIns="0" bIns="0" rtlCol="0" anchor="ctr"/>
          <a:lstStyle/>
          <a:p>
            <a:pPr marL="0" indent="0" algn="r">
              <a:buNone/>
            </a:pPr>
            <a:r>
              <a:rPr lang="en-US" sz="1050" b="1" dirty="0">
                <a:solidFill>
                  <a:srgbClr val="00245D"/>
                </a:solidFill>
                <a:latin typeface="Arial" pitchFamily="34" charset="0"/>
                <a:ea typeface="Arial" pitchFamily="34" charset="-122"/>
                <a:cs typeface="Arial" pitchFamily="34" charset="-120"/>
              </a:rPr>
              <a:t>Ch. 1</a:t>
            </a:r>
            <a:endParaRPr lang="en-US" sz="1050" dirty="0"/>
          </a:p>
        </p:txBody>
      </p:sp>
      <p:sp>
        <p:nvSpPr>
          <p:cNvPr id="14" name="Shape 11"/>
          <p:cNvSpPr/>
          <p:nvPr/>
        </p:nvSpPr>
        <p:spPr>
          <a:xfrm>
            <a:off x="2084832" y="34290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15" name="Text 12"/>
          <p:cNvSpPr/>
          <p:nvPr/>
        </p:nvSpPr>
        <p:spPr>
          <a:xfrm>
            <a:off x="2103120" y="35570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w1</a:t>
            </a:r>
            <a:endParaRPr lang="en-US" sz="950" dirty="0"/>
          </a:p>
        </p:txBody>
      </p:sp>
      <p:sp>
        <p:nvSpPr>
          <p:cNvPr id="16" name="Shape 13"/>
          <p:cNvSpPr/>
          <p:nvPr/>
        </p:nvSpPr>
        <p:spPr>
          <a:xfrm>
            <a:off x="2523744" y="34290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17" name="Text 14"/>
          <p:cNvSpPr/>
          <p:nvPr/>
        </p:nvSpPr>
        <p:spPr>
          <a:xfrm>
            <a:off x="2542032" y="35570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w2</a:t>
            </a:r>
            <a:endParaRPr lang="en-US" sz="950" dirty="0"/>
          </a:p>
        </p:txBody>
      </p:sp>
      <p:sp>
        <p:nvSpPr>
          <p:cNvPr id="18" name="Shape 15"/>
          <p:cNvSpPr/>
          <p:nvPr/>
        </p:nvSpPr>
        <p:spPr>
          <a:xfrm>
            <a:off x="2962656" y="34290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19" name="Text 16"/>
          <p:cNvSpPr/>
          <p:nvPr/>
        </p:nvSpPr>
        <p:spPr>
          <a:xfrm>
            <a:off x="2980944" y="35570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w3</a:t>
            </a:r>
            <a:endParaRPr lang="en-US" sz="950" dirty="0"/>
          </a:p>
        </p:txBody>
      </p:sp>
      <p:sp>
        <p:nvSpPr>
          <p:cNvPr id="20" name="Shape 17"/>
          <p:cNvSpPr/>
          <p:nvPr/>
        </p:nvSpPr>
        <p:spPr>
          <a:xfrm>
            <a:off x="3401568" y="34290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21" name="Text 18"/>
          <p:cNvSpPr/>
          <p:nvPr/>
        </p:nvSpPr>
        <p:spPr>
          <a:xfrm>
            <a:off x="3419856" y="35570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w4</a:t>
            </a:r>
            <a:endParaRPr lang="en-US" sz="950" dirty="0"/>
          </a:p>
        </p:txBody>
      </p:sp>
      <p:sp>
        <p:nvSpPr>
          <p:cNvPr id="22" name="Shape 19"/>
          <p:cNvSpPr/>
          <p:nvPr/>
        </p:nvSpPr>
        <p:spPr>
          <a:xfrm>
            <a:off x="3840480" y="34290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23" name="Text 20"/>
          <p:cNvSpPr/>
          <p:nvPr/>
        </p:nvSpPr>
        <p:spPr>
          <a:xfrm>
            <a:off x="3858768" y="35570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w5</a:t>
            </a:r>
            <a:endParaRPr lang="en-US" sz="950" dirty="0"/>
          </a:p>
        </p:txBody>
      </p:sp>
      <p:sp>
        <p:nvSpPr>
          <p:cNvPr id="24" name="Shape 21"/>
          <p:cNvSpPr/>
          <p:nvPr/>
        </p:nvSpPr>
        <p:spPr>
          <a:xfrm>
            <a:off x="4279392" y="34290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25" name="Text 22"/>
          <p:cNvSpPr/>
          <p:nvPr/>
        </p:nvSpPr>
        <p:spPr>
          <a:xfrm>
            <a:off x="4297680" y="35570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w6</a:t>
            </a:r>
            <a:endParaRPr lang="en-US" sz="950" dirty="0"/>
          </a:p>
        </p:txBody>
      </p:sp>
      <p:sp>
        <p:nvSpPr>
          <p:cNvPr id="26" name="Shape 23"/>
          <p:cNvSpPr/>
          <p:nvPr/>
        </p:nvSpPr>
        <p:spPr>
          <a:xfrm>
            <a:off x="4718304" y="34290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27" name="Text 24"/>
          <p:cNvSpPr/>
          <p:nvPr/>
        </p:nvSpPr>
        <p:spPr>
          <a:xfrm>
            <a:off x="4736592" y="35570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w7</a:t>
            </a:r>
            <a:endParaRPr lang="en-US" sz="950" dirty="0"/>
          </a:p>
        </p:txBody>
      </p:sp>
      <p:sp>
        <p:nvSpPr>
          <p:cNvPr id="28" name="Shape 25"/>
          <p:cNvSpPr/>
          <p:nvPr/>
        </p:nvSpPr>
        <p:spPr>
          <a:xfrm>
            <a:off x="5157216" y="34290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29" name="Text 26"/>
          <p:cNvSpPr/>
          <p:nvPr/>
        </p:nvSpPr>
        <p:spPr>
          <a:xfrm>
            <a:off x="5175504" y="35570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w8</a:t>
            </a:r>
            <a:endParaRPr lang="en-US" sz="950" dirty="0"/>
          </a:p>
        </p:txBody>
      </p:sp>
      <p:sp>
        <p:nvSpPr>
          <p:cNvPr id="30" name="Text 27"/>
          <p:cNvSpPr/>
          <p:nvPr/>
        </p:nvSpPr>
        <p:spPr>
          <a:xfrm>
            <a:off x="1005840" y="4178808"/>
            <a:ext cx="960120" cy="219456"/>
          </a:xfrm>
          <a:prstGeom prst="rect">
            <a:avLst/>
          </a:prstGeom>
          <a:noFill/>
          <a:ln/>
        </p:spPr>
        <p:txBody>
          <a:bodyPr wrap="square" lIns="0" tIns="0" rIns="0" bIns="0" rtlCol="0" anchor="ctr"/>
          <a:lstStyle/>
          <a:p>
            <a:pPr marL="0" indent="0" algn="r">
              <a:buNone/>
            </a:pPr>
            <a:r>
              <a:rPr lang="en-US" sz="1050" b="1" dirty="0">
                <a:solidFill>
                  <a:srgbClr val="00245D"/>
                </a:solidFill>
                <a:latin typeface="Arial" pitchFamily="34" charset="0"/>
                <a:ea typeface="Arial" pitchFamily="34" charset="-122"/>
                <a:cs typeface="Arial" pitchFamily="34" charset="-120"/>
              </a:rPr>
              <a:t>Ch. 2</a:t>
            </a:r>
            <a:endParaRPr lang="en-US" sz="1050" dirty="0"/>
          </a:p>
        </p:txBody>
      </p:sp>
      <p:sp>
        <p:nvSpPr>
          <p:cNvPr id="31" name="Shape 28"/>
          <p:cNvSpPr/>
          <p:nvPr/>
        </p:nvSpPr>
        <p:spPr>
          <a:xfrm>
            <a:off x="2084832" y="406908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32" name="Text 29"/>
          <p:cNvSpPr/>
          <p:nvPr/>
        </p:nvSpPr>
        <p:spPr>
          <a:xfrm>
            <a:off x="2103120" y="419709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w1</a:t>
            </a:r>
            <a:endParaRPr lang="en-US" sz="950" dirty="0"/>
          </a:p>
        </p:txBody>
      </p:sp>
      <p:sp>
        <p:nvSpPr>
          <p:cNvPr id="33" name="Shape 30"/>
          <p:cNvSpPr/>
          <p:nvPr/>
        </p:nvSpPr>
        <p:spPr>
          <a:xfrm>
            <a:off x="2523744" y="406908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34" name="Text 31"/>
          <p:cNvSpPr/>
          <p:nvPr/>
        </p:nvSpPr>
        <p:spPr>
          <a:xfrm>
            <a:off x="2542032" y="419709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w2</a:t>
            </a:r>
            <a:endParaRPr lang="en-US" sz="950" dirty="0"/>
          </a:p>
        </p:txBody>
      </p:sp>
      <p:sp>
        <p:nvSpPr>
          <p:cNvPr id="35" name="Shape 32"/>
          <p:cNvSpPr/>
          <p:nvPr/>
        </p:nvSpPr>
        <p:spPr>
          <a:xfrm>
            <a:off x="2962656" y="406908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36" name="Text 33"/>
          <p:cNvSpPr/>
          <p:nvPr/>
        </p:nvSpPr>
        <p:spPr>
          <a:xfrm>
            <a:off x="2980944" y="419709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w3</a:t>
            </a:r>
            <a:endParaRPr lang="en-US" sz="950" dirty="0"/>
          </a:p>
        </p:txBody>
      </p:sp>
      <p:sp>
        <p:nvSpPr>
          <p:cNvPr id="37" name="Shape 34"/>
          <p:cNvSpPr/>
          <p:nvPr/>
        </p:nvSpPr>
        <p:spPr>
          <a:xfrm>
            <a:off x="3401568" y="406908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38" name="Text 35"/>
          <p:cNvSpPr/>
          <p:nvPr/>
        </p:nvSpPr>
        <p:spPr>
          <a:xfrm>
            <a:off x="3419856" y="419709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w4</a:t>
            </a:r>
            <a:endParaRPr lang="en-US" sz="950" dirty="0"/>
          </a:p>
        </p:txBody>
      </p:sp>
      <p:sp>
        <p:nvSpPr>
          <p:cNvPr id="39" name="Shape 36"/>
          <p:cNvSpPr/>
          <p:nvPr/>
        </p:nvSpPr>
        <p:spPr>
          <a:xfrm>
            <a:off x="3840480" y="406908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40" name="Text 37"/>
          <p:cNvSpPr/>
          <p:nvPr/>
        </p:nvSpPr>
        <p:spPr>
          <a:xfrm>
            <a:off x="3858768" y="419709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w5</a:t>
            </a:r>
            <a:endParaRPr lang="en-US" sz="950" dirty="0"/>
          </a:p>
        </p:txBody>
      </p:sp>
      <p:sp>
        <p:nvSpPr>
          <p:cNvPr id="41" name="Shape 38"/>
          <p:cNvSpPr/>
          <p:nvPr/>
        </p:nvSpPr>
        <p:spPr>
          <a:xfrm>
            <a:off x="4279392" y="406908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42" name="Text 39"/>
          <p:cNvSpPr/>
          <p:nvPr/>
        </p:nvSpPr>
        <p:spPr>
          <a:xfrm>
            <a:off x="4297680" y="419709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w6</a:t>
            </a:r>
            <a:endParaRPr lang="en-US" sz="950" dirty="0"/>
          </a:p>
        </p:txBody>
      </p:sp>
      <p:sp>
        <p:nvSpPr>
          <p:cNvPr id="43" name="Shape 40"/>
          <p:cNvSpPr/>
          <p:nvPr/>
        </p:nvSpPr>
        <p:spPr>
          <a:xfrm>
            <a:off x="4718304" y="406908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44" name="Text 41"/>
          <p:cNvSpPr/>
          <p:nvPr/>
        </p:nvSpPr>
        <p:spPr>
          <a:xfrm>
            <a:off x="4736592" y="419709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w7</a:t>
            </a:r>
            <a:endParaRPr lang="en-US" sz="950" dirty="0"/>
          </a:p>
        </p:txBody>
      </p:sp>
      <p:sp>
        <p:nvSpPr>
          <p:cNvPr id="45" name="Shape 42"/>
          <p:cNvSpPr/>
          <p:nvPr/>
        </p:nvSpPr>
        <p:spPr>
          <a:xfrm>
            <a:off x="5157216" y="406908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46" name="Text 43"/>
          <p:cNvSpPr/>
          <p:nvPr/>
        </p:nvSpPr>
        <p:spPr>
          <a:xfrm>
            <a:off x="5175504" y="419709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w8</a:t>
            </a:r>
            <a:endParaRPr lang="en-US" sz="950" dirty="0"/>
          </a:p>
        </p:txBody>
      </p:sp>
      <p:sp>
        <p:nvSpPr>
          <p:cNvPr id="47" name="Shape 44"/>
          <p:cNvSpPr/>
          <p:nvPr/>
        </p:nvSpPr>
        <p:spPr>
          <a:xfrm>
            <a:off x="2084832" y="4828032"/>
            <a:ext cx="3493008" cy="0"/>
          </a:xfrm>
          <a:prstGeom prst="line">
            <a:avLst/>
          </a:prstGeom>
          <a:noFill/>
          <a:ln w="15240">
            <a:solidFill>
              <a:srgbClr val="00245D"/>
            </a:solidFill>
            <a:prstDash val="solid"/>
            <a:headEnd type="triangle"/>
            <a:tailEnd type="triangle"/>
          </a:ln>
        </p:spPr>
        <p:txBody>
          <a:bodyPr/>
          <a:lstStyle/>
          <a:p>
            <a:endParaRPr lang="ko-KR" altLang="en-US"/>
          </a:p>
        </p:txBody>
      </p:sp>
      <p:sp>
        <p:nvSpPr>
          <p:cNvPr id="48" name="Text 45"/>
          <p:cNvSpPr/>
          <p:nvPr/>
        </p:nvSpPr>
        <p:spPr>
          <a:xfrm>
            <a:off x="3246120" y="4919472"/>
            <a:ext cx="1005840" cy="182880"/>
          </a:xfrm>
          <a:prstGeom prst="rect">
            <a:avLst/>
          </a:prstGeom>
          <a:noFill/>
          <a:ln/>
        </p:spPr>
        <p:txBody>
          <a:bodyPr wrap="square" lIns="0" tIns="0" rIns="0" bIns="0" rtlCol="0" anchor="ctr"/>
          <a:lstStyle/>
          <a:p>
            <a:pPr marL="0" indent="0" algn="ctr">
              <a:buNone/>
            </a:pPr>
            <a:r>
              <a:rPr lang="en-US" sz="1150" b="1" dirty="0">
                <a:solidFill>
                  <a:srgbClr val="00245D"/>
                </a:solidFill>
                <a:latin typeface="Arial" pitchFamily="34" charset="0"/>
                <a:ea typeface="Arial" pitchFamily="34" charset="-122"/>
                <a:cs typeface="Arial" pitchFamily="34" charset="-120"/>
              </a:rPr>
              <a:t>D = 8</a:t>
            </a:r>
            <a:endParaRPr lang="en-US" sz="1150" dirty="0"/>
          </a:p>
        </p:txBody>
      </p:sp>
      <p:sp>
        <p:nvSpPr>
          <p:cNvPr id="49" name="Shape 46"/>
          <p:cNvSpPr/>
          <p:nvPr/>
        </p:nvSpPr>
        <p:spPr>
          <a:xfrm>
            <a:off x="713232" y="3456432"/>
            <a:ext cx="0" cy="1051560"/>
          </a:xfrm>
          <a:prstGeom prst="line">
            <a:avLst/>
          </a:prstGeom>
          <a:noFill/>
          <a:ln w="15240">
            <a:solidFill>
              <a:srgbClr val="00245D"/>
            </a:solidFill>
            <a:prstDash val="solid"/>
            <a:headEnd type="triangle"/>
            <a:tailEnd type="triangle"/>
          </a:ln>
        </p:spPr>
        <p:txBody>
          <a:bodyPr/>
          <a:lstStyle/>
          <a:p>
            <a:endParaRPr lang="ko-KR" altLang="en-US"/>
          </a:p>
        </p:txBody>
      </p:sp>
      <p:sp>
        <p:nvSpPr>
          <p:cNvPr id="50" name="Text 47"/>
          <p:cNvSpPr/>
          <p:nvPr/>
        </p:nvSpPr>
        <p:spPr>
          <a:xfrm rot="16200000">
            <a:off x="210312" y="3794760"/>
            <a:ext cx="384048" cy="182880"/>
          </a:xfrm>
          <a:prstGeom prst="rect">
            <a:avLst/>
          </a:prstGeom>
          <a:noFill/>
          <a:ln/>
        </p:spPr>
        <p:txBody>
          <a:bodyPr wrap="square" lIns="0" tIns="0" rIns="0" bIns="0" rtlCol="0" anchor="ctr"/>
          <a:lstStyle/>
          <a:p>
            <a:pPr marL="0" indent="0">
              <a:buNone/>
            </a:pPr>
            <a:r>
              <a:rPr lang="en-US" sz="1050" b="1" dirty="0">
                <a:solidFill>
                  <a:srgbClr val="00245D"/>
                </a:solidFill>
                <a:latin typeface="Arial" pitchFamily="34" charset="0"/>
                <a:ea typeface="Arial" pitchFamily="34" charset="-122"/>
                <a:cs typeface="Arial" pitchFamily="34" charset="-120"/>
              </a:rPr>
              <a:t>K = 2</a:t>
            </a:r>
            <a:endParaRPr lang="en-US" sz="1050" dirty="0"/>
          </a:p>
        </p:txBody>
      </p:sp>
      <p:sp>
        <p:nvSpPr>
          <p:cNvPr id="51" name="Shape 48"/>
          <p:cNvSpPr/>
          <p:nvPr/>
        </p:nvSpPr>
        <p:spPr>
          <a:xfrm>
            <a:off x="6446520" y="1481328"/>
            <a:ext cx="5074920" cy="4389120"/>
          </a:xfrm>
          <a:prstGeom prst="roundRect">
            <a:avLst>
              <a:gd name="adj" fmla="val 1250"/>
            </a:avLst>
          </a:prstGeom>
          <a:solidFill>
            <a:srgbClr val="FFFDF2"/>
          </a:solidFill>
          <a:ln w="13335">
            <a:solidFill>
              <a:srgbClr val="D6B656"/>
            </a:solidFill>
            <a:prstDash val="solid"/>
          </a:ln>
        </p:spPr>
        <p:txBody>
          <a:bodyPr/>
          <a:lstStyle/>
          <a:p>
            <a:endParaRPr lang="ko-KR" altLang="en-US"/>
          </a:p>
        </p:txBody>
      </p:sp>
      <p:sp>
        <p:nvSpPr>
          <p:cNvPr id="52" name="Text 49"/>
          <p:cNvSpPr/>
          <p:nvPr/>
        </p:nvSpPr>
        <p:spPr>
          <a:xfrm>
            <a:off x="6611112" y="1600200"/>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Three options</a:t>
            </a:r>
            <a:endParaRPr lang="en-US" sz="1200" dirty="0"/>
          </a:p>
        </p:txBody>
      </p:sp>
      <p:sp>
        <p:nvSpPr>
          <p:cNvPr id="53" name="Shape 50"/>
          <p:cNvSpPr/>
          <p:nvPr/>
        </p:nvSpPr>
        <p:spPr>
          <a:xfrm>
            <a:off x="6720840" y="2089648"/>
            <a:ext cx="1325880" cy="512064"/>
          </a:xfrm>
          <a:prstGeom prst="rect">
            <a:avLst/>
          </a:prstGeom>
          <a:solidFill>
            <a:srgbClr val="00245D"/>
          </a:solidFill>
          <a:ln w="6350">
            <a:solidFill>
              <a:srgbClr val="D9E2F3"/>
            </a:solidFill>
            <a:prstDash val="solid"/>
          </a:ln>
        </p:spPr>
        <p:txBody>
          <a:bodyPr/>
          <a:lstStyle/>
          <a:p>
            <a:endParaRPr lang="ko-KR" altLang="en-US"/>
          </a:p>
        </p:txBody>
      </p:sp>
      <p:sp>
        <p:nvSpPr>
          <p:cNvPr id="54" name="Text 51"/>
          <p:cNvSpPr/>
          <p:nvPr/>
        </p:nvSpPr>
        <p:spPr>
          <a:xfrm>
            <a:off x="6748272" y="2199376"/>
            <a:ext cx="1271016"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Granularity</a:t>
            </a:r>
            <a:endParaRPr lang="en-US" sz="1050" dirty="0"/>
          </a:p>
        </p:txBody>
      </p:sp>
      <p:sp>
        <p:nvSpPr>
          <p:cNvPr id="55" name="Shape 52"/>
          <p:cNvSpPr/>
          <p:nvPr/>
        </p:nvSpPr>
        <p:spPr>
          <a:xfrm>
            <a:off x="8046720" y="2089648"/>
            <a:ext cx="1828800" cy="512064"/>
          </a:xfrm>
          <a:prstGeom prst="rect">
            <a:avLst/>
          </a:prstGeom>
          <a:solidFill>
            <a:srgbClr val="00245D"/>
          </a:solidFill>
          <a:ln w="6350">
            <a:solidFill>
              <a:srgbClr val="D9E2F3"/>
            </a:solidFill>
            <a:prstDash val="solid"/>
          </a:ln>
        </p:spPr>
        <p:txBody>
          <a:bodyPr/>
          <a:lstStyle/>
          <a:p>
            <a:endParaRPr lang="ko-KR" altLang="en-US"/>
          </a:p>
        </p:txBody>
      </p:sp>
      <p:sp>
        <p:nvSpPr>
          <p:cNvPr id="56" name="Text 53"/>
          <p:cNvSpPr/>
          <p:nvPr/>
        </p:nvSpPr>
        <p:spPr>
          <a:xfrm>
            <a:off x="8074152" y="2199376"/>
            <a:ext cx="1773936"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What shares Δ?</a:t>
            </a:r>
            <a:endParaRPr lang="en-US" sz="1050" dirty="0"/>
          </a:p>
        </p:txBody>
      </p:sp>
      <p:sp>
        <p:nvSpPr>
          <p:cNvPr id="57" name="Shape 54"/>
          <p:cNvSpPr/>
          <p:nvPr/>
        </p:nvSpPr>
        <p:spPr>
          <a:xfrm>
            <a:off x="9875520" y="2089648"/>
            <a:ext cx="1554480" cy="512064"/>
          </a:xfrm>
          <a:prstGeom prst="rect">
            <a:avLst/>
          </a:prstGeom>
          <a:solidFill>
            <a:srgbClr val="00245D"/>
          </a:solidFill>
          <a:ln w="6350">
            <a:solidFill>
              <a:srgbClr val="D9E2F3"/>
            </a:solidFill>
            <a:prstDash val="solid"/>
          </a:ln>
        </p:spPr>
        <p:txBody>
          <a:bodyPr/>
          <a:lstStyle/>
          <a:p>
            <a:endParaRPr lang="ko-KR" altLang="en-US"/>
          </a:p>
        </p:txBody>
      </p:sp>
      <p:sp>
        <p:nvSpPr>
          <p:cNvPr id="58" name="Text 55"/>
          <p:cNvSpPr/>
          <p:nvPr/>
        </p:nvSpPr>
        <p:spPr>
          <a:xfrm>
            <a:off x="9902952" y="2199376"/>
            <a:ext cx="1499616"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Scope of outlier</a:t>
            </a:r>
            <a:endParaRPr lang="en-US" sz="1050" dirty="0"/>
          </a:p>
        </p:txBody>
      </p:sp>
      <p:sp>
        <p:nvSpPr>
          <p:cNvPr id="59" name="Shape 56"/>
          <p:cNvSpPr/>
          <p:nvPr/>
        </p:nvSpPr>
        <p:spPr>
          <a:xfrm>
            <a:off x="6720840" y="2601712"/>
            <a:ext cx="1325880" cy="512064"/>
          </a:xfrm>
          <a:prstGeom prst="rect">
            <a:avLst/>
          </a:prstGeom>
          <a:solidFill>
            <a:srgbClr val="FFFFFF"/>
          </a:solidFill>
          <a:ln w="6350">
            <a:solidFill>
              <a:srgbClr val="D9E2F3"/>
            </a:solidFill>
            <a:prstDash val="solid"/>
          </a:ln>
        </p:spPr>
        <p:txBody>
          <a:bodyPr/>
          <a:lstStyle/>
          <a:p>
            <a:endParaRPr lang="ko-KR" altLang="en-US"/>
          </a:p>
        </p:txBody>
      </p:sp>
      <p:sp>
        <p:nvSpPr>
          <p:cNvPr id="60" name="Text 57"/>
          <p:cNvSpPr/>
          <p:nvPr/>
        </p:nvSpPr>
        <p:spPr>
          <a:xfrm>
            <a:off x="6766560" y="2711440"/>
            <a:ext cx="1234440"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Per-Tensor</a:t>
            </a:r>
            <a:endParaRPr lang="en-US" sz="1050" dirty="0"/>
          </a:p>
        </p:txBody>
      </p:sp>
      <p:sp>
        <p:nvSpPr>
          <p:cNvPr id="61" name="Shape 58"/>
          <p:cNvSpPr/>
          <p:nvPr/>
        </p:nvSpPr>
        <p:spPr>
          <a:xfrm>
            <a:off x="8046720" y="2601712"/>
            <a:ext cx="1828800" cy="512064"/>
          </a:xfrm>
          <a:prstGeom prst="rect">
            <a:avLst/>
          </a:prstGeom>
          <a:solidFill>
            <a:srgbClr val="FFFFFF"/>
          </a:solidFill>
          <a:ln w="6350">
            <a:solidFill>
              <a:srgbClr val="D9E2F3"/>
            </a:solidFill>
            <a:prstDash val="solid"/>
          </a:ln>
        </p:spPr>
        <p:txBody>
          <a:bodyPr/>
          <a:lstStyle/>
          <a:p>
            <a:endParaRPr lang="ko-KR" altLang="en-US"/>
          </a:p>
        </p:txBody>
      </p:sp>
      <p:sp>
        <p:nvSpPr>
          <p:cNvPr id="62" name="Text 59"/>
          <p:cNvSpPr/>
          <p:nvPr/>
        </p:nvSpPr>
        <p:spPr>
          <a:xfrm>
            <a:off x="8092440" y="2711440"/>
            <a:ext cx="173736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Whole tensor</a:t>
            </a:r>
            <a:endParaRPr lang="en-US" sz="1050" dirty="0"/>
          </a:p>
        </p:txBody>
      </p:sp>
      <p:sp>
        <p:nvSpPr>
          <p:cNvPr id="63" name="Shape 60"/>
          <p:cNvSpPr/>
          <p:nvPr/>
        </p:nvSpPr>
        <p:spPr>
          <a:xfrm>
            <a:off x="9875520" y="2601712"/>
            <a:ext cx="1554480" cy="512064"/>
          </a:xfrm>
          <a:prstGeom prst="rect">
            <a:avLst/>
          </a:prstGeom>
          <a:solidFill>
            <a:srgbClr val="FFFFFF"/>
          </a:solidFill>
          <a:ln w="6350">
            <a:solidFill>
              <a:srgbClr val="D9E2F3"/>
            </a:solidFill>
            <a:prstDash val="solid"/>
          </a:ln>
        </p:spPr>
        <p:txBody>
          <a:bodyPr/>
          <a:lstStyle/>
          <a:p>
            <a:endParaRPr lang="ko-KR" altLang="en-US"/>
          </a:p>
        </p:txBody>
      </p:sp>
      <p:sp>
        <p:nvSpPr>
          <p:cNvPr id="64" name="Text 61"/>
          <p:cNvSpPr/>
          <p:nvPr/>
        </p:nvSpPr>
        <p:spPr>
          <a:xfrm>
            <a:off x="9921240" y="2711440"/>
            <a:ext cx="146304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Whole tensor</a:t>
            </a:r>
            <a:endParaRPr lang="en-US" sz="1050" dirty="0"/>
          </a:p>
        </p:txBody>
      </p:sp>
      <p:sp>
        <p:nvSpPr>
          <p:cNvPr id="65" name="Shape 62"/>
          <p:cNvSpPr/>
          <p:nvPr/>
        </p:nvSpPr>
        <p:spPr>
          <a:xfrm>
            <a:off x="6720840" y="3113776"/>
            <a:ext cx="1325880" cy="512064"/>
          </a:xfrm>
          <a:prstGeom prst="rect">
            <a:avLst/>
          </a:prstGeom>
          <a:solidFill>
            <a:srgbClr val="F5F7FA"/>
          </a:solidFill>
          <a:ln w="6350">
            <a:solidFill>
              <a:srgbClr val="D9E2F3"/>
            </a:solidFill>
            <a:prstDash val="solid"/>
          </a:ln>
        </p:spPr>
        <p:txBody>
          <a:bodyPr/>
          <a:lstStyle/>
          <a:p>
            <a:endParaRPr lang="ko-KR" altLang="en-US"/>
          </a:p>
        </p:txBody>
      </p:sp>
      <p:sp>
        <p:nvSpPr>
          <p:cNvPr id="66" name="Text 63"/>
          <p:cNvSpPr/>
          <p:nvPr/>
        </p:nvSpPr>
        <p:spPr>
          <a:xfrm>
            <a:off x="6766560" y="3223504"/>
            <a:ext cx="1234440"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Per-Channel</a:t>
            </a:r>
            <a:endParaRPr lang="en-US" sz="1050" dirty="0"/>
          </a:p>
        </p:txBody>
      </p:sp>
      <p:sp>
        <p:nvSpPr>
          <p:cNvPr id="67" name="Shape 64"/>
          <p:cNvSpPr/>
          <p:nvPr/>
        </p:nvSpPr>
        <p:spPr>
          <a:xfrm>
            <a:off x="8046720" y="3113776"/>
            <a:ext cx="1828800" cy="512064"/>
          </a:xfrm>
          <a:prstGeom prst="rect">
            <a:avLst/>
          </a:prstGeom>
          <a:solidFill>
            <a:srgbClr val="F5F7FA"/>
          </a:solidFill>
          <a:ln w="6350">
            <a:solidFill>
              <a:srgbClr val="D9E2F3"/>
            </a:solidFill>
            <a:prstDash val="solid"/>
          </a:ln>
        </p:spPr>
        <p:txBody>
          <a:bodyPr/>
          <a:lstStyle/>
          <a:p>
            <a:endParaRPr lang="ko-KR" altLang="en-US"/>
          </a:p>
        </p:txBody>
      </p:sp>
      <p:sp>
        <p:nvSpPr>
          <p:cNvPr id="68" name="Text 65"/>
          <p:cNvSpPr/>
          <p:nvPr/>
        </p:nvSpPr>
        <p:spPr>
          <a:xfrm>
            <a:off x="8092440" y="3223504"/>
            <a:ext cx="173736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One channel</a:t>
            </a:r>
            <a:endParaRPr lang="en-US" sz="1050" dirty="0"/>
          </a:p>
        </p:txBody>
      </p:sp>
      <p:sp>
        <p:nvSpPr>
          <p:cNvPr id="69" name="Shape 66"/>
          <p:cNvSpPr/>
          <p:nvPr/>
        </p:nvSpPr>
        <p:spPr>
          <a:xfrm>
            <a:off x="9875520" y="3113776"/>
            <a:ext cx="1554480" cy="512064"/>
          </a:xfrm>
          <a:prstGeom prst="rect">
            <a:avLst/>
          </a:prstGeom>
          <a:solidFill>
            <a:srgbClr val="F5F7FA"/>
          </a:solidFill>
          <a:ln w="6350">
            <a:solidFill>
              <a:srgbClr val="D9E2F3"/>
            </a:solidFill>
            <a:prstDash val="solid"/>
          </a:ln>
        </p:spPr>
        <p:txBody>
          <a:bodyPr/>
          <a:lstStyle/>
          <a:p>
            <a:endParaRPr lang="ko-KR" altLang="en-US"/>
          </a:p>
        </p:txBody>
      </p:sp>
      <p:sp>
        <p:nvSpPr>
          <p:cNvPr id="70" name="Text 67"/>
          <p:cNvSpPr/>
          <p:nvPr/>
        </p:nvSpPr>
        <p:spPr>
          <a:xfrm>
            <a:off x="9921240" y="3223504"/>
            <a:ext cx="146304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Same channel</a:t>
            </a:r>
            <a:endParaRPr lang="en-US" sz="1050" dirty="0"/>
          </a:p>
        </p:txBody>
      </p:sp>
      <p:sp>
        <p:nvSpPr>
          <p:cNvPr id="71" name="Shape 68"/>
          <p:cNvSpPr/>
          <p:nvPr/>
        </p:nvSpPr>
        <p:spPr>
          <a:xfrm>
            <a:off x="6720840" y="3625840"/>
            <a:ext cx="1325880" cy="512064"/>
          </a:xfrm>
          <a:prstGeom prst="rect">
            <a:avLst/>
          </a:prstGeom>
          <a:solidFill>
            <a:srgbClr val="FFFFFF"/>
          </a:solidFill>
          <a:ln w="6350">
            <a:solidFill>
              <a:srgbClr val="D9E2F3"/>
            </a:solidFill>
            <a:prstDash val="solid"/>
          </a:ln>
        </p:spPr>
        <p:txBody>
          <a:bodyPr/>
          <a:lstStyle/>
          <a:p>
            <a:endParaRPr lang="ko-KR" altLang="en-US"/>
          </a:p>
        </p:txBody>
      </p:sp>
      <p:sp>
        <p:nvSpPr>
          <p:cNvPr id="72" name="Text 69"/>
          <p:cNvSpPr/>
          <p:nvPr/>
        </p:nvSpPr>
        <p:spPr>
          <a:xfrm>
            <a:off x="6766560" y="3735568"/>
            <a:ext cx="1234440"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Per-Group</a:t>
            </a:r>
            <a:endParaRPr lang="en-US" sz="1050" dirty="0"/>
          </a:p>
        </p:txBody>
      </p:sp>
      <p:sp>
        <p:nvSpPr>
          <p:cNvPr id="73" name="Shape 70"/>
          <p:cNvSpPr/>
          <p:nvPr/>
        </p:nvSpPr>
        <p:spPr>
          <a:xfrm>
            <a:off x="8046720" y="3625840"/>
            <a:ext cx="1828800" cy="512064"/>
          </a:xfrm>
          <a:prstGeom prst="rect">
            <a:avLst/>
          </a:prstGeom>
          <a:solidFill>
            <a:srgbClr val="FFFFFF"/>
          </a:solidFill>
          <a:ln w="6350">
            <a:solidFill>
              <a:srgbClr val="D9E2F3"/>
            </a:solidFill>
            <a:prstDash val="solid"/>
          </a:ln>
        </p:spPr>
        <p:txBody>
          <a:bodyPr/>
          <a:lstStyle/>
          <a:p>
            <a:endParaRPr lang="ko-KR" altLang="en-US"/>
          </a:p>
        </p:txBody>
      </p:sp>
      <p:sp>
        <p:nvSpPr>
          <p:cNvPr id="74" name="Text 71"/>
          <p:cNvSpPr/>
          <p:nvPr/>
        </p:nvSpPr>
        <p:spPr>
          <a:xfrm>
            <a:off x="8092440" y="3735568"/>
            <a:ext cx="173736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Small group</a:t>
            </a:r>
            <a:endParaRPr lang="en-US" sz="1050" dirty="0"/>
          </a:p>
        </p:txBody>
      </p:sp>
      <p:sp>
        <p:nvSpPr>
          <p:cNvPr id="75" name="Shape 72"/>
          <p:cNvSpPr/>
          <p:nvPr/>
        </p:nvSpPr>
        <p:spPr>
          <a:xfrm>
            <a:off x="9875520" y="3625840"/>
            <a:ext cx="1554480" cy="512064"/>
          </a:xfrm>
          <a:prstGeom prst="rect">
            <a:avLst/>
          </a:prstGeom>
          <a:solidFill>
            <a:srgbClr val="FFFFFF"/>
          </a:solidFill>
          <a:ln w="6350">
            <a:solidFill>
              <a:srgbClr val="D9E2F3"/>
            </a:solidFill>
            <a:prstDash val="solid"/>
          </a:ln>
        </p:spPr>
        <p:txBody>
          <a:bodyPr/>
          <a:lstStyle/>
          <a:p>
            <a:endParaRPr lang="ko-KR" altLang="en-US"/>
          </a:p>
        </p:txBody>
      </p:sp>
      <p:sp>
        <p:nvSpPr>
          <p:cNvPr id="76" name="Text 73"/>
          <p:cNvSpPr/>
          <p:nvPr/>
        </p:nvSpPr>
        <p:spPr>
          <a:xfrm>
            <a:off x="9921240" y="3735568"/>
            <a:ext cx="146304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Only that group</a:t>
            </a:r>
            <a:endParaRPr lang="en-US" sz="1050" dirty="0"/>
          </a:p>
        </p:txBody>
      </p:sp>
      <p:sp>
        <p:nvSpPr>
          <p:cNvPr id="77" name="Shape 74"/>
          <p:cNvSpPr/>
          <p:nvPr/>
        </p:nvSpPr>
        <p:spPr>
          <a:xfrm>
            <a:off x="6903720" y="4800600"/>
            <a:ext cx="4251960" cy="566928"/>
          </a:xfrm>
          <a:prstGeom prst="roundRect">
            <a:avLst>
              <a:gd name="adj" fmla="val 9677"/>
            </a:avLst>
          </a:prstGeom>
          <a:solidFill>
            <a:srgbClr val="EAF2FF"/>
          </a:solidFill>
          <a:ln w="12700">
            <a:solidFill>
              <a:srgbClr val="7EA6E0"/>
            </a:solidFill>
            <a:prstDash val="solid"/>
          </a:ln>
        </p:spPr>
        <p:txBody>
          <a:bodyPr/>
          <a:lstStyle/>
          <a:p>
            <a:endParaRPr lang="ko-KR" altLang="en-US"/>
          </a:p>
        </p:txBody>
      </p:sp>
      <p:sp>
        <p:nvSpPr>
          <p:cNvPr id="78" name="Text 75"/>
          <p:cNvSpPr/>
          <p:nvPr/>
        </p:nvSpPr>
        <p:spPr>
          <a:xfrm>
            <a:off x="7086600" y="4901184"/>
            <a:ext cx="3886200" cy="329184"/>
          </a:xfrm>
          <a:prstGeom prst="rect">
            <a:avLst/>
          </a:prstGeom>
          <a:noFill/>
          <a:ln/>
        </p:spPr>
        <p:txBody>
          <a:bodyPr wrap="square" lIns="0" tIns="0" rIns="0" bIns="0" rtlCol="0" anchor="ctr">
            <a:normAutofit lnSpcReduction="10000"/>
          </a:bodyPr>
          <a:lstStyle/>
          <a:p>
            <a:pPr marL="0" indent="0" algn="ctr">
              <a:buNone/>
            </a:pPr>
            <a:r>
              <a:rPr lang="en-US" sz="1100" b="1" dirty="0">
                <a:solidFill>
                  <a:srgbClr val="00245D"/>
                </a:solidFill>
                <a:latin typeface="Arial" pitchFamily="34" charset="0"/>
                <a:ea typeface="Arial" pitchFamily="34" charset="-122"/>
                <a:cs typeface="Arial" pitchFamily="34" charset="-120"/>
              </a:rPr>
              <a:t>Smaller sharing scope → less outlier impact</a:t>
            </a:r>
            <a:endParaRPr lang="en-US" sz="1100" dirty="0"/>
          </a:p>
          <a:p>
            <a:pPr marL="0" indent="0" algn="ctr">
              <a:buNone/>
            </a:pPr>
            <a:r>
              <a:rPr lang="en-US" sz="1100" b="1" dirty="0">
                <a:solidFill>
                  <a:srgbClr val="00245D"/>
                </a:solidFill>
                <a:latin typeface="Arial" pitchFamily="34" charset="0"/>
                <a:ea typeface="Arial" pitchFamily="34" charset="-122"/>
                <a:cs typeface="Arial" pitchFamily="34" charset="-120"/>
              </a:rPr>
              <a:t>But: more scale metadata to store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Per-Tensor Quantization: One Outlier Affects Everything</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20</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Per-Tensor uses one scaling factor for the entire weight tensor.</a:t>
            </a:r>
            <a:endParaRPr lang="en-US" sz="1300" dirty="0"/>
          </a:p>
        </p:txBody>
      </p:sp>
      <p:sp>
        <p:nvSpPr>
          <p:cNvPr id="9" name="Shape 6"/>
          <p:cNvSpPr/>
          <p:nvPr/>
        </p:nvSpPr>
        <p:spPr>
          <a:xfrm>
            <a:off x="685800" y="1417320"/>
            <a:ext cx="5715000" cy="4434840"/>
          </a:xfrm>
          <a:prstGeom prst="roundRect">
            <a:avLst>
              <a:gd name="adj" fmla="val 1237"/>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36192"/>
            <a:ext cx="53858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MD example weight tensor</a:t>
            </a:r>
            <a:endParaRPr lang="en-US" sz="1200" dirty="0"/>
          </a:p>
        </p:txBody>
      </p:sp>
      <p:sp>
        <p:nvSpPr>
          <p:cNvPr id="11" name="Text 8"/>
          <p:cNvSpPr/>
          <p:nvPr/>
        </p:nvSpPr>
        <p:spPr>
          <a:xfrm>
            <a:off x="914400" y="2167128"/>
            <a:ext cx="960120" cy="219456"/>
          </a:xfrm>
          <a:prstGeom prst="rect">
            <a:avLst/>
          </a:prstGeom>
          <a:noFill/>
          <a:ln/>
        </p:spPr>
        <p:txBody>
          <a:bodyPr wrap="square" lIns="0" tIns="0" rIns="0" bIns="0" rtlCol="0" anchor="ctr"/>
          <a:lstStyle/>
          <a:p>
            <a:pPr marL="0" indent="0" algn="r">
              <a:buNone/>
            </a:pPr>
            <a:r>
              <a:rPr lang="en-US" sz="1050" b="1" dirty="0">
                <a:solidFill>
                  <a:srgbClr val="00245D"/>
                </a:solidFill>
                <a:latin typeface="Arial" pitchFamily="34" charset="0"/>
                <a:ea typeface="Arial" pitchFamily="34" charset="-122"/>
                <a:cs typeface="Arial" pitchFamily="34" charset="-120"/>
              </a:rPr>
              <a:t>Ch. 1</a:t>
            </a:r>
            <a:endParaRPr lang="en-US" sz="1050" dirty="0"/>
          </a:p>
        </p:txBody>
      </p:sp>
      <p:sp>
        <p:nvSpPr>
          <p:cNvPr id="12" name="Shape 9"/>
          <p:cNvSpPr/>
          <p:nvPr/>
        </p:nvSpPr>
        <p:spPr>
          <a:xfrm>
            <a:off x="1993392" y="2057400"/>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13" name="Text 10"/>
          <p:cNvSpPr/>
          <p:nvPr/>
        </p:nvSpPr>
        <p:spPr>
          <a:xfrm>
            <a:off x="2011680" y="2185416"/>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0.2</a:t>
            </a:r>
            <a:endParaRPr lang="en-US" sz="950" dirty="0"/>
          </a:p>
        </p:txBody>
      </p:sp>
      <p:sp>
        <p:nvSpPr>
          <p:cNvPr id="14" name="Shape 11"/>
          <p:cNvSpPr/>
          <p:nvPr/>
        </p:nvSpPr>
        <p:spPr>
          <a:xfrm>
            <a:off x="2450592" y="2057400"/>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15" name="Text 12"/>
          <p:cNvSpPr/>
          <p:nvPr/>
        </p:nvSpPr>
        <p:spPr>
          <a:xfrm>
            <a:off x="2468880" y="2185416"/>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-0.3</a:t>
            </a:r>
            <a:endParaRPr lang="en-US" sz="950" dirty="0"/>
          </a:p>
        </p:txBody>
      </p:sp>
      <p:sp>
        <p:nvSpPr>
          <p:cNvPr id="16" name="Shape 13"/>
          <p:cNvSpPr/>
          <p:nvPr/>
        </p:nvSpPr>
        <p:spPr>
          <a:xfrm>
            <a:off x="2907792" y="2057400"/>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17" name="Text 14"/>
          <p:cNvSpPr/>
          <p:nvPr/>
        </p:nvSpPr>
        <p:spPr>
          <a:xfrm>
            <a:off x="2926080" y="2185416"/>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0.4</a:t>
            </a:r>
            <a:endParaRPr lang="en-US" sz="950" dirty="0"/>
          </a:p>
        </p:txBody>
      </p:sp>
      <p:sp>
        <p:nvSpPr>
          <p:cNvPr id="18" name="Shape 15"/>
          <p:cNvSpPr/>
          <p:nvPr/>
        </p:nvSpPr>
        <p:spPr>
          <a:xfrm>
            <a:off x="3364992" y="2057400"/>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19" name="Text 16"/>
          <p:cNvSpPr/>
          <p:nvPr/>
        </p:nvSpPr>
        <p:spPr>
          <a:xfrm>
            <a:off x="3383280" y="2185416"/>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-0.1</a:t>
            </a:r>
            <a:endParaRPr lang="en-US" sz="950" dirty="0"/>
          </a:p>
        </p:txBody>
      </p:sp>
      <p:sp>
        <p:nvSpPr>
          <p:cNvPr id="20" name="Shape 17"/>
          <p:cNvSpPr/>
          <p:nvPr/>
        </p:nvSpPr>
        <p:spPr>
          <a:xfrm>
            <a:off x="3822192" y="2057400"/>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21" name="Text 18"/>
          <p:cNvSpPr/>
          <p:nvPr/>
        </p:nvSpPr>
        <p:spPr>
          <a:xfrm>
            <a:off x="3840480" y="2185416"/>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0.1</a:t>
            </a:r>
            <a:endParaRPr lang="en-US" sz="950" dirty="0"/>
          </a:p>
        </p:txBody>
      </p:sp>
      <p:sp>
        <p:nvSpPr>
          <p:cNvPr id="22" name="Shape 19"/>
          <p:cNvSpPr/>
          <p:nvPr/>
        </p:nvSpPr>
        <p:spPr>
          <a:xfrm>
            <a:off x="4279392" y="2057400"/>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23" name="Text 20"/>
          <p:cNvSpPr/>
          <p:nvPr/>
        </p:nvSpPr>
        <p:spPr>
          <a:xfrm>
            <a:off x="4297680" y="2185416"/>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-0.2</a:t>
            </a:r>
            <a:endParaRPr lang="en-US" sz="950" dirty="0"/>
          </a:p>
        </p:txBody>
      </p:sp>
      <p:sp>
        <p:nvSpPr>
          <p:cNvPr id="24" name="Shape 21"/>
          <p:cNvSpPr/>
          <p:nvPr/>
        </p:nvSpPr>
        <p:spPr>
          <a:xfrm>
            <a:off x="4736592" y="2057400"/>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25" name="Text 22"/>
          <p:cNvSpPr/>
          <p:nvPr/>
        </p:nvSpPr>
        <p:spPr>
          <a:xfrm>
            <a:off x="4754880" y="2185416"/>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0.3</a:t>
            </a:r>
            <a:endParaRPr lang="en-US" sz="950" dirty="0"/>
          </a:p>
        </p:txBody>
      </p:sp>
      <p:sp>
        <p:nvSpPr>
          <p:cNvPr id="26" name="Shape 23"/>
          <p:cNvSpPr/>
          <p:nvPr/>
        </p:nvSpPr>
        <p:spPr>
          <a:xfrm>
            <a:off x="5193792" y="2057400"/>
            <a:ext cx="457200" cy="438912"/>
          </a:xfrm>
          <a:prstGeom prst="rect">
            <a:avLst/>
          </a:prstGeom>
          <a:solidFill>
            <a:srgbClr val="FDECEC"/>
          </a:solidFill>
          <a:ln w="16510">
            <a:solidFill>
              <a:srgbClr val="C00000"/>
            </a:solidFill>
            <a:prstDash val="solid"/>
          </a:ln>
        </p:spPr>
        <p:txBody>
          <a:bodyPr/>
          <a:lstStyle/>
          <a:p>
            <a:endParaRPr lang="ko-KR" altLang="en-US"/>
          </a:p>
        </p:txBody>
      </p:sp>
      <p:sp>
        <p:nvSpPr>
          <p:cNvPr id="27" name="Text 24"/>
          <p:cNvSpPr/>
          <p:nvPr/>
        </p:nvSpPr>
        <p:spPr>
          <a:xfrm>
            <a:off x="5212080" y="2185416"/>
            <a:ext cx="420624" cy="146304"/>
          </a:xfrm>
          <a:prstGeom prst="rect">
            <a:avLst/>
          </a:prstGeom>
          <a:noFill/>
          <a:ln/>
        </p:spPr>
        <p:txBody>
          <a:bodyPr wrap="square" lIns="0" tIns="0" rIns="0" bIns="0" rtlCol="0" anchor="ctr">
            <a:normAutofit/>
          </a:bodyPr>
          <a:lstStyle/>
          <a:p>
            <a:pPr marL="0" indent="0" algn="ctr">
              <a:buNone/>
            </a:pPr>
            <a:r>
              <a:rPr lang="en-US" sz="950" b="1" dirty="0">
                <a:solidFill>
                  <a:srgbClr val="C00000"/>
                </a:solidFill>
                <a:latin typeface="Arial" pitchFamily="34" charset="0"/>
                <a:ea typeface="Arial" pitchFamily="34" charset="-122"/>
                <a:cs typeface="Arial" pitchFamily="34" charset="-120"/>
              </a:rPr>
              <a:t>4.0</a:t>
            </a:r>
            <a:endParaRPr lang="en-US" sz="950" dirty="0"/>
          </a:p>
        </p:txBody>
      </p:sp>
      <p:sp>
        <p:nvSpPr>
          <p:cNvPr id="28" name="Text 25"/>
          <p:cNvSpPr/>
          <p:nvPr/>
        </p:nvSpPr>
        <p:spPr>
          <a:xfrm>
            <a:off x="914400" y="2871216"/>
            <a:ext cx="960120" cy="219456"/>
          </a:xfrm>
          <a:prstGeom prst="rect">
            <a:avLst/>
          </a:prstGeom>
          <a:noFill/>
          <a:ln/>
        </p:spPr>
        <p:txBody>
          <a:bodyPr wrap="square" lIns="0" tIns="0" rIns="0" bIns="0" rtlCol="0" anchor="ctr"/>
          <a:lstStyle/>
          <a:p>
            <a:pPr marL="0" indent="0" algn="r">
              <a:buNone/>
            </a:pPr>
            <a:r>
              <a:rPr lang="en-US" sz="1050" b="1" dirty="0">
                <a:solidFill>
                  <a:srgbClr val="00245D"/>
                </a:solidFill>
                <a:latin typeface="Arial" pitchFamily="34" charset="0"/>
                <a:ea typeface="Arial" pitchFamily="34" charset="-122"/>
                <a:cs typeface="Arial" pitchFamily="34" charset="-120"/>
              </a:rPr>
              <a:t>Ch. 2</a:t>
            </a:r>
            <a:endParaRPr lang="en-US" sz="1050" dirty="0"/>
          </a:p>
        </p:txBody>
      </p:sp>
      <p:sp>
        <p:nvSpPr>
          <p:cNvPr id="29" name="Shape 26"/>
          <p:cNvSpPr/>
          <p:nvPr/>
        </p:nvSpPr>
        <p:spPr>
          <a:xfrm>
            <a:off x="1993392" y="2761488"/>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30" name="Text 27"/>
          <p:cNvSpPr/>
          <p:nvPr/>
        </p:nvSpPr>
        <p:spPr>
          <a:xfrm>
            <a:off x="2011680" y="2889504"/>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0.5</a:t>
            </a:r>
            <a:endParaRPr lang="en-US" sz="950" dirty="0"/>
          </a:p>
        </p:txBody>
      </p:sp>
      <p:sp>
        <p:nvSpPr>
          <p:cNvPr id="31" name="Shape 28"/>
          <p:cNvSpPr/>
          <p:nvPr/>
        </p:nvSpPr>
        <p:spPr>
          <a:xfrm>
            <a:off x="2450592" y="2761488"/>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32" name="Text 29"/>
          <p:cNvSpPr/>
          <p:nvPr/>
        </p:nvSpPr>
        <p:spPr>
          <a:xfrm>
            <a:off x="2468880" y="2889504"/>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-0.4</a:t>
            </a:r>
            <a:endParaRPr lang="en-US" sz="950" dirty="0"/>
          </a:p>
        </p:txBody>
      </p:sp>
      <p:sp>
        <p:nvSpPr>
          <p:cNvPr id="33" name="Shape 30"/>
          <p:cNvSpPr/>
          <p:nvPr/>
        </p:nvSpPr>
        <p:spPr>
          <a:xfrm>
            <a:off x="2907792" y="2761488"/>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34" name="Text 31"/>
          <p:cNvSpPr/>
          <p:nvPr/>
        </p:nvSpPr>
        <p:spPr>
          <a:xfrm>
            <a:off x="2926080" y="2889504"/>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0.2</a:t>
            </a:r>
            <a:endParaRPr lang="en-US" sz="950" dirty="0"/>
          </a:p>
        </p:txBody>
      </p:sp>
      <p:sp>
        <p:nvSpPr>
          <p:cNvPr id="35" name="Shape 32"/>
          <p:cNvSpPr/>
          <p:nvPr/>
        </p:nvSpPr>
        <p:spPr>
          <a:xfrm>
            <a:off x="3364992" y="2761488"/>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36" name="Text 33"/>
          <p:cNvSpPr/>
          <p:nvPr/>
        </p:nvSpPr>
        <p:spPr>
          <a:xfrm>
            <a:off x="3383280" y="2889504"/>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-0.1</a:t>
            </a:r>
            <a:endParaRPr lang="en-US" sz="950" dirty="0"/>
          </a:p>
        </p:txBody>
      </p:sp>
      <p:sp>
        <p:nvSpPr>
          <p:cNvPr id="37" name="Shape 34"/>
          <p:cNvSpPr/>
          <p:nvPr/>
        </p:nvSpPr>
        <p:spPr>
          <a:xfrm>
            <a:off x="3822192" y="2761488"/>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38" name="Text 35"/>
          <p:cNvSpPr/>
          <p:nvPr/>
        </p:nvSpPr>
        <p:spPr>
          <a:xfrm>
            <a:off x="3840480" y="2889504"/>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0.6</a:t>
            </a:r>
            <a:endParaRPr lang="en-US" sz="950" dirty="0"/>
          </a:p>
        </p:txBody>
      </p:sp>
      <p:sp>
        <p:nvSpPr>
          <p:cNvPr id="39" name="Shape 36"/>
          <p:cNvSpPr/>
          <p:nvPr/>
        </p:nvSpPr>
        <p:spPr>
          <a:xfrm>
            <a:off x="4279392" y="2761488"/>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40" name="Text 37"/>
          <p:cNvSpPr/>
          <p:nvPr/>
        </p:nvSpPr>
        <p:spPr>
          <a:xfrm>
            <a:off x="4297680" y="2889504"/>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-0.5</a:t>
            </a:r>
            <a:endParaRPr lang="en-US" sz="950" dirty="0"/>
          </a:p>
        </p:txBody>
      </p:sp>
      <p:sp>
        <p:nvSpPr>
          <p:cNvPr id="41" name="Shape 38"/>
          <p:cNvSpPr/>
          <p:nvPr/>
        </p:nvSpPr>
        <p:spPr>
          <a:xfrm>
            <a:off x="4736592" y="2761488"/>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42" name="Text 39"/>
          <p:cNvSpPr/>
          <p:nvPr/>
        </p:nvSpPr>
        <p:spPr>
          <a:xfrm>
            <a:off x="4754880" y="2889504"/>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0.4</a:t>
            </a:r>
            <a:endParaRPr lang="en-US" sz="950" dirty="0"/>
          </a:p>
        </p:txBody>
      </p:sp>
      <p:sp>
        <p:nvSpPr>
          <p:cNvPr id="43" name="Shape 40"/>
          <p:cNvSpPr/>
          <p:nvPr/>
        </p:nvSpPr>
        <p:spPr>
          <a:xfrm>
            <a:off x="5193792" y="2761488"/>
            <a:ext cx="457200" cy="438912"/>
          </a:xfrm>
          <a:prstGeom prst="rect">
            <a:avLst/>
          </a:prstGeom>
          <a:solidFill>
            <a:srgbClr val="FFFFFF"/>
          </a:solidFill>
          <a:ln w="7620">
            <a:solidFill>
              <a:srgbClr val="BFBFBF"/>
            </a:solidFill>
            <a:prstDash val="solid"/>
          </a:ln>
        </p:spPr>
        <p:txBody>
          <a:bodyPr/>
          <a:lstStyle/>
          <a:p>
            <a:endParaRPr lang="ko-KR" altLang="en-US"/>
          </a:p>
        </p:txBody>
      </p:sp>
      <p:sp>
        <p:nvSpPr>
          <p:cNvPr id="44" name="Text 41"/>
          <p:cNvSpPr/>
          <p:nvPr/>
        </p:nvSpPr>
        <p:spPr>
          <a:xfrm>
            <a:off x="5212080" y="2889504"/>
            <a:ext cx="420624"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-0.3</a:t>
            </a:r>
            <a:endParaRPr lang="en-US" sz="950" dirty="0"/>
          </a:p>
        </p:txBody>
      </p:sp>
      <p:sp>
        <p:nvSpPr>
          <p:cNvPr id="45" name="Text 42"/>
          <p:cNvSpPr/>
          <p:nvPr/>
        </p:nvSpPr>
        <p:spPr>
          <a:xfrm>
            <a:off x="1097280" y="3520440"/>
            <a:ext cx="4983480" cy="320040"/>
          </a:xfrm>
          <a:prstGeom prst="rect">
            <a:avLst/>
          </a:prstGeom>
          <a:noFill/>
          <a:ln/>
        </p:spPr>
        <p:txBody>
          <a:bodyPr wrap="square" lIns="0" tIns="0" rIns="0" bIns="0" rtlCol="0" anchor="ctr">
            <a:normAutofit/>
          </a:bodyPr>
          <a:lstStyle/>
          <a:p>
            <a:pPr marL="0" indent="0" algn="ctr">
              <a:buNone/>
            </a:pPr>
            <a:r>
              <a:rPr lang="en-US" sz="1150" b="1" dirty="0">
                <a:solidFill>
                  <a:srgbClr val="C00000"/>
                </a:solidFill>
                <a:latin typeface="Arial" pitchFamily="34" charset="0"/>
                <a:ea typeface="Arial" pitchFamily="34" charset="-122"/>
                <a:cs typeface="Arial" pitchFamily="34" charset="-120"/>
              </a:rPr>
              <a:t>4.0 is the absolute maximum, so the whole tensor must use a large Δ.</a:t>
            </a:r>
            <a:endParaRPr lang="en-US" sz="1150" dirty="0"/>
          </a:p>
        </p:txBody>
      </p:sp>
      <mc:AlternateContent xmlns:mc="http://schemas.openxmlformats.org/markup-compatibility/2006" xmlns:a14="http://schemas.microsoft.com/office/drawing/2010/main">
        <mc:Choice Requires="a14">
          <p:sp>
            <p:nvSpPr>
              <p:cNvPr id="46" name="Text 43"/>
              <p:cNvSpPr/>
              <p:nvPr/>
            </p:nvSpPr>
            <p:spPr>
              <a:xfrm>
                <a:off x="1097280" y="4160520"/>
                <a:ext cx="4892040" cy="621792"/>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en-US" altLang="ko-KR" sz="1150" smtClean="0">
                          <a:latin typeface="Cambria Math"/>
                        </a:rPr>
                        <m:t>𝛥</m:t>
                      </m:r>
                      <m:r>
                        <a:rPr lang="en-US" altLang="ko-KR" sz="1150" smtClean="0">
                          <a:latin typeface="Cambria Math"/>
                        </a:rPr>
                        <m:t>=</m:t>
                      </m:r>
                      <m:f>
                        <m:fPr>
                          <m:ctrlPr>
                            <a:rPr lang="en-US" altLang="ko-KR" sz="1150" smtClean="0">
                              <a:latin typeface="Cambria Math"/>
                            </a:rPr>
                          </m:ctrlPr>
                        </m:fPr>
                        <m:num>
                          <m:r>
                            <a:rPr lang="en-US" altLang="ko-KR" sz="1150" smtClean="0">
                              <a:latin typeface="Cambria Math"/>
                            </a:rPr>
                            <m:t>4.0</m:t>
                          </m:r>
                        </m:num>
                        <m:den>
                          <m:sSup>
                            <m:sSupPr>
                              <m:ctrlPr>
                                <a:rPr lang="en-US" altLang="ko-KR" sz="1150" smtClean="0">
                                  <a:latin typeface="Cambria Math"/>
                                </a:rPr>
                              </m:ctrlPr>
                            </m:sSupPr>
                            <m:e>
                              <m:r>
                                <a:rPr lang="en-US" altLang="ko-KR" sz="1150" smtClean="0">
                                  <a:latin typeface="Cambria Math"/>
                                </a:rPr>
                                <m:t>2</m:t>
                              </m:r>
                            </m:e>
                            <m:sup>
                              <m:r>
                                <a:rPr lang="en-US" altLang="ko-KR" sz="1150" smtClean="0">
                                  <a:latin typeface="Cambria Math"/>
                                </a:rPr>
                                <m:t>4−1</m:t>
                              </m:r>
                            </m:sup>
                          </m:sSup>
                          <m:r>
                            <a:rPr lang="en-US" altLang="ko-KR" sz="1150" smtClean="0">
                              <a:latin typeface="Cambria Math"/>
                            </a:rPr>
                            <m:t>−1</m:t>
                          </m:r>
                        </m:den>
                      </m:f>
                      <m:r>
                        <a:rPr lang="en-US" altLang="ko-KR" sz="1150" smtClean="0">
                          <a:latin typeface="Cambria Math"/>
                        </a:rPr>
                        <m:t>=</m:t>
                      </m:r>
                      <m:f>
                        <m:fPr>
                          <m:ctrlPr>
                            <a:rPr lang="en-US" altLang="ko-KR" sz="1150" smtClean="0">
                              <a:latin typeface="Cambria Math"/>
                            </a:rPr>
                          </m:ctrlPr>
                        </m:fPr>
                        <m:num>
                          <m:r>
                            <a:rPr lang="en-US" altLang="ko-KR" sz="1150" smtClean="0">
                              <a:latin typeface="Cambria Math"/>
                            </a:rPr>
                            <m:t>4.0</m:t>
                          </m:r>
                        </m:num>
                        <m:den>
                          <m:r>
                            <a:rPr lang="en-US" altLang="ko-KR" sz="1150" smtClean="0">
                              <a:latin typeface="Cambria Math"/>
                            </a:rPr>
                            <m:t>7</m:t>
                          </m:r>
                        </m:den>
                      </m:f>
                      <m:r>
                        <a:rPr lang="en-US" altLang="ko-KR" sz="1150" smtClean="0">
                          <a:latin typeface="Cambria Math"/>
                        </a:rPr>
                        <m:t>≈0.5714</m:t>
                      </m:r>
                    </m:oMath>
                  </m:oMathPara>
                </a14:m>
                <a:endParaRPr/>
              </a:p>
            </p:txBody>
          </p:sp>
        </mc:Choice>
        <mc:Fallback xmlns="">
          <p:sp>
            <p:nvSpPr>
              <p:cNvPr id="46" name="Text 43"/>
              <p:cNvSpPr>
                <a:spLocks noRot="1" noChangeAspect="1" noMove="1" noResize="1" noEditPoints="1" noAdjustHandles="1" noChangeArrowheads="1" noChangeShapeType="1" noTextEdit="1"/>
              </p:cNvSpPr>
              <p:nvPr/>
            </p:nvSpPr>
            <p:spPr>
              <a:xfrm>
                <a:off x="1097280" y="4160520"/>
                <a:ext cx="4892040" cy="621792"/>
              </a:xfrm>
              <a:prstGeom prst="rect">
                <a:avLst/>
              </a:prstGeom>
              <a:blipFill>
                <a:blip r:embed="rId4"/>
                <a:stretch>
                  <a:fillRect/>
                </a:stretch>
              </a:blipFill>
              <a:ln/>
            </p:spPr>
            <p:txBody>
              <a:bodyPr/>
              <a:lstStyle/>
              <a:p>
                <a:r>
                  <a:rPr lang="ko-KR" altLang="en-US">
                    <a:noFill/>
                  </a:rPr>
                  <a:t> </a:t>
                </a:r>
              </a:p>
            </p:txBody>
          </p:sp>
        </mc:Fallback>
      </mc:AlternateContent>
      <p:sp>
        <p:nvSpPr>
          <p:cNvPr id="47" name="Shape 44"/>
          <p:cNvSpPr/>
          <p:nvPr/>
        </p:nvSpPr>
        <p:spPr>
          <a:xfrm>
            <a:off x="6720840" y="1417320"/>
            <a:ext cx="4526280" cy="4434840"/>
          </a:xfrm>
          <a:prstGeom prst="roundRect">
            <a:avLst>
              <a:gd name="adj" fmla="val 1237"/>
            </a:avLst>
          </a:prstGeom>
          <a:solidFill>
            <a:srgbClr val="FFFDF2"/>
          </a:solidFill>
          <a:ln w="13335">
            <a:solidFill>
              <a:srgbClr val="D6B656"/>
            </a:solidFill>
            <a:prstDash val="solid"/>
          </a:ln>
        </p:spPr>
        <p:txBody>
          <a:bodyPr/>
          <a:lstStyle/>
          <a:p>
            <a:endParaRPr lang="ko-KR" altLang="en-US"/>
          </a:p>
        </p:txBody>
      </p:sp>
      <p:sp>
        <p:nvSpPr>
          <p:cNvPr id="48" name="Text 45"/>
          <p:cNvSpPr/>
          <p:nvPr/>
        </p:nvSpPr>
        <p:spPr>
          <a:xfrm>
            <a:off x="6885432" y="1536192"/>
            <a:ext cx="41970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Effect on a small weight</a:t>
            </a:r>
            <a:endParaRPr lang="en-US" sz="1200" dirty="0"/>
          </a:p>
        </p:txBody>
      </p:sp>
      <p:sp>
        <p:nvSpPr>
          <p:cNvPr id="49" name="Text 46"/>
          <p:cNvSpPr/>
          <p:nvPr/>
        </p:nvSpPr>
        <p:spPr>
          <a:xfrm>
            <a:off x="6995160" y="1874520"/>
            <a:ext cx="4069080" cy="228600"/>
          </a:xfrm>
          <a:prstGeom prst="rect">
            <a:avLst/>
          </a:prstGeom>
          <a:noFill/>
          <a:ln/>
        </p:spPr>
        <p:txBody>
          <a:bodyPr wrap="square" lIns="0" tIns="0" rIns="0" bIns="0" rtlCol="0" anchor="ctr"/>
          <a:lstStyle/>
          <a:p>
            <a:pPr marL="0" indent="0">
              <a:buNone/>
            </a:pPr>
            <a:r>
              <a:rPr lang="en-US" sz="1150" dirty="0">
                <a:solidFill>
                  <a:srgbClr val="222222"/>
                </a:solidFill>
                <a:latin typeface="Arial" pitchFamily="34" charset="0"/>
                <a:ea typeface="Arial" pitchFamily="34" charset="-122"/>
                <a:cs typeface="Arial" pitchFamily="34" charset="-120"/>
              </a:rPr>
              <a:t>Take a normal small weight from the tensor:</a:t>
            </a:r>
            <a:endParaRPr lang="en-US" sz="1150" dirty="0"/>
          </a:p>
        </p:txBody>
      </p:sp>
      <mc:AlternateContent xmlns:mc="http://schemas.openxmlformats.org/markup-compatibility/2006" xmlns:a14="http://schemas.microsoft.com/office/drawing/2010/main">
        <mc:Choice Requires="a14">
          <p:sp>
            <p:nvSpPr>
              <p:cNvPr id="50" name="Text 47"/>
              <p:cNvSpPr/>
              <p:nvPr/>
            </p:nvSpPr>
            <p:spPr>
              <a:xfrm>
                <a:off x="7223760" y="2212848"/>
                <a:ext cx="3657600" cy="4114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𝑓</m:t>
                          </m:r>
                        </m:sub>
                      </m:sSub>
                      <m:r>
                        <a:rPr lang="en-US" altLang="ko-KR" sz="1150" smtClean="0">
                          <a:latin typeface="Cambria Math"/>
                        </a:rPr>
                        <m:t>=0.3</m:t>
                      </m:r>
                    </m:oMath>
                  </m:oMathPara>
                </a14:m>
                <a:endParaRPr/>
              </a:p>
            </p:txBody>
          </p:sp>
        </mc:Choice>
        <mc:Fallback xmlns="">
          <p:sp>
            <p:nvSpPr>
              <p:cNvPr id="50" name="Text 47"/>
              <p:cNvSpPr>
                <a:spLocks noRot="1" noChangeAspect="1" noMove="1" noResize="1" noEditPoints="1" noAdjustHandles="1" noChangeArrowheads="1" noChangeShapeType="1" noTextEdit="1"/>
              </p:cNvSpPr>
              <p:nvPr/>
            </p:nvSpPr>
            <p:spPr>
              <a:xfrm>
                <a:off x="7223760" y="2212848"/>
                <a:ext cx="3657600" cy="411480"/>
              </a:xfrm>
              <a:prstGeom prst="rect">
                <a:avLst/>
              </a:prstGeom>
              <a:blipFill>
                <a:blip r:embed="rId5"/>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1" name="Text 48"/>
              <p:cNvSpPr/>
              <p:nvPr/>
            </p:nvSpPr>
            <p:spPr>
              <a:xfrm>
                <a:off x="6995160" y="2788920"/>
                <a:ext cx="4069080" cy="5029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𝑞</m:t>
                          </m:r>
                        </m:sub>
                      </m:sSub>
                      <m:r>
                        <a:rPr lang="en-US" altLang="ko-KR" sz="1150" smtClean="0">
                          <a:latin typeface="Cambria Math"/>
                        </a:rPr>
                        <m:t>=</m:t>
                      </m:r>
                      <m:r>
                        <m:rPr>
                          <m:sty m:val="p"/>
                        </m:rPr>
                        <a:rPr lang="en-US" altLang="ko-KR" sz="1150" smtClean="0">
                          <a:latin typeface="Cambria Math"/>
                        </a:rPr>
                        <m:t>Round</m:t>
                      </m:r>
                      <m:d>
                        <m:dPr>
                          <m:ctrlPr>
                            <a:rPr lang="en-US" altLang="ko-KR" sz="1150" i="1" smtClean="0">
                              <a:latin typeface="Cambria Math" panose="02040503050406030204" pitchFamily="18" charset="0"/>
                            </a:rPr>
                          </m:ctrlPr>
                        </m:dPr>
                        <m:e>
                          <m:f>
                            <m:fPr>
                              <m:ctrlPr>
                                <a:rPr lang="en-US" altLang="ko-KR" sz="1150" smtClean="0">
                                  <a:latin typeface="Cambria Math"/>
                                </a:rPr>
                              </m:ctrlPr>
                            </m:fPr>
                            <m:num>
                              <m:r>
                                <a:rPr lang="en-US" altLang="ko-KR" sz="1150" smtClean="0">
                                  <a:latin typeface="Cambria Math"/>
                                </a:rPr>
                                <m:t>0.3</m:t>
                              </m:r>
                            </m:num>
                            <m:den>
                              <m:r>
                                <a:rPr lang="en-US" altLang="ko-KR" sz="1150" smtClean="0">
                                  <a:latin typeface="Cambria Math"/>
                                </a:rPr>
                                <m:t>0.5714</m:t>
                              </m:r>
                            </m:den>
                          </m:f>
                        </m:e>
                      </m:d>
                      <m:r>
                        <a:rPr lang="en-US" altLang="ko-KR" sz="1150" smtClean="0">
                          <a:latin typeface="Cambria Math"/>
                        </a:rPr>
                        <m:t>=1</m:t>
                      </m:r>
                    </m:oMath>
                  </m:oMathPara>
                </a14:m>
                <a:endParaRPr/>
              </a:p>
            </p:txBody>
          </p:sp>
        </mc:Choice>
        <mc:Fallback xmlns="">
          <p:sp>
            <p:nvSpPr>
              <p:cNvPr id="51" name="Text 48"/>
              <p:cNvSpPr>
                <a:spLocks noRot="1" noChangeAspect="1" noMove="1" noResize="1" noEditPoints="1" noAdjustHandles="1" noChangeArrowheads="1" noChangeShapeType="1" noTextEdit="1"/>
              </p:cNvSpPr>
              <p:nvPr/>
            </p:nvSpPr>
            <p:spPr>
              <a:xfrm>
                <a:off x="6995160" y="2788920"/>
                <a:ext cx="4069080" cy="502920"/>
              </a:xfrm>
              <a:prstGeom prst="rect">
                <a:avLst/>
              </a:prstGeom>
              <a:blipFill>
                <a:blip r:embed="rId6"/>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2" name="Text 49"/>
              <p:cNvSpPr/>
              <p:nvPr/>
            </p:nvSpPr>
            <p:spPr>
              <a:xfrm>
                <a:off x="6995160" y="3493008"/>
                <a:ext cx="4069080" cy="5029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𝑞𝑓</m:t>
                          </m:r>
                        </m:sub>
                      </m:sSub>
                      <m:r>
                        <a:rPr lang="en-US" altLang="ko-KR" sz="1150" smtClean="0">
                          <a:latin typeface="Cambria Math"/>
                        </a:rPr>
                        <m:t>=1×0.5714=0.5714</m:t>
                      </m:r>
                    </m:oMath>
                  </m:oMathPara>
                </a14:m>
                <a:endParaRPr/>
              </a:p>
            </p:txBody>
          </p:sp>
        </mc:Choice>
        <mc:Fallback xmlns="">
          <p:sp>
            <p:nvSpPr>
              <p:cNvPr id="52" name="Text 49"/>
              <p:cNvSpPr>
                <a:spLocks noRot="1" noChangeAspect="1" noMove="1" noResize="1" noEditPoints="1" noAdjustHandles="1" noChangeArrowheads="1" noChangeShapeType="1" noTextEdit="1"/>
              </p:cNvSpPr>
              <p:nvPr/>
            </p:nvSpPr>
            <p:spPr>
              <a:xfrm>
                <a:off x="6995160" y="3493008"/>
                <a:ext cx="4069080" cy="502920"/>
              </a:xfrm>
              <a:prstGeom prst="rect">
                <a:avLst/>
              </a:prstGeom>
              <a:blipFill>
                <a:blip r:embed="rId7"/>
                <a:stretch>
                  <a:fillRect/>
                </a:stretch>
              </a:blipFill>
              <a:ln/>
            </p:spPr>
            <p:txBody>
              <a:bodyPr/>
              <a:lstStyle/>
              <a:p>
                <a:r>
                  <a:rPr lang="ko-KR" altLang="en-US">
                    <a:noFill/>
                  </a:rPr>
                  <a:t> </a:t>
                </a:r>
              </a:p>
            </p:txBody>
          </p:sp>
        </mc:Fallback>
      </mc:AlternateContent>
      <p:sp>
        <p:nvSpPr>
          <p:cNvPr id="53" name="Shape 50"/>
          <p:cNvSpPr/>
          <p:nvPr/>
        </p:nvSpPr>
        <p:spPr>
          <a:xfrm>
            <a:off x="7086600" y="4416552"/>
            <a:ext cx="3977640" cy="640080"/>
          </a:xfrm>
          <a:prstGeom prst="roundRect">
            <a:avLst>
              <a:gd name="adj" fmla="val 8571"/>
            </a:avLst>
          </a:prstGeom>
          <a:solidFill>
            <a:srgbClr val="FDECEC"/>
          </a:solidFill>
          <a:ln w="12700">
            <a:solidFill>
              <a:srgbClr val="E6B8B7"/>
            </a:solidFill>
            <a:prstDash val="solid"/>
          </a:ln>
        </p:spPr>
        <p:txBody>
          <a:bodyPr/>
          <a:lstStyle/>
          <a:p>
            <a:endParaRPr lang="ko-KR" altLang="en-US"/>
          </a:p>
        </p:txBody>
      </p:sp>
      <p:sp>
        <p:nvSpPr>
          <p:cNvPr id="54" name="Text 51"/>
          <p:cNvSpPr/>
          <p:nvPr/>
        </p:nvSpPr>
        <p:spPr>
          <a:xfrm>
            <a:off x="7269480" y="4572000"/>
            <a:ext cx="3611880" cy="320040"/>
          </a:xfrm>
          <a:prstGeom prst="rect">
            <a:avLst/>
          </a:prstGeom>
          <a:noFill/>
          <a:ln/>
        </p:spPr>
        <p:txBody>
          <a:bodyPr wrap="square" lIns="0" tIns="0" rIns="0" bIns="0" rtlCol="0" anchor="ctr">
            <a:normAutofit lnSpcReduction="10000"/>
          </a:bodyPr>
          <a:lstStyle/>
          <a:p>
            <a:pPr marL="0" indent="0" algn="ctr">
              <a:buNone/>
            </a:pPr>
            <a:r>
              <a:rPr lang="en-US" sz="1150" b="1" dirty="0">
                <a:solidFill>
                  <a:srgbClr val="C00000"/>
                </a:solidFill>
                <a:latin typeface="Arial" pitchFamily="34" charset="0"/>
                <a:ea typeface="Arial" pitchFamily="34" charset="-122"/>
                <a:cs typeface="Arial" pitchFamily="34" charset="-120"/>
              </a:rPr>
              <a:t>0.3 is approximated as 0.5714</a:t>
            </a:r>
            <a:endParaRPr lang="en-US" sz="1150" dirty="0"/>
          </a:p>
          <a:p>
            <a:pPr marL="0" indent="0" algn="ctr">
              <a:buNone/>
            </a:pPr>
            <a:r>
              <a:rPr lang="en-US" sz="1150" b="1" dirty="0">
                <a:solidFill>
                  <a:srgbClr val="C00000"/>
                </a:solidFill>
                <a:latin typeface="Arial" pitchFamily="34" charset="0"/>
                <a:ea typeface="Arial" pitchFamily="34" charset="-122"/>
                <a:cs typeface="Arial" pitchFamily="34" charset="-120"/>
              </a:rPr>
              <a:t>Error ≈ 0.2714</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Per-Channel Quantization: Better, But Still Coarse</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21</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Per-Channel assigns a separate scaling factor to each output channel.</a:t>
            </a:r>
            <a:endParaRPr lang="en-US" sz="1300" dirty="0"/>
          </a:p>
        </p:txBody>
      </p:sp>
      <p:sp>
        <p:nvSpPr>
          <p:cNvPr id="9" name="Shape 6"/>
          <p:cNvSpPr/>
          <p:nvPr/>
        </p:nvSpPr>
        <p:spPr>
          <a:xfrm>
            <a:off x="685800" y="1417320"/>
            <a:ext cx="5532120" cy="4526280"/>
          </a:xfrm>
          <a:prstGeom prst="roundRect">
            <a:avLst>
              <a:gd name="adj" fmla="val 1212"/>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36192"/>
            <a:ext cx="52029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Each channel has its own Δ</a:t>
            </a:r>
            <a:endParaRPr lang="en-US" sz="1200" dirty="0"/>
          </a:p>
        </p:txBody>
      </p:sp>
      <p:sp>
        <p:nvSpPr>
          <p:cNvPr id="11" name="Text 8"/>
          <p:cNvSpPr/>
          <p:nvPr/>
        </p:nvSpPr>
        <p:spPr>
          <a:xfrm>
            <a:off x="914400" y="2167128"/>
            <a:ext cx="960120" cy="219456"/>
          </a:xfrm>
          <a:prstGeom prst="rect">
            <a:avLst/>
          </a:prstGeom>
          <a:noFill/>
          <a:ln/>
        </p:spPr>
        <p:txBody>
          <a:bodyPr wrap="square" lIns="0" tIns="0" rIns="0" bIns="0" rtlCol="0" anchor="ctr"/>
          <a:lstStyle/>
          <a:p>
            <a:pPr marL="0" indent="0" algn="r">
              <a:buNone/>
            </a:pPr>
            <a:r>
              <a:rPr lang="en-US" sz="1050" b="1" dirty="0">
                <a:solidFill>
                  <a:srgbClr val="00245D"/>
                </a:solidFill>
                <a:latin typeface="Arial" pitchFamily="34" charset="0"/>
                <a:ea typeface="Arial" pitchFamily="34" charset="-122"/>
                <a:cs typeface="Arial" pitchFamily="34" charset="-120"/>
              </a:rPr>
              <a:t>Ch. 1</a:t>
            </a:r>
            <a:endParaRPr lang="en-US" sz="1050" dirty="0"/>
          </a:p>
        </p:txBody>
      </p:sp>
      <p:sp>
        <p:nvSpPr>
          <p:cNvPr id="12" name="Shape 9"/>
          <p:cNvSpPr/>
          <p:nvPr/>
        </p:nvSpPr>
        <p:spPr>
          <a:xfrm>
            <a:off x="1993392" y="20574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13" name="Text 10"/>
          <p:cNvSpPr/>
          <p:nvPr/>
        </p:nvSpPr>
        <p:spPr>
          <a:xfrm>
            <a:off x="2011680" y="21854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0.2</a:t>
            </a:r>
            <a:endParaRPr lang="en-US" sz="950" dirty="0"/>
          </a:p>
        </p:txBody>
      </p:sp>
      <p:sp>
        <p:nvSpPr>
          <p:cNvPr id="14" name="Shape 11"/>
          <p:cNvSpPr/>
          <p:nvPr/>
        </p:nvSpPr>
        <p:spPr>
          <a:xfrm>
            <a:off x="2432304" y="20574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15" name="Text 12"/>
          <p:cNvSpPr/>
          <p:nvPr/>
        </p:nvSpPr>
        <p:spPr>
          <a:xfrm>
            <a:off x="2450592" y="21854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-0.3</a:t>
            </a:r>
            <a:endParaRPr lang="en-US" sz="950" dirty="0"/>
          </a:p>
        </p:txBody>
      </p:sp>
      <p:sp>
        <p:nvSpPr>
          <p:cNvPr id="16" name="Shape 13"/>
          <p:cNvSpPr/>
          <p:nvPr/>
        </p:nvSpPr>
        <p:spPr>
          <a:xfrm>
            <a:off x="2871216" y="20574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17" name="Text 14"/>
          <p:cNvSpPr/>
          <p:nvPr/>
        </p:nvSpPr>
        <p:spPr>
          <a:xfrm>
            <a:off x="2889504" y="21854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0.4</a:t>
            </a:r>
            <a:endParaRPr lang="en-US" sz="950" dirty="0"/>
          </a:p>
        </p:txBody>
      </p:sp>
      <p:sp>
        <p:nvSpPr>
          <p:cNvPr id="18" name="Shape 15"/>
          <p:cNvSpPr/>
          <p:nvPr/>
        </p:nvSpPr>
        <p:spPr>
          <a:xfrm>
            <a:off x="3310128" y="20574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19" name="Text 16"/>
          <p:cNvSpPr/>
          <p:nvPr/>
        </p:nvSpPr>
        <p:spPr>
          <a:xfrm>
            <a:off x="3328416" y="21854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-0.1</a:t>
            </a:r>
            <a:endParaRPr lang="en-US" sz="950" dirty="0"/>
          </a:p>
        </p:txBody>
      </p:sp>
      <p:sp>
        <p:nvSpPr>
          <p:cNvPr id="20" name="Shape 17"/>
          <p:cNvSpPr/>
          <p:nvPr/>
        </p:nvSpPr>
        <p:spPr>
          <a:xfrm>
            <a:off x="3749040" y="20574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21" name="Text 18"/>
          <p:cNvSpPr/>
          <p:nvPr/>
        </p:nvSpPr>
        <p:spPr>
          <a:xfrm>
            <a:off x="3767328" y="21854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0.1</a:t>
            </a:r>
            <a:endParaRPr lang="en-US" sz="950" dirty="0"/>
          </a:p>
        </p:txBody>
      </p:sp>
      <p:sp>
        <p:nvSpPr>
          <p:cNvPr id="22" name="Shape 19"/>
          <p:cNvSpPr/>
          <p:nvPr/>
        </p:nvSpPr>
        <p:spPr>
          <a:xfrm>
            <a:off x="4187952" y="20574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23" name="Text 20"/>
          <p:cNvSpPr/>
          <p:nvPr/>
        </p:nvSpPr>
        <p:spPr>
          <a:xfrm>
            <a:off x="4206240" y="21854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-0.2</a:t>
            </a:r>
            <a:endParaRPr lang="en-US" sz="950" dirty="0"/>
          </a:p>
        </p:txBody>
      </p:sp>
      <p:sp>
        <p:nvSpPr>
          <p:cNvPr id="24" name="Shape 21"/>
          <p:cNvSpPr/>
          <p:nvPr/>
        </p:nvSpPr>
        <p:spPr>
          <a:xfrm>
            <a:off x="4626864" y="205740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25" name="Text 22"/>
          <p:cNvSpPr/>
          <p:nvPr/>
        </p:nvSpPr>
        <p:spPr>
          <a:xfrm>
            <a:off x="4645152" y="218541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0.3</a:t>
            </a:r>
            <a:endParaRPr lang="en-US" sz="950" dirty="0"/>
          </a:p>
        </p:txBody>
      </p:sp>
      <p:sp>
        <p:nvSpPr>
          <p:cNvPr id="26" name="Shape 23"/>
          <p:cNvSpPr/>
          <p:nvPr/>
        </p:nvSpPr>
        <p:spPr>
          <a:xfrm>
            <a:off x="5065776" y="2057400"/>
            <a:ext cx="438912" cy="438912"/>
          </a:xfrm>
          <a:prstGeom prst="rect">
            <a:avLst/>
          </a:prstGeom>
          <a:solidFill>
            <a:srgbClr val="FDECEC"/>
          </a:solidFill>
          <a:ln w="16510">
            <a:solidFill>
              <a:srgbClr val="C00000"/>
            </a:solidFill>
            <a:prstDash val="solid"/>
          </a:ln>
        </p:spPr>
        <p:txBody>
          <a:bodyPr/>
          <a:lstStyle/>
          <a:p>
            <a:endParaRPr lang="ko-KR" altLang="en-US"/>
          </a:p>
        </p:txBody>
      </p:sp>
      <p:sp>
        <p:nvSpPr>
          <p:cNvPr id="27" name="Text 24"/>
          <p:cNvSpPr/>
          <p:nvPr/>
        </p:nvSpPr>
        <p:spPr>
          <a:xfrm>
            <a:off x="5084064" y="2185416"/>
            <a:ext cx="402336" cy="146304"/>
          </a:xfrm>
          <a:prstGeom prst="rect">
            <a:avLst/>
          </a:prstGeom>
          <a:noFill/>
          <a:ln/>
        </p:spPr>
        <p:txBody>
          <a:bodyPr wrap="square" lIns="0" tIns="0" rIns="0" bIns="0" rtlCol="0" anchor="ctr">
            <a:normAutofit/>
          </a:bodyPr>
          <a:lstStyle/>
          <a:p>
            <a:pPr marL="0" indent="0" algn="ctr">
              <a:buNone/>
            </a:pPr>
            <a:r>
              <a:rPr lang="en-US" sz="950" b="1" dirty="0">
                <a:solidFill>
                  <a:srgbClr val="C00000"/>
                </a:solidFill>
                <a:latin typeface="Arial" pitchFamily="34" charset="0"/>
                <a:ea typeface="Arial" pitchFamily="34" charset="-122"/>
                <a:cs typeface="Arial" pitchFamily="34" charset="-120"/>
              </a:rPr>
              <a:t>4.0</a:t>
            </a:r>
            <a:endParaRPr lang="en-US" sz="950" dirty="0"/>
          </a:p>
        </p:txBody>
      </p:sp>
      <p:sp>
        <p:nvSpPr>
          <p:cNvPr id="28" name="Text 25"/>
          <p:cNvSpPr/>
          <p:nvPr/>
        </p:nvSpPr>
        <p:spPr>
          <a:xfrm>
            <a:off x="5532120" y="2194560"/>
            <a:ext cx="457200" cy="182880"/>
          </a:xfrm>
          <a:prstGeom prst="rect">
            <a:avLst/>
          </a:prstGeom>
          <a:noFill/>
          <a:ln/>
        </p:spPr>
        <p:txBody>
          <a:bodyPr wrap="square" lIns="0" tIns="0" rIns="0" bIns="0" rtlCol="0" anchor="ctr"/>
          <a:lstStyle/>
          <a:p>
            <a:pPr marL="0" indent="0">
              <a:buNone/>
            </a:pPr>
            <a:r>
              <a:rPr lang="en-US" sz="1050" b="1" dirty="0">
                <a:solidFill>
                  <a:srgbClr val="00245D"/>
                </a:solidFill>
                <a:latin typeface="Arial" pitchFamily="34" charset="0"/>
                <a:ea typeface="Arial" pitchFamily="34" charset="-122"/>
                <a:cs typeface="Arial" pitchFamily="34" charset="-120"/>
              </a:rPr>
              <a:t>→ Δ₁</a:t>
            </a:r>
            <a:endParaRPr lang="en-US" sz="1050" dirty="0"/>
          </a:p>
        </p:txBody>
      </p:sp>
      <p:sp>
        <p:nvSpPr>
          <p:cNvPr id="29" name="Text 26"/>
          <p:cNvSpPr/>
          <p:nvPr/>
        </p:nvSpPr>
        <p:spPr>
          <a:xfrm>
            <a:off x="914400" y="2944368"/>
            <a:ext cx="960120" cy="219456"/>
          </a:xfrm>
          <a:prstGeom prst="rect">
            <a:avLst/>
          </a:prstGeom>
          <a:noFill/>
          <a:ln/>
        </p:spPr>
        <p:txBody>
          <a:bodyPr wrap="square" lIns="0" tIns="0" rIns="0" bIns="0" rtlCol="0" anchor="ctr"/>
          <a:lstStyle/>
          <a:p>
            <a:pPr marL="0" indent="0" algn="r">
              <a:buNone/>
            </a:pPr>
            <a:r>
              <a:rPr lang="en-US" sz="1050" b="1" dirty="0">
                <a:solidFill>
                  <a:srgbClr val="00245D"/>
                </a:solidFill>
                <a:latin typeface="Arial" pitchFamily="34" charset="0"/>
                <a:ea typeface="Arial" pitchFamily="34" charset="-122"/>
                <a:cs typeface="Arial" pitchFamily="34" charset="-120"/>
              </a:rPr>
              <a:t>Ch. 2</a:t>
            </a:r>
            <a:endParaRPr lang="en-US" sz="1050" dirty="0"/>
          </a:p>
        </p:txBody>
      </p:sp>
      <p:sp>
        <p:nvSpPr>
          <p:cNvPr id="30" name="Shape 27"/>
          <p:cNvSpPr/>
          <p:nvPr/>
        </p:nvSpPr>
        <p:spPr>
          <a:xfrm>
            <a:off x="1993392" y="283464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31" name="Text 28"/>
          <p:cNvSpPr/>
          <p:nvPr/>
        </p:nvSpPr>
        <p:spPr>
          <a:xfrm>
            <a:off x="2011680" y="296265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0.5</a:t>
            </a:r>
            <a:endParaRPr lang="en-US" sz="950" dirty="0"/>
          </a:p>
        </p:txBody>
      </p:sp>
      <p:sp>
        <p:nvSpPr>
          <p:cNvPr id="32" name="Shape 29"/>
          <p:cNvSpPr/>
          <p:nvPr/>
        </p:nvSpPr>
        <p:spPr>
          <a:xfrm>
            <a:off x="2432304" y="283464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33" name="Text 30"/>
          <p:cNvSpPr/>
          <p:nvPr/>
        </p:nvSpPr>
        <p:spPr>
          <a:xfrm>
            <a:off x="2450592" y="296265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-0.4</a:t>
            </a:r>
            <a:endParaRPr lang="en-US" sz="950" dirty="0"/>
          </a:p>
        </p:txBody>
      </p:sp>
      <p:sp>
        <p:nvSpPr>
          <p:cNvPr id="34" name="Shape 31"/>
          <p:cNvSpPr/>
          <p:nvPr/>
        </p:nvSpPr>
        <p:spPr>
          <a:xfrm>
            <a:off x="2871216" y="283464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35" name="Text 32"/>
          <p:cNvSpPr/>
          <p:nvPr/>
        </p:nvSpPr>
        <p:spPr>
          <a:xfrm>
            <a:off x="2889504" y="296265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0.2</a:t>
            </a:r>
            <a:endParaRPr lang="en-US" sz="950" dirty="0"/>
          </a:p>
        </p:txBody>
      </p:sp>
      <p:sp>
        <p:nvSpPr>
          <p:cNvPr id="36" name="Shape 33"/>
          <p:cNvSpPr/>
          <p:nvPr/>
        </p:nvSpPr>
        <p:spPr>
          <a:xfrm>
            <a:off x="3310128" y="283464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37" name="Text 34"/>
          <p:cNvSpPr/>
          <p:nvPr/>
        </p:nvSpPr>
        <p:spPr>
          <a:xfrm>
            <a:off x="3328416" y="296265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-0.1</a:t>
            </a:r>
            <a:endParaRPr lang="en-US" sz="950" dirty="0"/>
          </a:p>
        </p:txBody>
      </p:sp>
      <p:sp>
        <p:nvSpPr>
          <p:cNvPr id="38" name="Shape 35"/>
          <p:cNvSpPr/>
          <p:nvPr/>
        </p:nvSpPr>
        <p:spPr>
          <a:xfrm>
            <a:off x="3749040" y="283464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39" name="Text 36"/>
          <p:cNvSpPr/>
          <p:nvPr/>
        </p:nvSpPr>
        <p:spPr>
          <a:xfrm>
            <a:off x="3767328" y="296265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0.6</a:t>
            </a:r>
            <a:endParaRPr lang="en-US" sz="950" dirty="0"/>
          </a:p>
        </p:txBody>
      </p:sp>
      <p:sp>
        <p:nvSpPr>
          <p:cNvPr id="40" name="Shape 37"/>
          <p:cNvSpPr/>
          <p:nvPr/>
        </p:nvSpPr>
        <p:spPr>
          <a:xfrm>
            <a:off x="4187952" y="283464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41" name="Text 38"/>
          <p:cNvSpPr/>
          <p:nvPr/>
        </p:nvSpPr>
        <p:spPr>
          <a:xfrm>
            <a:off x="4206240" y="296265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-0.5</a:t>
            </a:r>
            <a:endParaRPr lang="en-US" sz="950" dirty="0"/>
          </a:p>
        </p:txBody>
      </p:sp>
      <p:sp>
        <p:nvSpPr>
          <p:cNvPr id="42" name="Shape 39"/>
          <p:cNvSpPr/>
          <p:nvPr/>
        </p:nvSpPr>
        <p:spPr>
          <a:xfrm>
            <a:off x="4626864" y="283464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43" name="Text 40"/>
          <p:cNvSpPr/>
          <p:nvPr/>
        </p:nvSpPr>
        <p:spPr>
          <a:xfrm>
            <a:off x="4645152" y="296265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0.4</a:t>
            </a:r>
            <a:endParaRPr lang="en-US" sz="950" dirty="0"/>
          </a:p>
        </p:txBody>
      </p:sp>
      <p:sp>
        <p:nvSpPr>
          <p:cNvPr id="44" name="Shape 41"/>
          <p:cNvSpPr/>
          <p:nvPr/>
        </p:nvSpPr>
        <p:spPr>
          <a:xfrm>
            <a:off x="5065776" y="2834640"/>
            <a:ext cx="438912" cy="438912"/>
          </a:xfrm>
          <a:prstGeom prst="rect">
            <a:avLst/>
          </a:prstGeom>
          <a:solidFill>
            <a:srgbClr val="FFFFFF"/>
          </a:solidFill>
          <a:ln w="7620">
            <a:solidFill>
              <a:srgbClr val="BFBFBF"/>
            </a:solidFill>
            <a:prstDash val="solid"/>
          </a:ln>
        </p:spPr>
        <p:txBody>
          <a:bodyPr/>
          <a:lstStyle/>
          <a:p>
            <a:endParaRPr lang="ko-KR" altLang="en-US"/>
          </a:p>
        </p:txBody>
      </p:sp>
      <p:sp>
        <p:nvSpPr>
          <p:cNvPr id="45" name="Text 42"/>
          <p:cNvSpPr/>
          <p:nvPr/>
        </p:nvSpPr>
        <p:spPr>
          <a:xfrm>
            <a:off x="5084064" y="2962656"/>
            <a:ext cx="402336"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-0.3</a:t>
            </a:r>
            <a:endParaRPr lang="en-US" sz="950" dirty="0"/>
          </a:p>
        </p:txBody>
      </p:sp>
      <p:sp>
        <p:nvSpPr>
          <p:cNvPr id="46" name="Text 43"/>
          <p:cNvSpPr/>
          <p:nvPr/>
        </p:nvSpPr>
        <p:spPr>
          <a:xfrm>
            <a:off x="5532120" y="2971800"/>
            <a:ext cx="457200" cy="182880"/>
          </a:xfrm>
          <a:prstGeom prst="rect">
            <a:avLst/>
          </a:prstGeom>
          <a:noFill/>
          <a:ln/>
        </p:spPr>
        <p:txBody>
          <a:bodyPr wrap="square" lIns="0" tIns="0" rIns="0" bIns="0" rtlCol="0" anchor="ctr"/>
          <a:lstStyle/>
          <a:p>
            <a:pPr marL="0" indent="0">
              <a:buNone/>
            </a:pPr>
            <a:r>
              <a:rPr lang="en-US" sz="1050" b="1" dirty="0">
                <a:solidFill>
                  <a:srgbClr val="00245D"/>
                </a:solidFill>
                <a:latin typeface="Arial" pitchFamily="34" charset="0"/>
                <a:ea typeface="Arial" pitchFamily="34" charset="-122"/>
                <a:cs typeface="Arial" pitchFamily="34" charset="-120"/>
              </a:rPr>
              <a:t>→ Δ₂</a:t>
            </a:r>
            <a:endParaRPr lang="en-US" sz="1050" dirty="0"/>
          </a:p>
        </p:txBody>
      </p:sp>
      <p:sp>
        <p:nvSpPr>
          <p:cNvPr id="47" name="Shape 44"/>
          <p:cNvSpPr/>
          <p:nvPr/>
        </p:nvSpPr>
        <p:spPr>
          <a:xfrm>
            <a:off x="1325880" y="3886200"/>
            <a:ext cx="1143000" cy="411480"/>
          </a:xfrm>
          <a:prstGeom prst="rect">
            <a:avLst/>
          </a:prstGeom>
          <a:solidFill>
            <a:srgbClr val="00245D"/>
          </a:solidFill>
          <a:ln w="6350">
            <a:solidFill>
              <a:srgbClr val="D9E2F3"/>
            </a:solidFill>
            <a:prstDash val="solid"/>
          </a:ln>
        </p:spPr>
        <p:txBody>
          <a:bodyPr/>
          <a:lstStyle/>
          <a:p>
            <a:endParaRPr lang="ko-KR" altLang="en-US"/>
          </a:p>
        </p:txBody>
      </p:sp>
      <p:sp>
        <p:nvSpPr>
          <p:cNvPr id="48" name="Text 45"/>
          <p:cNvSpPr/>
          <p:nvPr/>
        </p:nvSpPr>
        <p:spPr>
          <a:xfrm>
            <a:off x="1353312" y="3995928"/>
            <a:ext cx="1088136"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Channel</a:t>
            </a:r>
            <a:endParaRPr lang="en-US" sz="1050" dirty="0"/>
          </a:p>
        </p:txBody>
      </p:sp>
      <p:sp>
        <p:nvSpPr>
          <p:cNvPr id="49" name="Shape 46"/>
          <p:cNvSpPr/>
          <p:nvPr/>
        </p:nvSpPr>
        <p:spPr>
          <a:xfrm>
            <a:off x="2468880" y="3886200"/>
            <a:ext cx="1143000" cy="411480"/>
          </a:xfrm>
          <a:prstGeom prst="rect">
            <a:avLst/>
          </a:prstGeom>
          <a:solidFill>
            <a:srgbClr val="00245D"/>
          </a:solidFill>
          <a:ln w="6350">
            <a:solidFill>
              <a:srgbClr val="D9E2F3"/>
            </a:solidFill>
            <a:prstDash val="solid"/>
          </a:ln>
        </p:spPr>
        <p:txBody>
          <a:bodyPr/>
          <a:lstStyle/>
          <a:p>
            <a:endParaRPr lang="ko-KR" altLang="en-US"/>
          </a:p>
        </p:txBody>
      </p:sp>
      <p:sp>
        <p:nvSpPr>
          <p:cNvPr id="50" name="Text 47"/>
          <p:cNvSpPr/>
          <p:nvPr/>
        </p:nvSpPr>
        <p:spPr>
          <a:xfrm>
            <a:off x="2496312" y="3995928"/>
            <a:ext cx="1088136"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Abs. max</a:t>
            </a:r>
            <a:endParaRPr lang="en-US" sz="1050" dirty="0"/>
          </a:p>
        </p:txBody>
      </p:sp>
      <p:sp>
        <p:nvSpPr>
          <p:cNvPr id="51" name="Shape 48"/>
          <p:cNvSpPr/>
          <p:nvPr/>
        </p:nvSpPr>
        <p:spPr>
          <a:xfrm>
            <a:off x="3611880" y="3886200"/>
            <a:ext cx="1143000" cy="411480"/>
          </a:xfrm>
          <a:prstGeom prst="rect">
            <a:avLst/>
          </a:prstGeom>
          <a:solidFill>
            <a:srgbClr val="00245D"/>
          </a:solidFill>
          <a:ln w="6350">
            <a:solidFill>
              <a:srgbClr val="D9E2F3"/>
            </a:solidFill>
            <a:prstDash val="solid"/>
          </a:ln>
        </p:spPr>
        <p:txBody>
          <a:bodyPr/>
          <a:lstStyle/>
          <a:p>
            <a:endParaRPr lang="ko-KR" altLang="en-US"/>
          </a:p>
        </p:txBody>
      </p:sp>
      <p:sp>
        <p:nvSpPr>
          <p:cNvPr id="52" name="Text 49"/>
          <p:cNvSpPr/>
          <p:nvPr/>
        </p:nvSpPr>
        <p:spPr>
          <a:xfrm>
            <a:off x="3639312" y="3995928"/>
            <a:ext cx="1088136"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Scale</a:t>
            </a:r>
            <a:endParaRPr lang="en-US" sz="1050" dirty="0"/>
          </a:p>
        </p:txBody>
      </p:sp>
      <p:sp>
        <p:nvSpPr>
          <p:cNvPr id="53" name="Shape 50"/>
          <p:cNvSpPr/>
          <p:nvPr/>
        </p:nvSpPr>
        <p:spPr>
          <a:xfrm>
            <a:off x="1325880" y="4297680"/>
            <a:ext cx="1143000" cy="411480"/>
          </a:xfrm>
          <a:prstGeom prst="rect">
            <a:avLst/>
          </a:prstGeom>
          <a:solidFill>
            <a:srgbClr val="FFFFFF"/>
          </a:solidFill>
          <a:ln w="6350">
            <a:solidFill>
              <a:srgbClr val="D9E2F3"/>
            </a:solidFill>
            <a:prstDash val="solid"/>
          </a:ln>
        </p:spPr>
        <p:txBody>
          <a:bodyPr/>
          <a:lstStyle/>
          <a:p>
            <a:endParaRPr lang="ko-KR" altLang="en-US"/>
          </a:p>
        </p:txBody>
      </p:sp>
      <p:sp>
        <p:nvSpPr>
          <p:cNvPr id="54" name="Text 51"/>
          <p:cNvSpPr/>
          <p:nvPr/>
        </p:nvSpPr>
        <p:spPr>
          <a:xfrm>
            <a:off x="1371600" y="4407408"/>
            <a:ext cx="1051560"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Ch. 1</a:t>
            </a:r>
            <a:endParaRPr lang="en-US" sz="1050" dirty="0"/>
          </a:p>
        </p:txBody>
      </p:sp>
      <p:sp>
        <p:nvSpPr>
          <p:cNvPr id="55" name="Shape 52"/>
          <p:cNvSpPr/>
          <p:nvPr/>
        </p:nvSpPr>
        <p:spPr>
          <a:xfrm>
            <a:off x="2468880" y="4297680"/>
            <a:ext cx="1143000" cy="411480"/>
          </a:xfrm>
          <a:prstGeom prst="rect">
            <a:avLst/>
          </a:prstGeom>
          <a:solidFill>
            <a:srgbClr val="FFFFFF"/>
          </a:solidFill>
          <a:ln w="6350">
            <a:solidFill>
              <a:srgbClr val="D9E2F3"/>
            </a:solidFill>
            <a:prstDash val="solid"/>
          </a:ln>
        </p:spPr>
        <p:txBody>
          <a:bodyPr/>
          <a:lstStyle/>
          <a:p>
            <a:endParaRPr lang="ko-KR" altLang="en-US"/>
          </a:p>
        </p:txBody>
      </p:sp>
      <p:sp>
        <p:nvSpPr>
          <p:cNvPr id="56" name="Text 53"/>
          <p:cNvSpPr/>
          <p:nvPr/>
        </p:nvSpPr>
        <p:spPr>
          <a:xfrm>
            <a:off x="2514600" y="4407408"/>
            <a:ext cx="105156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4.0</a:t>
            </a:r>
            <a:endParaRPr lang="en-US" sz="1050" dirty="0"/>
          </a:p>
        </p:txBody>
      </p:sp>
      <p:sp>
        <p:nvSpPr>
          <p:cNvPr id="57" name="Shape 54"/>
          <p:cNvSpPr/>
          <p:nvPr/>
        </p:nvSpPr>
        <p:spPr>
          <a:xfrm>
            <a:off x="3611880" y="4297680"/>
            <a:ext cx="1143000" cy="411480"/>
          </a:xfrm>
          <a:prstGeom prst="rect">
            <a:avLst/>
          </a:prstGeom>
          <a:solidFill>
            <a:srgbClr val="FFFFFF"/>
          </a:solidFill>
          <a:ln w="6350">
            <a:solidFill>
              <a:srgbClr val="D9E2F3"/>
            </a:solidFill>
            <a:prstDash val="solid"/>
          </a:ln>
        </p:spPr>
        <p:txBody>
          <a:bodyPr/>
          <a:lstStyle/>
          <a:p>
            <a:endParaRPr lang="ko-KR" altLang="en-US"/>
          </a:p>
        </p:txBody>
      </p:sp>
      <p:sp>
        <p:nvSpPr>
          <p:cNvPr id="58" name="Text 55"/>
          <p:cNvSpPr/>
          <p:nvPr/>
        </p:nvSpPr>
        <p:spPr>
          <a:xfrm>
            <a:off x="3657600" y="4407408"/>
            <a:ext cx="105156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0.5714</a:t>
            </a:r>
            <a:endParaRPr lang="en-US" sz="1050" dirty="0"/>
          </a:p>
        </p:txBody>
      </p:sp>
      <p:sp>
        <p:nvSpPr>
          <p:cNvPr id="59" name="Shape 56"/>
          <p:cNvSpPr/>
          <p:nvPr/>
        </p:nvSpPr>
        <p:spPr>
          <a:xfrm>
            <a:off x="1325880" y="4709160"/>
            <a:ext cx="1143000" cy="411480"/>
          </a:xfrm>
          <a:prstGeom prst="rect">
            <a:avLst/>
          </a:prstGeom>
          <a:solidFill>
            <a:srgbClr val="F5F7FA"/>
          </a:solidFill>
          <a:ln w="6350">
            <a:solidFill>
              <a:srgbClr val="D9E2F3"/>
            </a:solidFill>
            <a:prstDash val="solid"/>
          </a:ln>
        </p:spPr>
        <p:txBody>
          <a:bodyPr/>
          <a:lstStyle/>
          <a:p>
            <a:endParaRPr lang="ko-KR" altLang="en-US"/>
          </a:p>
        </p:txBody>
      </p:sp>
      <p:sp>
        <p:nvSpPr>
          <p:cNvPr id="60" name="Text 57"/>
          <p:cNvSpPr/>
          <p:nvPr/>
        </p:nvSpPr>
        <p:spPr>
          <a:xfrm>
            <a:off x="1371600" y="4818888"/>
            <a:ext cx="1051560"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Ch. 2</a:t>
            </a:r>
            <a:endParaRPr lang="en-US" sz="1050" dirty="0"/>
          </a:p>
        </p:txBody>
      </p:sp>
      <p:sp>
        <p:nvSpPr>
          <p:cNvPr id="61" name="Shape 58"/>
          <p:cNvSpPr/>
          <p:nvPr/>
        </p:nvSpPr>
        <p:spPr>
          <a:xfrm>
            <a:off x="2468880" y="4709160"/>
            <a:ext cx="1143000" cy="411480"/>
          </a:xfrm>
          <a:prstGeom prst="rect">
            <a:avLst/>
          </a:prstGeom>
          <a:solidFill>
            <a:srgbClr val="F5F7FA"/>
          </a:solidFill>
          <a:ln w="6350">
            <a:solidFill>
              <a:srgbClr val="D9E2F3"/>
            </a:solidFill>
            <a:prstDash val="solid"/>
          </a:ln>
        </p:spPr>
        <p:txBody>
          <a:bodyPr/>
          <a:lstStyle/>
          <a:p>
            <a:endParaRPr lang="ko-KR" altLang="en-US"/>
          </a:p>
        </p:txBody>
      </p:sp>
      <p:sp>
        <p:nvSpPr>
          <p:cNvPr id="62" name="Text 59"/>
          <p:cNvSpPr/>
          <p:nvPr/>
        </p:nvSpPr>
        <p:spPr>
          <a:xfrm>
            <a:off x="2514600" y="4818888"/>
            <a:ext cx="105156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0.6</a:t>
            </a:r>
            <a:endParaRPr lang="en-US" sz="1050" dirty="0"/>
          </a:p>
        </p:txBody>
      </p:sp>
      <p:sp>
        <p:nvSpPr>
          <p:cNvPr id="63" name="Shape 60"/>
          <p:cNvSpPr/>
          <p:nvPr/>
        </p:nvSpPr>
        <p:spPr>
          <a:xfrm>
            <a:off x="3611880" y="4709160"/>
            <a:ext cx="1143000" cy="411480"/>
          </a:xfrm>
          <a:prstGeom prst="rect">
            <a:avLst/>
          </a:prstGeom>
          <a:solidFill>
            <a:srgbClr val="F5F7FA"/>
          </a:solidFill>
          <a:ln w="6350">
            <a:solidFill>
              <a:srgbClr val="D9E2F3"/>
            </a:solidFill>
            <a:prstDash val="solid"/>
          </a:ln>
        </p:spPr>
        <p:txBody>
          <a:bodyPr/>
          <a:lstStyle/>
          <a:p>
            <a:endParaRPr lang="ko-KR" altLang="en-US"/>
          </a:p>
        </p:txBody>
      </p:sp>
      <p:sp>
        <p:nvSpPr>
          <p:cNvPr id="64" name="Text 61"/>
          <p:cNvSpPr/>
          <p:nvPr/>
        </p:nvSpPr>
        <p:spPr>
          <a:xfrm>
            <a:off x="3657600" y="4818888"/>
            <a:ext cx="1051560" cy="137160"/>
          </a:xfrm>
          <a:prstGeom prst="rect">
            <a:avLst/>
          </a:prstGeom>
          <a:noFill/>
          <a:ln/>
        </p:spPr>
        <p:txBody>
          <a:bodyPr wrap="square" lIns="0" tIns="0" rIns="0" bIns="0" rtlCol="0" anchor="ctr">
            <a:normAutofit fontScale="92500"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0.0857</a:t>
            </a:r>
            <a:endParaRPr lang="en-US" sz="1050" dirty="0"/>
          </a:p>
        </p:txBody>
      </p:sp>
      <p:sp>
        <p:nvSpPr>
          <p:cNvPr id="65" name="Shape 62"/>
          <p:cNvSpPr/>
          <p:nvPr/>
        </p:nvSpPr>
        <p:spPr>
          <a:xfrm>
            <a:off x="6537960" y="1417320"/>
            <a:ext cx="4709160" cy="4526280"/>
          </a:xfrm>
          <a:prstGeom prst="roundRect">
            <a:avLst>
              <a:gd name="adj" fmla="val 1212"/>
            </a:avLst>
          </a:prstGeom>
          <a:solidFill>
            <a:srgbClr val="FFFDF2"/>
          </a:solidFill>
          <a:ln w="13335">
            <a:solidFill>
              <a:srgbClr val="D6B656"/>
            </a:solidFill>
            <a:prstDash val="solid"/>
          </a:ln>
        </p:spPr>
        <p:txBody>
          <a:bodyPr/>
          <a:lstStyle/>
          <a:p>
            <a:endParaRPr lang="ko-KR" altLang="en-US"/>
          </a:p>
        </p:txBody>
      </p:sp>
      <p:sp>
        <p:nvSpPr>
          <p:cNvPr id="66" name="Text 63"/>
          <p:cNvSpPr/>
          <p:nvPr/>
        </p:nvSpPr>
        <p:spPr>
          <a:xfrm>
            <a:off x="6702552" y="1536192"/>
            <a:ext cx="43799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Remaining problem</a:t>
            </a:r>
            <a:endParaRPr lang="en-US" sz="1200" dirty="0"/>
          </a:p>
        </p:txBody>
      </p:sp>
      <p:sp>
        <p:nvSpPr>
          <p:cNvPr id="67" name="Text 64"/>
          <p:cNvSpPr/>
          <p:nvPr/>
        </p:nvSpPr>
        <p:spPr>
          <a:xfrm>
            <a:off x="6858000" y="1874520"/>
            <a:ext cx="4114800" cy="777240"/>
          </a:xfrm>
          <a:prstGeom prst="rect">
            <a:avLst/>
          </a:prstGeom>
          <a:noFill/>
          <a:ln/>
        </p:spPr>
        <p:txBody>
          <a:bodyPr wrap="square" lIns="254" tIns="254" rIns="254" bIns="254" rtlCol="0" anchor="ctr">
            <a:normAutofit/>
          </a:bodyPr>
          <a:lstStyle/>
          <a:p>
            <a:pPr marL="0" indent="0">
              <a:buNone/>
            </a:pPr>
            <a:r>
              <a:rPr lang="en-US" sz="1200" dirty="0">
                <a:solidFill>
                  <a:srgbClr val="222222"/>
                </a:solidFill>
                <a:latin typeface="Arial" pitchFamily="34" charset="0"/>
                <a:ea typeface="Arial" pitchFamily="34" charset="-122"/>
                <a:cs typeface="Arial" pitchFamily="34" charset="-120"/>
              </a:rPr>
              <a:t>Per-Channel prevents the outlier from affecting other channels.</a:t>
            </a:r>
            <a:endParaRPr lang="en-US" sz="1200" dirty="0"/>
          </a:p>
          <a:p>
            <a:pPr marL="0" indent="0">
              <a:buNone/>
            </a:pPr>
            <a:endParaRPr lang="en-US" sz="1200" dirty="0"/>
          </a:p>
          <a:p>
            <a:pPr marL="0" indent="0">
              <a:buNone/>
            </a:pPr>
            <a:r>
              <a:rPr lang="en-US" sz="1200" dirty="0">
                <a:solidFill>
                  <a:srgbClr val="222222"/>
                </a:solidFill>
                <a:latin typeface="Arial" pitchFamily="34" charset="0"/>
                <a:ea typeface="Arial" pitchFamily="34" charset="-122"/>
                <a:cs typeface="Arial" pitchFamily="34" charset="-120"/>
              </a:rPr>
              <a:t>But within Channel 1, every weight still uses:</a:t>
            </a:r>
            <a:endParaRPr lang="en-US" sz="1200" dirty="0"/>
          </a:p>
        </p:txBody>
      </p:sp>
      <mc:AlternateContent xmlns:mc="http://schemas.openxmlformats.org/markup-compatibility/2006" xmlns:a14="http://schemas.microsoft.com/office/drawing/2010/main">
        <mc:Choice Requires="a14">
          <p:sp>
            <p:nvSpPr>
              <p:cNvPr id="68" name="Text 65"/>
              <p:cNvSpPr/>
              <p:nvPr/>
            </p:nvSpPr>
            <p:spPr>
              <a:xfrm>
                <a:off x="6903720" y="2834640"/>
                <a:ext cx="4023360" cy="5029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𝛥</m:t>
                          </m:r>
                        </m:e>
                        <m:sub>
                          <m:r>
                            <a:rPr lang="en-US" altLang="ko-KR" sz="1150" smtClean="0">
                              <a:latin typeface="Cambria Math"/>
                            </a:rPr>
                            <m:t>1</m:t>
                          </m:r>
                        </m:sub>
                      </m:sSub>
                      <m:r>
                        <a:rPr lang="en-US" altLang="ko-KR" sz="1150" smtClean="0">
                          <a:latin typeface="Cambria Math"/>
                        </a:rPr>
                        <m:t>=</m:t>
                      </m:r>
                      <m:f>
                        <m:fPr>
                          <m:ctrlPr>
                            <a:rPr lang="en-US" altLang="ko-KR" sz="1150" smtClean="0">
                              <a:latin typeface="Cambria Math"/>
                            </a:rPr>
                          </m:ctrlPr>
                        </m:fPr>
                        <m:num>
                          <m:r>
                            <a:rPr lang="en-US" altLang="ko-KR" sz="1150" smtClean="0">
                              <a:latin typeface="Cambria Math"/>
                            </a:rPr>
                            <m:t>4.0</m:t>
                          </m:r>
                        </m:num>
                        <m:den>
                          <m:r>
                            <a:rPr lang="en-US" altLang="ko-KR" sz="1150" smtClean="0">
                              <a:latin typeface="Cambria Math"/>
                            </a:rPr>
                            <m:t>7</m:t>
                          </m:r>
                        </m:den>
                      </m:f>
                      <m:r>
                        <a:rPr lang="en-US" altLang="ko-KR" sz="1150" smtClean="0">
                          <a:latin typeface="Cambria Math"/>
                        </a:rPr>
                        <m:t>≈0.5714</m:t>
                      </m:r>
                    </m:oMath>
                  </m:oMathPara>
                </a14:m>
                <a:endParaRPr/>
              </a:p>
            </p:txBody>
          </p:sp>
        </mc:Choice>
        <mc:Fallback xmlns="">
          <p:sp>
            <p:nvSpPr>
              <p:cNvPr id="68" name="Text 65"/>
              <p:cNvSpPr>
                <a:spLocks noRot="1" noChangeAspect="1" noMove="1" noResize="1" noEditPoints="1" noAdjustHandles="1" noChangeArrowheads="1" noChangeShapeType="1" noTextEdit="1"/>
              </p:cNvSpPr>
              <p:nvPr/>
            </p:nvSpPr>
            <p:spPr>
              <a:xfrm>
                <a:off x="6903720" y="2834640"/>
                <a:ext cx="4023360" cy="502920"/>
              </a:xfrm>
              <a:prstGeom prst="rect">
                <a:avLst/>
              </a:prstGeom>
              <a:blipFill>
                <a:blip r:embed="rId4"/>
                <a:stretch>
                  <a:fillRect/>
                </a:stretch>
              </a:blipFill>
              <a:ln/>
            </p:spPr>
            <p:txBody>
              <a:bodyPr/>
              <a:lstStyle/>
              <a:p>
                <a:r>
                  <a:rPr lang="ko-KR" altLang="en-US">
                    <a:noFill/>
                  </a:rPr>
                  <a:t> </a:t>
                </a:r>
              </a:p>
            </p:txBody>
          </p:sp>
        </mc:Fallback>
      </mc:AlternateContent>
      <p:sp>
        <p:nvSpPr>
          <p:cNvPr id="69" name="Text 66"/>
          <p:cNvSpPr/>
          <p:nvPr/>
        </p:nvSpPr>
        <p:spPr>
          <a:xfrm>
            <a:off x="6858000" y="3611880"/>
            <a:ext cx="4114800" cy="566928"/>
          </a:xfrm>
          <a:prstGeom prst="rect">
            <a:avLst/>
          </a:prstGeom>
          <a:noFill/>
          <a:ln/>
        </p:spPr>
        <p:txBody>
          <a:bodyPr wrap="square" lIns="254" tIns="254" rIns="254" bIns="254" rtlCol="0" anchor="ctr">
            <a:normAutofit/>
          </a:bodyPr>
          <a:lstStyle/>
          <a:p>
            <a:pPr marL="0" indent="0" algn="ctr">
              <a:buNone/>
            </a:pPr>
            <a:r>
              <a:rPr lang="en-US" sz="1130" b="1" dirty="0">
                <a:solidFill>
                  <a:srgbClr val="C00000"/>
                </a:solidFill>
                <a:latin typeface="Arial" pitchFamily="34" charset="0"/>
                <a:ea typeface="Arial" pitchFamily="34" charset="-122"/>
                <a:cs typeface="Arial" pitchFamily="34" charset="-120"/>
              </a:rPr>
              <a:t>Therefore 0.2, −0.3, 0.4, −0.1 in the same channel are still affected by the 4.0 outlier.</a:t>
            </a:r>
            <a:endParaRPr lang="en-US" sz="1130" dirty="0"/>
          </a:p>
        </p:txBody>
      </p:sp>
      <p:sp>
        <p:nvSpPr>
          <p:cNvPr id="70" name="Shape 67"/>
          <p:cNvSpPr/>
          <p:nvPr/>
        </p:nvSpPr>
        <p:spPr>
          <a:xfrm>
            <a:off x="6903720" y="4873752"/>
            <a:ext cx="3977640" cy="502920"/>
          </a:xfrm>
          <a:prstGeom prst="roundRect">
            <a:avLst>
              <a:gd name="adj" fmla="val 10909"/>
            </a:avLst>
          </a:prstGeom>
          <a:solidFill>
            <a:srgbClr val="EAF2FF"/>
          </a:solidFill>
          <a:ln w="12700">
            <a:solidFill>
              <a:srgbClr val="7EA6E0"/>
            </a:solidFill>
            <a:prstDash val="solid"/>
          </a:ln>
        </p:spPr>
        <p:txBody>
          <a:bodyPr/>
          <a:lstStyle/>
          <a:p>
            <a:endParaRPr lang="ko-KR" altLang="en-US"/>
          </a:p>
        </p:txBody>
      </p:sp>
      <p:sp>
        <p:nvSpPr>
          <p:cNvPr id="71" name="Text 68"/>
          <p:cNvSpPr/>
          <p:nvPr/>
        </p:nvSpPr>
        <p:spPr>
          <a:xfrm>
            <a:off x="7086600" y="4983480"/>
            <a:ext cx="3611880" cy="192024"/>
          </a:xfrm>
          <a:prstGeom prst="rect">
            <a:avLst/>
          </a:prstGeom>
          <a:noFill/>
          <a:ln/>
        </p:spPr>
        <p:txBody>
          <a:bodyPr wrap="square" lIns="0" tIns="0" rIns="0" bIns="0" rtlCol="0" anchor="ctr">
            <a:normAutofit fontScale="70000" lnSpcReduction="20000"/>
          </a:bodyPr>
          <a:lstStyle/>
          <a:p>
            <a:pPr marL="0" indent="0" algn="ctr">
              <a:buNone/>
            </a:pPr>
            <a:r>
              <a:rPr lang="en-US" sz="1060" b="1" dirty="0">
                <a:solidFill>
                  <a:srgbClr val="00245D"/>
                </a:solidFill>
                <a:latin typeface="Arial" pitchFamily="34" charset="0"/>
                <a:ea typeface="Arial" pitchFamily="34" charset="-122"/>
                <a:cs typeface="Arial" pitchFamily="34" charset="-120"/>
              </a:rPr>
              <a:t>Channel-level is better than tensor-level, but too coarse for large LLM hidden dimensions.</a:t>
            </a:r>
            <a:endParaRPr lang="en-US" sz="10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Per-Group Quantization: Limit the Outlier Impact</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22</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Per-Group splits each channel into smaller groups, and each group gets its own scaling factor.</a:t>
            </a:r>
            <a:endParaRPr lang="en-US" sz="1300" dirty="0"/>
          </a:p>
        </p:txBody>
      </p:sp>
      <p:sp>
        <p:nvSpPr>
          <p:cNvPr id="9" name="Shape 6"/>
          <p:cNvSpPr/>
          <p:nvPr/>
        </p:nvSpPr>
        <p:spPr>
          <a:xfrm>
            <a:off x="685800" y="1371600"/>
            <a:ext cx="5349240" cy="4526280"/>
          </a:xfrm>
          <a:prstGeom prst="roundRect">
            <a:avLst>
              <a:gd name="adj" fmla="val 1212"/>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490472"/>
            <a:ext cx="50200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General rule</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1143000" y="1783080"/>
                <a:ext cx="4480560" cy="54864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m:rPr>
                          <m:sty m:val="p"/>
                        </m:rPr>
                        <a:rPr lang="en-US" altLang="ko-KR" sz="1150" smtClean="0">
                          <a:latin typeface="Cambria Math"/>
                        </a:rPr>
                        <m:t>Groups</m:t>
                      </m:r>
                      <m:r>
                        <a:rPr lang="en-US" altLang="ko-KR" sz="1150" smtClean="0">
                          <a:latin typeface="Cambria Math"/>
                        </a:rPr>
                        <m:t>/</m:t>
                      </m:r>
                      <m:r>
                        <m:rPr>
                          <m:sty m:val="p"/>
                        </m:rPr>
                        <a:rPr lang="en-US" altLang="ko-KR" sz="1150" smtClean="0">
                          <a:latin typeface="Cambria Math"/>
                        </a:rPr>
                        <m:t>channel</m:t>
                      </m:r>
                      <m:r>
                        <a:rPr lang="en-US" altLang="ko-KR" sz="1150" smtClean="0">
                          <a:latin typeface="Cambria Math"/>
                        </a:rPr>
                        <m:t>=</m:t>
                      </m:r>
                      <m:f>
                        <m:fPr>
                          <m:ctrlPr>
                            <a:rPr lang="en-US" altLang="ko-KR" sz="1150" smtClean="0">
                              <a:latin typeface="Cambria Math"/>
                            </a:rPr>
                          </m:ctrlPr>
                        </m:fPr>
                        <m:num>
                          <m:r>
                            <a:rPr lang="en-US" altLang="ko-KR" sz="1150" smtClean="0">
                              <a:latin typeface="Cambria Math"/>
                            </a:rPr>
                            <m:t>𝐷</m:t>
                          </m:r>
                        </m:num>
                        <m:den>
                          <m:r>
                            <a:rPr lang="en-US" altLang="ko-KR" sz="1150" smtClean="0">
                              <a:latin typeface="Cambria Math"/>
                            </a:rPr>
                            <m:t>𝐺</m:t>
                          </m:r>
                        </m:den>
                      </m:f>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1143000" y="1783080"/>
                <a:ext cx="4480560" cy="548640"/>
              </a:xfrm>
              <a:prstGeom prst="rect">
                <a:avLst/>
              </a:prstGeom>
              <a:blipFill>
                <a:blip r:embed="rId4"/>
                <a:stretch>
                  <a:fillRect/>
                </a:stretch>
              </a:blipFill>
              <a:ln/>
            </p:spPr>
            <p:txBody>
              <a:bodyPr/>
              <a:lstStyle/>
              <a:p>
                <a:r>
                  <a:rPr lang="ko-KR" altLang="en-US">
                    <a:noFill/>
                  </a:rPr>
                  <a:t> </a:t>
                </a:r>
              </a:p>
            </p:txBody>
          </p:sp>
        </mc:Fallback>
      </mc:AlternateContent>
      <p:sp>
        <p:nvSpPr>
          <p:cNvPr id="12" name="Text 9"/>
          <p:cNvSpPr/>
          <p:nvPr/>
        </p:nvSpPr>
        <p:spPr>
          <a:xfrm>
            <a:off x="1143000" y="2514600"/>
            <a:ext cx="4480560" cy="594360"/>
          </a:xfrm>
          <a:prstGeom prst="rect">
            <a:avLst/>
          </a:prstGeom>
          <a:noFill/>
          <a:ln/>
        </p:spPr>
        <p:txBody>
          <a:bodyPr wrap="square" lIns="254" tIns="254" rIns="254" bIns="254" rtlCol="0" anchor="ctr">
            <a:normAutofit/>
          </a:bodyPr>
          <a:lstStyle/>
          <a:p>
            <a:pPr marL="0" indent="0" algn="ctr">
              <a:buNone/>
            </a:pPr>
            <a:r>
              <a:rPr lang="en-US" sz="1160" dirty="0">
                <a:solidFill>
                  <a:srgbClr val="222222"/>
                </a:solidFill>
                <a:latin typeface="Arial" pitchFamily="34" charset="0"/>
                <a:ea typeface="Arial" pitchFamily="34" charset="-122"/>
                <a:cs typeface="Arial" pitchFamily="34" charset="-120"/>
              </a:rPr>
              <a:t>G = group size.</a:t>
            </a:r>
            <a:endParaRPr lang="en-US" sz="1160" dirty="0"/>
          </a:p>
          <a:p>
            <a:pPr marL="0" indent="0" algn="ctr">
              <a:buNone/>
            </a:pPr>
            <a:r>
              <a:rPr lang="en-US" sz="1160" dirty="0">
                <a:solidFill>
                  <a:srgbClr val="222222"/>
                </a:solidFill>
                <a:latin typeface="Arial" pitchFamily="34" charset="0"/>
                <a:ea typeface="Arial" pitchFamily="34" charset="-122"/>
                <a:cs typeface="Arial" pitchFamily="34" charset="-120"/>
              </a:rPr>
              <a:t>Recent LLM quantization frameworks often use G = 128 to balance accuracy and metadata overhead.</a:t>
            </a:r>
            <a:endParaRPr lang="en-US" sz="1160" dirty="0"/>
          </a:p>
        </p:txBody>
      </p:sp>
      <p:sp>
        <p:nvSpPr>
          <p:cNvPr id="13" name="Shape 10"/>
          <p:cNvSpPr/>
          <p:nvPr/>
        </p:nvSpPr>
        <p:spPr>
          <a:xfrm>
            <a:off x="1097280" y="3703320"/>
            <a:ext cx="1965960" cy="548640"/>
          </a:xfrm>
          <a:prstGeom prst="roundRect">
            <a:avLst>
              <a:gd name="adj" fmla="val 6667"/>
            </a:avLst>
          </a:prstGeom>
          <a:solidFill>
            <a:srgbClr val="FFFFFF"/>
          </a:solidFill>
          <a:ln w="12700">
            <a:solidFill>
              <a:srgbClr val="9EADCC"/>
            </a:solidFill>
            <a:prstDash val="solid"/>
          </a:ln>
        </p:spPr>
        <p:txBody>
          <a:bodyPr/>
          <a:lstStyle/>
          <a:p>
            <a:endParaRPr lang="ko-KR" altLang="en-US"/>
          </a:p>
        </p:txBody>
      </p:sp>
      <p:sp>
        <p:nvSpPr>
          <p:cNvPr id="14" name="Text 11"/>
          <p:cNvSpPr/>
          <p:nvPr/>
        </p:nvSpPr>
        <p:spPr>
          <a:xfrm>
            <a:off x="1188720" y="3803904"/>
            <a:ext cx="1783080" cy="283464"/>
          </a:xfrm>
          <a:prstGeom prst="rect">
            <a:avLst/>
          </a:prstGeom>
          <a:noFill/>
          <a:ln/>
        </p:spPr>
        <p:txBody>
          <a:bodyPr wrap="square" lIns="0" tIns="0" rIns="0" bIns="0" rtlCol="0" anchor="ctr">
            <a:normAutofit fontScale="92500" lnSpcReduction="20000"/>
          </a:bodyPr>
          <a:lstStyle/>
          <a:p>
            <a:pPr marL="0" indent="0" algn="ctr">
              <a:buNone/>
            </a:pPr>
            <a:r>
              <a:rPr lang="en-US" sz="1200" b="1" dirty="0">
                <a:solidFill>
                  <a:srgbClr val="00245D"/>
                </a:solidFill>
                <a:latin typeface="Arial" pitchFamily="34" charset="0"/>
                <a:ea typeface="Arial" pitchFamily="34" charset="-122"/>
                <a:cs typeface="Arial" pitchFamily="34" charset="-120"/>
              </a:rPr>
              <a:t>Group 1</a:t>
            </a:r>
            <a:endParaRPr lang="en-US" sz="1200" dirty="0"/>
          </a:p>
          <a:p>
            <a:pPr marL="0" indent="0" algn="ctr">
              <a:buNone/>
            </a:pPr>
            <a:r>
              <a:rPr lang="en-US" sz="1200" b="1" dirty="0">
                <a:solidFill>
                  <a:srgbClr val="00245D"/>
                </a:solidFill>
                <a:latin typeface="Arial" pitchFamily="34" charset="0"/>
                <a:ea typeface="Arial" pitchFamily="34" charset="-122"/>
                <a:cs typeface="Arial" pitchFamily="34" charset="-120"/>
              </a:rPr>
              <a:t>Δ₁</a:t>
            </a:r>
            <a:endParaRPr lang="en-US" sz="1200" dirty="0"/>
          </a:p>
        </p:txBody>
      </p:sp>
      <p:sp>
        <p:nvSpPr>
          <p:cNvPr id="15" name="Shape 12"/>
          <p:cNvSpPr/>
          <p:nvPr/>
        </p:nvSpPr>
        <p:spPr>
          <a:xfrm>
            <a:off x="3246120" y="3703320"/>
            <a:ext cx="1965960" cy="548640"/>
          </a:xfrm>
          <a:prstGeom prst="roundRect">
            <a:avLst>
              <a:gd name="adj" fmla="val 6667"/>
            </a:avLst>
          </a:prstGeom>
          <a:solidFill>
            <a:srgbClr val="FDECEC"/>
          </a:solidFill>
          <a:ln w="12700">
            <a:solidFill>
              <a:srgbClr val="C00000"/>
            </a:solidFill>
            <a:prstDash val="solid"/>
          </a:ln>
        </p:spPr>
        <p:txBody>
          <a:bodyPr/>
          <a:lstStyle/>
          <a:p>
            <a:endParaRPr lang="ko-KR" altLang="en-US"/>
          </a:p>
        </p:txBody>
      </p:sp>
      <p:sp>
        <p:nvSpPr>
          <p:cNvPr id="16" name="Text 13"/>
          <p:cNvSpPr/>
          <p:nvPr/>
        </p:nvSpPr>
        <p:spPr>
          <a:xfrm>
            <a:off x="3337560" y="3803904"/>
            <a:ext cx="1783080" cy="283464"/>
          </a:xfrm>
          <a:prstGeom prst="rect">
            <a:avLst/>
          </a:prstGeom>
          <a:noFill/>
          <a:ln/>
        </p:spPr>
        <p:txBody>
          <a:bodyPr wrap="square" lIns="0" tIns="0" rIns="0" bIns="0" rtlCol="0" anchor="ctr">
            <a:normAutofit fontScale="92500" lnSpcReduction="20000"/>
          </a:bodyPr>
          <a:lstStyle/>
          <a:p>
            <a:pPr marL="0" indent="0" algn="ctr">
              <a:buNone/>
            </a:pPr>
            <a:r>
              <a:rPr lang="en-US" sz="1200" b="1" dirty="0">
                <a:solidFill>
                  <a:srgbClr val="C00000"/>
                </a:solidFill>
                <a:latin typeface="Arial" pitchFamily="34" charset="0"/>
                <a:ea typeface="Arial" pitchFamily="34" charset="-122"/>
                <a:cs typeface="Arial" pitchFamily="34" charset="-120"/>
              </a:rPr>
              <a:t>Group 2</a:t>
            </a:r>
            <a:endParaRPr lang="en-US" sz="1200" dirty="0"/>
          </a:p>
          <a:p>
            <a:pPr marL="0" indent="0" algn="ctr">
              <a:buNone/>
            </a:pPr>
            <a:r>
              <a:rPr lang="en-US" sz="1200" b="1" dirty="0">
                <a:solidFill>
                  <a:srgbClr val="C00000"/>
                </a:solidFill>
                <a:latin typeface="Arial" pitchFamily="34" charset="0"/>
                <a:ea typeface="Arial" pitchFamily="34" charset="-122"/>
                <a:cs typeface="Arial" pitchFamily="34" charset="-120"/>
              </a:rPr>
              <a:t>Δ₂</a:t>
            </a:r>
            <a:endParaRPr lang="en-US" sz="1200" dirty="0"/>
          </a:p>
        </p:txBody>
      </p:sp>
      <p:sp>
        <p:nvSpPr>
          <p:cNvPr id="17" name="Text 14"/>
          <p:cNvSpPr/>
          <p:nvPr/>
        </p:nvSpPr>
        <p:spPr>
          <a:xfrm>
            <a:off x="1005840" y="4709160"/>
            <a:ext cx="4617720" cy="292608"/>
          </a:xfrm>
          <a:prstGeom prst="rect">
            <a:avLst/>
          </a:prstGeom>
          <a:noFill/>
          <a:ln/>
        </p:spPr>
        <p:txBody>
          <a:bodyPr wrap="square" lIns="0" tIns="0" rIns="0" bIns="0" rtlCol="0" anchor="ctr">
            <a:normAutofit/>
          </a:bodyPr>
          <a:lstStyle/>
          <a:p>
            <a:pPr marL="0" indent="0" algn="ctr">
              <a:buNone/>
            </a:pPr>
            <a:r>
              <a:rPr lang="en-US" sz="1150" b="1" dirty="0">
                <a:solidFill>
                  <a:srgbClr val="00245D"/>
                </a:solidFill>
                <a:latin typeface="Arial" pitchFamily="34" charset="0"/>
                <a:ea typeface="Arial" pitchFamily="34" charset="-122"/>
                <a:cs typeface="Arial" pitchFamily="34" charset="-120"/>
              </a:rPr>
              <a:t>Outlier is contained in the group where it exists.</a:t>
            </a:r>
            <a:endParaRPr lang="en-US" sz="1150" dirty="0"/>
          </a:p>
        </p:txBody>
      </p:sp>
      <p:sp>
        <p:nvSpPr>
          <p:cNvPr id="18" name="Shape 15"/>
          <p:cNvSpPr/>
          <p:nvPr/>
        </p:nvSpPr>
        <p:spPr>
          <a:xfrm>
            <a:off x="6400800" y="1371600"/>
            <a:ext cx="4892040" cy="4526280"/>
          </a:xfrm>
          <a:prstGeom prst="roundRect">
            <a:avLst>
              <a:gd name="adj" fmla="val 1212"/>
            </a:avLst>
          </a:prstGeom>
          <a:solidFill>
            <a:srgbClr val="FFFDF2"/>
          </a:solidFill>
          <a:ln w="13335">
            <a:solidFill>
              <a:srgbClr val="D6B656"/>
            </a:solidFill>
            <a:prstDash val="solid"/>
          </a:ln>
        </p:spPr>
        <p:txBody>
          <a:bodyPr/>
          <a:lstStyle/>
          <a:p>
            <a:endParaRPr lang="ko-KR" altLang="en-US"/>
          </a:p>
        </p:txBody>
      </p:sp>
      <p:sp>
        <p:nvSpPr>
          <p:cNvPr id="19" name="Text 16"/>
          <p:cNvSpPr/>
          <p:nvPr/>
        </p:nvSpPr>
        <p:spPr>
          <a:xfrm>
            <a:off x="6565392" y="1490472"/>
            <a:ext cx="45628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MD example: Channel 1, G = 4</a:t>
            </a:r>
            <a:endParaRPr lang="en-US" sz="1200" dirty="0"/>
          </a:p>
        </p:txBody>
      </p:sp>
      <p:sp>
        <p:nvSpPr>
          <p:cNvPr id="20" name="Text 17"/>
          <p:cNvSpPr/>
          <p:nvPr/>
        </p:nvSpPr>
        <p:spPr>
          <a:xfrm>
            <a:off x="6537960" y="2121408"/>
            <a:ext cx="960120" cy="219456"/>
          </a:xfrm>
          <a:prstGeom prst="rect">
            <a:avLst/>
          </a:prstGeom>
          <a:noFill/>
          <a:ln/>
        </p:spPr>
        <p:txBody>
          <a:bodyPr wrap="square" lIns="0" tIns="0" rIns="0" bIns="0" rtlCol="0" anchor="ctr"/>
          <a:lstStyle/>
          <a:p>
            <a:pPr marL="0" indent="0" algn="r">
              <a:buNone/>
            </a:pPr>
            <a:r>
              <a:rPr lang="en-US" sz="1050" b="1" dirty="0">
                <a:solidFill>
                  <a:srgbClr val="00245D"/>
                </a:solidFill>
                <a:latin typeface="Arial" pitchFamily="34" charset="0"/>
                <a:ea typeface="Arial" pitchFamily="34" charset="-122"/>
                <a:cs typeface="Arial" pitchFamily="34" charset="-120"/>
              </a:rPr>
              <a:t>G1</a:t>
            </a:r>
            <a:endParaRPr lang="en-US" sz="1050" dirty="0"/>
          </a:p>
        </p:txBody>
      </p:sp>
      <p:sp>
        <p:nvSpPr>
          <p:cNvPr id="21" name="Shape 18"/>
          <p:cNvSpPr/>
          <p:nvPr/>
        </p:nvSpPr>
        <p:spPr>
          <a:xfrm>
            <a:off x="7616952" y="2011680"/>
            <a:ext cx="512064" cy="438912"/>
          </a:xfrm>
          <a:prstGeom prst="rect">
            <a:avLst/>
          </a:prstGeom>
          <a:solidFill>
            <a:srgbClr val="FFFFFF"/>
          </a:solidFill>
          <a:ln w="7620">
            <a:solidFill>
              <a:srgbClr val="BFBFBF"/>
            </a:solidFill>
            <a:prstDash val="solid"/>
          </a:ln>
        </p:spPr>
        <p:txBody>
          <a:bodyPr/>
          <a:lstStyle/>
          <a:p>
            <a:endParaRPr lang="ko-KR" altLang="en-US"/>
          </a:p>
        </p:txBody>
      </p:sp>
      <p:sp>
        <p:nvSpPr>
          <p:cNvPr id="22" name="Text 19"/>
          <p:cNvSpPr/>
          <p:nvPr/>
        </p:nvSpPr>
        <p:spPr>
          <a:xfrm>
            <a:off x="7635240" y="2139696"/>
            <a:ext cx="475488"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0.2</a:t>
            </a:r>
            <a:endParaRPr lang="en-US" sz="950" dirty="0"/>
          </a:p>
        </p:txBody>
      </p:sp>
      <p:sp>
        <p:nvSpPr>
          <p:cNvPr id="23" name="Shape 20"/>
          <p:cNvSpPr/>
          <p:nvPr/>
        </p:nvSpPr>
        <p:spPr>
          <a:xfrm>
            <a:off x="8129016" y="2011680"/>
            <a:ext cx="512064" cy="438912"/>
          </a:xfrm>
          <a:prstGeom prst="rect">
            <a:avLst/>
          </a:prstGeom>
          <a:solidFill>
            <a:srgbClr val="FFFFFF"/>
          </a:solidFill>
          <a:ln w="7620">
            <a:solidFill>
              <a:srgbClr val="BFBFBF"/>
            </a:solidFill>
            <a:prstDash val="solid"/>
          </a:ln>
        </p:spPr>
        <p:txBody>
          <a:bodyPr/>
          <a:lstStyle/>
          <a:p>
            <a:endParaRPr lang="ko-KR" altLang="en-US"/>
          </a:p>
        </p:txBody>
      </p:sp>
      <p:sp>
        <p:nvSpPr>
          <p:cNvPr id="24" name="Text 21"/>
          <p:cNvSpPr/>
          <p:nvPr/>
        </p:nvSpPr>
        <p:spPr>
          <a:xfrm>
            <a:off x="8147304" y="2139696"/>
            <a:ext cx="475488"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-0.3</a:t>
            </a:r>
            <a:endParaRPr lang="en-US" sz="950" dirty="0"/>
          </a:p>
        </p:txBody>
      </p:sp>
      <p:sp>
        <p:nvSpPr>
          <p:cNvPr id="25" name="Shape 22"/>
          <p:cNvSpPr/>
          <p:nvPr/>
        </p:nvSpPr>
        <p:spPr>
          <a:xfrm>
            <a:off x="8641080" y="2011680"/>
            <a:ext cx="512064" cy="438912"/>
          </a:xfrm>
          <a:prstGeom prst="rect">
            <a:avLst/>
          </a:prstGeom>
          <a:solidFill>
            <a:srgbClr val="FFFFFF"/>
          </a:solidFill>
          <a:ln w="7620">
            <a:solidFill>
              <a:srgbClr val="BFBFBF"/>
            </a:solidFill>
            <a:prstDash val="solid"/>
          </a:ln>
        </p:spPr>
        <p:txBody>
          <a:bodyPr/>
          <a:lstStyle/>
          <a:p>
            <a:endParaRPr lang="ko-KR" altLang="en-US"/>
          </a:p>
        </p:txBody>
      </p:sp>
      <p:sp>
        <p:nvSpPr>
          <p:cNvPr id="26" name="Text 23"/>
          <p:cNvSpPr/>
          <p:nvPr/>
        </p:nvSpPr>
        <p:spPr>
          <a:xfrm>
            <a:off x="8659368" y="2139696"/>
            <a:ext cx="475488"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0.4</a:t>
            </a:r>
            <a:endParaRPr lang="en-US" sz="950" dirty="0"/>
          </a:p>
        </p:txBody>
      </p:sp>
      <p:sp>
        <p:nvSpPr>
          <p:cNvPr id="27" name="Shape 24"/>
          <p:cNvSpPr/>
          <p:nvPr/>
        </p:nvSpPr>
        <p:spPr>
          <a:xfrm>
            <a:off x="9153144" y="2011680"/>
            <a:ext cx="512064" cy="438912"/>
          </a:xfrm>
          <a:prstGeom prst="rect">
            <a:avLst/>
          </a:prstGeom>
          <a:solidFill>
            <a:srgbClr val="FFFFFF"/>
          </a:solidFill>
          <a:ln w="7620">
            <a:solidFill>
              <a:srgbClr val="BFBFBF"/>
            </a:solidFill>
            <a:prstDash val="solid"/>
          </a:ln>
        </p:spPr>
        <p:txBody>
          <a:bodyPr/>
          <a:lstStyle/>
          <a:p>
            <a:endParaRPr lang="ko-KR" altLang="en-US"/>
          </a:p>
        </p:txBody>
      </p:sp>
      <p:sp>
        <p:nvSpPr>
          <p:cNvPr id="28" name="Text 25"/>
          <p:cNvSpPr/>
          <p:nvPr/>
        </p:nvSpPr>
        <p:spPr>
          <a:xfrm>
            <a:off x="9171432" y="2139696"/>
            <a:ext cx="475488"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-0.1</a:t>
            </a:r>
            <a:endParaRPr lang="en-US" sz="950" dirty="0"/>
          </a:p>
        </p:txBody>
      </p:sp>
      <p:sp>
        <p:nvSpPr>
          <p:cNvPr id="29" name="Text 26"/>
          <p:cNvSpPr/>
          <p:nvPr/>
        </p:nvSpPr>
        <p:spPr>
          <a:xfrm>
            <a:off x="9738360" y="2130552"/>
            <a:ext cx="1234440" cy="201168"/>
          </a:xfrm>
          <a:prstGeom prst="rect">
            <a:avLst/>
          </a:prstGeom>
          <a:noFill/>
          <a:ln/>
        </p:spPr>
        <p:txBody>
          <a:bodyPr wrap="square" lIns="0" tIns="0" rIns="0" bIns="0" rtlCol="0" anchor="ctr">
            <a:normAutofit/>
          </a:bodyPr>
          <a:lstStyle/>
          <a:p>
            <a:pPr marL="0" indent="0">
              <a:buNone/>
            </a:pPr>
            <a:r>
              <a:rPr lang="en-US" sz="950" b="1" dirty="0">
                <a:solidFill>
                  <a:srgbClr val="00245D"/>
                </a:solidFill>
                <a:latin typeface="Arial" pitchFamily="34" charset="0"/>
                <a:ea typeface="Arial" pitchFamily="34" charset="-122"/>
                <a:cs typeface="Arial" pitchFamily="34" charset="-120"/>
              </a:rPr>
              <a:t>→ Δ₁ = 0.4/7 ≈ 0.0571</a:t>
            </a:r>
            <a:endParaRPr lang="en-US" sz="950" dirty="0"/>
          </a:p>
        </p:txBody>
      </p:sp>
      <p:sp>
        <p:nvSpPr>
          <p:cNvPr id="30" name="Text 27"/>
          <p:cNvSpPr/>
          <p:nvPr/>
        </p:nvSpPr>
        <p:spPr>
          <a:xfrm>
            <a:off x="6537960" y="2944368"/>
            <a:ext cx="960120" cy="219456"/>
          </a:xfrm>
          <a:prstGeom prst="rect">
            <a:avLst/>
          </a:prstGeom>
          <a:noFill/>
          <a:ln/>
        </p:spPr>
        <p:txBody>
          <a:bodyPr wrap="square" lIns="0" tIns="0" rIns="0" bIns="0" rtlCol="0" anchor="ctr"/>
          <a:lstStyle/>
          <a:p>
            <a:pPr marL="0" indent="0" algn="r">
              <a:buNone/>
            </a:pPr>
            <a:r>
              <a:rPr lang="en-US" sz="1050" b="1" dirty="0">
                <a:solidFill>
                  <a:srgbClr val="00245D"/>
                </a:solidFill>
                <a:latin typeface="Arial" pitchFamily="34" charset="0"/>
                <a:ea typeface="Arial" pitchFamily="34" charset="-122"/>
                <a:cs typeface="Arial" pitchFamily="34" charset="-120"/>
              </a:rPr>
              <a:t>G2</a:t>
            </a:r>
            <a:endParaRPr lang="en-US" sz="1050" dirty="0"/>
          </a:p>
        </p:txBody>
      </p:sp>
      <p:sp>
        <p:nvSpPr>
          <p:cNvPr id="31" name="Shape 28"/>
          <p:cNvSpPr/>
          <p:nvPr/>
        </p:nvSpPr>
        <p:spPr>
          <a:xfrm>
            <a:off x="7616952" y="2834640"/>
            <a:ext cx="512064" cy="438912"/>
          </a:xfrm>
          <a:prstGeom prst="rect">
            <a:avLst/>
          </a:prstGeom>
          <a:solidFill>
            <a:srgbClr val="FFFFFF"/>
          </a:solidFill>
          <a:ln w="7620">
            <a:solidFill>
              <a:srgbClr val="BFBFBF"/>
            </a:solidFill>
            <a:prstDash val="solid"/>
          </a:ln>
        </p:spPr>
        <p:txBody>
          <a:bodyPr/>
          <a:lstStyle/>
          <a:p>
            <a:endParaRPr lang="ko-KR" altLang="en-US"/>
          </a:p>
        </p:txBody>
      </p:sp>
      <p:sp>
        <p:nvSpPr>
          <p:cNvPr id="32" name="Text 29"/>
          <p:cNvSpPr/>
          <p:nvPr/>
        </p:nvSpPr>
        <p:spPr>
          <a:xfrm>
            <a:off x="7635240" y="2962656"/>
            <a:ext cx="475488"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0.1</a:t>
            </a:r>
            <a:endParaRPr lang="en-US" sz="950" dirty="0"/>
          </a:p>
        </p:txBody>
      </p:sp>
      <p:sp>
        <p:nvSpPr>
          <p:cNvPr id="33" name="Shape 30"/>
          <p:cNvSpPr/>
          <p:nvPr/>
        </p:nvSpPr>
        <p:spPr>
          <a:xfrm>
            <a:off x="8129016" y="2834640"/>
            <a:ext cx="512064" cy="438912"/>
          </a:xfrm>
          <a:prstGeom prst="rect">
            <a:avLst/>
          </a:prstGeom>
          <a:solidFill>
            <a:srgbClr val="FFFFFF"/>
          </a:solidFill>
          <a:ln w="7620">
            <a:solidFill>
              <a:srgbClr val="BFBFBF"/>
            </a:solidFill>
            <a:prstDash val="solid"/>
          </a:ln>
        </p:spPr>
        <p:txBody>
          <a:bodyPr/>
          <a:lstStyle/>
          <a:p>
            <a:endParaRPr lang="ko-KR" altLang="en-US"/>
          </a:p>
        </p:txBody>
      </p:sp>
      <p:sp>
        <p:nvSpPr>
          <p:cNvPr id="34" name="Text 31"/>
          <p:cNvSpPr/>
          <p:nvPr/>
        </p:nvSpPr>
        <p:spPr>
          <a:xfrm>
            <a:off x="8147304" y="2962656"/>
            <a:ext cx="475488"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-0.2</a:t>
            </a:r>
            <a:endParaRPr lang="en-US" sz="950" dirty="0"/>
          </a:p>
        </p:txBody>
      </p:sp>
      <p:sp>
        <p:nvSpPr>
          <p:cNvPr id="35" name="Shape 32"/>
          <p:cNvSpPr/>
          <p:nvPr/>
        </p:nvSpPr>
        <p:spPr>
          <a:xfrm>
            <a:off x="8641080" y="2834640"/>
            <a:ext cx="512064" cy="438912"/>
          </a:xfrm>
          <a:prstGeom prst="rect">
            <a:avLst/>
          </a:prstGeom>
          <a:solidFill>
            <a:srgbClr val="FFFFFF"/>
          </a:solidFill>
          <a:ln w="7620">
            <a:solidFill>
              <a:srgbClr val="BFBFBF"/>
            </a:solidFill>
            <a:prstDash val="solid"/>
          </a:ln>
        </p:spPr>
        <p:txBody>
          <a:bodyPr/>
          <a:lstStyle/>
          <a:p>
            <a:endParaRPr lang="ko-KR" altLang="en-US"/>
          </a:p>
        </p:txBody>
      </p:sp>
      <p:sp>
        <p:nvSpPr>
          <p:cNvPr id="36" name="Text 33"/>
          <p:cNvSpPr/>
          <p:nvPr/>
        </p:nvSpPr>
        <p:spPr>
          <a:xfrm>
            <a:off x="8659368" y="2962656"/>
            <a:ext cx="475488"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0.3</a:t>
            </a:r>
            <a:endParaRPr lang="en-US" sz="950" dirty="0"/>
          </a:p>
        </p:txBody>
      </p:sp>
      <p:sp>
        <p:nvSpPr>
          <p:cNvPr id="37" name="Shape 34"/>
          <p:cNvSpPr/>
          <p:nvPr/>
        </p:nvSpPr>
        <p:spPr>
          <a:xfrm>
            <a:off x="9153144" y="2834640"/>
            <a:ext cx="512064" cy="438912"/>
          </a:xfrm>
          <a:prstGeom prst="rect">
            <a:avLst/>
          </a:prstGeom>
          <a:solidFill>
            <a:srgbClr val="FDECEC"/>
          </a:solidFill>
          <a:ln w="16510">
            <a:solidFill>
              <a:srgbClr val="C00000"/>
            </a:solidFill>
            <a:prstDash val="solid"/>
          </a:ln>
        </p:spPr>
        <p:txBody>
          <a:bodyPr/>
          <a:lstStyle/>
          <a:p>
            <a:endParaRPr lang="ko-KR" altLang="en-US"/>
          </a:p>
        </p:txBody>
      </p:sp>
      <p:sp>
        <p:nvSpPr>
          <p:cNvPr id="38" name="Text 35"/>
          <p:cNvSpPr/>
          <p:nvPr/>
        </p:nvSpPr>
        <p:spPr>
          <a:xfrm>
            <a:off x="9171432" y="2962656"/>
            <a:ext cx="475488" cy="146304"/>
          </a:xfrm>
          <a:prstGeom prst="rect">
            <a:avLst/>
          </a:prstGeom>
          <a:noFill/>
          <a:ln/>
        </p:spPr>
        <p:txBody>
          <a:bodyPr wrap="square" lIns="0" tIns="0" rIns="0" bIns="0" rtlCol="0" anchor="ctr">
            <a:normAutofit/>
          </a:bodyPr>
          <a:lstStyle/>
          <a:p>
            <a:pPr marL="0" indent="0" algn="ctr">
              <a:buNone/>
            </a:pPr>
            <a:r>
              <a:rPr lang="en-US" sz="950" b="1" dirty="0">
                <a:solidFill>
                  <a:srgbClr val="C00000"/>
                </a:solidFill>
                <a:latin typeface="Arial" pitchFamily="34" charset="0"/>
                <a:ea typeface="Arial" pitchFamily="34" charset="-122"/>
                <a:cs typeface="Arial" pitchFamily="34" charset="-120"/>
              </a:rPr>
              <a:t>4.0</a:t>
            </a:r>
            <a:endParaRPr lang="en-US" sz="950" dirty="0"/>
          </a:p>
        </p:txBody>
      </p:sp>
      <p:sp>
        <p:nvSpPr>
          <p:cNvPr id="39" name="Text 36"/>
          <p:cNvSpPr/>
          <p:nvPr/>
        </p:nvSpPr>
        <p:spPr>
          <a:xfrm>
            <a:off x="9738360" y="2953512"/>
            <a:ext cx="1280160" cy="201168"/>
          </a:xfrm>
          <a:prstGeom prst="rect">
            <a:avLst/>
          </a:prstGeom>
          <a:noFill/>
          <a:ln/>
        </p:spPr>
        <p:txBody>
          <a:bodyPr wrap="square" lIns="0" tIns="0" rIns="0" bIns="0" rtlCol="0" anchor="ctr">
            <a:normAutofit/>
          </a:bodyPr>
          <a:lstStyle/>
          <a:p>
            <a:pPr marL="0" indent="0">
              <a:buNone/>
            </a:pPr>
            <a:r>
              <a:rPr lang="en-US" sz="950" b="1" dirty="0">
                <a:solidFill>
                  <a:srgbClr val="C00000"/>
                </a:solidFill>
                <a:latin typeface="Arial" pitchFamily="34" charset="0"/>
                <a:ea typeface="Arial" pitchFamily="34" charset="-122"/>
                <a:cs typeface="Arial" pitchFamily="34" charset="-120"/>
              </a:rPr>
              <a:t>→ Δ₂ = 4.0/7 ≈ 0.5714</a:t>
            </a:r>
            <a:endParaRPr lang="en-US" sz="950" dirty="0"/>
          </a:p>
        </p:txBody>
      </p:sp>
      <p:sp>
        <p:nvSpPr>
          <p:cNvPr id="40" name="Shape 37"/>
          <p:cNvSpPr/>
          <p:nvPr/>
        </p:nvSpPr>
        <p:spPr>
          <a:xfrm>
            <a:off x="6903720" y="3977640"/>
            <a:ext cx="3977640" cy="594360"/>
          </a:xfrm>
          <a:prstGeom prst="roundRect">
            <a:avLst>
              <a:gd name="adj" fmla="val 9231"/>
            </a:avLst>
          </a:prstGeom>
          <a:solidFill>
            <a:srgbClr val="EAF2FF"/>
          </a:solidFill>
          <a:ln w="12700">
            <a:solidFill>
              <a:srgbClr val="7EA6E0"/>
            </a:solidFill>
            <a:prstDash val="solid"/>
          </a:ln>
        </p:spPr>
        <p:txBody>
          <a:bodyPr/>
          <a:lstStyle/>
          <a:p>
            <a:endParaRPr lang="ko-KR" altLang="en-US"/>
          </a:p>
        </p:txBody>
      </p:sp>
      <p:sp>
        <p:nvSpPr>
          <p:cNvPr id="41" name="Text 38"/>
          <p:cNvSpPr/>
          <p:nvPr/>
        </p:nvSpPr>
        <p:spPr>
          <a:xfrm>
            <a:off x="7086600" y="4105656"/>
            <a:ext cx="3611880" cy="310896"/>
          </a:xfrm>
          <a:prstGeom prst="rect">
            <a:avLst/>
          </a:prstGeom>
          <a:noFill/>
          <a:ln/>
        </p:spPr>
        <p:txBody>
          <a:bodyPr wrap="square" lIns="0" tIns="0" rIns="0" bIns="0" rtlCol="0" anchor="ctr">
            <a:normAutofit lnSpcReduction="10000"/>
          </a:bodyPr>
          <a:lstStyle/>
          <a:p>
            <a:pPr marL="0" indent="0" algn="ctr">
              <a:buNone/>
            </a:pPr>
            <a:r>
              <a:rPr lang="en-US" sz="1070" b="1" dirty="0">
                <a:solidFill>
                  <a:srgbClr val="00245D"/>
                </a:solidFill>
                <a:latin typeface="Arial" pitchFamily="34" charset="0"/>
                <a:ea typeface="Arial" pitchFamily="34" charset="-122"/>
                <a:cs typeface="Arial" pitchFamily="34" charset="-120"/>
              </a:rPr>
              <a:t>Group 1 can use a much smaller scale, because the 4.0 outlier is only in Group 2.</a:t>
            </a:r>
            <a:endParaRPr lang="en-US" sz="1070" dirty="0"/>
          </a:p>
        </p:txBody>
      </p:sp>
      <p:sp>
        <p:nvSpPr>
          <p:cNvPr id="42" name="Text 39"/>
          <p:cNvSpPr/>
          <p:nvPr/>
        </p:nvSpPr>
        <p:spPr>
          <a:xfrm>
            <a:off x="6720840" y="5047488"/>
            <a:ext cx="4343400" cy="237744"/>
          </a:xfrm>
          <a:prstGeom prst="rect">
            <a:avLst/>
          </a:prstGeom>
          <a:noFill/>
          <a:ln/>
        </p:spPr>
        <p:txBody>
          <a:bodyPr wrap="square" lIns="0" tIns="0" rIns="0" bIns="0" rtlCol="0" anchor="ctr">
            <a:normAutofit fontScale="77500" lnSpcReduction="20000"/>
          </a:bodyPr>
          <a:lstStyle/>
          <a:p>
            <a:pPr marL="0" indent="0" algn="ctr">
              <a:buNone/>
            </a:pPr>
            <a:r>
              <a:rPr lang="en-US" sz="1120" b="1" dirty="0">
                <a:solidFill>
                  <a:srgbClr val="548235"/>
                </a:solidFill>
                <a:latin typeface="Arial" pitchFamily="34" charset="0"/>
                <a:ea typeface="Arial" pitchFamily="34" charset="-122"/>
                <a:cs typeface="Arial" pitchFamily="34" charset="-120"/>
              </a:rPr>
              <a:t>Key idea: Per-Group improves accuracy by reducing the maximum value/range inside each quantized block.</a:t>
            </a:r>
            <a:endParaRPr lang="en-US" sz="11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Same Weight, Different Granularity</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23</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Compare the same weight Wf = 0.3 when it belongs to Group 1.</a:t>
            </a:r>
            <a:endParaRPr lang="en-US" sz="1300" dirty="0"/>
          </a:p>
        </p:txBody>
      </p:sp>
      <p:sp>
        <p:nvSpPr>
          <p:cNvPr id="9" name="Shape 6"/>
          <p:cNvSpPr/>
          <p:nvPr/>
        </p:nvSpPr>
        <p:spPr>
          <a:xfrm>
            <a:off x="685800" y="1481328"/>
            <a:ext cx="3154680" cy="3063240"/>
          </a:xfrm>
          <a:prstGeom prst="roundRect">
            <a:avLst>
              <a:gd name="adj" fmla="val 1791"/>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600200"/>
            <a:ext cx="28254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Per-Tensor</a:t>
            </a:r>
            <a:endParaRPr lang="en-US" sz="1200" dirty="0"/>
          </a:p>
        </p:txBody>
      </p:sp>
      <p:sp>
        <p:nvSpPr>
          <p:cNvPr id="11" name="Shape 8"/>
          <p:cNvSpPr/>
          <p:nvPr/>
        </p:nvSpPr>
        <p:spPr>
          <a:xfrm>
            <a:off x="4160520" y="1481328"/>
            <a:ext cx="3154680" cy="3063240"/>
          </a:xfrm>
          <a:prstGeom prst="roundRect">
            <a:avLst>
              <a:gd name="adj" fmla="val 1791"/>
            </a:avLst>
          </a:prstGeom>
          <a:solidFill>
            <a:srgbClr val="F3F8FF"/>
          </a:solidFill>
          <a:ln w="13335">
            <a:solidFill>
              <a:srgbClr val="9EADCC"/>
            </a:solidFill>
            <a:prstDash val="solid"/>
          </a:ln>
        </p:spPr>
        <p:txBody>
          <a:bodyPr/>
          <a:lstStyle/>
          <a:p>
            <a:endParaRPr lang="ko-KR" altLang="en-US"/>
          </a:p>
        </p:txBody>
      </p:sp>
      <p:sp>
        <p:nvSpPr>
          <p:cNvPr id="12" name="Text 9"/>
          <p:cNvSpPr/>
          <p:nvPr/>
        </p:nvSpPr>
        <p:spPr>
          <a:xfrm>
            <a:off x="4325112" y="1600200"/>
            <a:ext cx="28254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Per-Channel</a:t>
            </a:r>
            <a:endParaRPr lang="en-US" sz="1200" dirty="0"/>
          </a:p>
        </p:txBody>
      </p:sp>
      <p:sp>
        <p:nvSpPr>
          <p:cNvPr id="13" name="Shape 10"/>
          <p:cNvSpPr/>
          <p:nvPr/>
        </p:nvSpPr>
        <p:spPr>
          <a:xfrm>
            <a:off x="7635240" y="1481328"/>
            <a:ext cx="3154680" cy="3063240"/>
          </a:xfrm>
          <a:prstGeom prst="roundRect">
            <a:avLst>
              <a:gd name="adj" fmla="val 1791"/>
            </a:avLst>
          </a:prstGeom>
          <a:solidFill>
            <a:srgbClr val="E2F0D9"/>
          </a:solidFill>
          <a:ln w="13335">
            <a:solidFill>
              <a:srgbClr val="548235"/>
            </a:solidFill>
            <a:prstDash val="solid"/>
          </a:ln>
        </p:spPr>
        <p:txBody>
          <a:bodyPr/>
          <a:lstStyle/>
          <a:p>
            <a:endParaRPr lang="ko-KR" altLang="en-US"/>
          </a:p>
        </p:txBody>
      </p:sp>
      <p:sp>
        <p:nvSpPr>
          <p:cNvPr id="14" name="Text 11"/>
          <p:cNvSpPr/>
          <p:nvPr/>
        </p:nvSpPr>
        <p:spPr>
          <a:xfrm>
            <a:off x="7799832" y="1600200"/>
            <a:ext cx="28254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Per-Group</a:t>
            </a:r>
            <a:endParaRPr lang="en-US" sz="1200" dirty="0"/>
          </a:p>
        </p:txBody>
      </p:sp>
      <mc:AlternateContent xmlns:mc="http://schemas.openxmlformats.org/markup-compatibility/2006" xmlns:a14="http://schemas.microsoft.com/office/drawing/2010/main">
        <mc:Choice Requires="a14">
          <p:sp>
            <p:nvSpPr>
              <p:cNvPr id="15" name="Text 12"/>
              <p:cNvSpPr/>
              <p:nvPr/>
            </p:nvSpPr>
            <p:spPr>
              <a:xfrm>
                <a:off x="960120" y="1920240"/>
                <a:ext cx="2606040" cy="38404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en-US" altLang="ko-KR" sz="1150" smtClean="0">
                          <a:latin typeface="Cambria Math"/>
                        </a:rPr>
                        <m:t>𝛥</m:t>
                      </m:r>
                      <m:r>
                        <a:rPr lang="en-US" altLang="ko-KR" sz="1150" smtClean="0">
                          <a:latin typeface="Cambria Math"/>
                        </a:rPr>
                        <m:t>=0.5714</m:t>
                      </m:r>
                    </m:oMath>
                  </m:oMathPara>
                </a14:m>
                <a:endParaRPr/>
              </a:p>
            </p:txBody>
          </p:sp>
        </mc:Choice>
        <mc:Fallback xmlns="">
          <p:sp>
            <p:nvSpPr>
              <p:cNvPr id="15" name="Text 12"/>
              <p:cNvSpPr>
                <a:spLocks noRot="1" noChangeAspect="1" noMove="1" noResize="1" noEditPoints="1" noAdjustHandles="1" noChangeArrowheads="1" noChangeShapeType="1" noTextEdit="1"/>
              </p:cNvSpPr>
              <p:nvPr/>
            </p:nvSpPr>
            <p:spPr>
              <a:xfrm>
                <a:off x="960120" y="1920240"/>
                <a:ext cx="2606040" cy="384048"/>
              </a:xfrm>
              <a:prstGeom prst="rect">
                <a:avLst/>
              </a:prstGeom>
              <a:blipFill>
                <a:blip r:embed="rId4"/>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Text 13"/>
              <p:cNvSpPr/>
              <p:nvPr/>
            </p:nvSpPr>
            <p:spPr>
              <a:xfrm>
                <a:off x="960120" y="2606040"/>
                <a:ext cx="260604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𝑞</m:t>
                          </m:r>
                        </m:sub>
                      </m:sSub>
                      <m:r>
                        <a:rPr lang="en-US" altLang="ko-KR" sz="1150" smtClean="0">
                          <a:latin typeface="Cambria Math"/>
                        </a:rPr>
                        <m:t>=</m:t>
                      </m:r>
                      <m:r>
                        <m:rPr>
                          <m:sty m:val="p"/>
                        </m:rPr>
                        <a:rPr lang="en-US" altLang="ko-KR" sz="1150" smtClean="0">
                          <a:latin typeface="Cambria Math"/>
                        </a:rPr>
                        <m:t>Round</m:t>
                      </m:r>
                      <m:d>
                        <m:dPr>
                          <m:ctrlPr>
                            <a:rPr lang="en-US" altLang="ko-KR" sz="1150" i="1" smtClean="0">
                              <a:latin typeface="Cambria Math" panose="02040503050406030204" pitchFamily="18" charset="0"/>
                            </a:rPr>
                          </m:ctrlPr>
                        </m:dPr>
                        <m:e>
                          <m:f>
                            <m:fPr>
                              <m:ctrlPr>
                                <a:rPr lang="en-US" altLang="ko-KR" sz="1150" smtClean="0">
                                  <a:latin typeface="Cambria Math"/>
                                </a:rPr>
                              </m:ctrlPr>
                            </m:fPr>
                            <m:num>
                              <m:r>
                                <a:rPr lang="en-US" altLang="ko-KR" sz="1150" smtClean="0">
                                  <a:latin typeface="Cambria Math"/>
                                </a:rPr>
                                <m:t>0.3</m:t>
                              </m:r>
                            </m:num>
                            <m:den>
                              <m:r>
                                <a:rPr lang="en-US" altLang="ko-KR" sz="1150" smtClean="0">
                                  <a:latin typeface="Cambria Math"/>
                                </a:rPr>
                                <m:t>0.5714</m:t>
                              </m:r>
                            </m:den>
                          </m:f>
                        </m:e>
                      </m:d>
                      <m:r>
                        <a:rPr lang="en-US" altLang="ko-KR" sz="1150" smtClean="0">
                          <a:latin typeface="Cambria Math"/>
                        </a:rPr>
                        <m:t>=1</m:t>
                      </m:r>
                    </m:oMath>
                  </m:oMathPara>
                </a14:m>
                <a:endParaRPr/>
              </a:p>
            </p:txBody>
          </p:sp>
        </mc:Choice>
        <mc:Fallback xmlns="">
          <p:sp>
            <p:nvSpPr>
              <p:cNvPr id="16" name="Text 13"/>
              <p:cNvSpPr>
                <a:spLocks noRot="1" noChangeAspect="1" noMove="1" noResize="1" noEditPoints="1" noAdjustHandles="1" noChangeArrowheads="1" noChangeShapeType="1" noTextEdit="1"/>
              </p:cNvSpPr>
              <p:nvPr/>
            </p:nvSpPr>
            <p:spPr>
              <a:xfrm>
                <a:off x="960120" y="2606040"/>
                <a:ext cx="2606040" cy="457200"/>
              </a:xfrm>
              <a:prstGeom prst="rect">
                <a:avLst/>
              </a:prstGeom>
              <a:blipFill>
                <a:blip r:embed="rId5"/>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Text 14"/>
              <p:cNvSpPr/>
              <p:nvPr/>
            </p:nvSpPr>
            <p:spPr>
              <a:xfrm>
                <a:off x="960120" y="3310128"/>
                <a:ext cx="260604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𝑞𝑓</m:t>
                          </m:r>
                        </m:sub>
                      </m:sSub>
                      <m:r>
                        <a:rPr lang="en-US" altLang="ko-KR" sz="1150" smtClean="0">
                          <a:latin typeface="Cambria Math"/>
                        </a:rPr>
                        <m:t>=0.5714</m:t>
                      </m:r>
                    </m:oMath>
                  </m:oMathPara>
                </a14:m>
                <a:endParaRPr/>
              </a:p>
            </p:txBody>
          </p:sp>
        </mc:Choice>
        <mc:Fallback xmlns="">
          <p:sp>
            <p:nvSpPr>
              <p:cNvPr id="17" name="Text 14"/>
              <p:cNvSpPr>
                <a:spLocks noRot="1" noChangeAspect="1" noMove="1" noResize="1" noEditPoints="1" noAdjustHandles="1" noChangeArrowheads="1" noChangeShapeType="1" noTextEdit="1"/>
              </p:cNvSpPr>
              <p:nvPr/>
            </p:nvSpPr>
            <p:spPr>
              <a:xfrm>
                <a:off x="960120" y="3310128"/>
                <a:ext cx="2606040" cy="457200"/>
              </a:xfrm>
              <a:prstGeom prst="rect">
                <a:avLst/>
              </a:prstGeom>
              <a:blipFill>
                <a:blip r:embed="rId6"/>
                <a:stretch>
                  <a:fillRect/>
                </a:stretch>
              </a:blipFill>
              <a:ln/>
            </p:spPr>
            <p:txBody>
              <a:bodyPr/>
              <a:lstStyle/>
              <a:p>
                <a:r>
                  <a:rPr lang="ko-KR" altLang="en-US">
                    <a:noFill/>
                  </a:rPr>
                  <a:t> </a:t>
                </a:r>
              </a:p>
            </p:txBody>
          </p:sp>
        </mc:Fallback>
      </mc:AlternateContent>
      <p:sp>
        <p:nvSpPr>
          <p:cNvPr id="18" name="Text 15"/>
          <p:cNvSpPr/>
          <p:nvPr/>
        </p:nvSpPr>
        <p:spPr>
          <a:xfrm>
            <a:off x="960120" y="4069080"/>
            <a:ext cx="2606040" cy="201168"/>
          </a:xfrm>
          <a:prstGeom prst="rect">
            <a:avLst/>
          </a:prstGeom>
          <a:noFill/>
          <a:ln/>
        </p:spPr>
        <p:txBody>
          <a:bodyPr wrap="square" lIns="0" tIns="0" rIns="0" bIns="0" rtlCol="0" anchor="ctr"/>
          <a:lstStyle/>
          <a:p>
            <a:pPr marL="0" indent="0" algn="ctr">
              <a:buNone/>
            </a:pPr>
            <a:r>
              <a:rPr lang="en-US" sz="1100" b="1" dirty="0">
                <a:solidFill>
                  <a:srgbClr val="C00000"/>
                </a:solidFill>
                <a:latin typeface="Arial" pitchFamily="34" charset="0"/>
                <a:ea typeface="Arial" pitchFamily="34" charset="-122"/>
                <a:cs typeface="Arial" pitchFamily="34" charset="-120"/>
              </a:rPr>
              <a:t>Error ≈ 0.2714</a:t>
            </a:r>
            <a:endParaRPr lang="en-US" sz="1100" dirty="0"/>
          </a:p>
        </p:txBody>
      </p:sp>
      <mc:AlternateContent xmlns:mc="http://schemas.openxmlformats.org/markup-compatibility/2006" xmlns:a14="http://schemas.microsoft.com/office/drawing/2010/main">
        <mc:Choice Requires="a14">
          <p:sp>
            <p:nvSpPr>
              <p:cNvPr id="19" name="Text 16"/>
              <p:cNvSpPr/>
              <p:nvPr/>
            </p:nvSpPr>
            <p:spPr>
              <a:xfrm>
                <a:off x="4434840" y="1920240"/>
                <a:ext cx="2606040" cy="38404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en-US" altLang="ko-KR" sz="1150" smtClean="0">
                          <a:latin typeface="Cambria Math"/>
                        </a:rPr>
                        <m:t>𝛥</m:t>
                      </m:r>
                      <m:r>
                        <a:rPr lang="en-US" altLang="ko-KR" sz="1150" smtClean="0">
                          <a:latin typeface="Cambria Math"/>
                        </a:rPr>
                        <m:t>=0.5714</m:t>
                      </m:r>
                    </m:oMath>
                  </m:oMathPara>
                </a14:m>
                <a:endParaRPr/>
              </a:p>
            </p:txBody>
          </p:sp>
        </mc:Choice>
        <mc:Fallback xmlns="">
          <p:sp>
            <p:nvSpPr>
              <p:cNvPr id="19" name="Text 16"/>
              <p:cNvSpPr>
                <a:spLocks noRot="1" noChangeAspect="1" noMove="1" noResize="1" noEditPoints="1" noAdjustHandles="1" noChangeArrowheads="1" noChangeShapeType="1" noTextEdit="1"/>
              </p:cNvSpPr>
              <p:nvPr/>
            </p:nvSpPr>
            <p:spPr>
              <a:xfrm>
                <a:off x="4434840" y="1920240"/>
                <a:ext cx="2606040" cy="384048"/>
              </a:xfrm>
              <a:prstGeom prst="rect">
                <a:avLst/>
              </a:prstGeom>
              <a:blipFill>
                <a:blip r:embed="rId4"/>
                <a:stretch>
                  <a:fillRect/>
                </a:stretch>
              </a:blipFill>
              <a:ln/>
            </p:spPr>
            <p:txBody>
              <a:bodyPr/>
              <a:lstStyle/>
              <a:p>
                <a:r>
                  <a:rPr lang="ko-KR" altLang="en-US">
                    <a:noFill/>
                  </a:rPr>
                  <a:t> </a:t>
                </a:r>
              </a:p>
            </p:txBody>
          </p:sp>
        </mc:Fallback>
      </mc:AlternateContent>
      <p:sp>
        <p:nvSpPr>
          <p:cNvPr id="20" name="Text 17"/>
          <p:cNvSpPr/>
          <p:nvPr/>
        </p:nvSpPr>
        <p:spPr>
          <a:xfrm>
            <a:off x="4480560" y="2578608"/>
            <a:ext cx="2514600" cy="310896"/>
          </a:xfrm>
          <a:prstGeom prst="rect">
            <a:avLst/>
          </a:prstGeom>
          <a:noFill/>
          <a:ln/>
        </p:spPr>
        <p:txBody>
          <a:bodyPr wrap="square" lIns="0" tIns="0" rIns="0" bIns="0" rtlCol="0" anchor="ctr">
            <a:normAutofit/>
          </a:bodyPr>
          <a:lstStyle/>
          <a:p>
            <a:pPr marL="0" indent="0" algn="ctr">
              <a:buNone/>
            </a:pPr>
            <a:r>
              <a:rPr lang="en-US" sz="1030" dirty="0">
                <a:solidFill>
                  <a:srgbClr val="222222"/>
                </a:solidFill>
                <a:latin typeface="Arial" pitchFamily="34" charset="0"/>
                <a:ea typeface="Arial" pitchFamily="34" charset="-122"/>
                <a:cs typeface="Arial" pitchFamily="34" charset="-120"/>
              </a:rPr>
              <a:t>Channel 1 still contains the 4.0 outlier.</a:t>
            </a:r>
            <a:endParaRPr lang="en-US" sz="1030" dirty="0"/>
          </a:p>
        </p:txBody>
      </p:sp>
      <mc:AlternateContent xmlns:mc="http://schemas.openxmlformats.org/markup-compatibility/2006" xmlns:a14="http://schemas.microsoft.com/office/drawing/2010/main">
        <mc:Choice Requires="a14">
          <p:sp>
            <p:nvSpPr>
              <p:cNvPr id="21" name="Text 18"/>
              <p:cNvSpPr/>
              <p:nvPr/>
            </p:nvSpPr>
            <p:spPr>
              <a:xfrm>
                <a:off x="4434840" y="3310128"/>
                <a:ext cx="260604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𝑞𝑓</m:t>
                          </m:r>
                        </m:sub>
                      </m:sSub>
                      <m:r>
                        <a:rPr lang="en-US" altLang="ko-KR" sz="1150" smtClean="0">
                          <a:latin typeface="Cambria Math"/>
                        </a:rPr>
                        <m:t>=0.5714</m:t>
                      </m:r>
                    </m:oMath>
                  </m:oMathPara>
                </a14:m>
                <a:endParaRPr/>
              </a:p>
            </p:txBody>
          </p:sp>
        </mc:Choice>
        <mc:Fallback xmlns="">
          <p:sp>
            <p:nvSpPr>
              <p:cNvPr id="21" name="Text 18"/>
              <p:cNvSpPr>
                <a:spLocks noRot="1" noChangeAspect="1" noMove="1" noResize="1" noEditPoints="1" noAdjustHandles="1" noChangeArrowheads="1" noChangeShapeType="1" noTextEdit="1"/>
              </p:cNvSpPr>
              <p:nvPr/>
            </p:nvSpPr>
            <p:spPr>
              <a:xfrm>
                <a:off x="4434840" y="3310128"/>
                <a:ext cx="2606040" cy="457200"/>
              </a:xfrm>
              <a:prstGeom prst="rect">
                <a:avLst/>
              </a:prstGeom>
              <a:blipFill>
                <a:blip r:embed="rId6"/>
                <a:stretch>
                  <a:fillRect/>
                </a:stretch>
              </a:blipFill>
              <a:ln/>
            </p:spPr>
            <p:txBody>
              <a:bodyPr/>
              <a:lstStyle/>
              <a:p>
                <a:r>
                  <a:rPr lang="ko-KR" altLang="en-US">
                    <a:noFill/>
                  </a:rPr>
                  <a:t> </a:t>
                </a:r>
              </a:p>
            </p:txBody>
          </p:sp>
        </mc:Fallback>
      </mc:AlternateContent>
      <p:sp>
        <p:nvSpPr>
          <p:cNvPr id="22" name="Text 19"/>
          <p:cNvSpPr/>
          <p:nvPr/>
        </p:nvSpPr>
        <p:spPr>
          <a:xfrm>
            <a:off x="4434840" y="4069080"/>
            <a:ext cx="2606040" cy="201168"/>
          </a:xfrm>
          <a:prstGeom prst="rect">
            <a:avLst/>
          </a:prstGeom>
          <a:noFill/>
          <a:ln/>
        </p:spPr>
        <p:txBody>
          <a:bodyPr wrap="square" lIns="0" tIns="0" rIns="0" bIns="0" rtlCol="0" anchor="ctr"/>
          <a:lstStyle/>
          <a:p>
            <a:pPr marL="0" indent="0" algn="ctr">
              <a:buNone/>
            </a:pPr>
            <a:r>
              <a:rPr lang="en-US" sz="1100" b="1" dirty="0">
                <a:solidFill>
                  <a:srgbClr val="C00000"/>
                </a:solidFill>
                <a:latin typeface="Arial" pitchFamily="34" charset="0"/>
                <a:ea typeface="Arial" pitchFamily="34" charset="-122"/>
                <a:cs typeface="Arial" pitchFamily="34" charset="-120"/>
              </a:rPr>
              <a:t>Error ≈ 0.2714</a:t>
            </a:r>
            <a:endParaRPr lang="en-US" sz="1100" dirty="0"/>
          </a:p>
        </p:txBody>
      </p:sp>
      <mc:AlternateContent xmlns:mc="http://schemas.openxmlformats.org/markup-compatibility/2006" xmlns:a14="http://schemas.microsoft.com/office/drawing/2010/main">
        <mc:Choice Requires="a14">
          <p:sp>
            <p:nvSpPr>
              <p:cNvPr id="23" name="Text 20"/>
              <p:cNvSpPr/>
              <p:nvPr/>
            </p:nvSpPr>
            <p:spPr>
              <a:xfrm>
                <a:off x="7909560" y="1920240"/>
                <a:ext cx="2606040" cy="38404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en-US" altLang="ko-KR" sz="1150" smtClean="0">
                          <a:latin typeface="Cambria Math"/>
                        </a:rPr>
                        <m:t>𝛥</m:t>
                      </m:r>
                      <m:r>
                        <a:rPr lang="en-US" altLang="ko-KR" sz="1150" smtClean="0">
                          <a:latin typeface="Cambria Math"/>
                        </a:rPr>
                        <m:t>=0.0571</m:t>
                      </m:r>
                    </m:oMath>
                  </m:oMathPara>
                </a14:m>
                <a:endParaRPr/>
              </a:p>
            </p:txBody>
          </p:sp>
        </mc:Choice>
        <mc:Fallback xmlns="">
          <p:sp>
            <p:nvSpPr>
              <p:cNvPr id="23" name="Text 20"/>
              <p:cNvSpPr>
                <a:spLocks noRot="1" noChangeAspect="1" noMove="1" noResize="1" noEditPoints="1" noAdjustHandles="1" noChangeArrowheads="1" noChangeShapeType="1" noTextEdit="1"/>
              </p:cNvSpPr>
              <p:nvPr/>
            </p:nvSpPr>
            <p:spPr>
              <a:xfrm>
                <a:off x="7909560" y="1920240"/>
                <a:ext cx="2606040" cy="384048"/>
              </a:xfrm>
              <a:prstGeom prst="rect">
                <a:avLst/>
              </a:prstGeom>
              <a:blipFill>
                <a:blip r:embed="rId7"/>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Text 21"/>
              <p:cNvSpPr/>
              <p:nvPr/>
            </p:nvSpPr>
            <p:spPr>
              <a:xfrm>
                <a:off x="7909560" y="2606040"/>
                <a:ext cx="260604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𝑞</m:t>
                          </m:r>
                        </m:sub>
                      </m:sSub>
                      <m:r>
                        <a:rPr lang="en-US" altLang="ko-KR" sz="1150" smtClean="0">
                          <a:latin typeface="Cambria Math"/>
                        </a:rPr>
                        <m:t>=</m:t>
                      </m:r>
                      <m:r>
                        <m:rPr>
                          <m:sty m:val="p"/>
                        </m:rPr>
                        <a:rPr lang="en-US" altLang="ko-KR" sz="1150" smtClean="0">
                          <a:latin typeface="Cambria Math"/>
                        </a:rPr>
                        <m:t>Round</m:t>
                      </m:r>
                      <m:d>
                        <m:dPr>
                          <m:ctrlPr>
                            <a:rPr lang="en-US" altLang="ko-KR" sz="1150" i="1" smtClean="0">
                              <a:latin typeface="Cambria Math" panose="02040503050406030204" pitchFamily="18" charset="0"/>
                            </a:rPr>
                          </m:ctrlPr>
                        </m:dPr>
                        <m:e>
                          <m:f>
                            <m:fPr>
                              <m:ctrlPr>
                                <a:rPr lang="en-US" altLang="ko-KR" sz="1150" smtClean="0">
                                  <a:latin typeface="Cambria Math"/>
                                </a:rPr>
                              </m:ctrlPr>
                            </m:fPr>
                            <m:num>
                              <m:r>
                                <a:rPr lang="en-US" altLang="ko-KR" sz="1150" smtClean="0">
                                  <a:latin typeface="Cambria Math"/>
                                </a:rPr>
                                <m:t>0.3</m:t>
                              </m:r>
                            </m:num>
                            <m:den>
                              <m:r>
                                <a:rPr lang="en-US" altLang="ko-KR" sz="1150" smtClean="0">
                                  <a:latin typeface="Cambria Math"/>
                                </a:rPr>
                                <m:t>0.0571</m:t>
                              </m:r>
                            </m:den>
                          </m:f>
                        </m:e>
                      </m:d>
                      <m:r>
                        <a:rPr lang="en-US" altLang="ko-KR" sz="1150" smtClean="0">
                          <a:latin typeface="Cambria Math"/>
                        </a:rPr>
                        <m:t>=5</m:t>
                      </m:r>
                    </m:oMath>
                  </m:oMathPara>
                </a14:m>
                <a:endParaRPr/>
              </a:p>
            </p:txBody>
          </p:sp>
        </mc:Choice>
        <mc:Fallback xmlns="">
          <p:sp>
            <p:nvSpPr>
              <p:cNvPr id="24" name="Text 21"/>
              <p:cNvSpPr>
                <a:spLocks noRot="1" noChangeAspect="1" noMove="1" noResize="1" noEditPoints="1" noAdjustHandles="1" noChangeArrowheads="1" noChangeShapeType="1" noTextEdit="1"/>
              </p:cNvSpPr>
              <p:nvPr/>
            </p:nvSpPr>
            <p:spPr>
              <a:xfrm>
                <a:off x="7909560" y="2606040"/>
                <a:ext cx="2606040" cy="457200"/>
              </a:xfrm>
              <a:prstGeom prst="rect">
                <a:avLst/>
              </a:prstGeom>
              <a:blipFill>
                <a:blip r:embed="rId8"/>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5" name="Text 22"/>
              <p:cNvSpPr/>
              <p:nvPr/>
            </p:nvSpPr>
            <p:spPr>
              <a:xfrm>
                <a:off x="7909560" y="3310128"/>
                <a:ext cx="260604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𝑞𝑓</m:t>
                          </m:r>
                        </m:sub>
                      </m:sSub>
                      <m:r>
                        <a:rPr lang="en-US" altLang="ko-KR" sz="1150" smtClean="0">
                          <a:latin typeface="Cambria Math"/>
                        </a:rPr>
                        <m:t>=5×0.0571≈0.2855</m:t>
                      </m:r>
                    </m:oMath>
                  </m:oMathPara>
                </a14:m>
                <a:endParaRPr/>
              </a:p>
            </p:txBody>
          </p:sp>
        </mc:Choice>
        <mc:Fallback xmlns="">
          <p:sp>
            <p:nvSpPr>
              <p:cNvPr id="25" name="Text 22"/>
              <p:cNvSpPr>
                <a:spLocks noRot="1" noChangeAspect="1" noMove="1" noResize="1" noEditPoints="1" noAdjustHandles="1" noChangeArrowheads="1" noChangeShapeType="1" noTextEdit="1"/>
              </p:cNvSpPr>
              <p:nvPr/>
            </p:nvSpPr>
            <p:spPr>
              <a:xfrm>
                <a:off x="7909560" y="3310128"/>
                <a:ext cx="2606040" cy="457200"/>
              </a:xfrm>
              <a:prstGeom prst="rect">
                <a:avLst/>
              </a:prstGeom>
              <a:blipFill>
                <a:blip r:embed="rId9"/>
                <a:stretch>
                  <a:fillRect/>
                </a:stretch>
              </a:blipFill>
              <a:ln/>
            </p:spPr>
            <p:txBody>
              <a:bodyPr/>
              <a:lstStyle/>
              <a:p>
                <a:r>
                  <a:rPr lang="ko-KR" altLang="en-US">
                    <a:noFill/>
                  </a:rPr>
                  <a:t> </a:t>
                </a:r>
              </a:p>
            </p:txBody>
          </p:sp>
        </mc:Fallback>
      </mc:AlternateContent>
      <p:sp>
        <p:nvSpPr>
          <p:cNvPr id="26" name="Text 23"/>
          <p:cNvSpPr/>
          <p:nvPr/>
        </p:nvSpPr>
        <p:spPr>
          <a:xfrm>
            <a:off x="7909560" y="4069080"/>
            <a:ext cx="2606040" cy="201168"/>
          </a:xfrm>
          <a:prstGeom prst="rect">
            <a:avLst/>
          </a:prstGeom>
          <a:noFill/>
          <a:ln/>
        </p:spPr>
        <p:txBody>
          <a:bodyPr wrap="square" lIns="0" tIns="0" rIns="0" bIns="0" rtlCol="0" anchor="ctr"/>
          <a:lstStyle/>
          <a:p>
            <a:pPr marL="0" indent="0" algn="ctr">
              <a:buNone/>
            </a:pPr>
            <a:r>
              <a:rPr lang="en-US" sz="1100" b="1" dirty="0">
                <a:solidFill>
                  <a:srgbClr val="548235"/>
                </a:solidFill>
                <a:latin typeface="Arial" pitchFamily="34" charset="0"/>
                <a:ea typeface="Arial" pitchFamily="34" charset="-122"/>
                <a:cs typeface="Arial" pitchFamily="34" charset="-120"/>
              </a:rPr>
              <a:t>Error ≈ 0.0145</a:t>
            </a:r>
            <a:endParaRPr lang="en-US" sz="1100" dirty="0"/>
          </a:p>
        </p:txBody>
      </p:sp>
      <p:sp>
        <p:nvSpPr>
          <p:cNvPr id="27" name="Shape 24"/>
          <p:cNvSpPr/>
          <p:nvPr/>
        </p:nvSpPr>
        <p:spPr>
          <a:xfrm>
            <a:off x="1814362" y="4919472"/>
            <a:ext cx="2011680" cy="347472"/>
          </a:xfrm>
          <a:prstGeom prst="rect">
            <a:avLst/>
          </a:prstGeom>
          <a:solidFill>
            <a:srgbClr val="00245D"/>
          </a:solidFill>
          <a:ln w="6350">
            <a:solidFill>
              <a:srgbClr val="D9E2F3"/>
            </a:solidFill>
            <a:prstDash val="solid"/>
          </a:ln>
        </p:spPr>
        <p:txBody>
          <a:bodyPr/>
          <a:lstStyle/>
          <a:p>
            <a:endParaRPr lang="ko-KR" altLang="en-US"/>
          </a:p>
        </p:txBody>
      </p:sp>
      <p:sp>
        <p:nvSpPr>
          <p:cNvPr id="28" name="Text 25"/>
          <p:cNvSpPr/>
          <p:nvPr/>
        </p:nvSpPr>
        <p:spPr>
          <a:xfrm>
            <a:off x="1841794" y="5029200"/>
            <a:ext cx="1956816"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FFFFFF"/>
                </a:solidFill>
                <a:latin typeface="Arial" pitchFamily="34" charset="0"/>
                <a:ea typeface="Arial" pitchFamily="34" charset="-122"/>
                <a:cs typeface="Arial" pitchFamily="34" charset="-120"/>
              </a:rPr>
              <a:t>Method</a:t>
            </a:r>
            <a:endParaRPr lang="en-US" sz="1020" dirty="0"/>
          </a:p>
        </p:txBody>
      </p:sp>
      <p:sp>
        <p:nvSpPr>
          <p:cNvPr id="29" name="Shape 26"/>
          <p:cNvSpPr/>
          <p:nvPr/>
        </p:nvSpPr>
        <p:spPr>
          <a:xfrm>
            <a:off x="3826042" y="4919472"/>
            <a:ext cx="2011680" cy="347472"/>
          </a:xfrm>
          <a:prstGeom prst="rect">
            <a:avLst/>
          </a:prstGeom>
          <a:solidFill>
            <a:srgbClr val="00245D"/>
          </a:solidFill>
          <a:ln w="6350">
            <a:solidFill>
              <a:srgbClr val="D9E2F3"/>
            </a:solidFill>
            <a:prstDash val="solid"/>
          </a:ln>
        </p:spPr>
        <p:txBody>
          <a:bodyPr/>
          <a:lstStyle/>
          <a:p>
            <a:endParaRPr lang="ko-KR" altLang="en-US"/>
          </a:p>
        </p:txBody>
      </p:sp>
      <p:sp>
        <p:nvSpPr>
          <p:cNvPr id="30" name="Text 27"/>
          <p:cNvSpPr/>
          <p:nvPr/>
        </p:nvSpPr>
        <p:spPr>
          <a:xfrm>
            <a:off x="3853474" y="5029200"/>
            <a:ext cx="1956816"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FFFFFF"/>
                </a:solidFill>
                <a:latin typeface="Arial" pitchFamily="34" charset="0"/>
                <a:ea typeface="Arial" pitchFamily="34" charset="-122"/>
                <a:cs typeface="Arial" pitchFamily="34" charset="-120"/>
              </a:rPr>
              <a:t>Scale Δ</a:t>
            </a:r>
            <a:endParaRPr lang="en-US" sz="1020" dirty="0"/>
          </a:p>
        </p:txBody>
      </p:sp>
      <p:sp>
        <p:nvSpPr>
          <p:cNvPr id="31" name="Shape 28"/>
          <p:cNvSpPr/>
          <p:nvPr/>
        </p:nvSpPr>
        <p:spPr>
          <a:xfrm>
            <a:off x="5837722" y="4919472"/>
            <a:ext cx="2011680" cy="347472"/>
          </a:xfrm>
          <a:prstGeom prst="rect">
            <a:avLst/>
          </a:prstGeom>
          <a:solidFill>
            <a:srgbClr val="00245D"/>
          </a:solidFill>
          <a:ln w="6350">
            <a:solidFill>
              <a:srgbClr val="D9E2F3"/>
            </a:solidFill>
            <a:prstDash val="solid"/>
          </a:ln>
        </p:spPr>
        <p:txBody>
          <a:bodyPr/>
          <a:lstStyle/>
          <a:p>
            <a:endParaRPr lang="ko-KR" altLang="en-US"/>
          </a:p>
        </p:txBody>
      </p:sp>
      <p:sp>
        <p:nvSpPr>
          <p:cNvPr id="32" name="Text 29"/>
          <p:cNvSpPr/>
          <p:nvPr/>
        </p:nvSpPr>
        <p:spPr>
          <a:xfrm>
            <a:off x="5865154" y="5029200"/>
            <a:ext cx="1956816"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FFFFFF"/>
                </a:solidFill>
                <a:latin typeface="Arial" pitchFamily="34" charset="0"/>
                <a:ea typeface="Arial" pitchFamily="34" charset="-122"/>
                <a:cs typeface="Arial" pitchFamily="34" charset="-120"/>
              </a:rPr>
              <a:t>Approx. value</a:t>
            </a:r>
            <a:endParaRPr lang="en-US" sz="1020" dirty="0"/>
          </a:p>
        </p:txBody>
      </p:sp>
      <p:sp>
        <p:nvSpPr>
          <p:cNvPr id="33" name="Shape 30"/>
          <p:cNvSpPr/>
          <p:nvPr/>
        </p:nvSpPr>
        <p:spPr>
          <a:xfrm>
            <a:off x="7849402" y="4919472"/>
            <a:ext cx="2011680" cy="347472"/>
          </a:xfrm>
          <a:prstGeom prst="rect">
            <a:avLst/>
          </a:prstGeom>
          <a:solidFill>
            <a:srgbClr val="00245D"/>
          </a:solidFill>
          <a:ln w="6350">
            <a:solidFill>
              <a:srgbClr val="D9E2F3"/>
            </a:solidFill>
            <a:prstDash val="solid"/>
          </a:ln>
        </p:spPr>
        <p:txBody>
          <a:bodyPr/>
          <a:lstStyle/>
          <a:p>
            <a:endParaRPr lang="ko-KR" altLang="en-US"/>
          </a:p>
        </p:txBody>
      </p:sp>
      <p:sp>
        <p:nvSpPr>
          <p:cNvPr id="34" name="Text 31"/>
          <p:cNvSpPr/>
          <p:nvPr/>
        </p:nvSpPr>
        <p:spPr>
          <a:xfrm>
            <a:off x="7876834" y="5029200"/>
            <a:ext cx="1956816"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FFFFFF"/>
                </a:solidFill>
                <a:latin typeface="Arial" pitchFamily="34" charset="0"/>
                <a:ea typeface="Arial" pitchFamily="34" charset="-122"/>
                <a:cs typeface="Arial" pitchFamily="34" charset="-120"/>
              </a:rPr>
              <a:t>Error</a:t>
            </a:r>
            <a:endParaRPr lang="en-US" sz="1020" dirty="0"/>
          </a:p>
        </p:txBody>
      </p:sp>
      <p:sp>
        <p:nvSpPr>
          <p:cNvPr id="35" name="Shape 32"/>
          <p:cNvSpPr/>
          <p:nvPr/>
        </p:nvSpPr>
        <p:spPr>
          <a:xfrm>
            <a:off x="1814362" y="5266944"/>
            <a:ext cx="2011680" cy="347472"/>
          </a:xfrm>
          <a:prstGeom prst="rect">
            <a:avLst/>
          </a:prstGeom>
          <a:solidFill>
            <a:srgbClr val="FFFFFF"/>
          </a:solidFill>
          <a:ln w="6350">
            <a:solidFill>
              <a:srgbClr val="D9E2F3"/>
            </a:solidFill>
            <a:prstDash val="solid"/>
          </a:ln>
        </p:spPr>
        <p:txBody>
          <a:bodyPr/>
          <a:lstStyle/>
          <a:p>
            <a:endParaRPr lang="ko-KR" altLang="en-US"/>
          </a:p>
        </p:txBody>
      </p:sp>
      <p:sp>
        <p:nvSpPr>
          <p:cNvPr id="36" name="Text 33"/>
          <p:cNvSpPr/>
          <p:nvPr/>
        </p:nvSpPr>
        <p:spPr>
          <a:xfrm>
            <a:off x="1860082" y="5376672"/>
            <a:ext cx="1920240"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222222"/>
                </a:solidFill>
                <a:latin typeface="Arial" pitchFamily="34" charset="0"/>
                <a:ea typeface="Arial" pitchFamily="34" charset="-122"/>
                <a:cs typeface="Arial" pitchFamily="34" charset="-120"/>
              </a:rPr>
              <a:t>Per-Tensor</a:t>
            </a:r>
            <a:endParaRPr lang="en-US" sz="1020" dirty="0"/>
          </a:p>
        </p:txBody>
      </p:sp>
      <p:sp>
        <p:nvSpPr>
          <p:cNvPr id="37" name="Shape 34"/>
          <p:cNvSpPr/>
          <p:nvPr/>
        </p:nvSpPr>
        <p:spPr>
          <a:xfrm>
            <a:off x="3826042" y="5266944"/>
            <a:ext cx="2011680" cy="347472"/>
          </a:xfrm>
          <a:prstGeom prst="rect">
            <a:avLst/>
          </a:prstGeom>
          <a:solidFill>
            <a:srgbClr val="FFFFFF"/>
          </a:solidFill>
          <a:ln w="6350">
            <a:solidFill>
              <a:srgbClr val="D9E2F3"/>
            </a:solidFill>
            <a:prstDash val="solid"/>
          </a:ln>
        </p:spPr>
        <p:txBody>
          <a:bodyPr/>
          <a:lstStyle/>
          <a:p>
            <a:endParaRPr lang="ko-KR" altLang="en-US"/>
          </a:p>
        </p:txBody>
      </p:sp>
      <p:sp>
        <p:nvSpPr>
          <p:cNvPr id="38" name="Text 35"/>
          <p:cNvSpPr/>
          <p:nvPr/>
        </p:nvSpPr>
        <p:spPr>
          <a:xfrm>
            <a:off x="3871762" y="5376672"/>
            <a:ext cx="1920240" cy="137160"/>
          </a:xfrm>
          <a:prstGeom prst="rect">
            <a:avLst/>
          </a:prstGeom>
          <a:noFill/>
          <a:ln/>
        </p:spPr>
        <p:txBody>
          <a:bodyPr wrap="square" lIns="0" tIns="0" rIns="0" bIns="0" rtlCol="0" anchor="ctr">
            <a:normAutofit fontScale="92500"/>
          </a:bodyPr>
          <a:lstStyle/>
          <a:p>
            <a:pPr marL="0" indent="0" algn="ctr">
              <a:buNone/>
            </a:pPr>
            <a:r>
              <a:rPr lang="en-US" sz="1020" dirty="0">
                <a:solidFill>
                  <a:srgbClr val="222222"/>
                </a:solidFill>
                <a:latin typeface="Arial" pitchFamily="34" charset="0"/>
                <a:ea typeface="Arial" pitchFamily="34" charset="-122"/>
                <a:cs typeface="Arial" pitchFamily="34" charset="-120"/>
              </a:rPr>
              <a:t>0.5714</a:t>
            </a:r>
            <a:endParaRPr lang="en-US" sz="1020" dirty="0"/>
          </a:p>
        </p:txBody>
      </p:sp>
      <p:sp>
        <p:nvSpPr>
          <p:cNvPr id="39" name="Shape 36"/>
          <p:cNvSpPr/>
          <p:nvPr/>
        </p:nvSpPr>
        <p:spPr>
          <a:xfrm>
            <a:off x="5837722" y="5266944"/>
            <a:ext cx="2011680" cy="347472"/>
          </a:xfrm>
          <a:prstGeom prst="rect">
            <a:avLst/>
          </a:prstGeom>
          <a:solidFill>
            <a:srgbClr val="FFFFFF"/>
          </a:solidFill>
          <a:ln w="6350">
            <a:solidFill>
              <a:srgbClr val="D9E2F3"/>
            </a:solidFill>
            <a:prstDash val="solid"/>
          </a:ln>
        </p:spPr>
        <p:txBody>
          <a:bodyPr/>
          <a:lstStyle/>
          <a:p>
            <a:endParaRPr lang="ko-KR" altLang="en-US"/>
          </a:p>
        </p:txBody>
      </p:sp>
      <p:sp>
        <p:nvSpPr>
          <p:cNvPr id="40" name="Text 37"/>
          <p:cNvSpPr/>
          <p:nvPr/>
        </p:nvSpPr>
        <p:spPr>
          <a:xfrm>
            <a:off x="5883442" y="5376672"/>
            <a:ext cx="1920240" cy="137160"/>
          </a:xfrm>
          <a:prstGeom prst="rect">
            <a:avLst/>
          </a:prstGeom>
          <a:noFill/>
          <a:ln/>
        </p:spPr>
        <p:txBody>
          <a:bodyPr wrap="square" lIns="0" tIns="0" rIns="0" bIns="0" rtlCol="0" anchor="ctr">
            <a:normAutofit fontScale="92500"/>
          </a:bodyPr>
          <a:lstStyle/>
          <a:p>
            <a:pPr marL="0" indent="0" algn="ctr">
              <a:buNone/>
            </a:pPr>
            <a:r>
              <a:rPr lang="en-US" sz="1020" dirty="0">
                <a:solidFill>
                  <a:srgbClr val="222222"/>
                </a:solidFill>
                <a:latin typeface="Arial" pitchFamily="34" charset="0"/>
                <a:ea typeface="Arial" pitchFamily="34" charset="-122"/>
                <a:cs typeface="Arial" pitchFamily="34" charset="-120"/>
              </a:rPr>
              <a:t>0.5714</a:t>
            </a:r>
            <a:endParaRPr lang="en-US" sz="1020" dirty="0"/>
          </a:p>
        </p:txBody>
      </p:sp>
      <p:sp>
        <p:nvSpPr>
          <p:cNvPr id="41" name="Shape 38"/>
          <p:cNvSpPr/>
          <p:nvPr/>
        </p:nvSpPr>
        <p:spPr>
          <a:xfrm>
            <a:off x="7849402" y="5266944"/>
            <a:ext cx="2011680" cy="347472"/>
          </a:xfrm>
          <a:prstGeom prst="rect">
            <a:avLst/>
          </a:prstGeom>
          <a:solidFill>
            <a:srgbClr val="FFFFFF"/>
          </a:solidFill>
          <a:ln w="6350">
            <a:solidFill>
              <a:srgbClr val="D9E2F3"/>
            </a:solidFill>
            <a:prstDash val="solid"/>
          </a:ln>
        </p:spPr>
        <p:txBody>
          <a:bodyPr/>
          <a:lstStyle/>
          <a:p>
            <a:endParaRPr lang="ko-KR" altLang="en-US"/>
          </a:p>
        </p:txBody>
      </p:sp>
      <p:sp>
        <p:nvSpPr>
          <p:cNvPr id="42" name="Text 39"/>
          <p:cNvSpPr/>
          <p:nvPr/>
        </p:nvSpPr>
        <p:spPr>
          <a:xfrm>
            <a:off x="7895122" y="5376672"/>
            <a:ext cx="1920240" cy="137160"/>
          </a:xfrm>
          <a:prstGeom prst="rect">
            <a:avLst/>
          </a:prstGeom>
          <a:noFill/>
          <a:ln/>
        </p:spPr>
        <p:txBody>
          <a:bodyPr wrap="square" lIns="0" tIns="0" rIns="0" bIns="0" rtlCol="0" anchor="ctr">
            <a:normAutofit fontScale="92500"/>
          </a:bodyPr>
          <a:lstStyle/>
          <a:p>
            <a:pPr marL="0" indent="0" algn="ctr">
              <a:buNone/>
            </a:pPr>
            <a:r>
              <a:rPr lang="en-US" sz="1020" dirty="0">
                <a:solidFill>
                  <a:srgbClr val="222222"/>
                </a:solidFill>
                <a:latin typeface="Arial" pitchFamily="34" charset="0"/>
                <a:ea typeface="Arial" pitchFamily="34" charset="-122"/>
                <a:cs typeface="Arial" pitchFamily="34" charset="-120"/>
              </a:rPr>
              <a:t>0.2714</a:t>
            </a:r>
            <a:endParaRPr lang="en-US" sz="1020" dirty="0"/>
          </a:p>
        </p:txBody>
      </p:sp>
      <p:sp>
        <p:nvSpPr>
          <p:cNvPr id="43" name="Shape 40"/>
          <p:cNvSpPr/>
          <p:nvPr/>
        </p:nvSpPr>
        <p:spPr>
          <a:xfrm>
            <a:off x="1814362" y="5614416"/>
            <a:ext cx="2011680" cy="347472"/>
          </a:xfrm>
          <a:prstGeom prst="rect">
            <a:avLst/>
          </a:prstGeom>
          <a:solidFill>
            <a:srgbClr val="F5F7FA"/>
          </a:solidFill>
          <a:ln w="6350">
            <a:solidFill>
              <a:srgbClr val="D9E2F3"/>
            </a:solidFill>
            <a:prstDash val="solid"/>
          </a:ln>
        </p:spPr>
        <p:txBody>
          <a:bodyPr/>
          <a:lstStyle/>
          <a:p>
            <a:endParaRPr lang="ko-KR" altLang="en-US"/>
          </a:p>
        </p:txBody>
      </p:sp>
      <p:sp>
        <p:nvSpPr>
          <p:cNvPr id="44" name="Text 41"/>
          <p:cNvSpPr/>
          <p:nvPr/>
        </p:nvSpPr>
        <p:spPr>
          <a:xfrm>
            <a:off x="1860082" y="5724144"/>
            <a:ext cx="1920240"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222222"/>
                </a:solidFill>
                <a:latin typeface="Arial" pitchFamily="34" charset="0"/>
                <a:ea typeface="Arial" pitchFamily="34" charset="-122"/>
                <a:cs typeface="Arial" pitchFamily="34" charset="-120"/>
              </a:rPr>
              <a:t>Per-Channel</a:t>
            </a:r>
            <a:endParaRPr lang="en-US" sz="1020" dirty="0"/>
          </a:p>
        </p:txBody>
      </p:sp>
      <p:sp>
        <p:nvSpPr>
          <p:cNvPr id="45" name="Shape 42"/>
          <p:cNvSpPr/>
          <p:nvPr/>
        </p:nvSpPr>
        <p:spPr>
          <a:xfrm>
            <a:off x="3826042" y="5614416"/>
            <a:ext cx="2011680" cy="347472"/>
          </a:xfrm>
          <a:prstGeom prst="rect">
            <a:avLst/>
          </a:prstGeom>
          <a:solidFill>
            <a:srgbClr val="F5F7FA"/>
          </a:solidFill>
          <a:ln w="6350">
            <a:solidFill>
              <a:srgbClr val="D9E2F3"/>
            </a:solidFill>
            <a:prstDash val="solid"/>
          </a:ln>
        </p:spPr>
        <p:txBody>
          <a:bodyPr/>
          <a:lstStyle/>
          <a:p>
            <a:endParaRPr lang="ko-KR" altLang="en-US"/>
          </a:p>
        </p:txBody>
      </p:sp>
      <p:sp>
        <p:nvSpPr>
          <p:cNvPr id="46" name="Text 43"/>
          <p:cNvSpPr/>
          <p:nvPr/>
        </p:nvSpPr>
        <p:spPr>
          <a:xfrm>
            <a:off x="3871762" y="5724144"/>
            <a:ext cx="1920240" cy="137160"/>
          </a:xfrm>
          <a:prstGeom prst="rect">
            <a:avLst/>
          </a:prstGeom>
          <a:noFill/>
          <a:ln/>
        </p:spPr>
        <p:txBody>
          <a:bodyPr wrap="square" lIns="0" tIns="0" rIns="0" bIns="0" rtlCol="0" anchor="ctr">
            <a:normAutofit fontScale="92500"/>
          </a:bodyPr>
          <a:lstStyle/>
          <a:p>
            <a:pPr marL="0" indent="0" algn="ctr">
              <a:buNone/>
            </a:pPr>
            <a:r>
              <a:rPr lang="en-US" sz="1020" dirty="0">
                <a:solidFill>
                  <a:srgbClr val="222222"/>
                </a:solidFill>
                <a:latin typeface="Arial" pitchFamily="34" charset="0"/>
                <a:ea typeface="Arial" pitchFamily="34" charset="-122"/>
                <a:cs typeface="Arial" pitchFamily="34" charset="-120"/>
              </a:rPr>
              <a:t>0.5714</a:t>
            </a:r>
            <a:endParaRPr lang="en-US" sz="1020" dirty="0"/>
          </a:p>
        </p:txBody>
      </p:sp>
      <p:sp>
        <p:nvSpPr>
          <p:cNvPr id="47" name="Shape 44"/>
          <p:cNvSpPr/>
          <p:nvPr/>
        </p:nvSpPr>
        <p:spPr>
          <a:xfrm>
            <a:off x="5837722" y="5614416"/>
            <a:ext cx="2011680" cy="347472"/>
          </a:xfrm>
          <a:prstGeom prst="rect">
            <a:avLst/>
          </a:prstGeom>
          <a:solidFill>
            <a:srgbClr val="F5F7FA"/>
          </a:solidFill>
          <a:ln w="6350">
            <a:solidFill>
              <a:srgbClr val="D9E2F3"/>
            </a:solidFill>
            <a:prstDash val="solid"/>
          </a:ln>
        </p:spPr>
        <p:txBody>
          <a:bodyPr/>
          <a:lstStyle/>
          <a:p>
            <a:endParaRPr lang="ko-KR" altLang="en-US"/>
          </a:p>
        </p:txBody>
      </p:sp>
      <p:sp>
        <p:nvSpPr>
          <p:cNvPr id="48" name="Text 45"/>
          <p:cNvSpPr/>
          <p:nvPr/>
        </p:nvSpPr>
        <p:spPr>
          <a:xfrm>
            <a:off x="5883442" y="5724144"/>
            <a:ext cx="1920240" cy="137160"/>
          </a:xfrm>
          <a:prstGeom prst="rect">
            <a:avLst/>
          </a:prstGeom>
          <a:noFill/>
          <a:ln/>
        </p:spPr>
        <p:txBody>
          <a:bodyPr wrap="square" lIns="0" tIns="0" rIns="0" bIns="0" rtlCol="0" anchor="ctr">
            <a:normAutofit fontScale="92500"/>
          </a:bodyPr>
          <a:lstStyle/>
          <a:p>
            <a:pPr marL="0" indent="0" algn="ctr">
              <a:buNone/>
            </a:pPr>
            <a:r>
              <a:rPr lang="en-US" sz="1020" dirty="0">
                <a:solidFill>
                  <a:srgbClr val="222222"/>
                </a:solidFill>
                <a:latin typeface="Arial" pitchFamily="34" charset="0"/>
                <a:ea typeface="Arial" pitchFamily="34" charset="-122"/>
                <a:cs typeface="Arial" pitchFamily="34" charset="-120"/>
              </a:rPr>
              <a:t>0.5714</a:t>
            </a:r>
            <a:endParaRPr lang="en-US" sz="1020" dirty="0"/>
          </a:p>
        </p:txBody>
      </p:sp>
      <p:sp>
        <p:nvSpPr>
          <p:cNvPr id="49" name="Shape 46"/>
          <p:cNvSpPr/>
          <p:nvPr/>
        </p:nvSpPr>
        <p:spPr>
          <a:xfrm>
            <a:off x="7849402" y="5614416"/>
            <a:ext cx="2011680" cy="347472"/>
          </a:xfrm>
          <a:prstGeom prst="rect">
            <a:avLst/>
          </a:prstGeom>
          <a:solidFill>
            <a:srgbClr val="F5F7FA"/>
          </a:solidFill>
          <a:ln w="6350">
            <a:solidFill>
              <a:srgbClr val="D9E2F3"/>
            </a:solidFill>
            <a:prstDash val="solid"/>
          </a:ln>
        </p:spPr>
        <p:txBody>
          <a:bodyPr/>
          <a:lstStyle/>
          <a:p>
            <a:endParaRPr lang="ko-KR" altLang="en-US"/>
          </a:p>
        </p:txBody>
      </p:sp>
      <p:sp>
        <p:nvSpPr>
          <p:cNvPr id="50" name="Text 47"/>
          <p:cNvSpPr/>
          <p:nvPr/>
        </p:nvSpPr>
        <p:spPr>
          <a:xfrm>
            <a:off x="7895122" y="5724144"/>
            <a:ext cx="1920240" cy="137160"/>
          </a:xfrm>
          <a:prstGeom prst="rect">
            <a:avLst/>
          </a:prstGeom>
          <a:noFill/>
          <a:ln/>
        </p:spPr>
        <p:txBody>
          <a:bodyPr wrap="square" lIns="0" tIns="0" rIns="0" bIns="0" rtlCol="0" anchor="ctr">
            <a:normAutofit fontScale="92500"/>
          </a:bodyPr>
          <a:lstStyle/>
          <a:p>
            <a:pPr marL="0" indent="0" algn="ctr">
              <a:buNone/>
            </a:pPr>
            <a:r>
              <a:rPr lang="en-US" sz="1020" dirty="0">
                <a:solidFill>
                  <a:srgbClr val="222222"/>
                </a:solidFill>
                <a:latin typeface="Arial" pitchFamily="34" charset="0"/>
                <a:ea typeface="Arial" pitchFamily="34" charset="-122"/>
                <a:cs typeface="Arial" pitchFamily="34" charset="-120"/>
              </a:rPr>
              <a:t>0.2714</a:t>
            </a:r>
            <a:endParaRPr lang="en-US" sz="1020" dirty="0"/>
          </a:p>
        </p:txBody>
      </p:sp>
      <p:sp>
        <p:nvSpPr>
          <p:cNvPr id="51" name="Shape 48"/>
          <p:cNvSpPr/>
          <p:nvPr/>
        </p:nvSpPr>
        <p:spPr>
          <a:xfrm>
            <a:off x="1814362" y="5961888"/>
            <a:ext cx="2011680" cy="347472"/>
          </a:xfrm>
          <a:prstGeom prst="rect">
            <a:avLst/>
          </a:prstGeom>
          <a:solidFill>
            <a:srgbClr val="FFFFFF"/>
          </a:solidFill>
          <a:ln w="6350">
            <a:solidFill>
              <a:srgbClr val="D9E2F3"/>
            </a:solidFill>
            <a:prstDash val="solid"/>
          </a:ln>
        </p:spPr>
        <p:txBody>
          <a:bodyPr/>
          <a:lstStyle/>
          <a:p>
            <a:endParaRPr lang="ko-KR" altLang="en-US"/>
          </a:p>
        </p:txBody>
      </p:sp>
      <p:sp>
        <p:nvSpPr>
          <p:cNvPr id="52" name="Text 49"/>
          <p:cNvSpPr/>
          <p:nvPr/>
        </p:nvSpPr>
        <p:spPr>
          <a:xfrm>
            <a:off x="1860082" y="6071616"/>
            <a:ext cx="1920240"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00245D"/>
                </a:solidFill>
                <a:latin typeface="Arial" pitchFamily="34" charset="0"/>
                <a:ea typeface="Arial" pitchFamily="34" charset="-122"/>
                <a:cs typeface="Arial" pitchFamily="34" charset="-120"/>
              </a:rPr>
              <a:t>Per-Group</a:t>
            </a:r>
            <a:endParaRPr lang="en-US" sz="1020" dirty="0"/>
          </a:p>
        </p:txBody>
      </p:sp>
      <p:sp>
        <p:nvSpPr>
          <p:cNvPr id="53" name="Shape 50"/>
          <p:cNvSpPr/>
          <p:nvPr/>
        </p:nvSpPr>
        <p:spPr>
          <a:xfrm>
            <a:off x="3826042" y="5961888"/>
            <a:ext cx="2011680" cy="347472"/>
          </a:xfrm>
          <a:prstGeom prst="rect">
            <a:avLst/>
          </a:prstGeom>
          <a:solidFill>
            <a:srgbClr val="FFFFFF"/>
          </a:solidFill>
          <a:ln w="6350">
            <a:solidFill>
              <a:srgbClr val="D9E2F3"/>
            </a:solidFill>
            <a:prstDash val="solid"/>
          </a:ln>
        </p:spPr>
        <p:txBody>
          <a:bodyPr/>
          <a:lstStyle/>
          <a:p>
            <a:endParaRPr lang="ko-KR" altLang="en-US"/>
          </a:p>
        </p:txBody>
      </p:sp>
      <p:sp>
        <p:nvSpPr>
          <p:cNvPr id="54" name="Text 51"/>
          <p:cNvSpPr/>
          <p:nvPr/>
        </p:nvSpPr>
        <p:spPr>
          <a:xfrm>
            <a:off x="3871762" y="6071616"/>
            <a:ext cx="1920240"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00245D"/>
                </a:solidFill>
                <a:latin typeface="Arial" pitchFamily="34" charset="0"/>
                <a:ea typeface="Arial" pitchFamily="34" charset="-122"/>
                <a:cs typeface="Arial" pitchFamily="34" charset="-120"/>
              </a:rPr>
              <a:t>0.0571</a:t>
            </a:r>
            <a:endParaRPr lang="en-US" sz="1020" dirty="0"/>
          </a:p>
        </p:txBody>
      </p:sp>
      <p:sp>
        <p:nvSpPr>
          <p:cNvPr id="55" name="Shape 52"/>
          <p:cNvSpPr/>
          <p:nvPr/>
        </p:nvSpPr>
        <p:spPr>
          <a:xfrm>
            <a:off x="5837722" y="5961888"/>
            <a:ext cx="2011680" cy="347472"/>
          </a:xfrm>
          <a:prstGeom prst="rect">
            <a:avLst/>
          </a:prstGeom>
          <a:solidFill>
            <a:srgbClr val="FFFFFF"/>
          </a:solidFill>
          <a:ln w="6350">
            <a:solidFill>
              <a:srgbClr val="D9E2F3"/>
            </a:solidFill>
            <a:prstDash val="solid"/>
          </a:ln>
        </p:spPr>
        <p:txBody>
          <a:bodyPr/>
          <a:lstStyle/>
          <a:p>
            <a:endParaRPr lang="ko-KR" altLang="en-US"/>
          </a:p>
        </p:txBody>
      </p:sp>
      <p:sp>
        <p:nvSpPr>
          <p:cNvPr id="56" name="Text 53"/>
          <p:cNvSpPr/>
          <p:nvPr/>
        </p:nvSpPr>
        <p:spPr>
          <a:xfrm>
            <a:off x="5883442" y="6071616"/>
            <a:ext cx="1920240"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00245D"/>
                </a:solidFill>
                <a:latin typeface="Arial" pitchFamily="34" charset="0"/>
                <a:ea typeface="Arial" pitchFamily="34" charset="-122"/>
                <a:cs typeface="Arial" pitchFamily="34" charset="-120"/>
              </a:rPr>
              <a:t>0.2855</a:t>
            </a:r>
            <a:endParaRPr lang="en-US" sz="1020" dirty="0"/>
          </a:p>
        </p:txBody>
      </p:sp>
      <p:sp>
        <p:nvSpPr>
          <p:cNvPr id="57" name="Shape 54"/>
          <p:cNvSpPr/>
          <p:nvPr/>
        </p:nvSpPr>
        <p:spPr>
          <a:xfrm>
            <a:off x="7849402" y="5961888"/>
            <a:ext cx="2011680" cy="347472"/>
          </a:xfrm>
          <a:prstGeom prst="rect">
            <a:avLst/>
          </a:prstGeom>
          <a:solidFill>
            <a:srgbClr val="FFFFFF"/>
          </a:solidFill>
          <a:ln w="6350">
            <a:solidFill>
              <a:srgbClr val="D9E2F3"/>
            </a:solidFill>
            <a:prstDash val="solid"/>
          </a:ln>
        </p:spPr>
        <p:txBody>
          <a:bodyPr/>
          <a:lstStyle/>
          <a:p>
            <a:endParaRPr lang="ko-KR" altLang="en-US"/>
          </a:p>
        </p:txBody>
      </p:sp>
      <p:sp>
        <p:nvSpPr>
          <p:cNvPr id="58" name="Text 55"/>
          <p:cNvSpPr/>
          <p:nvPr/>
        </p:nvSpPr>
        <p:spPr>
          <a:xfrm>
            <a:off x="7895122" y="6071616"/>
            <a:ext cx="1920240"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00245D"/>
                </a:solidFill>
                <a:latin typeface="Arial" pitchFamily="34" charset="0"/>
                <a:ea typeface="Arial" pitchFamily="34" charset="-122"/>
                <a:cs typeface="Arial" pitchFamily="34" charset="-120"/>
              </a:rPr>
              <a:t>0.0145</a:t>
            </a:r>
            <a:endParaRPr lang="en-US" sz="10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Why Smaller Scaling Factor Helps</a:t>
            </a:r>
            <a:endParaRPr lang="en-US" sz="2000" dirty="0"/>
          </a:p>
        </p:txBody>
      </p:sp>
      <p:sp>
        <p:nvSpPr>
          <p:cNvPr id="3" name="Text 1"/>
          <p:cNvSpPr/>
          <p:nvPr/>
        </p:nvSpPr>
        <p:spPr>
          <a:xfrm>
            <a:off x="11475720" y="384048"/>
            <a:ext cx="411480" cy="228600"/>
          </a:xfrm>
          <a:prstGeom prst="rect">
            <a:avLst/>
          </a:prstGeom>
          <a:noFill/>
          <a:ln/>
        </p:spPr>
        <p:txBody>
          <a:bodyPr wrap="square" lIns="0" tIns="0" rIns="0" bIns="0" rtlCol="0" anchor="ctr"/>
          <a:lstStyle/>
          <a:p>
            <a:pPr marL="0" indent="0" algn="r">
              <a:buNone/>
            </a:pPr>
            <a:endParaRPr lang="en-US" sz="1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cs typeface="Arial" pitchFamily="34" charset="-120"/>
              </a:rPr>
              <a:t>24</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The quantization error is proportional to the scaling factor Δ. Smaller Δ means denser representable values.</a:t>
            </a:r>
            <a:endParaRPr lang="en-US" sz="1300" dirty="0"/>
          </a:p>
        </p:txBody>
      </p:sp>
      <p:sp>
        <p:nvSpPr>
          <p:cNvPr id="9" name="Shape 6"/>
          <p:cNvSpPr/>
          <p:nvPr/>
        </p:nvSpPr>
        <p:spPr>
          <a:xfrm>
            <a:off x="685800" y="1417320"/>
            <a:ext cx="5212080" cy="4389120"/>
          </a:xfrm>
          <a:prstGeom prst="roundRect">
            <a:avLst>
              <a:gd name="adj" fmla="val 1250"/>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36192"/>
            <a:ext cx="48828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Error relation</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60120" y="1874520"/>
                <a:ext cx="4663440" cy="7315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m:rPr>
                          <m:sty m:val="p"/>
                        </m:rPr>
                        <a:rPr lang="en-US" altLang="ko-KR" sz="1150" smtClean="0">
                          <a:latin typeface="Cambria Math"/>
                        </a:rPr>
                        <m:t>Error</m:t>
                      </m:r>
                      <m:d>
                        <m:dPr>
                          <m:ctrlPr>
                            <a:rPr lang="en-US" altLang="ko-KR" sz="1150" i="1" smtClean="0">
                              <a:latin typeface="Cambria Math" panose="02040503050406030204" pitchFamily="18" charset="0"/>
                            </a:rPr>
                          </m:ctrlPr>
                        </m:dPr>
                        <m:e>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𝑞𝑓</m:t>
                              </m:r>
                            </m:sub>
                          </m:sSub>
                        </m:e>
                      </m:d>
                      <m:r>
                        <a:rPr lang="en-US" altLang="ko-KR" sz="1150" smtClean="0">
                          <a:latin typeface="Cambria Math"/>
                        </a:rPr>
                        <m:t>=</m:t>
                      </m:r>
                      <m:sSub>
                        <m:sSubPr>
                          <m:ctrlPr>
                            <a:rPr lang="en-US" altLang="ko-KR" sz="1150" smtClean="0">
                              <a:latin typeface="Cambria Math"/>
                            </a:rPr>
                          </m:ctrlPr>
                        </m:sSubPr>
                        <m:e>
                          <m:r>
                            <m:rPr>
                              <m:sty m:val="p"/>
                            </m:rPr>
                            <a:rPr lang="en-US" altLang="ko-KR" sz="1150" smtClean="0">
                              <a:latin typeface="Cambria Math"/>
                            </a:rPr>
                            <m:t>Error</m:t>
                          </m:r>
                        </m:e>
                        <m:sub>
                          <m:r>
                            <m:rPr>
                              <m:sty m:val="p"/>
                            </m:rPr>
                            <a:rPr lang="en-US" altLang="ko-KR" sz="1150" smtClean="0">
                              <a:latin typeface="Cambria Math"/>
                            </a:rPr>
                            <m:t>Round</m:t>
                          </m:r>
                        </m:sub>
                      </m:sSub>
                      <m:d>
                        <m:dPr>
                          <m:ctrlPr>
                            <a:rPr lang="en-US" altLang="ko-KR" sz="1150" i="1" smtClean="0">
                              <a:latin typeface="Cambria Math" panose="02040503050406030204" pitchFamily="18" charset="0"/>
                            </a:rPr>
                          </m:ctrlPr>
                        </m:dPr>
                        <m:e>
                          <m:f>
                            <m:fPr>
                              <m:ctrlPr>
                                <a:rPr lang="en-US" altLang="ko-KR" sz="1150" i="1" smtClean="0">
                                  <a:latin typeface="Cambria Math" panose="02040503050406030204" pitchFamily="18" charset="0"/>
                                </a:rPr>
                              </m:ctrlPr>
                            </m:fPr>
                            <m:num>
                              <m:sSub>
                                <m:sSubPr>
                                  <m:ctrlPr>
                                    <a:rPr lang="en-US" altLang="ko-KR" sz="1150" smtClean="0">
                                      <a:latin typeface="Cambria Math"/>
                                    </a:rPr>
                                  </m:ctrlPr>
                                </m:sSubPr>
                                <m:e>
                                  <m:r>
                                    <a:rPr lang="en-US" altLang="ko-KR" sz="1150" smtClean="0">
                                      <a:latin typeface="Cambria Math"/>
                                    </a:rPr>
                                    <m:t>𝑊</m:t>
                                  </m:r>
                                </m:e>
                                <m:sub>
                                  <m:r>
                                    <a:rPr lang="en-US" altLang="ko-KR" sz="1150" smtClean="0">
                                      <a:latin typeface="Cambria Math"/>
                                    </a:rPr>
                                    <m:t>𝑓</m:t>
                                  </m:r>
                                </m:sub>
                              </m:sSub>
                            </m:num>
                            <m:den>
                              <m:r>
                                <a:rPr lang="en-US" altLang="ko-KR" sz="1150" smtClean="0">
                                  <a:latin typeface="Cambria Math"/>
                                </a:rPr>
                                <m:t>𝛥</m:t>
                              </m:r>
                            </m:den>
                          </m:f>
                        </m:e>
                      </m:d>
                      <m:r>
                        <a:rPr lang="en-US" altLang="ko-KR" sz="1150" smtClean="0">
                          <a:latin typeface="Cambria Math"/>
                        </a:rPr>
                        <m:t>⋅</m:t>
                      </m:r>
                      <m:r>
                        <a:rPr lang="en-US" altLang="ko-KR" sz="1150" smtClean="0">
                          <a:latin typeface="Cambria Math"/>
                        </a:rPr>
                        <m:t>𝛥</m:t>
                      </m:r>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60120" y="1874520"/>
                <a:ext cx="4663440" cy="731520"/>
              </a:xfrm>
              <a:prstGeom prst="rect">
                <a:avLst/>
              </a:prstGeom>
              <a:blipFill>
                <a:blip r:embed="rId4"/>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 9"/>
              <p:cNvSpPr/>
              <p:nvPr/>
            </p:nvSpPr>
            <p:spPr>
              <a:xfrm>
                <a:off x="1371600" y="2880360"/>
                <a:ext cx="3840480" cy="5029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m:rPr>
                          <m:sty m:val="p"/>
                        </m:rPr>
                        <a:rPr lang="en-US" altLang="ko-KR" sz="1150" smtClean="0">
                          <a:latin typeface="Cambria Math"/>
                        </a:rPr>
                        <m:t>Quantization</m:t>
                      </m:r>
                      <m:r>
                        <a:rPr lang="en-US" altLang="ko-KR" sz="1150" smtClean="0">
                          <a:latin typeface="Cambria Math"/>
                        </a:rPr>
                        <m:t> </m:t>
                      </m:r>
                      <m:r>
                        <m:rPr>
                          <m:sty m:val="p"/>
                        </m:rPr>
                        <a:rPr lang="en-US" altLang="ko-KR" sz="1150" smtClean="0">
                          <a:latin typeface="Cambria Math"/>
                        </a:rPr>
                        <m:t>Error</m:t>
                      </m:r>
                      <m:r>
                        <a:rPr lang="en-US" altLang="ko-KR" sz="1150" smtClean="0">
                          <a:latin typeface="Cambria Math"/>
                        </a:rPr>
                        <m:t>∝</m:t>
                      </m:r>
                      <m:r>
                        <a:rPr lang="en-US" altLang="ko-KR" sz="1150" smtClean="0">
                          <a:latin typeface="Cambria Math"/>
                        </a:rPr>
                        <m:t>𝛥</m:t>
                      </m:r>
                    </m:oMath>
                  </m:oMathPara>
                </a14:m>
                <a:endParaRPr/>
              </a:p>
            </p:txBody>
          </p:sp>
        </mc:Choice>
        <mc:Fallback xmlns="">
          <p:sp>
            <p:nvSpPr>
              <p:cNvPr id="12" name="Text 9"/>
              <p:cNvSpPr>
                <a:spLocks noRot="1" noChangeAspect="1" noMove="1" noResize="1" noEditPoints="1" noAdjustHandles="1" noChangeArrowheads="1" noChangeShapeType="1" noTextEdit="1"/>
              </p:cNvSpPr>
              <p:nvPr/>
            </p:nvSpPr>
            <p:spPr>
              <a:xfrm>
                <a:off x="1371600" y="2880360"/>
                <a:ext cx="3840480" cy="502920"/>
              </a:xfrm>
              <a:prstGeom prst="rect">
                <a:avLst/>
              </a:prstGeom>
              <a:blipFill>
                <a:blip r:embed="rId5"/>
                <a:stretch>
                  <a:fillRect/>
                </a:stretch>
              </a:blipFill>
              <a:ln/>
            </p:spPr>
            <p:txBody>
              <a:bodyPr/>
              <a:lstStyle/>
              <a:p>
                <a:r>
                  <a:rPr lang="ko-KR" altLang="en-US">
                    <a:noFill/>
                  </a:rPr>
                  <a:t> </a:t>
                </a:r>
              </a:p>
            </p:txBody>
          </p:sp>
        </mc:Fallback>
      </mc:AlternateContent>
      <p:sp>
        <p:nvSpPr>
          <p:cNvPr id="13" name="Text 10"/>
          <p:cNvSpPr/>
          <p:nvPr/>
        </p:nvSpPr>
        <p:spPr>
          <a:xfrm>
            <a:off x="960120" y="3657600"/>
            <a:ext cx="4663440" cy="475488"/>
          </a:xfrm>
          <a:prstGeom prst="rect">
            <a:avLst/>
          </a:prstGeom>
          <a:noFill/>
          <a:ln/>
        </p:spPr>
        <p:txBody>
          <a:bodyPr wrap="square" lIns="254" tIns="254" rIns="254" bIns="254" rtlCol="0" anchor="ctr">
            <a:normAutofit/>
          </a:bodyPr>
          <a:lstStyle/>
          <a:p>
            <a:pPr marL="0" indent="0" algn="ctr">
              <a:buNone/>
            </a:pPr>
            <a:r>
              <a:rPr lang="en-US" sz="1150" dirty="0">
                <a:solidFill>
                  <a:srgbClr val="222222"/>
                </a:solidFill>
                <a:latin typeface="Arial" pitchFamily="34" charset="0"/>
                <a:ea typeface="Arial" pitchFamily="34" charset="-122"/>
                <a:cs typeface="Arial" pitchFamily="34" charset="-120"/>
              </a:rPr>
              <a:t>Rounding error is unavoidable, but multiplying it by a large Δ makes the final dequantized error larger.</a:t>
            </a:r>
            <a:endParaRPr lang="en-US" sz="1150" dirty="0"/>
          </a:p>
        </p:txBody>
      </p:sp>
      <p:sp>
        <p:nvSpPr>
          <p:cNvPr id="14" name="Shape 11"/>
          <p:cNvSpPr/>
          <p:nvPr/>
        </p:nvSpPr>
        <p:spPr>
          <a:xfrm>
            <a:off x="1097280" y="4754880"/>
            <a:ext cx="4389120" cy="502920"/>
          </a:xfrm>
          <a:prstGeom prst="roundRect">
            <a:avLst>
              <a:gd name="adj" fmla="val 10909"/>
            </a:avLst>
          </a:prstGeom>
          <a:solidFill>
            <a:srgbClr val="FFFDF2"/>
          </a:solidFill>
          <a:ln w="12700">
            <a:solidFill>
              <a:srgbClr val="D6B656"/>
            </a:solidFill>
            <a:prstDash val="solid"/>
          </a:ln>
        </p:spPr>
        <p:txBody>
          <a:bodyPr/>
          <a:lstStyle/>
          <a:p>
            <a:endParaRPr lang="ko-KR" altLang="en-US"/>
          </a:p>
        </p:txBody>
      </p:sp>
      <p:sp>
        <p:nvSpPr>
          <p:cNvPr id="15" name="Text 12"/>
          <p:cNvSpPr/>
          <p:nvPr/>
        </p:nvSpPr>
        <p:spPr>
          <a:xfrm>
            <a:off x="1280160" y="4892040"/>
            <a:ext cx="4023360"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00245D"/>
                </a:solidFill>
                <a:latin typeface="Arial" pitchFamily="34" charset="0"/>
                <a:ea typeface="Arial" pitchFamily="34" charset="-122"/>
                <a:cs typeface="Arial" pitchFamily="34" charset="-120"/>
              </a:rPr>
              <a:t>Therefore, reducing the local max/range is directly useful.</a:t>
            </a:r>
            <a:endParaRPr lang="en-US" sz="1080" dirty="0"/>
          </a:p>
        </p:txBody>
      </p:sp>
      <p:sp>
        <p:nvSpPr>
          <p:cNvPr id="16" name="Shape 13"/>
          <p:cNvSpPr/>
          <p:nvPr/>
        </p:nvSpPr>
        <p:spPr>
          <a:xfrm>
            <a:off x="6446520" y="1417320"/>
            <a:ext cx="4892040" cy="4389120"/>
          </a:xfrm>
          <a:prstGeom prst="roundRect">
            <a:avLst>
              <a:gd name="adj" fmla="val 1250"/>
            </a:avLst>
          </a:prstGeom>
          <a:solidFill>
            <a:srgbClr val="FFFDF2"/>
          </a:solidFill>
          <a:ln w="13335">
            <a:solidFill>
              <a:srgbClr val="D6B656"/>
            </a:solidFill>
            <a:prstDash val="solid"/>
          </a:ln>
        </p:spPr>
        <p:txBody>
          <a:bodyPr/>
          <a:lstStyle/>
          <a:p>
            <a:endParaRPr lang="ko-KR" altLang="en-US"/>
          </a:p>
        </p:txBody>
      </p:sp>
      <p:sp>
        <p:nvSpPr>
          <p:cNvPr id="17" name="Text 14"/>
          <p:cNvSpPr/>
          <p:nvPr/>
        </p:nvSpPr>
        <p:spPr>
          <a:xfrm>
            <a:off x="6611112" y="1536192"/>
            <a:ext cx="45628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Scale spacing intuition</a:t>
            </a:r>
            <a:endParaRPr lang="en-US" sz="1200" dirty="0"/>
          </a:p>
        </p:txBody>
      </p:sp>
      <p:sp>
        <p:nvSpPr>
          <p:cNvPr id="18" name="Text 15"/>
          <p:cNvSpPr/>
          <p:nvPr/>
        </p:nvSpPr>
        <p:spPr>
          <a:xfrm>
            <a:off x="6720840" y="1874520"/>
            <a:ext cx="2011680" cy="201168"/>
          </a:xfrm>
          <a:prstGeom prst="rect">
            <a:avLst/>
          </a:prstGeom>
          <a:noFill/>
          <a:ln/>
        </p:spPr>
        <p:txBody>
          <a:bodyPr wrap="square" lIns="0" tIns="0" rIns="0" bIns="0" rtlCol="0" anchor="ctr"/>
          <a:lstStyle/>
          <a:p>
            <a:pPr marL="0" indent="0">
              <a:buNone/>
            </a:pPr>
            <a:r>
              <a:rPr lang="en-US" sz="1150" b="1" dirty="0">
                <a:solidFill>
                  <a:srgbClr val="C00000"/>
                </a:solidFill>
                <a:latin typeface="Arial" pitchFamily="34" charset="0"/>
                <a:ea typeface="Arial" pitchFamily="34" charset="-122"/>
                <a:cs typeface="Arial" pitchFamily="34" charset="-120"/>
              </a:rPr>
              <a:t>Large Δ = sparse grid</a:t>
            </a:r>
            <a:endParaRPr lang="en-US" sz="1150" dirty="0"/>
          </a:p>
        </p:txBody>
      </p:sp>
      <p:sp>
        <p:nvSpPr>
          <p:cNvPr id="19" name="Shape 16"/>
          <p:cNvSpPr/>
          <p:nvPr/>
        </p:nvSpPr>
        <p:spPr>
          <a:xfrm>
            <a:off x="6903720" y="2514600"/>
            <a:ext cx="3474720" cy="0"/>
          </a:xfrm>
          <a:prstGeom prst="line">
            <a:avLst/>
          </a:prstGeom>
          <a:noFill/>
          <a:ln w="16510">
            <a:solidFill>
              <a:srgbClr val="C00000"/>
            </a:solidFill>
            <a:prstDash val="solid"/>
          </a:ln>
        </p:spPr>
        <p:txBody>
          <a:bodyPr/>
          <a:lstStyle/>
          <a:p>
            <a:endParaRPr lang="ko-KR" altLang="en-US"/>
          </a:p>
        </p:txBody>
      </p:sp>
      <p:sp>
        <p:nvSpPr>
          <p:cNvPr id="20" name="Shape 17"/>
          <p:cNvSpPr/>
          <p:nvPr/>
        </p:nvSpPr>
        <p:spPr>
          <a:xfrm>
            <a:off x="6903720" y="2404872"/>
            <a:ext cx="0" cy="219456"/>
          </a:xfrm>
          <a:prstGeom prst="line">
            <a:avLst/>
          </a:prstGeom>
          <a:noFill/>
          <a:ln w="13970">
            <a:solidFill>
              <a:srgbClr val="C00000"/>
            </a:solidFill>
            <a:prstDash val="solid"/>
          </a:ln>
        </p:spPr>
        <p:txBody>
          <a:bodyPr/>
          <a:lstStyle/>
          <a:p>
            <a:endParaRPr lang="ko-KR" altLang="en-US"/>
          </a:p>
        </p:txBody>
      </p:sp>
      <p:sp>
        <p:nvSpPr>
          <p:cNvPr id="21" name="Text 18"/>
          <p:cNvSpPr/>
          <p:nvPr/>
        </p:nvSpPr>
        <p:spPr>
          <a:xfrm>
            <a:off x="6739128" y="269748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0</a:t>
            </a:r>
            <a:endParaRPr lang="en-US" sz="950" dirty="0"/>
          </a:p>
        </p:txBody>
      </p:sp>
      <p:sp>
        <p:nvSpPr>
          <p:cNvPr id="22" name="Shape 19"/>
          <p:cNvSpPr/>
          <p:nvPr/>
        </p:nvSpPr>
        <p:spPr>
          <a:xfrm>
            <a:off x="8065008" y="2404872"/>
            <a:ext cx="0" cy="219456"/>
          </a:xfrm>
          <a:prstGeom prst="line">
            <a:avLst/>
          </a:prstGeom>
          <a:noFill/>
          <a:ln w="13970">
            <a:solidFill>
              <a:srgbClr val="C00000"/>
            </a:solidFill>
            <a:prstDash val="solid"/>
          </a:ln>
        </p:spPr>
        <p:txBody>
          <a:bodyPr/>
          <a:lstStyle/>
          <a:p>
            <a:endParaRPr lang="ko-KR" altLang="en-US"/>
          </a:p>
        </p:txBody>
      </p:sp>
      <p:sp>
        <p:nvSpPr>
          <p:cNvPr id="23" name="Text 20"/>
          <p:cNvSpPr/>
          <p:nvPr/>
        </p:nvSpPr>
        <p:spPr>
          <a:xfrm>
            <a:off x="7900416" y="269748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0.5</a:t>
            </a:r>
            <a:endParaRPr lang="en-US" sz="950" dirty="0"/>
          </a:p>
        </p:txBody>
      </p:sp>
      <p:sp>
        <p:nvSpPr>
          <p:cNvPr id="24" name="Shape 21"/>
          <p:cNvSpPr/>
          <p:nvPr/>
        </p:nvSpPr>
        <p:spPr>
          <a:xfrm>
            <a:off x="9217152" y="2404872"/>
            <a:ext cx="0" cy="219456"/>
          </a:xfrm>
          <a:prstGeom prst="line">
            <a:avLst/>
          </a:prstGeom>
          <a:noFill/>
          <a:ln w="13970">
            <a:solidFill>
              <a:srgbClr val="C00000"/>
            </a:solidFill>
            <a:prstDash val="solid"/>
          </a:ln>
        </p:spPr>
        <p:txBody>
          <a:bodyPr/>
          <a:lstStyle/>
          <a:p>
            <a:endParaRPr lang="ko-KR" altLang="en-US"/>
          </a:p>
        </p:txBody>
      </p:sp>
      <p:sp>
        <p:nvSpPr>
          <p:cNvPr id="25" name="Text 22"/>
          <p:cNvSpPr/>
          <p:nvPr/>
        </p:nvSpPr>
        <p:spPr>
          <a:xfrm>
            <a:off x="9052560" y="269748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1</a:t>
            </a:r>
            <a:endParaRPr lang="en-US" sz="950" dirty="0"/>
          </a:p>
        </p:txBody>
      </p:sp>
      <p:sp>
        <p:nvSpPr>
          <p:cNvPr id="26" name="Shape 23"/>
          <p:cNvSpPr/>
          <p:nvPr/>
        </p:nvSpPr>
        <p:spPr>
          <a:xfrm>
            <a:off x="10378440" y="2404872"/>
            <a:ext cx="0" cy="219456"/>
          </a:xfrm>
          <a:prstGeom prst="line">
            <a:avLst/>
          </a:prstGeom>
          <a:noFill/>
          <a:ln w="13970">
            <a:solidFill>
              <a:srgbClr val="C00000"/>
            </a:solidFill>
            <a:prstDash val="solid"/>
          </a:ln>
        </p:spPr>
        <p:txBody>
          <a:bodyPr/>
          <a:lstStyle/>
          <a:p>
            <a:endParaRPr lang="ko-KR" altLang="en-US"/>
          </a:p>
        </p:txBody>
      </p:sp>
      <p:sp>
        <p:nvSpPr>
          <p:cNvPr id="27" name="Text 24"/>
          <p:cNvSpPr/>
          <p:nvPr/>
        </p:nvSpPr>
        <p:spPr>
          <a:xfrm>
            <a:off x="10213848" y="269748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1.5</a:t>
            </a:r>
            <a:endParaRPr lang="en-US" sz="950" dirty="0"/>
          </a:p>
        </p:txBody>
      </p:sp>
      <p:sp>
        <p:nvSpPr>
          <p:cNvPr id="28" name="Text 25"/>
          <p:cNvSpPr/>
          <p:nvPr/>
        </p:nvSpPr>
        <p:spPr>
          <a:xfrm>
            <a:off x="6720840" y="3337560"/>
            <a:ext cx="2011680" cy="201168"/>
          </a:xfrm>
          <a:prstGeom prst="rect">
            <a:avLst/>
          </a:prstGeom>
          <a:noFill/>
          <a:ln/>
        </p:spPr>
        <p:txBody>
          <a:bodyPr wrap="square" lIns="0" tIns="0" rIns="0" bIns="0" rtlCol="0" anchor="ctr"/>
          <a:lstStyle/>
          <a:p>
            <a:pPr marL="0" indent="0">
              <a:buNone/>
            </a:pPr>
            <a:r>
              <a:rPr lang="en-US" sz="1150" b="1" dirty="0">
                <a:solidFill>
                  <a:srgbClr val="548235"/>
                </a:solidFill>
                <a:latin typeface="Arial" pitchFamily="34" charset="0"/>
                <a:ea typeface="Arial" pitchFamily="34" charset="-122"/>
                <a:cs typeface="Arial" pitchFamily="34" charset="-120"/>
              </a:rPr>
              <a:t>Small Δ = dense grid</a:t>
            </a:r>
            <a:endParaRPr lang="en-US" sz="1150" dirty="0"/>
          </a:p>
        </p:txBody>
      </p:sp>
      <p:sp>
        <p:nvSpPr>
          <p:cNvPr id="29" name="Shape 26"/>
          <p:cNvSpPr/>
          <p:nvPr/>
        </p:nvSpPr>
        <p:spPr>
          <a:xfrm>
            <a:off x="6903720" y="3977640"/>
            <a:ext cx="3474720" cy="0"/>
          </a:xfrm>
          <a:prstGeom prst="line">
            <a:avLst/>
          </a:prstGeom>
          <a:noFill/>
          <a:ln w="16510">
            <a:solidFill>
              <a:srgbClr val="548235"/>
            </a:solidFill>
            <a:prstDash val="solid"/>
          </a:ln>
        </p:spPr>
        <p:txBody>
          <a:bodyPr/>
          <a:lstStyle/>
          <a:p>
            <a:endParaRPr lang="ko-KR" altLang="en-US"/>
          </a:p>
        </p:txBody>
      </p:sp>
      <p:sp>
        <p:nvSpPr>
          <p:cNvPr id="30" name="Shape 27"/>
          <p:cNvSpPr/>
          <p:nvPr/>
        </p:nvSpPr>
        <p:spPr>
          <a:xfrm>
            <a:off x="6903720" y="3867912"/>
            <a:ext cx="0" cy="219456"/>
          </a:xfrm>
          <a:prstGeom prst="line">
            <a:avLst/>
          </a:prstGeom>
          <a:noFill/>
          <a:ln w="13970">
            <a:solidFill>
              <a:srgbClr val="548235"/>
            </a:solidFill>
            <a:prstDash val="solid"/>
          </a:ln>
        </p:spPr>
        <p:txBody>
          <a:bodyPr/>
          <a:lstStyle/>
          <a:p>
            <a:endParaRPr lang="ko-KR" altLang="en-US"/>
          </a:p>
        </p:txBody>
      </p:sp>
      <p:sp>
        <p:nvSpPr>
          <p:cNvPr id="31" name="Text 28"/>
          <p:cNvSpPr/>
          <p:nvPr/>
        </p:nvSpPr>
        <p:spPr>
          <a:xfrm>
            <a:off x="6739128" y="416052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0</a:t>
            </a:r>
            <a:endParaRPr lang="en-US" sz="950" dirty="0"/>
          </a:p>
        </p:txBody>
      </p:sp>
      <p:sp>
        <p:nvSpPr>
          <p:cNvPr id="32" name="Shape 29"/>
          <p:cNvSpPr/>
          <p:nvPr/>
        </p:nvSpPr>
        <p:spPr>
          <a:xfrm>
            <a:off x="7598664" y="3867912"/>
            <a:ext cx="0" cy="219456"/>
          </a:xfrm>
          <a:prstGeom prst="line">
            <a:avLst/>
          </a:prstGeom>
          <a:noFill/>
          <a:ln w="13970">
            <a:solidFill>
              <a:srgbClr val="548235"/>
            </a:solidFill>
            <a:prstDash val="solid"/>
          </a:ln>
        </p:spPr>
        <p:txBody>
          <a:bodyPr/>
          <a:lstStyle/>
          <a:p>
            <a:endParaRPr lang="ko-KR" altLang="en-US"/>
          </a:p>
        </p:txBody>
      </p:sp>
      <p:sp>
        <p:nvSpPr>
          <p:cNvPr id="33" name="Text 30"/>
          <p:cNvSpPr/>
          <p:nvPr/>
        </p:nvSpPr>
        <p:spPr>
          <a:xfrm>
            <a:off x="7434072" y="416052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0.1</a:t>
            </a:r>
            <a:endParaRPr lang="en-US" sz="950" dirty="0"/>
          </a:p>
        </p:txBody>
      </p:sp>
      <p:sp>
        <p:nvSpPr>
          <p:cNvPr id="34" name="Shape 31"/>
          <p:cNvSpPr/>
          <p:nvPr/>
        </p:nvSpPr>
        <p:spPr>
          <a:xfrm>
            <a:off x="8293608" y="3867912"/>
            <a:ext cx="0" cy="219456"/>
          </a:xfrm>
          <a:prstGeom prst="line">
            <a:avLst/>
          </a:prstGeom>
          <a:noFill/>
          <a:ln w="13970">
            <a:solidFill>
              <a:srgbClr val="548235"/>
            </a:solidFill>
            <a:prstDash val="solid"/>
          </a:ln>
        </p:spPr>
        <p:txBody>
          <a:bodyPr/>
          <a:lstStyle/>
          <a:p>
            <a:endParaRPr lang="ko-KR" altLang="en-US"/>
          </a:p>
        </p:txBody>
      </p:sp>
      <p:sp>
        <p:nvSpPr>
          <p:cNvPr id="35" name="Text 32"/>
          <p:cNvSpPr/>
          <p:nvPr/>
        </p:nvSpPr>
        <p:spPr>
          <a:xfrm>
            <a:off x="8129016" y="416052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0.2</a:t>
            </a:r>
            <a:endParaRPr lang="en-US" sz="950" dirty="0"/>
          </a:p>
        </p:txBody>
      </p:sp>
      <p:sp>
        <p:nvSpPr>
          <p:cNvPr id="36" name="Shape 33"/>
          <p:cNvSpPr/>
          <p:nvPr/>
        </p:nvSpPr>
        <p:spPr>
          <a:xfrm>
            <a:off x="8988552" y="3867912"/>
            <a:ext cx="0" cy="219456"/>
          </a:xfrm>
          <a:prstGeom prst="line">
            <a:avLst/>
          </a:prstGeom>
          <a:noFill/>
          <a:ln w="13970">
            <a:solidFill>
              <a:srgbClr val="548235"/>
            </a:solidFill>
            <a:prstDash val="solid"/>
          </a:ln>
        </p:spPr>
        <p:txBody>
          <a:bodyPr/>
          <a:lstStyle/>
          <a:p>
            <a:endParaRPr lang="ko-KR" altLang="en-US"/>
          </a:p>
        </p:txBody>
      </p:sp>
      <p:sp>
        <p:nvSpPr>
          <p:cNvPr id="37" name="Text 34"/>
          <p:cNvSpPr/>
          <p:nvPr/>
        </p:nvSpPr>
        <p:spPr>
          <a:xfrm>
            <a:off x="8823960" y="416052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0.3</a:t>
            </a:r>
            <a:endParaRPr lang="en-US" sz="950" dirty="0"/>
          </a:p>
        </p:txBody>
      </p:sp>
      <p:sp>
        <p:nvSpPr>
          <p:cNvPr id="38" name="Shape 35"/>
          <p:cNvSpPr/>
          <p:nvPr/>
        </p:nvSpPr>
        <p:spPr>
          <a:xfrm>
            <a:off x="9683496" y="3867912"/>
            <a:ext cx="0" cy="219456"/>
          </a:xfrm>
          <a:prstGeom prst="line">
            <a:avLst/>
          </a:prstGeom>
          <a:noFill/>
          <a:ln w="13970">
            <a:solidFill>
              <a:srgbClr val="548235"/>
            </a:solidFill>
            <a:prstDash val="solid"/>
          </a:ln>
        </p:spPr>
        <p:txBody>
          <a:bodyPr/>
          <a:lstStyle/>
          <a:p>
            <a:endParaRPr lang="ko-KR" altLang="en-US"/>
          </a:p>
        </p:txBody>
      </p:sp>
      <p:sp>
        <p:nvSpPr>
          <p:cNvPr id="39" name="Text 36"/>
          <p:cNvSpPr/>
          <p:nvPr/>
        </p:nvSpPr>
        <p:spPr>
          <a:xfrm>
            <a:off x="9518904" y="416052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0.4</a:t>
            </a:r>
            <a:endParaRPr lang="en-US" sz="950" dirty="0"/>
          </a:p>
        </p:txBody>
      </p:sp>
      <p:sp>
        <p:nvSpPr>
          <p:cNvPr id="40" name="Shape 37"/>
          <p:cNvSpPr/>
          <p:nvPr/>
        </p:nvSpPr>
        <p:spPr>
          <a:xfrm>
            <a:off x="10378440" y="3867912"/>
            <a:ext cx="0" cy="219456"/>
          </a:xfrm>
          <a:prstGeom prst="line">
            <a:avLst/>
          </a:prstGeom>
          <a:noFill/>
          <a:ln w="13970">
            <a:solidFill>
              <a:srgbClr val="548235"/>
            </a:solidFill>
            <a:prstDash val="solid"/>
          </a:ln>
        </p:spPr>
        <p:txBody>
          <a:bodyPr/>
          <a:lstStyle/>
          <a:p>
            <a:endParaRPr lang="ko-KR" altLang="en-US"/>
          </a:p>
        </p:txBody>
      </p:sp>
      <p:sp>
        <p:nvSpPr>
          <p:cNvPr id="41" name="Text 38"/>
          <p:cNvSpPr/>
          <p:nvPr/>
        </p:nvSpPr>
        <p:spPr>
          <a:xfrm>
            <a:off x="10213848" y="4160520"/>
            <a:ext cx="347472"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0.5</a:t>
            </a:r>
            <a:endParaRPr lang="en-US" sz="950" dirty="0"/>
          </a:p>
        </p:txBody>
      </p:sp>
      <p:sp>
        <p:nvSpPr>
          <p:cNvPr id="42" name="Shape 39"/>
          <p:cNvSpPr/>
          <p:nvPr/>
        </p:nvSpPr>
        <p:spPr>
          <a:xfrm>
            <a:off x="6766560" y="4892040"/>
            <a:ext cx="4251960" cy="530352"/>
          </a:xfrm>
          <a:prstGeom prst="roundRect">
            <a:avLst>
              <a:gd name="adj" fmla="val 10345"/>
            </a:avLst>
          </a:prstGeom>
          <a:solidFill>
            <a:srgbClr val="EAF2FF"/>
          </a:solidFill>
          <a:ln w="12700">
            <a:solidFill>
              <a:srgbClr val="7EA6E0"/>
            </a:solidFill>
            <a:prstDash val="solid"/>
          </a:ln>
        </p:spPr>
        <p:txBody>
          <a:bodyPr/>
          <a:lstStyle/>
          <a:p>
            <a:endParaRPr lang="ko-KR" altLang="en-US"/>
          </a:p>
        </p:txBody>
      </p:sp>
      <p:sp>
        <p:nvSpPr>
          <p:cNvPr id="43" name="Text 40"/>
          <p:cNvSpPr/>
          <p:nvPr/>
        </p:nvSpPr>
        <p:spPr>
          <a:xfrm>
            <a:off x="6949440" y="4992624"/>
            <a:ext cx="3886200" cy="274320"/>
          </a:xfrm>
          <a:prstGeom prst="rect">
            <a:avLst/>
          </a:prstGeom>
          <a:noFill/>
          <a:ln/>
        </p:spPr>
        <p:txBody>
          <a:bodyPr wrap="square" lIns="0" tIns="0" rIns="0" bIns="0" rtlCol="0" anchor="ctr">
            <a:normAutofit fontScale="92500" lnSpcReduction="10000"/>
          </a:bodyPr>
          <a:lstStyle/>
          <a:p>
            <a:pPr marL="0" indent="0" algn="ctr">
              <a:buNone/>
            </a:pPr>
            <a:r>
              <a:rPr lang="en-US" sz="1040" b="1" dirty="0">
                <a:solidFill>
                  <a:srgbClr val="00245D"/>
                </a:solidFill>
                <a:latin typeface="Arial" pitchFamily="34" charset="0"/>
                <a:ea typeface="Arial" pitchFamily="34" charset="-122"/>
                <a:cs typeface="Arial" pitchFamily="34" charset="-120"/>
              </a:rPr>
              <a:t>Trade-off: Per-Group needs more scale metadata, but group size 128 is used to balance accuracy and overhead.</a:t>
            </a:r>
            <a:endParaRPr lang="en-US" sz="10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Motivation Takeaway: Why BitMoD Focuses on Per-Group</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25</a:t>
            </a:r>
            <a:endParaRPr lang="en-US" sz="1000" dirty="0"/>
          </a:p>
        </p:txBody>
      </p:sp>
      <p:sp>
        <p:nvSpPr>
          <p:cNvPr id="8" name="Text 5"/>
          <p:cNvSpPr/>
          <p:nvPr/>
        </p:nvSpPr>
        <p:spPr>
          <a:xfrm>
            <a:off x="1051560" y="1033273"/>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Granularity determines the accuracy–metadata trade-off before introducing BitMoD’s new data types.</a:t>
            </a:r>
            <a:endParaRPr lang="en-US" sz="1300" dirty="0"/>
          </a:p>
        </p:txBody>
      </p:sp>
      <p:sp>
        <p:nvSpPr>
          <p:cNvPr id="9" name="Shape 6"/>
          <p:cNvSpPr/>
          <p:nvPr/>
        </p:nvSpPr>
        <p:spPr>
          <a:xfrm>
            <a:off x="1093671" y="1600200"/>
            <a:ext cx="2971800" cy="1828800"/>
          </a:xfrm>
          <a:prstGeom prst="roundRect">
            <a:avLst>
              <a:gd name="adj" fmla="val 1905"/>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1258263" y="1719072"/>
            <a:ext cx="2642616" cy="145143"/>
          </a:xfrm>
          <a:prstGeom prst="rect">
            <a:avLst/>
          </a:prstGeom>
          <a:noFill/>
          <a:ln/>
        </p:spPr>
        <p:txBody>
          <a:bodyPr wrap="square" lIns="0" tIns="0" rIns="0" bIns="0" rtlCol="0" anchor="ctr">
            <a:normAutofit fontScale="92500" lnSpcReduction="20000"/>
          </a:bodyPr>
          <a:lstStyle/>
          <a:p>
            <a:pPr marL="0" indent="0">
              <a:buNone/>
            </a:pPr>
            <a:r>
              <a:rPr lang="en-US" sz="1200" b="1" dirty="0">
                <a:solidFill>
                  <a:srgbClr val="00245D"/>
                </a:solidFill>
                <a:latin typeface="Arial" pitchFamily="34" charset="0"/>
                <a:ea typeface="Arial" pitchFamily="34" charset="-122"/>
                <a:cs typeface="Arial" pitchFamily="34" charset="-120"/>
              </a:rPr>
              <a:t>Per-Tensor</a:t>
            </a:r>
            <a:endParaRPr lang="en-US" sz="1200" dirty="0"/>
          </a:p>
        </p:txBody>
      </p:sp>
      <p:sp>
        <p:nvSpPr>
          <p:cNvPr id="11" name="Text 8"/>
          <p:cNvSpPr/>
          <p:nvPr/>
        </p:nvSpPr>
        <p:spPr>
          <a:xfrm>
            <a:off x="1322271" y="2103120"/>
            <a:ext cx="2514600" cy="209006"/>
          </a:xfrm>
          <a:prstGeom prst="rect">
            <a:avLst/>
          </a:prstGeom>
          <a:noFill/>
          <a:ln/>
        </p:spPr>
        <p:txBody>
          <a:bodyPr wrap="square" lIns="0" tIns="0" rIns="0" bIns="0" rtlCol="0" anchor="ctr">
            <a:normAutofit/>
          </a:bodyPr>
          <a:lstStyle/>
          <a:p>
            <a:pPr marL="0" indent="0" algn="ctr">
              <a:buNone/>
            </a:pPr>
            <a:r>
              <a:rPr lang="en-US" sz="1180" b="1" dirty="0">
                <a:solidFill>
                  <a:srgbClr val="222222"/>
                </a:solidFill>
                <a:latin typeface="Arial" pitchFamily="34" charset="0"/>
                <a:ea typeface="Arial" pitchFamily="34" charset="-122"/>
                <a:cs typeface="Arial" pitchFamily="34" charset="-120"/>
              </a:rPr>
              <a:t>One Δ for whole tensor</a:t>
            </a:r>
            <a:endParaRPr lang="en-US" sz="1180" dirty="0"/>
          </a:p>
        </p:txBody>
      </p:sp>
      <p:sp>
        <p:nvSpPr>
          <p:cNvPr id="12" name="Shape 9"/>
          <p:cNvSpPr/>
          <p:nvPr/>
        </p:nvSpPr>
        <p:spPr>
          <a:xfrm>
            <a:off x="1505151" y="2448663"/>
            <a:ext cx="2148840" cy="0"/>
          </a:xfrm>
          <a:prstGeom prst="line">
            <a:avLst/>
          </a:prstGeom>
          <a:noFill/>
          <a:ln w="13970">
            <a:solidFill>
              <a:srgbClr val="00245D"/>
            </a:solidFill>
            <a:prstDash val="solid"/>
          </a:ln>
        </p:spPr>
        <p:txBody>
          <a:bodyPr/>
          <a:lstStyle/>
          <a:p>
            <a:endParaRPr lang="ko-KR" altLang="en-US"/>
          </a:p>
        </p:txBody>
      </p:sp>
      <p:sp>
        <p:nvSpPr>
          <p:cNvPr id="13" name="Text 10"/>
          <p:cNvSpPr/>
          <p:nvPr/>
        </p:nvSpPr>
        <p:spPr>
          <a:xfrm>
            <a:off x="1322271" y="2562719"/>
            <a:ext cx="2514600" cy="243840"/>
          </a:xfrm>
          <a:prstGeom prst="rect">
            <a:avLst/>
          </a:prstGeom>
          <a:noFill/>
          <a:ln/>
        </p:spPr>
        <p:txBody>
          <a:bodyPr wrap="square" lIns="0" tIns="0" rIns="0" bIns="0" rtlCol="0" anchor="ctr">
            <a:normAutofit/>
          </a:bodyPr>
          <a:lstStyle/>
          <a:p>
            <a:pPr marL="0" indent="0" algn="ctr">
              <a:buNone/>
            </a:pPr>
            <a:r>
              <a:rPr lang="en-US" sz="1120" b="1" dirty="0">
                <a:solidFill>
                  <a:srgbClr val="C00000"/>
                </a:solidFill>
                <a:latin typeface="Arial" pitchFamily="34" charset="0"/>
                <a:ea typeface="Arial" pitchFamily="34" charset="-122"/>
                <a:cs typeface="Arial" pitchFamily="34" charset="-120"/>
              </a:rPr>
              <a:t>Outlier affects every weight</a:t>
            </a:r>
            <a:endParaRPr lang="en-US" sz="1120" dirty="0"/>
          </a:p>
        </p:txBody>
      </p:sp>
      <p:sp>
        <p:nvSpPr>
          <p:cNvPr id="14" name="Text 11"/>
          <p:cNvSpPr/>
          <p:nvPr/>
        </p:nvSpPr>
        <p:spPr>
          <a:xfrm>
            <a:off x="1322271" y="2987430"/>
            <a:ext cx="2514600" cy="243840"/>
          </a:xfrm>
          <a:prstGeom prst="rect">
            <a:avLst/>
          </a:prstGeom>
          <a:noFill/>
          <a:ln/>
        </p:spPr>
        <p:txBody>
          <a:bodyPr wrap="square" lIns="0" tIns="0" rIns="0" bIns="0" rtlCol="0" anchor="ctr">
            <a:normAutofit/>
          </a:bodyPr>
          <a:lstStyle/>
          <a:p>
            <a:pPr marL="0" indent="0" algn="ctr">
              <a:buNone/>
            </a:pPr>
            <a:r>
              <a:rPr lang="en-US" sz="1080" dirty="0">
                <a:solidFill>
                  <a:srgbClr val="4A4A4A"/>
                </a:solidFill>
                <a:latin typeface="Arial" pitchFamily="34" charset="0"/>
                <a:ea typeface="Arial" pitchFamily="34" charset="-122"/>
                <a:cs typeface="Arial" pitchFamily="34" charset="-120"/>
              </a:rPr>
              <a:t>Low metadata, low accuracy</a:t>
            </a:r>
            <a:endParaRPr lang="en-US" sz="1080" dirty="0"/>
          </a:p>
        </p:txBody>
      </p:sp>
      <p:sp>
        <p:nvSpPr>
          <p:cNvPr id="15" name="Shape 12"/>
          <p:cNvSpPr/>
          <p:nvPr/>
        </p:nvSpPr>
        <p:spPr>
          <a:xfrm>
            <a:off x="4476951" y="1600200"/>
            <a:ext cx="2971800" cy="1828800"/>
          </a:xfrm>
          <a:prstGeom prst="roundRect">
            <a:avLst>
              <a:gd name="adj" fmla="val 1905"/>
            </a:avLst>
          </a:prstGeom>
          <a:solidFill>
            <a:srgbClr val="F3F8FF"/>
          </a:solidFill>
          <a:ln w="13335">
            <a:solidFill>
              <a:srgbClr val="9EADCC"/>
            </a:solidFill>
            <a:prstDash val="solid"/>
          </a:ln>
        </p:spPr>
        <p:txBody>
          <a:bodyPr/>
          <a:lstStyle/>
          <a:p>
            <a:endParaRPr lang="ko-KR" altLang="en-US"/>
          </a:p>
        </p:txBody>
      </p:sp>
      <p:sp>
        <p:nvSpPr>
          <p:cNvPr id="16" name="Text 13"/>
          <p:cNvSpPr/>
          <p:nvPr/>
        </p:nvSpPr>
        <p:spPr>
          <a:xfrm>
            <a:off x="4641543" y="1719072"/>
            <a:ext cx="2642616" cy="145143"/>
          </a:xfrm>
          <a:prstGeom prst="rect">
            <a:avLst/>
          </a:prstGeom>
          <a:noFill/>
          <a:ln/>
        </p:spPr>
        <p:txBody>
          <a:bodyPr wrap="square" lIns="0" tIns="0" rIns="0" bIns="0" rtlCol="0" anchor="ctr">
            <a:normAutofit fontScale="92500" lnSpcReduction="20000"/>
          </a:bodyPr>
          <a:lstStyle/>
          <a:p>
            <a:pPr marL="0" indent="0">
              <a:buNone/>
            </a:pPr>
            <a:r>
              <a:rPr lang="en-US" sz="1200" b="1" dirty="0">
                <a:solidFill>
                  <a:srgbClr val="00245D"/>
                </a:solidFill>
                <a:latin typeface="Arial" pitchFamily="34" charset="0"/>
                <a:ea typeface="Arial" pitchFamily="34" charset="-122"/>
                <a:cs typeface="Arial" pitchFamily="34" charset="-120"/>
              </a:rPr>
              <a:t>Per-Channel</a:t>
            </a:r>
            <a:endParaRPr lang="en-US" sz="1200" dirty="0"/>
          </a:p>
        </p:txBody>
      </p:sp>
      <p:sp>
        <p:nvSpPr>
          <p:cNvPr id="17" name="Text 14"/>
          <p:cNvSpPr/>
          <p:nvPr/>
        </p:nvSpPr>
        <p:spPr>
          <a:xfrm>
            <a:off x="4705551" y="2103120"/>
            <a:ext cx="2514600" cy="209006"/>
          </a:xfrm>
          <a:prstGeom prst="rect">
            <a:avLst/>
          </a:prstGeom>
          <a:noFill/>
          <a:ln/>
        </p:spPr>
        <p:txBody>
          <a:bodyPr wrap="square" lIns="0" tIns="0" rIns="0" bIns="0" rtlCol="0" anchor="ctr">
            <a:normAutofit/>
          </a:bodyPr>
          <a:lstStyle/>
          <a:p>
            <a:pPr marL="0" indent="0" algn="ctr">
              <a:buNone/>
            </a:pPr>
            <a:r>
              <a:rPr lang="en-US" sz="1180" b="1" dirty="0">
                <a:solidFill>
                  <a:srgbClr val="222222"/>
                </a:solidFill>
                <a:latin typeface="Arial" pitchFamily="34" charset="0"/>
                <a:ea typeface="Arial" pitchFamily="34" charset="-122"/>
                <a:cs typeface="Arial" pitchFamily="34" charset="-120"/>
              </a:rPr>
              <a:t>One Δ per output channel</a:t>
            </a:r>
            <a:endParaRPr lang="en-US" sz="1180" dirty="0"/>
          </a:p>
        </p:txBody>
      </p:sp>
      <p:sp>
        <p:nvSpPr>
          <p:cNvPr id="18" name="Shape 15"/>
          <p:cNvSpPr/>
          <p:nvPr/>
        </p:nvSpPr>
        <p:spPr>
          <a:xfrm>
            <a:off x="4888431" y="2448663"/>
            <a:ext cx="2148840" cy="0"/>
          </a:xfrm>
          <a:prstGeom prst="line">
            <a:avLst/>
          </a:prstGeom>
          <a:noFill/>
          <a:ln w="13970">
            <a:solidFill>
              <a:srgbClr val="00245D"/>
            </a:solidFill>
            <a:prstDash val="solid"/>
          </a:ln>
        </p:spPr>
        <p:txBody>
          <a:bodyPr/>
          <a:lstStyle/>
          <a:p>
            <a:endParaRPr lang="ko-KR" altLang="en-US"/>
          </a:p>
        </p:txBody>
      </p:sp>
      <p:sp>
        <p:nvSpPr>
          <p:cNvPr id="19" name="Text 16"/>
          <p:cNvSpPr/>
          <p:nvPr/>
        </p:nvSpPr>
        <p:spPr>
          <a:xfrm>
            <a:off x="4705551" y="2562719"/>
            <a:ext cx="2514600" cy="243840"/>
          </a:xfrm>
          <a:prstGeom prst="rect">
            <a:avLst/>
          </a:prstGeom>
          <a:noFill/>
          <a:ln/>
        </p:spPr>
        <p:txBody>
          <a:bodyPr wrap="square" lIns="0" tIns="0" rIns="0" bIns="0" rtlCol="0" anchor="ctr">
            <a:normAutofit/>
          </a:bodyPr>
          <a:lstStyle/>
          <a:p>
            <a:pPr marL="0" indent="0" algn="ctr">
              <a:buNone/>
            </a:pPr>
            <a:r>
              <a:rPr lang="en-US" sz="1120" b="1" dirty="0">
                <a:solidFill>
                  <a:srgbClr val="C00000"/>
                </a:solidFill>
                <a:latin typeface="Arial" pitchFamily="34" charset="0"/>
                <a:ea typeface="Arial" pitchFamily="34" charset="-122"/>
                <a:cs typeface="Arial" pitchFamily="34" charset="-120"/>
              </a:rPr>
              <a:t>Outlier affects the same channel</a:t>
            </a:r>
            <a:endParaRPr lang="en-US" sz="1120" dirty="0"/>
          </a:p>
        </p:txBody>
      </p:sp>
      <p:sp>
        <p:nvSpPr>
          <p:cNvPr id="20" name="Text 17"/>
          <p:cNvSpPr/>
          <p:nvPr/>
        </p:nvSpPr>
        <p:spPr>
          <a:xfrm>
            <a:off x="4705551" y="2987430"/>
            <a:ext cx="2514600" cy="243840"/>
          </a:xfrm>
          <a:prstGeom prst="rect">
            <a:avLst/>
          </a:prstGeom>
          <a:noFill/>
          <a:ln/>
        </p:spPr>
        <p:txBody>
          <a:bodyPr wrap="square" lIns="0" tIns="0" rIns="0" bIns="0" rtlCol="0" anchor="ctr">
            <a:normAutofit/>
          </a:bodyPr>
          <a:lstStyle/>
          <a:p>
            <a:pPr marL="0" indent="0" algn="ctr">
              <a:buNone/>
            </a:pPr>
            <a:r>
              <a:rPr lang="en-US" sz="1080" dirty="0">
                <a:solidFill>
                  <a:srgbClr val="4A4A4A"/>
                </a:solidFill>
                <a:latin typeface="Arial" pitchFamily="34" charset="0"/>
                <a:ea typeface="Arial" pitchFamily="34" charset="-122"/>
                <a:cs typeface="Arial" pitchFamily="34" charset="-120"/>
              </a:rPr>
              <a:t>Middle ground</a:t>
            </a:r>
            <a:endParaRPr lang="en-US" sz="1080" dirty="0"/>
          </a:p>
        </p:txBody>
      </p:sp>
      <p:sp>
        <p:nvSpPr>
          <p:cNvPr id="21" name="Shape 18"/>
          <p:cNvSpPr/>
          <p:nvPr/>
        </p:nvSpPr>
        <p:spPr>
          <a:xfrm>
            <a:off x="7860231" y="1600200"/>
            <a:ext cx="2971800" cy="1828800"/>
          </a:xfrm>
          <a:prstGeom prst="roundRect">
            <a:avLst>
              <a:gd name="adj" fmla="val 1905"/>
            </a:avLst>
          </a:prstGeom>
          <a:solidFill>
            <a:srgbClr val="E2F0D9"/>
          </a:solidFill>
          <a:ln w="13335">
            <a:solidFill>
              <a:srgbClr val="548235"/>
            </a:solidFill>
            <a:prstDash val="solid"/>
          </a:ln>
        </p:spPr>
        <p:txBody>
          <a:bodyPr/>
          <a:lstStyle/>
          <a:p>
            <a:endParaRPr lang="ko-KR" altLang="en-US"/>
          </a:p>
        </p:txBody>
      </p:sp>
      <p:sp>
        <p:nvSpPr>
          <p:cNvPr id="22" name="Text 19"/>
          <p:cNvSpPr/>
          <p:nvPr/>
        </p:nvSpPr>
        <p:spPr>
          <a:xfrm>
            <a:off x="8024823" y="1719072"/>
            <a:ext cx="2642616" cy="145143"/>
          </a:xfrm>
          <a:prstGeom prst="rect">
            <a:avLst/>
          </a:prstGeom>
          <a:noFill/>
          <a:ln/>
        </p:spPr>
        <p:txBody>
          <a:bodyPr wrap="square" lIns="0" tIns="0" rIns="0" bIns="0" rtlCol="0" anchor="ctr">
            <a:normAutofit fontScale="92500" lnSpcReduction="20000"/>
          </a:bodyPr>
          <a:lstStyle/>
          <a:p>
            <a:pPr marL="0" indent="0">
              <a:buNone/>
            </a:pPr>
            <a:r>
              <a:rPr lang="en-US" sz="1200" b="1" dirty="0">
                <a:solidFill>
                  <a:srgbClr val="00245D"/>
                </a:solidFill>
                <a:latin typeface="Arial" pitchFamily="34" charset="0"/>
                <a:ea typeface="Arial" pitchFamily="34" charset="-122"/>
                <a:cs typeface="Arial" pitchFamily="34" charset="-120"/>
              </a:rPr>
              <a:t>Per-Group</a:t>
            </a:r>
            <a:endParaRPr lang="en-US" sz="1200" dirty="0"/>
          </a:p>
        </p:txBody>
      </p:sp>
      <p:sp>
        <p:nvSpPr>
          <p:cNvPr id="23" name="Text 20"/>
          <p:cNvSpPr/>
          <p:nvPr/>
        </p:nvSpPr>
        <p:spPr>
          <a:xfrm>
            <a:off x="8088831" y="2103120"/>
            <a:ext cx="2514600" cy="209006"/>
          </a:xfrm>
          <a:prstGeom prst="rect">
            <a:avLst/>
          </a:prstGeom>
          <a:noFill/>
          <a:ln/>
        </p:spPr>
        <p:txBody>
          <a:bodyPr wrap="square" lIns="0" tIns="0" rIns="0" bIns="0" rtlCol="0" anchor="ctr">
            <a:normAutofit/>
          </a:bodyPr>
          <a:lstStyle/>
          <a:p>
            <a:pPr marL="0" indent="0" algn="ctr">
              <a:buNone/>
            </a:pPr>
            <a:r>
              <a:rPr lang="en-US" sz="1180" b="1" dirty="0">
                <a:solidFill>
                  <a:srgbClr val="222222"/>
                </a:solidFill>
                <a:latin typeface="Arial" pitchFamily="34" charset="0"/>
                <a:ea typeface="Arial" pitchFamily="34" charset="-122"/>
                <a:cs typeface="Arial" pitchFamily="34" charset="-120"/>
              </a:rPr>
              <a:t>One Δ per small group</a:t>
            </a:r>
            <a:endParaRPr lang="en-US" sz="1180" dirty="0"/>
          </a:p>
        </p:txBody>
      </p:sp>
      <p:sp>
        <p:nvSpPr>
          <p:cNvPr id="24" name="Shape 21"/>
          <p:cNvSpPr/>
          <p:nvPr/>
        </p:nvSpPr>
        <p:spPr>
          <a:xfrm>
            <a:off x="8271711" y="2448663"/>
            <a:ext cx="2148840" cy="0"/>
          </a:xfrm>
          <a:prstGeom prst="line">
            <a:avLst/>
          </a:prstGeom>
          <a:noFill/>
          <a:ln w="13970">
            <a:solidFill>
              <a:srgbClr val="548235"/>
            </a:solidFill>
            <a:prstDash val="solid"/>
          </a:ln>
        </p:spPr>
        <p:txBody>
          <a:bodyPr/>
          <a:lstStyle/>
          <a:p>
            <a:endParaRPr lang="ko-KR" altLang="en-US"/>
          </a:p>
        </p:txBody>
      </p:sp>
      <p:sp>
        <p:nvSpPr>
          <p:cNvPr id="25" name="Text 22"/>
          <p:cNvSpPr/>
          <p:nvPr/>
        </p:nvSpPr>
        <p:spPr>
          <a:xfrm>
            <a:off x="8088831" y="2562719"/>
            <a:ext cx="2514600" cy="243840"/>
          </a:xfrm>
          <a:prstGeom prst="rect">
            <a:avLst/>
          </a:prstGeom>
          <a:noFill/>
          <a:ln/>
        </p:spPr>
        <p:txBody>
          <a:bodyPr wrap="square" lIns="0" tIns="0" rIns="0" bIns="0" rtlCol="0" anchor="ctr">
            <a:normAutofit/>
          </a:bodyPr>
          <a:lstStyle/>
          <a:p>
            <a:pPr marL="0" indent="0" algn="ctr">
              <a:buNone/>
            </a:pPr>
            <a:r>
              <a:rPr lang="en-US" sz="1120" b="1" dirty="0">
                <a:solidFill>
                  <a:srgbClr val="548235"/>
                </a:solidFill>
                <a:latin typeface="Arial" pitchFamily="34" charset="0"/>
                <a:ea typeface="Arial" pitchFamily="34" charset="-122"/>
                <a:cs typeface="Arial" pitchFamily="34" charset="-120"/>
              </a:rPr>
              <a:t>Outlier is localized</a:t>
            </a:r>
            <a:endParaRPr lang="en-US" sz="1120" dirty="0"/>
          </a:p>
        </p:txBody>
      </p:sp>
      <p:sp>
        <p:nvSpPr>
          <p:cNvPr id="26" name="Text 23"/>
          <p:cNvSpPr/>
          <p:nvPr/>
        </p:nvSpPr>
        <p:spPr>
          <a:xfrm>
            <a:off x="8088831" y="2987430"/>
            <a:ext cx="2514600" cy="243840"/>
          </a:xfrm>
          <a:prstGeom prst="rect">
            <a:avLst/>
          </a:prstGeom>
          <a:noFill/>
          <a:ln/>
        </p:spPr>
        <p:txBody>
          <a:bodyPr wrap="square" lIns="0" tIns="0" rIns="0" bIns="0" rtlCol="0" anchor="ctr">
            <a:normAutofit/>
          </a:bodyPr>
          <a:lstStyle/>
          <a:p>
            <a:pPr marL="0" indent="0" algn="ctr">
              <a:buNone/>
            </a:pPr>
            <a:r>
              <a:rPr lang="en-US" sz="1080" dirty="0">
                <a:solidFill>
                  <a:srgbClr val="4A4A4A"/>
                </a:solidFill>
                <a:latin typeface="Arial" pitchFamily="34" charset="0"/>
                <a:ea typeface="Arial" pitchFamily="34" charset="-122"/>
                <a:cs typeface="Arial" pitchFamily="34" charset="-120"/>
              </a:rPr>
              <a:t>Higher metadata, best accuracy</a:t>
            </a:r>
            <a:endParaRPr lang="en-US" sz="1080" dirty="0"/>
          </a:p>
        </p:txBody>
      </p:sp>
      <p:sp>
        <p:nvSpPr>
          <p:cNvPr id="27" name="Shape 24"/>
          <p:cNvSpPr/>
          <p:nvPr/>
        </p:nvSpPr>
        <p:spPr>
          <a:xfrm>
            <a:off x="975762" y="5618504"/>
            <a:ext cx="10058400" cy="777240"/>
          </a:xfrm>
          <a:prstGeom prst="roundRect">
            <a:avLst>
              <a:gd name="adj" fmla="val 9412"/>
            </a:avLst>
          </a:prstGeom>
          <a:solidFill>
            <a:srgbClr val="EAF2FF"/>
          </a:solidFill>
          <a:ln w="13970">
            <a:solidFill>
              <a:srgbClr val="7EA6E0"/>
            </a:solidFill>
            <a:prstDash val="solid"/>
          </a:ln>
        </p:spPr>
        <p:txBody>
          <a:bodyPr/>
          <a:lstStyle/>
          <a:p>
            <a:endParaRPr lang="ko-KR" altLang="en-US"/>
          </a:p>
        </p:txBody>
      </p:sp>
      <p:sp>
        <p:nvSpPr>
          <p:cNvPr id="28" name="Text 25"/>
          <p:cNvSpPr/>
          <p:nvPr/>
        </p:nvSpPr>
        <p:spPr>
          <a:xfrm>
            <a:off x="1250082" y="5856248"/>
            <a:ext cx="9509760" cy="228600"/>
          </a:xfrm>
          <a:prstGeom prst="rect">
            <a:avLst/>
          </a:prstGeom>
          <a:noFill/>
          <a:ln/>
        </p:spPr>
        <p:txBody>
          <a:bodyPr wrap="square" lIns="0" tIns="0" rIns="0" bIns="0" rtlCol="0" anchor="ctr">
            <a:normAutofit fontScale="92500"/>
          </a:bodyPr>
          <a:lstStyle/>
          <a:p>
            <a:pPr marL="0" indent="0" algn="ctr">
              <a:buNone/>
            </a:pPr>
            <a:r>
              <a:rPr lang="en-US" sz="1300" b="1" dirty="0">
                <a:solidFill>
                  <a:srgbClr val="00245D"/>
                </a:solidFill>
                <a:latin typeface="Arial" pitchFamily="34" charset="0"/>
                <a:ea typeface="Arial" pitchFamily="34" charset="-122"/>
                <a:cs typeface="Arial" pitchFamily="34" charset="-120"/>
              </a:rPr>
              <a:t>BitMoD direction: use Per-Group Quantization for accuracy, then design hardware to make per-group dequantization efficient.</a:t>
            </a:r>
            <a:endParaRPr lang="en-US" sz="1300" dirty="0"/>
          </a:p>
        </p:txBody>
      </p:sp>
      <p:pic>
        <p:nvPicPr>
          <p:cNvPr id="33" name="그림 32">
            <a:extLst>
              <a:ext uri="{FF2B5EF4-FFF2-40B4-BE49-F238E27FC236}">
                <a16:creationId xmlns:a16="http://schemas.microsoft.com/office/drawing/2014/main" id="{FA91FCD5-A2FF-4AF5-A1E5-056F9DCEA473}"/>
              </a:ext>
            </a:extLst>
          </p:cNvPr>
          <p:cNvPicPr>
            <a:picLocks noChangeAspect="1"/>
          </p:cNvPicPr>
          <p:nvPr/>
        </p:nvPicPr>
        <p:blipFill>
          <a:blip r:embed="rId4"/>
          <a:srcRect b="30821"/>
          <a:stretch>
            <a:fillRect/>
          </a:stretch>
        </p:blipFill>
        <p:spPr>
          <a:xfrm>
            <a:off x="3254937" y="3469014"/>
            <a:ext cx="5146479" cy="205860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Quantization Data Type Matters: Same 4-bit, Different Error</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26</a:t>
            </a:r>
            <a:endParaRPr lang="en-US" sz="1000" dirty="0"/>
          </a:p>
        </p:txBody>
      </p:sp>
      <p:sp>
        <p:nvSpPr>
          <p:cNvPr id="8" name="Text 5"/>
          <p:cNvSpPr/>
          <p:nvPr/>
        </p:nvSpPr>
        <p:spPr>
          <a:xfrm>
            <a:off x="594360" y="1024128"/>
            <a:ext cx="10972800" cy="256032"/>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Even with the same 4-bit precision, the data type changes quantization levels, error pattern, and perplexity.</a:t>
            </a:r>
            <a:endParaRPr lang="en-US" sz="1300" dirty="0"/>
          </a:p>
        </p:txBody>
      </p:sp>
      <p:sp>
        <p:nvSpPr>
          <p:cNvPr id="9" name="Shape 6"/>
          <p:cNvSpPr/>
          <p:nvPr/>
        </p:nvSpPr>
        <p:spPr>
          <a:xfrm>
            <a:off x="685800" y="1508760"/>
            <a:ext cx="2331720" cy="1965960"/>
          </a:xfrm>
          <a:prstGeom prst="roundRect">
            <a:avLst>
              <a:gd name="adj" fmla="val 2791"/>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627632"/>
            <a:ext cx="20025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INT4-Sym</a:t>
            </a:r>
            <a:endParaRPr lang="en-US" sz="1200" dirty="0"/>
          </a:p>
        </p:txBody>
      </p:sp>
      <p:sp>
        <p:nvSpPr>
          <p:cNvPr id="11" name="Text 8"/>
          <p:cNvSpPr/>
          <p:nvPr/>
        </p:nvSpPr>
        <p:spPr>
          <a:xfrm>
            <a:off x="850392" y="1993392"/>
            <a:ext cx="2011680" cy="502920"/>
          </a:xfrm>
          <a:prstGeom prst="rect">
            <a:avLst/>
          </a:prstGeom>
          <a:noFill/>
          <a:ln/>
        </p:spPr>
        <p:txBody>
          <a:bodyPr wrap="square" lIns="254" tIns="254" rIns="254" bIns="254" rtlCol="0" anchor="ctr">
            <a:normAutofit/>
          </a:bodyPr>
          <a:lstStyle/>
          <a:p>
            <a:pPr marL="0" indent="0" algn="ctr">
              <a:buNone/>
            </a:pPr>
            <a:r>
              <a:rPr lang="en-US" sz="1100" dirty="0">
                <a:solidFill>
                  <a:srgbClr val="222222"/>
                </a:solidFill>
                <a:latin typeface="Arial" pitchFamily="34" charset="0"/>
                <a:ea typeface="Arial" pitchFamily="34" charset="-122"/>
                <a:cs typeface="Arial" pitchFamily="34" charset="-120"/>
              </a:rPr>
              <a:t>Zero-centered integer range</a:t>
            </a:r>
            <a:endParaRPr lang="en-US" sz="1100" dirty="0"/>
          </a:p>
          <a:p>
            <a:pPr marL="0" indent="0" algn="ctr">
              <a:buNone/>
            </a:pPr>
            <a:r>
              <a:rPr lang="en-US" sz="1100" dirty="0">
                <a:solidFill>
                  <a:srgbClr val="222222"/>
                </a:solidFill>
                <a:latin typeface="Arial" pitchFamily="34" charset="0"/>
                <a:ea typeface="Arial" pitchFamily="34" charset="-122"/>
                <a:cs typeface="Arial" pitchFamily="34" charset="-120"/>
              </a:rPr>
              <a:t>Simple, but rigid</a:t>
            </a:r>
            <a:endParaRPr lang="en-US" sz="1100" dirty="0"/>
          </a:p>
        </p:txBody>
      </p:sp>
      <p:sp>
        <p:nvSpPr>
          <p:cNvPr id="12" name="Text 9"/>
          <p:cNvSpPr/>
          <p:nvPr/>
        </p:nvSpPr>
        <p:spPr>
          <a:xfrm>
            <a:off x="850392" y="2761488"/>
            <a:ext cx="2011680" cy="201168"/>
          </a:xfrm>
          <a:prstGeom prst="rect">
            <a:avLst/>
          </a:prstGeom>
          <a:noFill/>
          <a:ln/>
        </p:spPr>
        <p:txBody>
          <a:bodyPr wrap="square" lIns="0" tIns="0" rIns="0" bIns="0" rtlCol="0" anchor="ctr"/>
          <a:lstStyle/>
          <a:p>
            <a:pPr marL="0" indent="0" algn="ctr">
              <a:buNone/>
            </a:pPr>
            <a:r>
              <a:rPr lang="en-US" sz="970" b="1" dirty="0">
                <a:solidFill>
                  <a:srgbClr val="00245D"/>
                </a:solidFill>
                <a:latin typeface="Courier New" pitchFamily="34" charset="0"/>
                <a:ea typeface="Courier New" pitchFamily="34" charset="-122"/>
                <a:cs typeface="Courier New" pitchFamily="34" charset="-120"/>
              </a:rPr>
              <a:t>… -2  -1   0  +1  +2 …</a:t>
            </a:r>
            <a:endParaRPr lang="en-US" sz="970" dirty="0"/>
          </a:p>
        </p:txBody>
      </p:sp>
      <p:sp>
        <p:nvSpPr>
          <p:cNvPr id="13" name="Shape 10"/>
          <p:cNvSpPr/>
          <p:nvPr/>
        </p:nvSpPr>
        <p:spPr>
          <a:xfrm>
            <a:off x="3474720" y="1508760"/>
            <a:ext cx="2331720" cy="1965960"/>
          </a:xfrm>
          <a:prstGeom prst="roundRect">
            <a:avLst>
              <a:gd name="adj" fmla="val 2791"/>
            </a:avLst>
          </a:prstGeom>
          <a:solidFill>
            <a:srgbClr val="FFFDF2"/>
          </a:solidFill>
          <a:ln w="13335">
            <a:solidFill>
              <a:srgbClr val="D6B656"/>
            </a:solidFill>
            <a:prstDash val="solid"/>
          </a:ln>
        </p:spPr>
        <p:txBody>
          <a:bodyPr/>
          <a:lstStyle/>
          <a:p>
            <a:endParaRPr lang="ko-KR" altLang="en-US"/>
          </a:p>
        </p:txBody>
      </p:sp>
      <p:sp>
        <p:nvSpPr>
          <p:cNvPr id="14" name="Text 11"/>
          <p:cNvSpPr/>
          <p:nvPr/>
        </p:nvSpPr>
        <p:spPr>
          <a:xfrm>
            <a:off x="3639312" y="1627632"/>
            <a:ext cx="20025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INT4-Asym</a:t>
            </a:r>
            <a:endParaRPr lang="en-US" sz="1200" dirty="0"/>
          </a:p>
        </p:txBody>
      </p:sp>
      <p:sp>
        <p:nvSpPr>
          <p:cNvPr id="15" name="Text 12"/>
          <p:cNvSpPr/>
          <p:nvPr/>
        </p:nvSpPr>
        <p:spPr>
          <a:xfrm>
            <a:off x="3639312" y="1993392"/>
            <a:ext cx="2011680" cy="502920"/>
          </a:xfrm>
          <a:prstGeom prst="rect">
            <a:avLst/>
          </a:prstGeom>
          <a:noFill/>
          <a:ln/>
        </p:spPr>
        <p:txBody>
          <a:bodyPr wrap="square" lIns="254" tIns="254" rIns="254" bIns="254" rtlCol="0" anchor="ctr">
            <a:normAutofit/>
          </a:bodyPr>
          <a:lstStyle/>
          <a:p>
            <a:pPr marL="0" indent="0" algn="ctr">
              <a:buNone/>
            </a:pPr>
            <a:r>
              <a:rPr lang="en-US" sz="1100" dirty="0">
                <a:solidFill>
                  <a:srgbClr val="222222"/>
                </a:solidFill>
                <a:latin typeface="Arial" pitchFamily="34" charset="0"/>
                <a:ea typeface="Arial" pitchFamily="34" charset="-122"/>
                <a:cs typeface="Arial" pitchFamily="34" charset="-120"/>
              </a:rPr>
              <a:t>Integer + zero-point</a:t>
            </a:r>
            <a:endParaRPr lang="en-US" sz="1100" dirty="0"/>
          </a:p>
          <a:p>
            <a:pPr marL="0" indent="0" algn="ctr">
              <a:buNone/>
            </a:pPr>
            <a:r>
              <a:rPr lang="en-US" sz="1100" dirty="0">
                <a:solidFill>
                  <a:srgbClr val="222222"/>
                </a:solidFill>
                <a:latin typeface="Arial" pitchFamily="34" charset="0"/>
                <a:ea typeface="Arial" pitchFamily="34" charset="-122"/>
                <a:cs typeface="Arial" pitchFamily="34" charset="-120"/>
              </a:rPr>
              <a:t>Better for shifted range</a:t>
            </a:r>
            <a:endParaRPr lang="en-US" sz="1100" dirty="0"/>
          </a:p>
        </p:txBody>
      </p:sp>
      <p:sp>
        <p:nvSpPr>
          <p:cNvPr id="16" name="Text 13"/>
          <p:cNvSpPr/>
          <p:nvPr/>
        </p:nvSpPr>
        <p:spPr>
          <a:xfrm>
            <a:off x="3639312" y="2761488"/>
            <a:ext cx="2011680" cy="201168"/>
          </a:xfrm>
          <a:prstGeom prst="rect">
            <a:avLst/>
          </a:prstGeom>
          <a:noFill/>
          <a:ln/>
        </p:spPr>
        <p:txBody>
          <a:bodyPr wrap="square" lIns="0" tIns="0" rIns="0" bIns="0" rtlCol="0" anchor="ctr"/>
          <a:lstStyle/>
          <a:p>
            <a:pPr marL="0" indent="0" algn="ctr">
              <a:buNone/>
            </a:pPr>
            <a:r>
              <a:rPr lang="en-US" sz="970" b="1" dirty="0">
                <a:solidFill>
                  <a:srgbClr val="00245D"/>
                </a:solidFill>
                <a:latin typeface="Arial" pitchFamily="34" charset="0"/>
                <a:ea typeface="Arial" pitchFamily="34" charset="-122"/>
                <a:cs typeface="Arial" pitchFamily="34" charset="-120"/>
              </a:rPr>
              <a:t>zero-point z shifts range</a:t>
            </a:r>
            <a:endParaRPr lang="en-US" sz="970" dirty="0"/>
          </a:p>
        </p:txBody>
      </p:sp>
      <p:sp>
        <p:nvSpPr>
          <p:cNvPr id="17" name="Shape 14"/>
          <p:cNvSpPr/>
          <p:nvPr/>
        </p:nvSpPr>
        <p:spPr>
          <a:xfrm>
            <a:off x="6263640" y="1508760"/>
            <a:ext cx="2331720" cy="1965960"/>
          </a:xfrm>
          <a:prstGeom prst="roundRect">
            <a:avLst>
              <a:gd name="adj" fmla="val 2791"/>
            </a:avLst>
          </a:prstGeom>
          <a:solidFill>
            <a:srgbClr val="E2F0D9"/>
          </a:solidFill>
          <a:ln w="13335">
            <a:solidFill>
              <a:srgbClr val="548235"/>
            </a:solidFill>
            <a:prstDash val="solid"/>
          </a:ln>
        </p:spPr>
        <p:txBody>
          <a:bodyPr/>
          <a:lstStyle/>
          <a:p>
            <a:endParaRPr lang="ko-KR" altLang="en-US"/>
          </a:p>
        </p:txBody>
      </p:sp>
      <p:sp>
        <p:nvSpPr>
          <p:cNvPr id="18" name="Text 15"/>
          <p:cNvSpPr/>
          <p:nvPr/>
        </p:nvSpPr>
        <p:spPr>
          <a:xfrm>
            <a:off x="6428232" y="1627632"/>
            <a:ext cx="20025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FP4</a:t>
            </a:r>
            <a:endParaRPr lang="en-US" sz="1200" dirty="0"/>
          </a:p>
        </p:txBody>
      </p:sp>
      <p:sp>
        <p:nvSpPr>
          <p:cNvPr id="19" name="Text 16"/>
          <p:cNvSpPr/>
          <p:nvPr/>
        </p:nvSpPr>
        <p:spPr>
          <a:xfrm>
            <a:off x="6428232" y="1993392"/>
            <a:ext cx="2011680" cy="502920"/>
          </a:xfrm>
          <a:prstGeom prst="rect">
            <a:avLst/>
          </a:prstGeom>
          <a:noFill/>
          <a:ln/>
        </p:spPr>
        <p:txBody>
          <a:bodyPr wrap="square" lIns="254" tIns="254" rIns="254" bIns="254" rtlCol="0" anchor="ctr">
            <a:normAutofit/>
          </a:bodyPr>
          <a:lstStyle/>
          <a:p>
            <a:pPr marL="0" indent="0" algn="ctr">
              <a:buNone/>
            </a:pPr>
            <a:r>
              <a:rPr lang="en-US" sz="1100" dirty="0">
                <a:solidFill>
                  <a:srgbClr val="222222"/>
                </a:solidFill>
                <a:latin typeface="Arial" pitchFamily="34" charset="0"/>
                <a:ea typeface="Arial" pitchFamily="34" charset="-122"/>
                <a:cs typeface="Arial" pitchFamily="34" charset="-120"/>
              </a:rPr>
              <a:t>Floating-point levels</a:t>
            </a:r>
            <a:endParaRPr lang="en-US" sz="1100" dirty="0"/>
          </a:p>
          <a:p>
            <a:pPr marL="0" indent="0" algn="ctr">
              <a:buNone/>
            </a:pPr>
            <a:r>
              <a:rPr lang="en-US" sz="1100" dirty="0">
                <a:solidFill>
                  <a:srgbClr val="222222"/>
                </a:solidFill>
                <a:latin typeface="Arial" pitchFamily="34" charset="0"/>
                <a:ea typeface="Arial" pitchFamily="34" charset="-122"/>
                <a:cs typeface="Arial" pitchFamily="34" charset="-120"/>
              </a:rPr>
              <a:t>Dense near zero</a:t>
            </a:r>
            <a:endParaRPr lang="en-US" sz="1100" dirty="0"/>
          </a:p>
        </p:txBody>
      </p:sp>
      <p:sp>
        <p:nvSpPr>
          <p:cNvPr id="20" name="Text 17"/>
          <p:cNvSpPr/>
          <p:nvPr/>
        </p:nvSpPr>
        <p:spPr>
          <a:xfrm>
            <a:off x="6428232" y="2761488"/>
            <a:ext cx="2011680" cy="201168"/>
          </a:xfrm>
          <a:prstGeom prst="rect">
            <a:avLst/>
          </a:prstGeom>
          <a:noFill/>
          <a:ln/>
        </p:spPr>
        <p:txBody>
          <a:bodyPr wrap="square" lIns="0" tIns="0" rIns="0" bIns="0" rtlCol="0" anchor="ctr">
            <a:normAutofit/>
          </a:bodyPr>
          <a:lstStyle/>
          <a:p>
            <a:pPr marL="0" indent="0" algn="ctr">
              <a:buNone/>
            </a:pPr>
            <a:r>
              <a:rPr lang="en-US" sz="880" b="1" dirty="0">
                <a:solidFill>
                  <a:srgbClr val="00245D"/>
                </a:solidFill>
                <a:latin typeface="Courier New" pitchFamily="34" charset="0"/>
                <a:ea typeface="Courier New" pitchFamily="34" charset="-122"/>
                <a:cs typeface="Courier New" pitchFamily="34" charset="-120"/>
              </a:rPr>
              <a:t>0, ±0.5, ±1, ±2, ±4…</a:t>
            </a:r>
            <a:endParaRPr lang="en-US" sz="880" dirty="0"/>
          </a:p>
        </p:txBody>
      </p:sp>
      <p:sp>
        <p:nvSpPr>
          <p:cNvPr id="21" name="Shape 18"/>
          <p:cNvSpPr/>
          <p:nvPr/>
        </p:nvSpPr>
        <p:spPr>
          <a:xfrm>
            <a:off x="9052560" y="1508760"/>
            <a:ext cx="2331720" cy="1965960"/>
          </a:xfrm>
          <a:prstGeom prst="roundRect">
            <a:avLst>
              <a:gd name="adj" fmla="val 2791"/>
            </a:avLst>
          </a:prstGeom>
          <a:solidFill>
            <a:srgbClr val="F1EEF9"/>
          </a:solidFill>
          <a:ln w="13335">
            <a:solidFill>
              <a:srgbClr val="8E7CC3"/>
            </a:solidFill>
            <a:prstDash val="solid"/>
          </a:ln>
        </p:spPr>
        <p:txBody>
          <a:bodyPr/>
          <a:lstStyle/>
          <a:p>
            <a:endParaRPr lang="ko-KR" altLang="en-US"/>
          </a:p>
        </p:txBody>
      </p:sp>
      <p:sp>
        <p:nvSpPr>
          <p:cNvPr id="22" name="Text 19"/>
          <p:cNvSpPr/>
          <p:nvPr/>
        </p:nvSpPr>
        <p:spPr>
          <a:xfrm>
            <a:off x="9217152" y="1627632"/>
            <a:ext cx="20025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Flint</a:t>
            </a:r>
            <a:endParaRPr lang="en-US" sz="1200" dirty="0"/>
          </a:p>
        </p:txBody>
      </p:sp>
      <p:sp>
        <p:nvSpPr>
          <p:cNvPr id="23" name="Text 20"/>
          <p:cNvSpPr/>
          <p:nvPr/>
        </p:nvSpPr>
        <p:spPr>
          <a:xfrm>
            <a:off x="9217152" y="1993392"/>
            <a:ext cx="2011680" cy="502920"/>
          </a:xfrm>
          <a:prstGeom prst="rect">
            <a:avLst/>
          </a:prstGeom>
          <a:noFill/>
          <a:ln/>
        </p:spPr>
        <p:txBody>
          <a:bodyPr wrap="square" lIns="254" tIns="254" rIns="254" bIns="254" rtlCol="0" anchor="ctr">
            <a:normAutofit/>
          </a:bodyPr>
          <a:lstStyle/>
          <a:p>
            <a:pPr marL="0" indent="0" algn="ctr">
              <a:buNone/>
            </a:pPr>
            <a:r>
              <a:rPr lang="en-US" sz="1100" dirty="0">
                <a:solidFill>
                  <a:srgbClr val="222222"/>
                </a:solidFill>
                <a:latin typeface="Arial" pitchFamily="34" charset="0"/>
                <a:ea typeface="Arial" pitchFamily="34" charset="-122"/>
                <a:cs typeface="Arial" pitchFamily="34" charset="-120"/>
              </a:rPr>
              <a:t>Power-of-two-like levels</a:t>
            </a:r>
            <a:endParaRPr lang="en-US" sz="1100" dirty="0"/>
          </a:p>
          <a:p>
            <a:pPr marL="0" indent="0" algn="ctr">
              <a:buNone/>
            </a:pPr>
            <a:r>
              <a:rPr lang="en-US" sz="1100" dirty="0">
                <a:solidFill>
                  <a:srgbClr val="222222"/>
                </a:solidFill>
                <a:latin typeface="Arial" pitchFamily="34" charset="0"/>
                <a:ea typeface="Arial" pitchFamily="34" charset="-122"/>
                <a:cs typeface="Arial" pitchFamily="34" charset="-120"/>
              </a:rPr>
              <a:t>Hardware-friendly</a:t>
            </a:r>
            <a:endParaRPr lang="en-US" sz="1100" dirty="0"/>
          </a:p>
        </p:txBody>
      </p:sp>
      <p:sp>
        <p:nvSpPr>
          <p:cNvPr id="24" name="Text 21"/>
          <p:cNvSpPr/>
          <p:nvPr/>
        </p:nvSpPr>
        <p:spPr>
          <a:xfrm>
            <a:off x="9217152" y="2761488"/>
            <a:ext cx="2011680" cy="201168"/>
          </a:xfrm>
          <a:prstGeom prst="rect">
            <a:avLst/>
          </a:prstGeom>
          <a:noFill/>
          <a:ln/>
        </p:spPr>
        <p:txBody>
          <a:bodyPr wrap="square" lIns="0" tIns="0" rIns="0" bIns="0" rtlCol="0" anchor="ctr"/>
          <a:lstStyle/>
          <a:p>
            <a:pPr marL="0" indent="0" algn="ctr">
              <a:buNone/>
            </a:pPr>
            <a:r>
              <a:rPr lang="en-US" sz="940" b="1" dirty="0">
                <a:solidFill>
                  <a:srgbClr val="00245D"/>
                </a:solidFill>
                <a:latin typeface="Arial" pitchFamily="34" charset="0"/>
                <a:ea typeface="Arial" pitchFamily="34" charset="-122"/>
                <a:cs typeface="Arial" pitchFamily="34" charset="-120"/>
              </a:rPr>
              <a:t>levels chosen for cheap compute</a:t>
            </a:r>
            <a:endParaRPr lang="en-US" sz="940" dirty="0"/>
          </a:p>
        </p:txBody>
      </p:sp>
      <p:pic>
        <p:nvPicPr>
          <p:cNvPr id="30" name="그림 29">
            <a:extLst>
              <a:ext uri="{FF2B5EF4-FFF2-40B4-BE49-F238E27FC236}">
                <a16:creationId xmlns:a16="http://schemas.microsoft.com/office/drawing/2014/main" id="{90EE5252-20A0-C311-20E0-3AC5B56D9A9A}"/>
              </a:ext>
            </a:extLst>
          </p:cNvPr>
          <p:cNvPicPr>
            <a:picLocks noChangeAspect="1"/>
          </p:cNvPicPr>
          <p:nvPr/>
        </p:nvPicPr>
        <p:blipFill>
          <a:blip r:embed="rId4"/>
          <a:stretch>
            <a:fillRect/>
          </a:stretch>
        </p:blipFill>
        <p:spPr>
          <a:xfrm>
            <a:off x="418857" y="3529344"/>
            <a:ext cx="6073383" cy="2909405"/>
          </a:xfrm>
          <a:prstGeom prst="rect">
            <a:avLst/>
          </a:prstGeom>
        </p:spPr>
      </p:pic>
      <p:sp>
        <p:nvSpPr>
          <p:cNvPr id="32" name="Shape 114">
            <a:extLst>
              <a:ext uri="{FF2B5EF4-FFF2-40B4-BE49-F238E27FC236}">
                <a16:creationId xmlns:a16="http://schemas.microsoft.com/office/drawing/2014/main" id="{DB35052B-95BB-6436-494E-6FC7C8FD804B}"/>
              </a:ext>
            </a:extLst>
          </p:cNvPr>
          <p:cNvSpPr/>
          <p:nvPr/>
        </p:nvSpPr>
        <p:spPr>
          <a:xfrm>
            <a:off x="6675120" y="4118409"/>
            <a:ext cx="4846320" cy="804672"/>
          </a:xfrm>
          <a:prstGeom prst="roundRect">
            <a:avLst>
              <a:gd name="adj" fmla="val 6818"/>
            </a:avLst>
          </a:prstGeom>
          <a:solidFill>
            <a:srgbClr val="FFFDF2"/>
          </a:solidFill>
          <a:ln w="13335">
            <a:solidFill>
              <a:srgbClr val="D6B656"/>
            </a:solidFill>
            <a:prstDash val="solid"/>
          </a:ln>
        </p:spPr>
        <p:txBody>
          <a:bodyPr/>
          <a:lstStyle/>
          <a:p>
            <a:endParaRPr lang="ko-KR" altLang="en-US"/>
          </a:p>
        </p:txBody>
      </p:sp>
      <p:sp>
        <p:nvSpPr>
          <p:cNvPr id="34" name="Text 115">
            <a:extLst>
              <a:ext uri="{FF2B5EF4-FFF2-40B4-BE49-F238E27FC236}">
                <a16:creationId xmlns:a16="http://schemas.microsoft.com/office/drawing/2014/main" id="{F0D50AA9-59ED-3BE3-B78B-C41003F33755}"/>
              </a:ext>
            </a:extLst>
          </p:cNvPr>
          <p:cNvSpPr/>
          <p:nvPr/>
        </p:nvSpPr>
        <p:spPr>
          <a:xfrm>
            <a:off x="6839712" y="4237281"/>
            <a:ext cx="45171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Result 1</a:t>
            </a:r>
            <a:endParaRPr lang="en-US" sz="1200" dirty="0"/>
          </a:p>
        </p:txBody>
      </p:sp>
      <p:sp>
        <p:nvSpPr>
          <p:cNvPr id="36" name="Text 116">
            <a:extLst>
              <a:ext uri="{FF2B5EF4-FFF2-40B4-BE49-F238E27FC236}">
                <a16:creationId xmlns:a16="http://schemas.microsoft.com/office/drawing/2014/main" id="{0C27ACA7-7AB0-361D-C0B1-94836CB2B794}"/>
              </a:ext>
            </a:extLst>
          </p:cNvPr>
          <p:cNvSpPr/>
          <p:nvPr/>
        </p:nvSpPr>
        <p:spPr>
          <a:xfrm>
            <a:off x="6903720" y="4502457"/>
            <a:ext cx="4434840" cy="201168"/>
          </a:xfrm>
          <a:prstGeom prst="rect">
            <a:avLst/>
          </a:prstGeom>
          <a:noFill/>
          <a:ln/>
        </p:spPr>
        <p:txBody>
          <a:bodyPr wrap="square" lIns="0" tIns="0" rIns="0" bIns="0" rtlCol="0" anchor="ctr">
            <a:normAutofit/>
          </a:bodyPr>
          <a:lstStyle/>
          <a:p>
            <a:pPr marL="0" indent="0" algn="ctr">
              <a:buNone/>
            </a:pPr>
            <a:r>
              <a:rPr lang="en-US" sz="1060" b="1" dirty="0">
                <a:solidFill>
                  <a:srgbClr val="222222"/>
                </a:solidFill>
                <a:latin typeface="Arial" pitchFamily="34" charset="0"/>
                <a:ea typeface="Arial" pitchFamily="34" charset="-122"/>
                <a:cs typeface="Arial" pitchFamily="34" charset="-120"/>
              </a:rPr>
              <a:t>Flint is strong in some PC cases, but not consistently best in PG.</a:t>
            </a:r>
            <a:endParaRPr lang="en-US" sz="1060" dirty="0"/>
          </a:p>
        </p:txBody>
      </p:sp>
      <p:sp>
        <p:nvSpPr>
          <p:cNvPr id="38" name="Shape 117">
            <a:extLst>
              <a:ext uri="{FF2B5EF4-FFF2-40B4-BE49-F238E27FC236}">
                <a16:creationId xmlns:a16="http://schemas.microsoft.com/office/drawing/2014/main" id="{BD9D58A7-59B7-19DD-2C35-CC26BE01153A}"/>
              </a:ext>
            </a:extLst>
          </p:cNvPr>
          <p:cNvSpPr/>
          <p:nvPr/>
        </p:nvSpPr>
        <p:spPr>
          <a:xfrm>
            <a:off x="6675120" y="5145665"/>
            <a:ext cx="4846320" cy="804672"/>
          </a:xfrm>
          <a:prstGeom prst="roundRect">
            <a:avLst>
              <a:gd name="adj" fmla="val 6818"/>
            </a:avLst>
          </a:prstGeom>
          <a:solidFill>
            <a:srgbClr val="E2F0D9"/>
          </a:solidFill>
          <a:ln w="13335">
            <a:solidFill>
              <a:srgbClr val="548235"/>
            </a:solidFill>
            <a:prstDash val="solid"/>
          </a:ln>
        </p:spPr>
        <p:txBody>
          <a:bodyPr/>
          <a:lstStyle/>
          <a:p>
            <a:endParaRPr lang="ko-KR" altLang="en-US"/>
          </a:p>
        </p:txBody>
      </p:sp>
      <p:sp>
        <p:nvSpPr>
          <p:cNvPr id="40" name="Text 118">
            <a:extLst>
              <a:ext uri="{FF2B5EF4-FFF2-40B4-BE49-F238E27FC236}">
                <a16:creationId xmlns:a16="http://schemas.microsoft.com/office/drawing/2014/main" id="{4000D123-7DA3-667E-8A2F-9278F9330F0E}"/>
              </a:ext>
            </a:extLst>
          </p:cNvPr>
          <p:cNvSpPr/>
          <p:nvPr/>
        </p:nvSpPr>
        <p:spPr>
          <a:xfrm>
            <a:off x="6839712" y="5264537"/>
            <a:ext cx="45171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Result 2</a:t>
            </a:r>
            <a:endParaRPr lang="en-US" sz="1200" dirty="0"/>
          </a:p>
        </p:txBody>
      </p:sp>
      <p:sp>
        <p:nvSpPr>
          <p:cNvPr id="42" name="Text 119">
            <a:extLst>
              <a:ext uri="{FF2B5EF4-FFF2-40B4-BE49-F238E27FC236}">
                <a16:creationId xmlns:a16="http://schemas.microsoft.com/office/drawing/2014/main" id="{B472D84F-B4F6-9F10-30A3-068344D7EF5F}"/>
              </a:ext>
            </a:extLst>
          </p:cNvPr>
          <p:cNvSpPr/>
          <p:nvPr/>
        </p:nvSpPr>
        <p:spPr>
          <a:xfrm>
            <a:off x="6903720" y="5529713"/>
            <a:ext cx="4434840" cy="201168"/>
          </a:xfrm>
          <a:prstGeom prst="rect">
            <a:avLst/>
          </a:prstGeom>
          <a:noFill/>
          <a:ln/>
        </p:spPr>
        <p:txBody>
          <a:bodyPr wrap="square" lIns="0" tIns="0" rIns="0" bIns="0" rtlCol="0" anchor="ctr">
            <a:normAutofit fontScale="92500"/>
          </a:bodyPr>
          <a:lstStyle/>
          <a:p>
            <a:pPr marL="0" indent="0" algn="ctr">
              <a:buNone/>
            </a:pPr>
            <a:r>
              <a:rPr lang="en-US" sz="1060" b="1" dirty="0">
                <a:solidFill>
                  <a:srgbClr val="222222"/>
                </a:solidFill>
                <a:latin typeface="Arial" pitchFamily="34" charset="0"/>
                <a:ea typeface="Arial" pitchFamily="34" charset="-122"/>
                <a:cs typeface="Arial" pitchFamily="34" charset="-120"/>
              </a:rPr>
              <a:t>INT4-Asym and FP4 are strong in PG → FP + asymmetry are both useful.</a:t>
            </a:r>
            <a:endParaRPr lang="en-US" sz="1060" dirty="0"/>
          </a:p>
        </p:txBody>
      </p:sp>
      <p:sp>
        <p:nvSpPr>
          <p:cNvPr id="44" name="Shape 16">
            <a:extLst>
              <a:ext uri="{FF2B5EF4-FFF2-40B4-BE49-F238E27FC236}">
                <a16:creationId xmlns:a16="http://schemas.microsoft.com/office/drawing/2014/main" id="{F7EBD472-29B6-5E45-2E61-A375B596C642}"/>
              </a:ext>
            </a:extLst>
          </p:cNvPr>
          <p:cNvSpPr/>
          <p:nvPr/>
        </p:nvSpPr>
        <p:spPr>
          <a:xfrm>
            <a:off x="5405789" y="4179048"/>
            <a:ext cx="1034475" cy="0"/>
          </a:xfrm>
          <a:prstGeom prst="line">
            <a:avLst/>
          </a:prstGeom>
          <a:noFill/>
          <a:ln w="16510">
            <a:solidFill>
              <a:srgbClr val="C00000"/>
            </a:solidFill>
            <a:prstDash val="solid"/>
          </a:ln>
        </p:spPr>
        <p:txBody>
          <a:bodyPr/>
          <a:lstStyle/>
          <a:p>
            <a:endParaRPr lang="ko-KR" altLang="en-US"/>
          </a:p>
        </p:txBody>
      </p:sp>
      <p:sp>
        <p:nvSpPr>
          <p:cNvPr id="46" name="Shape 16">
            <a:extLst>
              <a:ext uri="{FF2B5EF4-FFF2-40B4-BE49-F238E27FC236}">
                <a16:creationId xmlns:a16="http://schemas.microsoft.com/office/drawing/2014/main" id="{DC742BFF-71C6-9AC6-29EA-F07BD849783F}"/>
              </a:ext>
            </a:extLst>
          </p:cNvPr>
          <p:cNvSpPr/>
          <p:nvPr/>
        </p:nvSpPr>
        <p:spPr>
          <a:xfrm>
            <a:off x="901969" y="4413744"/>
            <a:ext cx="824564" cy="0"/>
          </a:xfrm>
          <a:prstGeom prst="line">
            <a:avLst/>
          </a:prstGeom>
          <a:noFill/>
          <a:ln w="16510">
            <a:solidFill>
              <a:srgbClr val="C00000"/>
            </a:solidFill>
            <a:prstDash val="solid"/>
          </a:ln>
        </p:spPr>
        <p:txBody>
          <a:bodyPr/>
          <a:lstStyle/>
          <a:p>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Why FP and Asymmetry Help Per-Group Quantization</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27</a:t>
            </a:r>
            <a:endParaRPr lang="en-US" sz="1000" dirty="0"/>
          </a:p>
        </p:txBody>
      </p:sp>
      <p:sp>
        <p:nvSpPr>
          <p:cNvPr id="8" name="Text 5"/>
          <p:cNvSpPr/>
          <p:nvPr/>
        </p:nvSpPr>
        <p:spPr>
          <a:xfrm>
            <a:off x="594360" y="1024128"/>
            <a:ext cx="10972800" cy="256032"/>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BitMoD combines two observations: LLM weights are Gaussian-like, and small groups can be asymmetric.</a:t>
            </a:r>
            <a:endParaRPr lang="en-US" sz="1300" dirty="0"/>
          </a:p>
        </p:txBody>
      </p:sp>
      <p:sp>
        <p:nvSpPr>
          <p:cNvPr id="9" name="Shape 6"/>
          <p:cNvSpPr/>
          <p:nvPr/>
        </p:nvSpPr>
        <p:spPr>
          <a:xfrm>
            <a:off x="731520" y="1417320"/>
            <a:ext cx="5212080" cy="4526280"/>
          </a:xfrm>
          <a:prstGeom prst="roundRect">
            <a:avLst>
              <a:gd name="adj" fmla="val 1212"/>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96112" y="1536192"/>
            <a:ext cx="48828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1. Floating Point</a:t>
            </a:r>
            <a:endParaRPr lang="en-US" sz="1200" dirty="0"/>
          </a:p>
        </p:txBody>
      </p:sp>
      <p:sp>
        <p:nvSpPr>
          <p:cNvPr id="11" name="Shape 8"/>
          <p:cNvSpPr/>
          <p:nvPr/>
        </p:nvSpPr>
        <p:spPr>
          <a:xfrm>
            <a:off x="1051560" y="1965960"/>
            <a:ext cx="4572000" cy="2011680"/>
          </a:xfrm>
          <a:prstGeom prst="roundRect">
            <a:avLst>
              <a:gd name="adj" fmla="val 2727"/>
            </a:avLst>
          </a:prstGeom>
          <a:solidFill>
            <a:srgbClr val="FFFFFF"/>
          </a:solidFill>
          <a:ln w="13335">
            <a:solidFill>
              <a:srgbClr val="9EADCC"/>
            </a:solidFill>
            <a:prstDash val="solid"/>
          </a:ln>
        </p:spPr>
        <p:txBody>
          <a:bodyPr/>
          <a:lstStyle/>
          <a:p>
            <a:endParaRPr lang="ko-KR" altLang="en-US"/>
          </a:p>
        </p:txBody>
      </p:sp>
      <p:sp>
        <p:nvSpPr>
          <p:cNvPr id="12" name="Text 9"/>
          <p:cNvSpPr/>
          <p:nvPr/>
        </p:nvSpPr>
        <p:spPr>
          <a:xfrm>
            <a:off x="1216152" y="2084832"/>
            <a:ext cx="42428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Gaussian-like weight distribution</a:t>
            </a:r>
            <a:endParaRPr lang="en-US" sz="1200" dirty="0"/>
          </a:p>
        </p:txBody>
      </p:sp>
      <p:sp>
        <p:nvSpPr>
          <p:cNvPr id="13" name="Shape 10"/>
          <p:cNvSpPr/>
          <p:nvPr/>
        </p:nvSpPr>
        <p:spPr>
          <a:xfrm>
            <a:off x="1463040" y="3474720"/>
            <a:ext cx="3886200" cy="0"/>
          </a:xfrm>
          <a:prstGeom prst="line">
            <a:avLst/>
          </a:prstGeom>
          <a:noFill/>
          <a:ln w="12700">
            <a:solidFill>
              <a:srgbClr val="222222"/>
            </a:solidFill>
            <a:prstDash val="solid"/>
            <a:tailEnd type="triangle"/>
          </a:ln>
        </p:spPr>
        <p:txBody>
          <a:bodyPr/>
          <a:lstStyle/>
          <a:p>
            <a:endParaRPr lang="ko-KR" altLang="en-US"/>
          </a:p>
        </p:txBody>
      </p:sp>
      <p:sp>
        <p:nvSpPr>
          <p:cNvPr id="14" name="Shape 11"/>
          <p:cNvSpPr/>
          <p:nvPr/>
        </p:nvSpPr>
        <p:spPr>
          <a:xfrm>
            <a:off x="1554480" y="3566160"/>
            <a:ext cx="0" cy="0"/>
          </a:xfrm>
          <a:prstGeom prst="line">
            <a:avLst/>
          </a:prstGeom>
          <a:noFill/>
          <a:ln w="12700">
            <a:solidFill>
              <a:srgbClr val="222222"/>
            </a:solidFill>
            <a:prstDash val="solid"/>
            <a:tailEnd type="triangle"/>
          </a:ln>
        </p:spPr>
        <p:txBody>
          <a:bodyPr/>
          <a:lstStyle/>
          <a:p>
            <a:endParaRPr lang="ko-KR" altLang="en-US"/>
          </a:p>
        </p:txBody>
      </p:sp>
      <p:sp>
        <p:nvSpPr>
          <p:cNvPr id="15" name="Shape 12"/>
          <p:cNvSpPr/>
          <p:nvPr/>
        </p:nvSpPr>
        <p:spPr>
          <a:xfrm>
            <a:off x="2050542" y="3346704"/>
            <a:ext cx="91440" cy="91440"/>
          </a:xfrm>
          <a:prstGeom prst="ellipse">
            <a:avLst/>
          </a:prstGeom>
          <a:solidFill>
            <a:srgbClr val="2F75B5"/>
          </a:solidFill>
          <a:ln w="12700">
            <a:solidFill>
              <a:srgbClr val="2F75B5"/>
            </a:solidFill>
            <a:prstDash val="solid"/>
          </a:ln>
        </p:spPr>
        <p:txBody>
          <a:bodyPr/>
          <a:lstStyle/>
          <a:p>
            <a:endParaRPr lang="ko-KR" altLang="en-US"/>
          </a:p>
        </p:txBody>
      </p:sp>
      <p:sp>
        <p:nvSpPr>
          <p:cNvPr id="16" name="Shape 13"/>
          <p:cNvSpPr/>
          <p:nvPr/>
        </p:nvSpPr>
        <p:spPr>
          <a:xfrm>
            <a:off x="2411730" y="3223260"/>
            <a:ext cx="91440" cy="91440"/>
          </a:xfrm>
          <a:prstGeom prst="ellipse">
            <a:avLst/>
          </a:prstGeom>
          <a:solidFill>
            <a:srgbClr val="2F75B5"/>
          </a:solidFill>
          <a:ln w="12700">
            <a:solidFill>
              <a:srgbClr val="2F75B5"/>
            </a:solidFill>
            <a:prstDash val="solid"/>
          </a:ln>
        </p:spPr>
        <p:txBody>
          <a:bodyPr/>
          <a:lstStyle/>
          <a:p>
            <a:endParaRPr lang="ko-KR" altLang="en-US"/>
          </a:p>
        </p:txBody>
      </p:sp>
      <p:sp>
        <p:nvSpPr>
          <p:cNvPr id="17" name="Shape 14"/>
          <p:cNvSpPr/>
          <p:nvPr/>
        </p:nvSpPr>
        <p:spPr>
          <a:xfrm>
            <a:off x="2736799" y="3051810"/>
            <a:ext cx="91440" cy="91440"/>
          </a:xfrm>
          <a:prstGeom prst="ellipse">
            <a:avLst/>
          </a:prstGeom>
          <a:solidFill>
            <a:srgbClr val="2F75B5"/>
          </a:solidFill>
          <a:ln w="12700">
            <a:solidFill>
              <a:srgbClr val="2F75B5"/>
            </a:solidFill>
            <a:prstDash val="solid"/>
          </a:ln>
        </p:spPr>
        <p:txBody>
          <a:bodyPr/>
          <a:lstStyle/>
          <a:p>
            <a:endParaRPr lang="ko-KR" altLang="en-US"/>
          </a:p>
        </p:txBody>
      </p:sp>
      <p:sp>
        <p:nvSpPr>
          <p:cNvPr id="18" name="Shape 15"/>
          <p:cNvSpPr/>
          <p:nvPr/>
        </p:nvSpPr>
        <p:spPr>
          <a:xfrm>
            <a:off x="3025750" y="2846070"/>
            <a:ext cx="91440" cy="91440"/>
          </a:xfrm>
          <a:prstGeom prst="ellipse">
            <a:avLst/>
          </a:prstGeom>
          <a:solidFill>
            <a:srgbClr val="2F75B5"/>
          </a:solidFill>
          <a:ln w="12700">
            <a:solidFill>
              <a:srgbClr val="2F75B5"/>
            </a:solidFill>
            <a:prstDash val="solid"/>
          </a:ln>
        </p:spPr>
        <p:txBody>
          <a:bodyPr/>
          <a:lstStyle/>
          <a:p>
            <a:endParaRPr lang="ko-KR" altLang="en-US"/>
          </a:p>
        </p:txBody>
      </p:sp>
      <p:sp>
        <p:nvSpPr>
          <p:cNvPr id="19" name="Shape 16"/>
          <p:cNvSpPr/>
          <p:nvPr/>
        </p:nvSpPr>
        <p:spPr>
          <a:xfrm>
            <a:off x="3314700" y="2777490"/>
            <a:ext cx="91440" cy="91440"/>
          </a:xfrm>
          <a:prstGeom prst="ellipse">
            <a:avLst/>
          </a:prstGeom>
          <a:solidFill>
            <a:srgbClr val="2F75B5"/>
          </a:solidFill>
          <a:ln w="12700">
            <a:solidFill>
              <a:srgbClr val="2F75B5"/>
            </a:solidFill>
            <a:prstDash val="solid"/>
          </a:ln>
        </p:spPr>
        <p:txBody>
          <a:bodyPr/>
          <a:lstStyle/>
          <a:p>
            <a:endParaRPr lang="ko-KR" altLang="en-US"/>
          </a:p>
        </p:txBody>
      </p:sp>
      <p:sp>
        <p:nvSpPr>
          <p:cNvPr id="20" name="Shape 17"/>
          <p:cNvSpPr/>
          <p:nvPr/>
        </p:nvSpPr>
        <p:spPr>
          <a:xfrm>
            <a:off x="3603650" y="2880360"/>
            <a:ext cx="91440" cy="91440"/>
          </a:xfrm>
          <a:prstGeom prst="ellipse">
            <a:avLst/>
          </a:prstGeom>
          <a:solidFill>
            <a:srgbClr val="2F75B5"/>
          </a:solidFill>
          <a:ln w="12700">
            <a:solidFill>
              <a:srgbClr val="2F75B5"/>
            </a:solidFill>
            <a:prstDash val="solid"/>
          </a:ln>
        </p:spPr>
        <p:txBody>
          <a:bodyPr/>
          <a:lstStyle/>
          <a:p>
            <a:endParaRPr lang="ko-KR" altLang="en-US"/>
          </a:p>
        </p:txBody>
      </p:sp>
      <p:sp>
        <p:nvSpPr>
          <p:cNvPr id="21" name="Shape 18"/>
          <p:cNvSpPr/>
          <p:nvPr/>
        </p:nvSpPr>
        <p:spPr>
          <a:xfrm>
            <a:off x="3892601" y="3072384"/>
            <a:ext cx="91440" cy="91440"/>
          </a:xfrm>
          <a:prstGeom prst="ellipse">
            <a:avLst/>
          </a:prstGeom>
          <a:solidFill>
            <a:srgbClr val="2F75B5"/>
          </a:solidFill>
          <a:ln w="12700">
            <a:solidFill>
              <a:srgbClr val="2F75B5"/>
            </a:solidFill>
            <a:prstDash val="solid"/>
          </a:ln>
        </p:spPr>
        <p:txBody>
          <a:bodyPr/>
          <a:lstStyle/>
          <a:p>
            <a:endParaRPr lang="ko-KR" altLang="en-US"/>
          </a:p>
        </p:txBody>
      </p:sp>
      <p:sp>
        <p:nvSpPr>
          <p:cNvPr id="22" name="Shape 19"/>
          <p:cNvSpPr/>
          <p:nvPr/>
        </p:nvSpPr>
        <p:spPr>
          <a:xfrm>
            <a:off x="4253789" y="3236976"/>
            <a:ext cx="91440" cy="91440"/>
          </a:xfrm>
          <a:prstGeom prst="ellipse">
            <a:avLst/>
          </a:prstGeom>
          <a:solidFill>
            <a:srgbClr val="2F75B5"/>
          </a:solidFill>
          <a:ln w="12700">
            <a:solidFill>
              <a:srgbClr val="2F75B5"/>
            </a:solidFill>
            <a:prstDash val="solid"/>
          </a:ln>
        </p:spPr>
        <p:txBody>
          <a:bodyPr/>
          <a:lstStyle/>
          <a:p>
            <a:endParaRPr lang="ko-KR" altLang="en-US"/>
          </a:p>
        </p:txBody>
      </p:sp>
      <p:sp>
        <p:nvSpPr>
          <p:cNvPr id="23" name="Shape 20"/>
          <p:cNvSpPr/>
          <p:nvPr/>
        </p:nvSpPr>
        <p:spPr>
          <a:xfrm>
            <a:off x="4578858" y="3346704"/>
            <a:ext cx="91440" cy="91440"/>
          </a:xfrm>
          <a:prstGeom prst="ellipse">
            <a:avLst/>
          </a:prstGeom>
          <a:solidFill>
            <a:srgbClr val="2F75B5"/>
          </a:solidFill>
          <a:ln w="12700">
            <a:solidFill>
              <a:srgbClr val="2F75B5"/>
            </a:solidFill>
            <a:prstDash val="solid"/>
          </a:ln>
        </p:spPr>
        <p:txBody>
          <a:bodyPr/>
          <a:lstStyle/>
          <a:p>
            <a:endParaRPr lang="ko-KR" altLang="en-US"/>
          </a:p>
        </p:txBody>
      </p:sp>
      <p:sp>
        <p:nvSpPr>
          <p:cNvPr id="24" name="Text 21"/>
          <p:cNvSpPr/>
          <p:nvPr/>
        </p:nvSpPr>
        <p:spPr>
          <a:xfrm>
            <a:off x="1828800" y="3721608"/>
            <a:ext cx="3474720" cy="164592"/>
          </a:xfrm>
          <a:prstGeom prst="rect">
            <a:avLst/>
          </a:prstGeom>
          <a:noFill/>
          <a:ln/>
        </p:spPr>
        <p:txBody>
          <a:bodyPr wrap="square" lIns="0" tIns="0" rIns="0" bIns="0" rtlCol="0" anchor="ctr"/>
          <a:lstStyle/>
          <a:p>
            <a:pPr marL="0" indent="0" algn="r">
              <a:buNone/>
            </a:pPr>
            <a:r>
              <a:rPr lang="en-US" sz="880" dirty="0">
                <a:solidFill>
                  <a:srgbClr val="4A4A4A"/>
                </a:solidFill>
                <a:latin typeface="Arial" pitchFamily="34" charset="0"/>
                <a:ea typeface="Arial" pitchFamily="34" charset="-122"/>
                <a:cs typeface="Arial" pitchFamily="34" charset="-120"/>
              </a:rPr>
              <a:t>Weight value</a:t>
            </a:r>
            <a:endParaRPr lang="en-US" sz="880" dirty="0"/>
          </a:p>
        </p:txBody>
      </p:sp>
      <p:sp>
        <p:nvSpPr>
          <p:cNvPr id="25" name="Text 22"/>
          <p:cNvSpPr/>
          <p:nvPr/>
        </p:nvSpPr>
        <p:spPr>
          <a:xfrm rot="16200000">
            <a:off x="1097280" y="2439766"/>
            <a:ext cx="365760" cy="164592"/>
          </a:xfrm>
          <a:prstGeom prst="rect">
            <a:avLst/>
          </a:prstGeom>
          <a:noFill/>
          <a:ln/>
        </p:spPr>
        <p:txBody>
          <a:bodyPr wrap="square" lIns="0" tIns="0" rIns="0" bIns="0" rtlCol="0" anchor="ctr"/>
          <a:lstStyle/>
          <a:p>
            <a:pPr marL="0" indent="0">
              <a:buNone/>
            </a:pPr>
            <a:r>
              <a:rPr lang="en-US" sz="880" dirty="0">
                <a:solidFill>
                  <a:srgbClr val="4A4A4A"/>
                </a:solidFill>
                <a:latin typeface="Arial" pitchFamily="34" charset="0"/>
                <a:ea typeface="Arial" pitchFamily="34" charset="-122"/>
                <a:cs typeface="Arial" pitchFamily="34" charset="-120"/>
              </a:rPr>
              <a:t>density</a:t>
            </a:r>
            <a:endParaRPr lang="en-US" sz="880" dirty="0"/>
          </a:p>
        </p:txBody>
      </p:sp>
      <p:sp>
        <p:nvSpPr>
          <p:cNvPr id="26" name="Text 23"/>
          <p:cNvSpPr/>
          <p:nvPr/>
        </p:nvSpPr>
        <p:spPr>
          <a:xfrm>
            <a:off x="1005840" y="4297680"/>
            <a:ext cx="4572000" cy="493776"/>
          </a:xfrm>
          <a:prstGeom prst="rect">
            <a:avLst/>
          </a:prstGeom>
          <a:noFill/>
          <a:ln/>
        </p:spPr>
        <p:txBody>
          <a:bodyPr wrap="square" lIns="254" tIns="254" rIns="254" bIns="254" rtlCol="0" anchor="ctr">
            <a:normAutofit lnSpcReduction="10000"/>
          </a:bodyPr>
          <a:lstStyle/>
          <a:p>
            <a:pPr marL="0" indent="0" algn="ctr">
              <a:buNone/>
            </a:pPr>
            <a:r>
              <a:rPr lang="en-US" sz="1150" b="1" dirty="0">
                <a:solidFill>
                  <a:srgbClr val="FF0000"/>
                </a:solidFill>
                <a:latin typeface="Arial" pitchFamily="34" charset="0"/>
                <a:ea typeface="Arial" pitchFamily="34" charset="-122"/>
                <a:cs typeface="Arial" pitchFamily="34" charset="-120"/>
              </a:rPr>
              <a:t>Many</a:t>
            </a:r>
            <a:r>
              <a:rPr lang="en-US" sz="1150" b="1" dirty="0">
                <a:solidFill>
                  <a:srgbClr val="222222"/>
                </a:solidFill>
                <a:latin typeface="Arial" pitchFamily="34" charset="0"/>
                <a:ea typeface="Arial" pitchFamily="34" charset="-122"/>
                <a:cs typeface="Arial" pitchFamily="34" charset="-120"/>
              </a:rPr>
              <a:t> weights are </a:t>
            </a:r>
            <a:r>
              <a:rPr lang="en-US" sz="1150" b="1" dirty="0">
                <a:solidFill>
                  <a:srgbClr val="FF0000"/>
                </a:solidFill>
                <a:latin typeface="Arial" pitchFamily="34" charset="0"/>
                <a:ea typeface="Arial" pitchFamily="34" charset="-122"/>
                <a:cs typeface="Arial" pitchFamily="34" charset="-120"/>
              </a:rPr>
              <a:t>concentrated near zero</a:t>
            </a:r>
            <a:r>
              <a:rPr lang="en-US" sz="1150" b="1" dirty="0">
                <a:solidFill>
                  <a:srgbClr val="222222"/>
                </a:solidFill>
                <a:latin typeface="Arial" pitchFamily="34" charset="0"/>
                <a:ea typeface="Arial" pitchFamily="34" charset="-122"/>
                <a:cs typeface="Arial" pitchFamily="34" charset="-120"/>
              </a:rPr>
              <a:t>.</a:t>
            </a:r>
            <a:endParaRPr lang="en-US" sz="1150" dirty="0"/>
          </a:p>
          <a:p>
            <a:pPr marL="0" indent="0" algn="ctr">
              <a:buNone/>
            </a:pPr>
            <a:r>
              <a:rPr lang="en-US" sz="1150" b="1" dirty="0">
                <a:solidFill>
                  <a:srgbClr val="222222"/>
                </a:solidFill>
                <a:latin typeface="Arial" pitchFamily="34" charset="0"/>
                <a:ea typeface="Arial" pitchFamily="34" charset="-122"/>
                <a:cs typeface="Arial" pitchFamily="34" charset="-120"/>
              </a:rPr>
              <a:t>FP levels can be denser around small magnitudes than uniform integers.</a:t>
            </a:r>
            <a:endParaRPr lang="en-US" sz="1150" dirty="0"/>
          </a:p>
        </p:txBody>
      </p:sp>
      <p:sp>
        <p:nvSpPr>
          <p:cNvPr id="27" name="Shape 24"/>
          <p:cNvSpPr/>
          <p:nvPr/>
        </p:nvSpPr>
        <p:spPr>
          <a:xfrm>
            <a:off x="1554480" y="5074920"/>
            <a:ext cx="3429000" cy="402336"/>
          </a:xfrm>
          <a:prstGeom prst="roundRect">
            <a:avLst>
              <a:gd name="adj" fmla="val 18182"/>
            </a:avLst>
          </a:prstGeom>
          <a:solidFill>
            <a:srgbClr val="EAF2FF"/>
          </a:solidFill>
          <a:ln w="12700">
            <a:solidFill>
              <a:srgbClr val="7EA6E0"/>
            </a:solidFill>
            <a:prstDash val="solid"/>
          </a:ln>
        </p:spPr>
        <p:txBody>
          <a:bodyPr/>
          <a:lstStyle/>
          <a:p>
            <a:endParaRPr lang="ko-KR" altLang="en-US"/>
          </a:p>
        </p:txBody>
      </p:sp>
      <p:sp>
        <p:nvSpPr>
          <p:cNvPr id="28" name="Text 25"/>
          <p:cNvSpPr/>
          <p:nvPr/>
        </p:nvSpPr>
        <p:spPr>
          <a:xfrm>
            <a:off x="1600200" y="5129784"/>
            <a:ext cx="3337560" cy="310896"/>
          </a:xfrm>
          <a:prstGeom prst="rect">
            <a:avLst/>
          </a:prstGeom>
          <a:noFill/>
          <a:ln/>
        </p:spPr>
        <p:txBody>
          <a:bodyPr wrap="square" lIns="254" tIns="254" rIns="254" bIns="254" rtlCol="0" anchor="ctr">
            <a:normAutofit/>
          </a:bodyPr>
          <a:lstStyle/>
          <a:p>
            <a:pPr marL="0" indent="0" algn="ctr">
              <a:buNone/>
            </a:pPr>
            <a:r>
              <a:rPr lang="en-US" sz="1060" b="1" dirty="0">
                <a:solidFill>
                  <a:srgbClr val="00245D"/>
                </a:solidFill>
                <a:latin typeface="Arial" pitchFamily="34" charset="0"/>
                <a:ea typeface="Arial" pitchFamily="34" charset="-122"/>
                <a:cs typeface="Arial" pitchFamily="34" charset="-120"/>
              </a:rPr>
              <a:t>Small values need finer resolution</a:t>
            </a:r>
            <a:endParaRPr lang="en-US" sz="1060" dirty="0"/>
          </a:p>
        </p:txBody>
      </p:sp>
      <p:sp>
        <p:nvSpPr>
          <p:cNvPr id="29" name="Shape 26"/>
          <p:cNvSpPr/>
          <p:nvPr/>
        </p:nvSpPr>
        <p:spPr>
          <a:xfrm>
            <a:off x="6309360" y="1417320"/>
            <a:ext cx="5212080" cy="4526280"/>
          </a:xfrm>
          <a:prstGeom prst="roundRect">
            <a:avLst>
              <a:gd name="adj" fmla="val 1212"/>
            </a:avLst>
          </a:prstGeom>
          <a:solidFill>
            <a:srgbClr val="FFFDF2"/>
          </a:solidFill>
          <a:ln w="13335">
            <a:solidFill>
              <a:srgbClr val="D6B656"/>
            </a:solidFill>
            <a:prstDash val="solid"/>
          </a:ln>
        </p:spPr>
        <p:txBody>
          <a:bodyPr/>
          <a:lstStyle/>
          <a:p>
            <a:endParaRPr lang="ko-KR" altLang="en-US"/>
          </a:p>
        </p:txBody>
      </p:sp>
      <p:sp>
        <p:nvSpPr>
          <p:cNvPr id="30" name="Text 27"/>
          <p:cNvSpPr/>
          <p:nvPr/>
        </p:nvSpPr>
        <p:spPr>
          <a:xfrm>
            <a:off x="6473952" y="1536192"/>
            <a:ext cx="48828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2. Asymmetry</a:t>
            </a:r>
            <a:endParaRPr lang="en-US" sz="1200" dirty="0"/>
          </a:p>
        </p:txBody>
      </p:sp>
      <p:sp>
        <p:nvSpPr>
          <p:cNvPr id="31" name="Shape 28"/>
          <p:cNvSpPr/>
          <p:nvPr/>
        </p:nvSpPr>
        <p:spPr>
          <a:xfrm>
            <a:off x="6629400" y="1965960"/>
            <a:ext cx="4572000" cy="2011680"/>
          </a:xfrm>
          <a:prstGeom prst="roundRect">
            <a:avLst>
              <a:gd name="adj" fmla="val 2727"/>
            </a:avLst>
          </a:prstGeom>
          <a:solidFill>
            <a:srgbClr val="FFFFFF"/>
          </a:solidFill>
          <a:ln w="13335">
            <a:solidFill>
              <a:srgbClr val="D6B656"/>
            </a:solidFill>
            <a:prstDash val="solid"/>
          </a:ln>
        </p:spPr>
        <p:txBody>
          <a:bodyPr/>
          <a:lstStyle/>
          <a:p>
            <a:endParaRPr lang="ko-KR" altLang="en-US"/>
          </a:p>
        </p:txBody>
      </p:sp>
      <p:sp>
        <p:nvSpPr>
          <p:cNvPr id="32" name="Text 29"/>
          <p:cNvSpPr/>
          <p:nvPr/>
        </p:nvSpPr>
        <p:spPr>
          <a:xfrm>
            <a:off x="6793992" y="2084832"/>
            <a:ext cx="42428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One-sided group outlier</a:t>
            </a:r>
            <a:endParaRPr lang="en-US" sz="1200" dirty="0"/>
          </a:p>
        </p:txBody>
      </p:sp>
      <p:sp>
        <p:nvSpPr>
          <p:cNvPr id="33" name="Shape 30"/>
          <p:cNvSpPr/>
          <p:nvPr/>
        </p:nvSpPr>
        <p:spPr>
          <a:xfrm>
            <a:off x="7040880" y="3474720"/>
            <a:ext cx="3886200" cy="0"/>
          </a:xfrm>
          <a:prstGeom prst="line">
            <a:avLst/>
          </a:prstGeom>
          <a:noFill/>
          <a:ln w="12700">
            <a:solidFill>
              <a:srgbClr val="222222"/>
            </a:solidFill>
            <a:prstDash val="solid"/>
            <a:tailEnd type="triangle"/>
          </a:ln>
        </p:spPr>
        <p:txBody>
          <a:bodyPr/>
          <a:lstStyle/>
          <a:p>
            <a:endParaRPr lang="ko-KR" altLang="en-US"/>
          </a:p>
        </p:txBody>
      </p:sp>
      <p:sp>
        <p:nvSpPr>
          <p:cNvPr id="34" name="Shape 31"/>
          <p:cNvSpPr/>
          <p:nvPr/>
        </p:nvSpPr>
        <p:spPr>
          <a:xfrm>
            <a:off x="7132320" y="3566160"/>
            <a:ext cx="0" cy="0"/>
          </a:xfrm>
          <a:prstGeom prst="line">
            <a:avLst/>
          </a:prstGeom>
          <a:noFill/>
          <a:ln w="12700">
            <a:solidFill>
              <a:srgbClr val="222222"/>
            </a:solidFill>
            <a:prstDash val="solid"/>
            <a:tailEnd type="triangle"/>
          </a:ln>
        </p:spPr>
        <p:txBody>
          <a:bodyPr/>
          <a:lstStyle/>
          <a:p>
            <a:endParaRPr lang="ko-KR" altLang="en-US"/>
          </a:p>
        </p:txBody>
      </p:sp>
      <p:sp>
        <p:nvSpPr>
          <p:cNvPr id="35" name="Shape 32"/>
          <p:cNvSpPr/>
          <p:nvPr/>
        </p:nvSpPr>
        <p:spPr>
          <a:xfrm>
            <a:off x="8170164" y="3257550"/>
            <a:ext cx="91440" cy="91440"/>
          </a:xfrm>
          <a:prstGeom prst="ellipse">
            <a:avLst/>
          </a:prstGeom>
          <a:solidFill>
            <a:srgbClr val="C55A11"/>
          </a:solidFill>
          <a:ln w="12700">
            <a:solidFill>
              <a:srgbClr val="C55A11"/>
            </a:solidFill>
            <a:prstDash val="solid"/>
          </a:ln>
        </p:spPr>
        <p:txBody>
          <a:bodyPr/>
          <a:lstStyle/>
          <a:p>
            <a:endParaRPr lang="ko-KR" altLang="en-US"/>
          </a:p>
        </p:txBody>
      </p:sp>
      <p:sp>
        <p:nvSpPr>
          <p:cNvPr id="36" name="Shape 33"/>
          <p:cNvSpPr/>
          <p:nvPr/>
        </p:nvSpPr>
        <p:spPr>
          <a:xfrm>
            <a:off x="8422996" y="3120390"/>
            <a:ext cx="91440" cy="91440"/>
          </a:xfrm>
          <a:prstGeom prst="ellipse">
            <a:avLst/>
          </a:prstGeom>
          <a:solidFill>
            <a:srgbClr val="C55A11"/>
          </a:solidFill>
          <a:ln w="12700">
            <a:solidFill>
              <a:srgbClr val="C55A11"/>
            </a:solidFill>
            <a:prstDash val="solid"/>
          </a:ln>
        </p:spPr>
        <p:txBody>
          <a:bodyPr/>
          <a:lstStyle/>
          <a:p>
            <a:endParaRPr lang="ko-KR" altLang="en-US"/>
          </a:p>
        </p:txBody>
      </p:sp>
      <p:sp>
        <p:nvSpPr>
          <p:cNvPr id="37" name="Shape 34"/>
          <p:cNvSpPr/>
          <p:nvPr/>
        </p:nvSpPr>
        <p:spPr>
          <a:xfrm>
            <a:off x="8711946" y="3017520"/>
            <a:ext cx="91440" cy="91440"/>
          </a:xfrm>
          <a:prstGeom prst="ellipse">
            <a:avLst/>
          </a:prstGeom>
          <a:solidFill>
            <a:srgbClr val="C55A11"/>
          </a:solidFill>
          <a:ln w="12700">
            <a:solidFill>
              <a:srgbClr val="C55A11"/>
            </a:solidFill>
            <a:prstDash val="solid"/>
          </a:ln>
        </p:spPr>
        <p:txBody>
          <a:bodyPr/>
          <a:lstStyle/>
          <a:p>
            <a:endParaRPr lang="ko-KR" altLang="en-US"/>
          </a:p>
        </p:txBody>
      </p:sp>
      <p:sp>
        <p:nvSpPr>
          <p:cNvPr id="38" name="Shape 35"/>
          <p:cNvSpPr/>
          <p:nvPr/>
        </p:nvSpPr>
        <p:spPr>
          <a:xfrm>
            <a:off x="8892540" y="2948940"/>
            <a:ext cx="91440" cy="91440"/>
          </a:xfrm>
          <a:prstGeom prst="ellipse">
            <a:avLst/>
          </a:prstGeom>
          <a:solidFill>
            <a:srgbClr val="C55A11"/>
          </a:solidFill>
          <a:ln w="12700">
            <a:solidFill>
              <a:srgbClr val="C55A11"/>
            </a:solidFill>
            <a:prstDash val="solid"/>
          </a:ln>
        </p:spPr>
        <p:txBody>
          <a:bodyPr/>
          <a:lstStyle/>
          <a:p>
            <a:endParaRPr lang="ko-KR" altLang="en-US"/>
          </a:p>
        </p:txBody>
      </p:sp>
      <p:sp>
        <p:nvSpPr>
          <p:cNvPr id="39" name="Shape 36"/>
          <p:cNvSpPr/>
          <p:nvPr/>
        </p:nvSpPr>
        <p:spPr>
          <a:xfrm>
            <a:off x="9109253" y="3051810"/>
            <a:ext cx="91440" cy="91440"/>
          </a:xfrm>
          <a:prstGeom prst="ellipse">
            <a:avLst/>
          </a:prstGeom>
          <a:solidFill>
            <a:srgbClr val="C55A11"/>
          </a:solidFill>
          <a:ln w="12700">
            <a:solidFill>
              <a:srgbClr val="C55A11"/>
            </a:solidFill>
            <a:prstDash val="solid"/>
          </a:ln>
        </p:spPr>
        <p:txBody>
          <a:bodyPr/>
          <a:lstStyle/>
          <a:p>
            <a:endParaRPr lang="ko-KR" altLang="en-US"/>
          </a:p>
        </p:txBody>
      </p:sp>
      <p:sp>
        <p:nvSpPr>
          <p:cNvPr id="40" name="Shape 37"/>
          <p:cNvSpPr/>
          <p:nvPr/>
        </p:nvSpPr>
        <p:spPr>
          <a:xfrm>
            <a:off x="9325966" y="3188970"/>
            <a:ext cx="91440" cy="91440"/>
          </a:xfrm>
          <a:prstGeom prst="ellipse">
            <a:avLst/>
          </a:prstGeom>
          <a:solidFill>
            <a:srgbClr val="C55A11"/>
          </a:solidFill>
          <a:ln w="12700">
            <a:solidFill>
              <a:srgbClr val="C55A11"/>
            </a:solidFill>
            <a:prstDash val="solid"/>
          </a:ln>
        </p:spPr>
        <p:txBody>
          <a:bodyPr/>
          <a:lstStyle/>
          <a:p>
            <a:endParaRPr lang="ko-KR" altLang="en-US"/>
          </a:p>
        </p:txBody>
      </p:sp>
      <p:sp>
        <p:nvSpPr>
          <p:cNvPr id="41" name="Shape 38"/>
          <p:cNvSpPr/>
          <p:nvPr/>
        </p:nvSpPr>
        <p:spPr>
          <a:xfrm>
            <a:off x="10265054" y="2914650"/>
            <a:ext cx="91440" cy="91440"/>
          </a:xfrm>
          <a:prstGeom prst="ellipse">
            <a:avLst/>
          </a:prstGeom>
          <a:solidFill>
            <a:srgbClr val="C55A11"/>
          </a:solidFill>
          <a:ln w="12700">
            <a:solidFill>
              <a:srgbClr val="C55A11"/>
            </a:solidFill>
            <a:prstDash val="solid"/>
          </a:ln>
        </p:spPr>
        <p:txBody>
          <a:bodyPr/>
          <a:lstStyle/>
          <a:p>
            <a:endParaRPr lang="ko-KR" altLang="en-US"/>
          </a:p>
        </p:txBody>
      </p:sp>
      <p:sp>
        <p:nvSpPr>
          <p:cNvPr id="42" name="Text 39"/>
          <p:cNvSpPr/>
          <p:nvPr/>
        </p:nvSpPr>
        <p:spPr>
          <a:xfrm>
            <a:off x="7406640" y="3721608"/>
            <a:ext cx="3474720" cy="164592"/>
          </a:xfrm>
          <a:prstGeom prst="rect">
            <a:avLst/>
          </a:prstGeom>
          <a:noFill/>
          <a:ln/>
        </p:spPr>
        <p:txBody>
          <a:bodyPr wrap="square" lIns="0" tIns="0" rIns="0" bIns="0" rtlCol="0" anchor="ctr"/>
          <a:lstStyle/>
          <a:p>
            <a:pPr marL="0" indent="0" algn="r">
              <a:buNone/>
            </a:pPr>
            <a:r>
              <a:rPr lang="en-US" sz="880" dirty="0">
                <a:solidFill>
                  <a:srgbClr val="4A4A4A"/>
                </a:solidFill>
                <a:latin typeface="Arial" pitchFamily="34" charset="0"/>
                <a:ea typeface="Arial" pitchFamily="34" charset="-122"/>
                <a:cs typeface="Arial" pitchFamily="34" charset="-120"/>
              </a:rPr>
              <a:t>Weight value</a:t>
            </a:r>
            <a:endParaRPr lang="en-US" sz="880" dirty="0"/>
          </a:p>
        </p:txBody>
      </p:sp>
      <p:sp>
        <p:nvSpPr>
          <p:cNvPr id="43" name="Text 40"/>
          <p:cNvSpPr/>
          <p:nvPr/>
        </p:nvSpPr>
        <p:spPr>
          <a:xfrm rot="16200000">
            <a:off x="6675120" y="2427736"/>
            <a:ext cx="365760" cy="164592"/>
          </a:xfrm>
          <a:prstGeom prst="rect">
            <a:avLst/>
          </a:prstGeom>
          <a:noFill/>
          <a:ln/>
        </p:spPr>
        <p:txBody>
          <a:bodyPr wrap="square" lIns="0" tIns="0" rIns="0" bIns="0" rtlCol="0" anchor="ctr"/>
          <a:lstStyle/>
          <a:p>
            <a:pPr marL="0" indent="0">
              <a:buNone/>
            </a:pPr>
            <a:r>
              <a:rPr lang="en-US" sz="880" dirty="0">
                <a:solidFill>
                  <a:srgbClr val="4A4A4A"/>
                </a:solidFill>
                <a:latin typeface="Arial" pitchFamily="34" charset="0"/>
                <a:ea typeface="Arial" pitchFamily="34" charset="-122"/>
                <a:cs typeface="Arial" pitchFamily="34" charset="-120"/>
              </a:rPr>
              <a:t>density</a:t>
            </a:r>
            <a:endParaRPr lang="en-US" sz="880" dirty="0"/>
          </a:p>
        </p:txBody>
      </p:sp>
      <p:sp>
        <p:nvSpPr>
          <p:cNvPr id="44" name="Text 41"/>
          <p:cNvSpPr/>
          <p:nvPr/>
        </p:nvSpPr>
        <p:spPr>
          <a:xfrm>
            <a:off x="6583680" y="4297680"/>
            <a:ext cx="4572000" cy="493776"/>
          </a:xfrm>
          <a:prstGeom prst="rect">
            <a:avLst/>
          </a:prstGeom>
          <a:noFill/>
          <a:ln/>
        </p:spPr>
        <p:txBody>
          <a:bodyPr wrap="square" lIns="254" tIns="254" rIns="254" bIns="254" rtlCol="0" anchor="ctr">
            <a:normAutofit lnSpcReduction="10000"/>
          </a:bodyPr>
          <a:lstStyle/>
          <a:p>
            <a:pPr marL="0" indent="0" algn="ctr">
              <a:buNone/>
            </a:pPr>
            <a:r>
              <a:rPr lang="en-US" sz="1150" b="1" dirty="0">
                <a:solidFill>
                  <a:srgbClr val="222222"/>
                </a:solidFill>
                <a:latin typeface="Arial" pitchFamily="34" charset="0"/>
                <a:ea typeface="Arial" pitchFamily="34" charset="-122"/>
                <a:cs typeface="Arial" pitchFamily="34" charset="-120"/>
              </a:rPr>
              <a:t>A </a:t>
            </a:r>
            <a:r>
              <a:rPr lang="en-US" sz="1150" b="1" dirty="0">
                <a:solidFill>
                  <a:srgbClr val="FF0000"/>
                </a:solidFill>
                <a:latin typeface="Arial" pitchFamily="34" charset="0"/>
                <a:ea typeface="Arial" pitchFamily="34" charset="-122"/>
                <a:cs typeface="Arial" pitchFamily="34" charset="-120"/>
              </a:rPr>
              <a:t>small</a:t>
            </a:r>
            <a:r>
              <a:rPr lang="en-US" sz="1150" b="1" dirty="0">
                <a:solidFill>
                  <a:srgbClr val="222222"/>
                </a:solidFill>
                <a:latin typeface="Arial" pitchFamily="34" charset="0"/>
                <a:ea typeface="Arial" pitchFamily="34" charset="-122"/>
                <a:cs typeface="Arial" pitchFamily="34" charset="-120"/>
              </a:rPr>
              <a:t> weight group can have a positive or negative outlier on only one side.</a:t>
            </a:r>
            <a:endParaRPr lang="en-US" sz="1150" dirty="0"/>
          </a:p>
          <a:p>
            <a:pPr marL="0" indent="0" algn="ctr">
              <a:buNone/>
            </a:pPr>
            <a:r>
              <a:rPr lang="en-US" sz="1150" b="1" dirty="0">
                <a:solidFill>
                  <a:srgbClr val="222222"/>
                </a:solidFill>
                <a:latin typeface="Arial" pitchFamily="34" charset="0"/>
                <a:ea typeface="Arial" pitchFamily="34" charset="-122"/>
                <a:cs typeface="Arial" pitchFamily="34" charset="-120"/>
              </a:rPr>
              <a:t>Symmetric levels waste range on the empty side.</a:t>
            </a:r>
            <a:endParaRPr lang="en-US" sz="1150" dirty="0"/>
          </a:p>
        </p:txBody>
      </p:sp>
      <p:sp>
        <p:nvSpPr>
          <p:cNvPr id="45" name="Shape 42"/>
          <p:cNvSpPr/>
          <p:nvPr/>
        </p:nvSpPr>
        <p:spPr>
          <a:xfrm>
            <a:off x="7132320" y="5074920"/>
            <a:ext cx="3429000" cy="402336"/>
          </a:xfrm>
          <a:prstGeom prst="roundRect">
            <a:avLst>
              <a:gd name="adj" fmla="val 18182"/>
            </a:avLst>
          </a:prstGeom>
          <a:solidFill>
            <a:srgbClr val="FCE4D6"/>
          </a:solidFill>
          <a:ln w="12700">
            <a:solidFill>
              <a:srgbClr val="E8A77B"/>
            </a:solidFill>
            <a:prstDash val="solid"/>
          </a:ln>
        </p:spPr>
        <p:txBody>
          <a:bodyPr/>
          <a:lstStyle/>
          <a:p>
            <a:endParaRPr lang="ko-KR" altLang="en-US"/>
          </a:p>
        </p:txBody>
      </p:sp>
      <p:sp>
        <p:nvSpPr>
          <p:cNvPr id="46" name="Text 43"/>
          <p:cNvSpPr/>
          <p:nvPr/>
        </p:nvSpPr>
        <p:spPr>
          <a:xfrm>
            <a:off x="7178040" y="5129784"/>
            <a:ext cx="3337560" cy="310896"/>
          </a:xfrm>
          <a:prstGeom prst="rect">
            <a:avLst/>
          </a:prstGeom>
          <a:noFill/>
          <a:ln/>
        </p:spPr>
        <p:txBody>
          <a:bodyPr wrap="square" lIns="254" tIns="254" rIns="254" bIns="254" rtlCol="0" anchor="ctr">
            <a:normAutofit/>
          </a:bodyPr>
          <a:lstStyle/>
          <a:p>
            <a:pPr marL="0" indent="0" algn="ctr">
              <a:buNone/>
            </a:pPr>
            <a:r>
              <a:rPr lang="en-US" sz="1060" b="1" dirty="0">
                <a:solidFill>
                  <a:srgbClr val="C55A11"/>
                </a:solidFill>
                <a:latin typeface="Arial" pitchFamily="34" charset="0"/>
                <a:ea typeface="Arial" pitchFamily="34" charset="-122"/>
                <a:cs typeface="Arial" pitchFamily="34" charset="-120"/>
              </a:rPr>
              <a:t>Use range where the group needs it</a:t>
            </a:r>
            <a:endParaRPr lang="en-US" sz="10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BitMoD Insight: Reuse Redundant Zero as a Special Value</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28</a:t>
            </a:r>
            <a:endParaRPr lang="en-US" sz="1000" dirty="0"/>
          </a:p>
        </p:txBody>
      </p:sp>
      <p:sp>
        <p:nvSpPr>
          <p:cNvPr id="8" name="Text 5"/>
          <p:cNvSpPr/>
          <p:nvPr/>
        </p:nvSpPr>
        <p:spPr>
          <a:xfrm>
            <a:off x="594360" y="1024128"/>
            <a:ext cx="10972800" cy="256032"/>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Low-precision floating point uses sign-magnitude, so +0 and −0 are two bit patterns for the same numerical zero.</a:t>
            </a:r>
            <a:endParaRPr lang="en-US" sz="1300" dirty="0"/>
          </a:p>
        </p:txBody>
      </p:sp>
      <p:sp>
        <p:nvSpPr>
          <p:cNvPr id="9" name="Shape 6"/>
          <p:cNvSpPr/>
          <p:nvPr/>
        </p:nvSpPr>
        <p:spPr>
          <a:xfrm>
            <a:off x="777240" y="1417320"/>
            <a:ext cx="5166360" cy="4434840"/>
          </a:xfrm>
          <a:prstGeom prst="roundRect">
            <a:avLst>
              <a:gd name="adj" fmla="val 1237"/>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941832" y="1536192"/>
            <a:ext cx="48371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Basic FP3 unique values</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1005840" y="2133202"/>
                <a:ext cx="4663440" cy="47548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en-US" altLang="ko-KR" sz="1200" smtClean="0">
                          <a:latin typeface="Cambria Math"/>
                        </a:rPr>
                        <m:t>{0,±1,±2,±4}</m:t>
                      </m:r>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1005840" y="2133202"/>
                <a:ext cx="4663440" cy="475488"/>
              </a:xfrm>
              <a:prstGeom prst="rect">
                <a:avLst/>
              </a:prstGeom>
              <a:blipFill>
                <a:blip r:embed="rId4"/>
                <a:stretch>
                  <a:fillRect/>
                </a:stretch>
              </a:blipFill>
              <a:ln/>
            </p:spPr>
            <p:txBody>
              <a:bodyPr/>
              <a:lstStyle/>
              <a:p>
                <a:r>
                  <a:rPr lang="ko-KR" altLang="en-US">
                    <a:noFill/>
                  </a:rPr>
                  <a:t> </a:t>
                </a:r>
              </a:p>
            </p:txBody>
          </p:sp>
        </mc:Fallback>
      </mc:AlternateContent>
      <p:sp>
        <p:nvSpPr>
          <p:cNvPr id="12" name="Text 9"/>
          <p:cNvSpPr/>
          <p:nvPr/>
        </p:nvSpPr>
        <p:spPr>
          <a:xfrm>
            <a:off x="1097280" y="2837290"/>
            <a:ext cx="4480560" cy="384048"/>
          </a:xfrm>
          <a:prstGeom prst="rect">
            <a:avLst/>
          </a:prstGeom>
          <a:noFill/>
          <a:ln/>
        </p:spPr>
        <p:txBody>
          <a:bodyPr wrap="square" lIns="254" tIns="254" rIns="254" bIns="254" rtlCol="0" anchor="ctr">
            <a:normAutofit/>
          </a:bodyPr>
          <a:lstStyle/>
          <a:p>
            <a:pPr marL="0" indent="0" algn="ctr">
              <a:buNone/>
            </a:pPr>
            <a:r>
              <a:rPr lang="en-US" sz="1170" dirty="0">
                <a:solidFill>
                  <a:srgbClr val="222222"/>
                </a:solidFill>
                <a:latin typeface="Arial" pitchFamily="34" charset="0"/>
                <a:ea typeface="Arial" pitchFamily="34" charset="-122"/>
                <a:cs typeface="Arial" pitchFamily="34" charset="-120"/>
              </a:rPr>
              <a:t>3-bit gives 8 bit patterns, but </a:t>
            </a:r>
            <a:r>
              <a:rPr lang="en-US" sz="1170" dirty="0">
                <a:solidFill>
                  <a:srgbClr val="FF0000"/>
                </a:solidFill>
                <a:latin typeface="Arial" pitchFamily="34" charset="0"/>
                <a:ea typeface="Arial" pitchFamily="34" charset="-122"/>
                <a:cs typeface="Arial" pitchFamily="34" charset="-120"/>
              </a:rPr>
              <a:t>+0 and −0 </a:t>
            </a:r>
            <a:r>
              <a:rPr lang="en-US" sz="1170" dirty="0">
                <a:solidFill>
                  <a:srgbClr val="222222"/>
                </a:solidFill>
                <a:latin typeface="Arial" pitchFamily="34" charset="0"/>
                <a:ea typeface="Arial" pitchFamily="34" charset="-122"/>
                <a:cs typeface="Arial" pitchFamily="34" charset="-120"/>
              </a:rPr>
              <a:t>both represent numerical zero.</a:t>
            </a:r>
            <a:endParaRPr lang="en-US" sz="1170" dirty="0"/>
          </a:p>
        </p:txBody>
      </p:sp>
      <mc:AlternateContent xmlns:mc="http://schemas.openxmlformats.org/markup-compatibility/2006" xmlns:a14="http://schemas.microsoft.com/office/drawing/2010/main">
        <mc:Choice Requires="a14">
          <p:sp>
            <p:nvSpPr>
              <p:cNvPr id="13" name="Text 10"/>
              <p:cNvSpPr/>
              <p:nvPr/>
            </p:nvSpPr>
            <p:spPr>
              <a:xfrm>
                <a:off x="1463040" y="3504802"/>
                <a:ext cx="3840480" cy="47548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f>
                        <m:fPr>
                          <m:ctrlPr>
                            <a:rPr lang="en-US" altLang="ko-KR" sz="1200" smtClean="0">
                              <a:latin typeface="Cambria Math"/>
                            </a:rPr>
                          </m:ctrlPr>
                        </m:fPr>
                        <m:num>
                          <m:r>
                            <a:rPr lang="en-US" altLang="ko-KR" sz="1200" smtClean="0">
                              <a:latin typeface="Cambria Math"/>
                            </a:rPr>
                            <m:t>1</m:t>
                          </m:r>
                        </m:num>
                        <m:den>
                          <m:r>
                            <a:rPr lang="en-US" altLang="ko-KR" sz="1200" smtClean="0">
                              <a:latin typeface="Cambria Math"/>
                            </a:rPr>
                            <m:t>8</m:t>
                          </m:r>
                        </m:den>
                      </m:f>
                      <m:r>
                        <a:rPr lang="en-US" altLang="ko-KR" sz="1200" smtClean="0">
                          <a:latin typeface="Cambria Math"/>
                        </a:rPr>
                        <m:t>=12.5%</m:t>
                      </m:r>
                    </m:oMath>
                  </m:oMathPara>
                </a14:m>
                <a:endParaRPr/>
              </a:p>
            </p:txBody>
          </p:sp>
        </mc:Choice>
        <mc:Fallback xmlns="">
          <p:sp>
            <p:nvSpPr>
              <p:cNvPr id="13" name="Text 10"/>
              <p:cNvSpPr>
                <a:spLocks noRot="1" noChangeAspect="1" noMove="1" noResize="1" noEditPoints="1" noAdjustHandles="1" noChangeArrowheads="1" noChangeShapeType="1" noTextEdit="1"/>
              </p:cNvSpPr>
              <p:nvPr/>
            </p:nvSpPr>
            <p:spPr>
              <a:xfrm>
                <a:off x="1463040" y="3504802"/>
                <a:ext cx="3840480" cy="475488"/>
              </a:xfrm>
              <a:prstGeom prst="rect">
                <a:avLst/>
              </a:prstGeom>
              <a:blipFill>
                <a:blip r:embed="rId5"/>
                <a:stretch>
                  <a:fillRect/>
                </a:stretch>
              </a:blipFill>
              <a:ln/>
            </p:spPr>
            <p:txBody>
              <a:bodyPr/>
              <a:lstStyle/>
              <a:p>
                <a:r>
                  <a:rPr lang="ko-KR" altLang="en-US">
                    <a:noFill/>
                  </a:rPr>
                  <a:t> </a:t>
                </a:r>
              </a:p>
            </p:txBody>
          </p:sp>
        </mc:Fallback>
      </mc:AlternateContent>
      <p:sp>
        <p:nvSpPr>
          <p:cNvPr id="14" name="Shape 11"/>
          <p:cNvSpPr/>
          <p:nvPr/>
        </p:nvSpPr>
        <p:spPr>
          <a:xfrm>
            <a:off x="1188720" y="4391770"/>
            <a:ext cx="4343400" cy="658368"/>
          </a:xfrm>
          <a:prstGeom prst="roundRect">
            <a:avLst>
              <a:gd name="adj" fmla="val 8333"/>
            </a:avLst>
          </a:prstGeom>
          <a:solidFill>
            <a:srgbClr val="FFFDF2"/>
          </a:solidFill>
          <a:ln w="12700">
            <a:solidFill>
              <a:srgbClr val="D6B656"/>
            </a:solidFill>
            <a:prstDash val="solid"/>
          </a:ln>
        </p:spPr>
        <p:txBody>
          <a:bodyPr/>
          <a:lstStyle/>
          <a:p>
            <a:endParaRPr lang="ko-KR" altLang="en-US"/>
          </a:p>
        </p:txBody>
      </p:sp>
      <p:sp>
        <p:nvSpPr>
          <p:cNvPr id="15" name="Text 12"/>
          <p:cNvSpPr/>
          <p:nvPr/>
        </p:nvSpPr>
        <p:spPr>
          <a:xfrm>
            <a:off x="1417320" y="4547218"/>
            <a:ext cx="3886200" cy="310896"/>
          </a:xfrm>
          <a:prstGeom prst="rect">
            <a:avLst/>
          </a:prstGeom>
          <a:noFill/>
          <a:ln/>
        </p:spPr>
        <p:txBody>
          <a:bodyPr wrap="square" lIns="0" tIns="0" rIns="0" bIns="0" rtlCol="0" anchor="ctr">
            <a:normAutofit lnSpcReduction="10000"/>
          </a:bodyPr>
          <a:lstStyle/>
          <a:p>
            <a:pPr marL="0" indent="0" algn="ctr">
              <a:buNone/>
            </a:pPr>
            <a:r>
              <a:rPr lang="en-US" sz="1130" b="1" dirty="0">
                <a:solidFill>
                  <a:srgbClr val="00245D"/>
                </a:solidFill>
                <a:latin typeface="Arial" pitchFamily="34" charset="0"/>
                <a:ea typeface="Arial" pitchFamily="34" charset="-122"/>
                <a:cs typeface="Arial" pitchFamily="34" charset="-120"/>
              </a:rPr>
              <a:t>In FP3, one out of eight patterns is redundant zero.</a:t>
            </a:r>
            <a:endParaRPr lang="en-US" sz="1130" dirty="0"/>
          </a:p>
          <a:p>
            <a:pPr marL="0" indent="0" algn="ctr">
              <a:buNone/>
            </a:pPr>
            <a:r>
              <a:rPr lang="en-US" sz="1130" b="1" dirty="0">
                <a:solidFill>
                  <a:srgbClr val="00245D"/>
                </a:solidFill>
                <a:latin typeface="Arial" pitchFamily="34" charset="0"/>
                <a:ea typeface="Arial" pitchFamily="34" charset="-122"/>
                <a:cs typeface="Arial" pitchFamily="34" charset="-120"/>
              </a:rPr>
              <a:t>This is too </a:t>
            </a:r>
            <a:r>
              <a:rPr lang="en-US" sz="1130" b="1" dirty="0">
                <a:solidFill>
                  <a:srgbClr val="FF0000"/>
                </a:solidFill>
                <a:latin typeface="Arial" pitchFamily="34" charset="0"/>
                <a:ea typeface="Arial" pitchFamily="34" charset="-122"/>
                <a:cs typeface="Arial" pitchFamily="34" charset="-120"/>
              </a:rPr>
              <a:t>expensive</a:t>
            </a:r>
            <a:r>
              <a:rPr lang="en-US" sz="1130" b="1" dirty="0">
                <a:solidFill>
                  <a:srgbClr val="00245D"/>
                </a:solidFill>
                <a:latin typeface="Arial" pitchFamily="34" charset="0"/>
                <a:ea typeface="Arial" pitchFamily="34" charset="-122"/>
                <a:cs typeface="Arial" pitchFamily="34" charset="-120"/>
              </a:rPr>
              <a:t> to waste.</a:t>
            </a:r>
            <a:endParaRPr lang="en-US" sz="1130" dirty="0"/>
          </a:p>
        </p:txBody>
      </p:sp>
      <p:sp>
        <p:nvSpPr>
          <p:cNvPr id="16" name="Shape 13"/>
          <p:cNvSpPr/>
          <p:nvPr/>
        </p:nvSpPr>
        <p:spPr>
          <a:xfrm>
            <a:off x="6446520" y="1417320"/>
            <a:ext cx="4983480" cy="4434840"/>
          </a:xfrm>
          <a:prstGeom prst="roundRect">
            <a:avLst>
              <a:gd name="adj" fmla="val 1237"/>
            </a:avLst>
          </a:prstGeom>
          <a:solidFill>
            <a:srgbClr val="E2F0D9"/>
          </a:solidFill>
          <a:ln w="13335">
            <a:solidFill>
              <a:srgbClr val="548235"/>
            </a:solidFill>
            <a:prstDash val="solid"/>
          </a:ln>
        </p:spPr>
        <p:txBody>
          <a:bodyPr/>
          <a:lstStyle/>
          <a:p>
            <a:endParaRPr lang="ko-KR" altLang="en-US"/>
          </a:p>
        </p:txBody>
      </p:sp>
      <p:sp>
        <p:nvSpPr>
          <p:cNvPr id="17" name="Text 14"/>
          <p:cNvSpPr/>
          <p:nvPr/>
        </p:nvSpPr>
        <p:spPr>
          <a:xfrm>
            <a:off x="6611112" y="1536192"/>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BitMoD replacement</a:t>
            </a:r>
            <a:endParaRPr lang="en-US" sz="1200" dirty="0"/>
          </a:p>
        </p:txBody>
      </p:sp>
      <p:sp>
        <p:nvSpPr>
          <p:cNvPr id="18" name="Shape 15"/>
          <p:cNvSpPr/>
          <p:nvPr/>
        </p:nvSpPr>
        <p:spPr>
          <a:xfrm>
            <a:off x="6903720" y="1874520"/>
            <a:ext cx="4069080" cy="530352"/>
          </a:xfrm>
          <a:prstGeom prst="roundRect">
            <a:avLst>
              <a:gd name="adj" fmla="val 8621"/>
            </a:avLst>
          </a:prstGeom>
          <a:solidFill>
            <a:srgbClr val="FFFFFF"/>
          </a:solidFill>
          <a:ln w="12700">
            <a:solidFill>
              <a:srgbClr val="548235"/>
            </a:solidFill>
            <a:prstDash val="solid"/>
          </a:ln>
        </p:spPr>
        <p:txBody>
          <a:bodyPr/>
          <a:lstStyle/>
          <a:p>
            <a:endParaRPr lang="ko-KR" altLang="en-US"/>
          </a:p>
        </p:txBody>
      </p:sp>
      <p:sp>
        <p:nvSpPr>
          <p:cNvPr id="19" name="Text 16"/>
          <p:cNvSpPr/>
          <p:nvPr/>
        </p:nvSpPr>
        <p:spPr>
          <a:xfrm>
            <a:off x="6976872" y="1920240"/>
            <a:ext cx="3922776" cy="457200"/>
          </a:xfrm>
          <a:prstGeom prst="rect">
            <a:avLst/>
          </a:prstGeom>
          <a:noFill/>
          <a:ln/>
        </p:spPr>
        <p:txBody>
          <a:bodyPr wrap="square" lIns="254" tIns="254" rIns="254" bIns="254" rtlCol="0" anchor="ctr">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Basic FP3</a:t>
            </a:r>
            <a:endParaRPr lang="en-US" sz="1100" dirty="0"/>
          </a:p>
          <a:p>
            <a:pPr marL="0" indent="0" algn="ctr">
              <a:buNone/>
            </a:pPr>
            <a:r>
              <a:rPr lang="en-US" sz="1100" b="1" dirty="0">
                <a:solidFill>
                  <a:srgbClr val="222222"/>
                </a:solidFill>
                <a:latin typeface="Arial" pitchFamily="34" charset="0"/>
                <a:ea typeface="Arial" pitchFamily="34" charset="-122"/>
                <a:cs typeface="Arial" pitchFamily="34" charset="-120"/>
              </a:rPr>
              <a:t>0, ±1, ±2, ±4</a:t>
            </a:r>
            <a:endParaRPr lang="en-US" sz="1100" dirty="0"/>
          </a:p>
        </p:txBody>
      </p:sp>
      <p:sp>
        <p:nvSpPr>
          <p:cNvPr id="20" name="Shape 17"/>
          <p:cNvSpPr/>
          <p:nvPr/>
        </p:nvSpPr>
        <p:spPr>
          <a:xfrm>
            <a:off x="8942832" y="2487168"/>
            <a:ext cx="0" cy="484632"/>
          </a:xfrm>
          <a:prstGeom prst="line">
            <a:avLst/>
          </a:prstGeom>
          <a:noFill/>
          <a:ln w="15240">
            <a:solidFill>
              <a:srgbClr val="548235"/>
            </a:solidFill>
            <a:prstDash val="solid"/>
            <a:tailEnd type="triangle"/>
          </a:ln>
        </p:spPr>
        <p:txBody>
          <a:bodyPr/>
          <a:lstStyle/>
          <a:p>
            <a:endParaRPr lang="ko-KR" altLang="en-US"/>
          </a:p>
        </p:txBody>
      </p:sp>
      <p:sp>
        <p:nvSpPr>
          <p:cNvPr id="21" name="Shape 18"/>
          <p:cNvSpPr/>
          <p:nvPr/>
        </p:nvSpPr>
        <p:spPr>
          <a:xfrm>
            <a:off x="6903720" y="3063240"/>
            <a:ext cx="4069080" cy="713232"/>
          </a:xfrm>
          <a:prstGeom prst="roundRect">
            <a:avLst>
              <a:gd name="adj" fmla="val 6410"/>
            </a:avLst>
          </a:prstGeom>
          <a:solidFill>
            <a:srgbClr val="E2F0D9"/>
          </a:solidFill>
          <a:ln w="12700">
            <a:solidFill>
              <a:srgbClr val="548235"/>
            </a:solidFill>
            <a:prstDash val="solid"/>
          </a:ln>
        </p:spPr>
        <p:txBody>
          <a:bodyPr/>
          <a:lstStyle/>
          <a:p>
            <a:endParaRPr lang="ko-KR" altLang="en-US"/>
          </a:p>
        </p:txBody>
      </p:sp>
      <p:sp>
        <p:nvSpPr>
          <p:cNvPr id="22" name="Text 19"/>
          <p:cNvSpPr/>
          <p:nvPr/>
        </p:nvSpPr>
        <p:spPr>
          <a:xfrm>
            <a:off x="6976872" y="3108960"/>
            <a:ext cx="3922776" cy="640080"/>
          </a:xfrm>
          <a:prstGeom prst="rect">
            <a:avLst/>
          </a:prstGeom>
          <a:noFill/>
          <a:ln/>
        </p:spPr>
        <p:txBody>
          <a:bodyPr wrap="square" lIns="254" tIns="254" rIns="254" bIns="254" rtlCol="0" anchor="ctr">
            <a:normAutofit/>
          </a:bodyPr>
          <a:lstStyle/>
          <a:p>
            <a:pPr marL="0" indent="0" algn="ctr">
              <a:buNone/>
            </a:pPr>
            <a:r>
              <a:rPr lang="en-US" sz="1100" b="1" dirty="0">
                <a:solidFill>
                  <a:srgbClr val="FF0000"/>
                </a:solidFill>
                <a:latin typeface="Arial" pitchFamily="34" charset="0"/>
                <a:ea typeface="Arial" pitchFamily="34" charset="-122"/>
                <a:cs typeface="Arial" pitchFamily="34" charset="-120"/>
              </a:rPr>
              <a:t>Replace</a:t>
            </a:r>
            <a:r>
              <a:rPr lang="en-US" sz="1100" b="1" dirty="0">
                <a:solidFill>
                  <a:srgbClr val="222222"/>
                </a:solidFill>
                <a:latin typeface="Arial" pitchFamily="34" charset="0"/>
                <a:ea typeface="Arial" pitchFamily="34" charset="-122"/>
                <a:cs typeface="Arial" pitchFamily="34" charset="-120"/>
              </a:rPr>
              <a:t> redundant −0</a:t>
            </a:r>
            <a:endParaRPr lang="en-US" sz="1100" dirty="0"/>
          </a:p>
          <a:p>
            <a:pPr marL="0" indent="0" algn="ctr">
              <a:buNone/>
            </a:pPr>
            <a:r>
              <a:rPr lang="en-US" sz="1100" b="1" dirty="0">
                <a:solidFill>
                  <a:srgbClr val="222222"/>
                </a:solidFill>
                <a:latin typeface="Arial" pitchFamily="34" charset="0"/>
                <a:ea typeface="Arial" pitchFamily="34" charset="-122"/>
                <a:cs typeface="Arial" pitchFamily="34" charset="-120"/>
              </a:rPr>
              <a:t>with one Special Value</a:t>
            </a:r>
            <a:endParaRPr lang="en-US" sz="1100" dirty="0"/>
          </a:p>
        </p:txBody>
      </p:sp>
      <p:sp>
        <p:nvSpPr>
          <p:cNvPr id="23" name="Shape 20"/>
          <p:cNvSpPr/>
          <p:nvPr/>
        </p:nvSpPr>
        <p:spPr>
          <a:xfrm>
            <a:off x="8942832" y="3867912"/>
            <a:ext cx="0" cy="475488"/>
          </a:xfrm>
          <a:prstGeom prst="line">
            <a:avLst/>
          </a:prstGeom>
          <a:noFill/>
          <a:ln w="15240">
            <a:solidFill>
              <a:srgbClr val="548235"/>
            </a:solidFill>
            <a:prstDash val="solid"/>
            <a:tailEnd type="triangle"/>
          </a:ln>
        </p:spPr>
        <p:txBody>
          <a:bodyPr/>
          <a:lstStyle/>
          <a:p>
            <a:endParaRPr lang="ko-KR" altLang="en-US"/>
          </a:p>
        </p:txBody>
      </p:sp>
      <p:sp>
        <p:nvSpPr>
          <p:cNvPr id="24" name="Shape 21"/>
          <p:cNvSpPr/>
          <p:nvPr/>
        </p:nvSpPr>
        <p:spPr>
          <a:xfrm>
            <a:off x="6903720" y="4462272"/>
            <a:ext cx="4069080" cy="640080"/>
          </a:xfrm>
          <a:prstGeom prst="roundRect">
            <a:avLst>
              <a:gd name="adj" fmla="val 7143"/>
            </a:avLst>
          </a:prstGeom>
          <a:solidFill>
            <a:srgbClr val="FFFDF2"/>
          </a:solidFill>
          <a:ln w="12700">
            <a:solidFill>
              <a:srgbClr val="D6B656"/>
            </a:solidFill>
            <a:prstDash val="solid"/>
          </a:ln>
        </p:spPr>
        <p:txBody>
          <a:bodyPr/>
          <a:lstStyle/>
          <a:p>
            <a:endParaRPr lang="ko-KR" altLang="en-US"/>
          </a:p>
        </p:txBody>
      </p:sp>
      <p:sp>
        <p:nvSpPr>
          <p:cNvPr id="25" name="Text 22"/>
          <p:cNvSpPr/>
          <p:nvPr/>
        </p:nvSpPr>
        <p:spPr>
          <a:xfrm>
            <a:off x="6976872" y="4507992"/>
            <a:ext cx="3922776" cy="566928"/>
          </a:xfrm>
          <a:prstGeom prst="rect">
            <a:avLst/>
          </a:prstGeom>
          <a:noFill/>
          <a:ln/>
        </p:spPr>
        <p:txBody>
          <a:bodyPr wrap="square" lIns="254" tIns="254" rIns="254" bIns="254" rtlCol="0" anchor="ctr">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Example</a:t>
            </a:r>
            <a:endParaRPr lang="en-US" sz="1100" dirty="0"/>
          </a:p>
          <a:p>
            <a:pPr marL="0" indent="0" algn="ctr">
              <a:buNone/>
            </a:pPr>
            <a:r>
              <a:rPr lang="en-US" sz="1100" b="1" dirty="0">
                <a:solidFill>
                  <a:srgbClr val="222222"/>
                </a:solidFill>
                <a:latin typeface="Arial" pitchFamily="34" charset="0"/>
                <a:ea typeface="Arial" pitchFamily="34" charset="-122"/>
                <a:cs typeface="Arial" pitchFamily="34" charset="-120"/>
              </a:rPr>
              <a:t>0, ±1, ±2, ±4, </a:t>
            </a:r>
            <a:r>
              <a:rPr lang="en-US" sz="1100" b="1" dirty="0">
                <a:solidFill>
                  <a:srgbClr val="FF0000"/>
                </a:solidFill>
                <a:latin typeface="Arial" pitchFamily="34" charset="0"/>
                <a:ea typeface="Arial" pitchFamily="34" charset="-122"/>
                <a:cs typeface="Arial" pitchFamily="34" charset="-120"/>
              </a:rPr>
              <a:t>+6</a:t>
            </a:r>
            <a:endParaRPr lang="en-US" sz="1100" dirty="0">
              <a:solidFill>
                <a:srgbClr val="FF0000"/>
              </a:solidFill>
            </a:endParaRPr>
          </a:p>
        </p:txBody>
      </p:sp>
      <p:sp>
        <p:nvSpPr>
          <p:cNvPr id="26" name="Text 23"/>
          <p:cNvSpPr/>
          <p:nvPr/>
        </p:nvSpPr>
        <p:spPr>
          <a:xfrm>
            <a:off x="6629400" y="5440680"/>
            <a:ext cx="4617720" cy="256032"/>
          </a:xfrm>
          <a:prstGeom prst="rect">
            <a:avLst/>
          </a:prstGeom>
          <a:noFill/>
          <a:ln/>
        </p:spPr>
        <p:txBody>
          <a:bodyPr wrap="square" lIns="0" tIns="0" rIns="0" bIns="0" rtlCol="0" anchor="ctr">
            <a:normAutofit fontScale="85000" lnSpcReduction="20000"/>
          </a:bodyPr>
          <a:lstStyle/>
          <a:p>
            <a:pPr marL="0" indent="0" algn="ctr">
              <a:buNone/>
            </a:pPr>
            <a:r>
              <a:rPr lang="en-US" sz="1140" b="1" dirty="0">
                <a:solidFill>
                  <a:srgbClr val="548235"/>
                </a:solidFill>
                <a:latin typeface="Arial" pitchFamily="34" charset="0"/>
                <a:ea typeface="Arial" pitchFamily="34" charset="-122"/>
                <a:cs typeface="Arial" pitchFamily="34" charset="-120"/>
              </a:rPr>
              <a:t>Special Value can improve resolution or extend one-sided range for each weight group.</a:t>
            </a:r>
            <a:endParaRPr lang="en-US" sz="11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Quantization Bit-width Matters: 8/4-bit Is Not Enough</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29</a:t>
            </a:r>
            <a:endParaRPr lang="en-US" sz="1000" dirty="0"/>
          </a:p>
        </p:txBody>
      </p:sp>
      <p:sp>
        <p:nvSpPr>
          <p:cNvPr id="8" name="Text 5"/>
          <p:cNvSpPr/>
          <p:nvPr/>
        </p:nvSpPr>
        <p:spPr>
          <a:xfrm>
            <a:off x="594360" y="1024128"/>
            <a:ext cx="10972800" cy="256032"/>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Different bit-widths provide different accuracy–efficiency trade-offs. 6-bit is important, and 3-bit needs better data types.</a:t>
            </a:r>
            <a:endParaRPr lang="en-US" sz="1300" dirty="0"/>
          </a:p>
        </p:txBody>
      </p:sp>
      <p:sp>
        <p:nvSpPr>
          <p:cNvPr id="9" name="Shape 6"/>
          <p:cNvSpPr/>
          <p:nvPr/>
        </p:nvSpPr>
        <p:spPr>
          <a:xfrm>
            <a:off x="685800" y="1417320"/>
            <a:ext cx="5212080" cy="4434840"/>
          </a:xfrm>
          <a:prstGeom prst="roundRect">
            <a:avLst>
              <a:gd name="adj" fmla="val 1237"/>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36192"/>
            <a:ext cx="48828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6-bit can be almost lossless</a:t>
            </a:r>
            <a:endParaRPr lang="en-US" sz="1200" dirty="0"/>
          </a:p>
        </p:txBody>
      </p:sp>
      <p:sp>
        <p:nvSpPr>
          <p:cNvPr id="35" name="Text 32"/>
          <p:cNvSpPr/>
          <p:nvPr/>
        </p:nvSpPr>
        <p:spPr>
          <a:xfrm>
            <a:off x="1051560" y="4488558"/>
            <a:ext cx="4251960" cy="457200"/>
          </a:xfrm>
          <a:prstGeom prst="rect">
            <a:avLst/>
          </a:prstGeom>
          <a:noFill/>
          <a:ln/>
        </p:spPr>
        <p:txBody>
          <a:bodyPr wrap="square" lIns="254" tIns="254" rIns="254" bIns="254" rtlCol="0" anchor="ctr">
            <a:normAutofit/>
          </a:bodyPr>
          <a:lstStyle/>
          <a:p>
            <a:pPr marL="0" indent="0" algn="ctr">
              <a:buNone/>
            </a:pPr>
            <a:r>
              <a:rPr lang="en-US" sz="1120" b="1" dirty="0">
                <a:solidFill>
                  <a:srgbClr val="00245D"/>
                </a:solidFill>
                <a:latin typeface="Arial" pitchFamily="34" charset="0"/>
                <a:ea typeface="Arial" pitchFamily="34" charset="-122"/>
                <a:cs typeface="Arial" pitchFamily="34" charset="-120"/>
              </a:rPr>
              <a:t>INT6-Sym average PPL loss is reported as &lt; 0.05.</a:t>
            </a:r>
            <a:endParaRPr lang="en-US" sz="1120" dirty="0"/>
          </a:p>
          <a:p>
            <a:pPr marL="0" indent="0" algn="ctr">
              <a:buNone/>
            </a:pPr>
            <a:r>
              <a:rPr lang="en-US" sz="1120" b="1" dirty="0">
                <a:solidFill>
                  <a:srgbClr val="00245D"/>
                </a:solidFill>
                <a:latin typeface="Arial" pitchFamily="34" charset="0"/>
                <a:ea typeface="Arial" pitchFamily="34" charset="-122"/>
                <a:cs typeface="Arial" pitchFamily="34" charset="-120"/>
              </a:rPr>
              <a:t>So 6-bit is a useful middle point between 8-bit and 4-bit.</a:t>
            </a:r>
            <a:endParaRPr lang="en-US" sz="1120" dirty="0"/>
          </a:p>
        </p:txBody>
      </p:sp>
      <p:sp>
        <p:nvSpPr>
          <p:cNvPr id="36" name="Shape 33"/>
          <p:cNvSpPr/>
          <p:nvPr/>
        </p:nvSpPr>
        <p:spPr>
          <a:xfrm>
            <a:off x="6446520" y="1417320"/>
            <a:ext cx="5074920" cy="4434840"/>
          </a:xfrm>
          <a:prstGeom prst="roundRect">
            <a:avLst>
              <a:gd name="adj" fmla="val 1237"/>
            </a:avLst>
          </a:prstGeom>
          <a:solidFill>
            <a:srgbClr val="FFFDF2"/>
          </a:solidFill>
          <a:ln w="13335">
            <a:solidFill>
              <a:srgbClr val="D6B656"/>
            </a:solidFill>
            <a:prstDash val="solid"/>
          </a:ln>
        </p:spPr>
        <p:txBody>
          <a:bodyPr/>
          <a:lstStyle/>
          <a:p>
            <a:endParaRPr lang="ko-KR" altLang="en-US"/>
          </a:p>
        </p:txBody>
      </p:sp>
      <p:sp>
        <p:nvSpPr>
          <p:cNvPr id="37" name="Text 34"/>
          <p:cNvSpPr/>
          <p:nvPr/>
        </p:nvSpPr>
        <p:spPr>
          <a:xfrm>
            <a:off x="6611112" y="1536192"/>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Precision choice should be flexible</a:t>
            </a:r>
            <a:endParaRPr lang="en-US" sz="1200" dirty="0"/>
          </a:p>
        </p:txBody>
      </p:sp>
      <p:sp>
        <p:nvSpPr>
          <p:cNvPr id="38" name="Shape 35"/>
          <p:cNvSpPr/>
          <p:nvPr/>
        </p:nvSpPr>
        <p:spPr>
          <a:xfrm>
            <a:off x="6804660" y="2132718"/>
            <a:ext cx="1508760" cy="438912"/>
          </a:xfrm>
          <a:prstGeom prst="roundRect">
            <a:avLst>
              <a:gd name="adj" fmla="val 10417"/>
            </a:avLst>
          </a:prstGeom>
          <a:solidFill>
            <a:srgbClr val="FFFFFF"/>
          </a:solidFill>
          <a:ln w="12700">
            <a:solidFill>
              <a:srgbClr val="D6B656"/>
            </a:solidFill>
            <a:prstDash val="solid"/>
          </a:ln>
        </p:spPr>
        <p:txBody>
          <a:bodyPr/>
          <a:lstStyle/>
          <a:p>
            <a:endParaRPr lang="ko-KR" altLang="en-US"/>
          </a:p>
        </p:txBody>
      </p:sp>
      <p:sp>
        <p:nvSpPr>
          <p:cNvPr id="39" name="Text 36"/>
          <p:cNvSpPr/>
          <p:nvPr/>
        </p:nvSpPr>
        <p:spPr>
          <a:xfrm>
            <a:off x="6877812" y="2178438"/>
            <a:ext cx="1362456" cy="365760"/>
          </a:xfrm>
          <a:prstGeom prst="rect">
            <a:avLst/>
          </a:prstGeom>
          <a:noFill/>
          <a:ln/>
        </p:spPr>
        <p:txBody>
          <a:bodyPr wrap="square" lIns="254" tIns="254" rIns="254" bIns="254" rtlCol="0" anchor="ctr">
            <a:normAutofit/>
          </a:bodyPr>
          <a:lstStyle/>
          <a:p>
            <a:pPr marL="0" indent="0" algn="ctr">
              <a:buNone/>
            </a:pPr>
            <a:r>
              <a:rPr lang="en-US" sz="1020" b="1" dirty="0">
                <a:solidFill>
                  <a:srgbClr val="222222"/>
                </a:solidFill>
                <a:latin typeface="Arial" pitchFamily="34" charset="0"/>
                <a:ea typeface="Arial" pitchFamily="34" charset="-122"/>
                <a:cs typeface="Arial" pitchFamily="34" charset="-120"/>
              </a:rPr>
              <a:t>High accuracy</a:t>
            </a:r>
            <a:endParaRPr lang="en-US" sz="1020" dirty="0"/>
          </a:p>
        </p:txBody>
      </p:sp>
      <p:sp>
        <p:nvSpPr>
          <p:cNvPr id="40" name="Shape 37"/>
          <p:cNvSpPr/>
          <p:nvPr/>
        </p:nvSpPr>
        <p:spPr>
          <a:xfrm>
            <a:off x="8359140" y="2352174"/>
            <a:ext cx="548640" cy="0"/>
          </a:xfrm>
          <a:prstGeom prst="line">
            <a:avLst/>
          </a:prstGeom>
          <a:noFill/>
          <a:ln w="12700">
            <a:solidFill>
              <a:srgbClr val="00245D"/>
            </a:solidFill>
            <a:prstDash val="solid"/>
            <a:tailEnd type="triangle"/>
          </a:ln>
        </p:spPr>
        <p:txBody>
          <a:bodyPr/>
          <a:lstStyle/>
          <a:p>
            <a:endParaRPr lang="ko-KR" altLang="en-US"/>
          </a:p>
        </p:txBody>
      </p:sp>
      <p:sp>
        <p:nvSpPr>
          <p:cNvPr id="41" name="Shape 38"/>
          <p:cNvSpPr/>
          <p:nvPr/>
        </p:nvSpPr>
        <p:spPr>
          <a:xfrm>
            <a:off x="8999220" y="2132718"/>
            <a:ext cx="1005840" cy="438912"/>
          </a:xfrm>
          <a:prstGeom prst="roundRect">
            <a:avLst>
              <a:gd name="adj" fmla="val 10417"/>
            </a:avLst>
          </a:prstGeom>
          <a:solidFill>
            <a:srgbClr val="EAF2FF"/>
          </a:solidFill>
          <a:ln w="12700">
            <a:solidFill>
              <a:srgbClr val="7EA6E0"/>
            </a:solidFill>
            <a:prstDash val="solid"/>
          </a:ln>
        </p:spPr>
        <p:txBody>
          <a:bodyPr/>
          <a:lstStyle/>
          <a:p>
            <a:endParaRPr lang="ko-KR" altLang="en-US"/>
          </a:p>
        </p:txBody>
      </p:sp>
      <p:sp>
        <p:nvSpPr>
          <p:cNvPr id="42" name="Text 39"/>
          <p:cNvSpPr/>
          <p:nvPr/>
        </p:nvSpPr>
        <p:spPr>
          <a:xfrm>
            <a:off x="9072372" y="2178438"/>
            <a:ext cx="859536" cy="365760"/>
          </a:xfrm>
          <a:prstGeom prst="rect">
            <a:avLst/>
          </a:prstGeom>
          <a:noFill/>
          <a:ln/>
        </p:spPr>
        <p:txBody>
          <a:bodyPr wrap="square" lIns="254" tIns="254" rIns="254" bIns="254" rtlCol="0" anchor="ctr">
            <a:normAutofit/>
          </a:bodyPr>
          <a:lstStyle/>
          <a:p>
            <a:pPr marL="0" indent="0" algn="ctr">
              <a:buNone/>
            </a:pPr>
            <a:r>
              <a:rPr lang="en-US" sz="1080" b="1" dirty="0">
                <a:solidFill>
                  <a:srgbClr val="00245D"/>
                </a:solidFill>
                <a:latin typeface="Arial" pitchFamily="34" charset="0"/>
                <a:ea typeface="Arial" pitchFamily="34" charset="-122"/>
                <a:cs typeface="Arial" pitchFamily="34" charset="-120"/>
              </a:rPr>
              <a:t>6-bit</a:t>
            </a:r>
            <a:endParaRPr lang="en-US" sz="1080" dirty="0"/>
          </a:p>
        </p:txBody>
      </p:sp>
      <p:sp>
        <p:nvSpPr>
          <p:cNvPr id="43" name="Text 40"/>
          <p:cNvSpPr/>
          <p:nvPr/>
        </p:nvSpPr>
        <p:spPr>
          <a:xfrm>
            <a:off x="10160508" y="2233302"/>
            <a:ext cx="1005840" cy="164592"/>
          </a:xfrm>
          <a:prstGeom prst="rect">
            <a:avLst/>
          </a:prstGeom>
          <a:noFill/>
          <a:ln/>
        </p:spPr>
        <p:txBody>
          <a:bodyPr wrap="square" lIns="0" tIns="0" rIns="0" bIns="0" rtlCol="0" anchor="ctr">
            <a:normAutofit/>
          </a:bodyPr>
          <a:lstStyle/>
          <a:p>
            <a:pPr marL="0" indent="0" algn="l">
              <a:buNone/>
            </a:pPr>
            <a:r>
              <a:rPr lang="en-US" sz="920" b="1" dirty="0">
                <a:solidFill>
                  <a:srgbClr val="4A4A4A"/>
                </a:solidFill>
                <a:latin typeface="Arial" pitchFamily="34" charset="0"/>
                <a:ea typeface="Arial" pitchFamily="34" charset="-122"/>
                <a:cs typeface="Arial" pitchFamily="34" charset="-120"/>
              </a:rPr>
              <a:t>near FP16 quality</a:t>
            </a:r>
            <a:endParaRPr lang="en-US" sz="920" dirty="0"/>
          </a:p>
        </p:txBody>
      </p:sp>
      <p:sp>
        <p:nvSpPr>
          <p:cNvPr id="44" name="Shape 41"/>
          <p:cNvSpPr/>
          <p:nvPr/>
        </p:nvSpPr>
        <p:spPr>
          <a:xfrm>
            <a:off x="6804660" y="3120270"/>
            <a:ext cx="1508760" cy="438912"/>
          </a:xfrm>
          <a:prstGeom prst="roundRect">
            <a:avLst>
              <a:gd name="adj" fmla="val 10417"/>
            </a:avLst>
          </a:prstGeom>
          <a:solidFill>
            <a:srgbClr val="FFFFFF"/>
          </a:solidFill>
          <a:ln w="12700">
            <a:solidFill>
              <a:srgbClr val="D6B656"/>
            </a:solidFill>
            <a:prstDash val="solid"/>
          </a:ln>
        </p:spPr>
        <p:txBody>
          <a:bodyPr/>
          <a:lstStyle/>
          <a:p>
            <a:endParaRPr lang="ko-KR" altLang="en-US"/>
          </a:p>
        </p:txBody>
      </p:sp>
      <p:sp>
        <p:nvSpPr>
          <p:cNvPr id="45" name="Text 42"/>
          <p:cNvSpPr/>
          <p:nvPr/>
        </p:nvSpPr>
        <p:spPr>
          <a:xfrm>
            <a:off x="6877812" y="3165990"/>
            <a:ext cx="1362456" cy="365760"/>
          </a:xfrm>
          <a:prstGeom prst="rect">
            <a:avLst/>
          </a:prstGeom>
          <a:noFill/>
          <a:ln/>
        </p:spPr>
        <p:txBody>
          <a:bodyPr wrap="square" lIns="254" tIns="254" rIns="254" bIns="254" rtlCol="0" anchor="ctr">
            <a:normAutofit/>
          </a:bodyPr>
          <a:lstStyle/>
          <a:p>
            <a:pPr marL="0" indent="0" algn="ctr">
              <a:buNone/>
            </a:pPr>
            <a:r>
              <a:rPr lang="en-US" sz="1020" b="1" dirty="0">
                <a:solidFill>
                  <a:srgbClr val="222222"/>
                </a:solidFill>
                <a:latin typeface="Arial" pitchFamily="34" charset="0"/>
                <a:ea typeface="Arial" pitchFamily="34" charset="-122"/>
                <a:cs typeface="Arial" pitchFamily="34" charset="-120"/>
              </a:rPr>
              <a:t>Compression</a:t>
            </a:r>
            <a:endParaRPr lang="en-US" sz="1020" dirty="0"/>
          </a:p>
        </p:txBody>
      </p:sp>
      <p:sp>
        <p:nvSpPr>
          <p:cNvPr id="46" name="Shape 43"/>
          <p:cNvSpPr/>
          <p:nvPr/>
        </p:nvSpPr>
        <p:spPr>
          <a:xfrm>
            <a:off x="8359140" y="3339726"/>
            <a:ext cx="548640" cy="0"/>
          </a:xfrm>
          <a:prstGeom prst="line">
            <a:avLst/>
          </a:prstGeom>
          <a:noFill/>
          <a:ln w="12700">
            <a:solidFill>
              <a:srgbClr val="00245D"/>
            </a:solidFill>
            <a:prstDash val="solid"/>
            <a:tailEnd type="triangle"/>
          </a:ln>
        </p:spPr>
        <p:txBody>
          <a:bodyPr/>
          <a:lstStyle/>
          <a:p>
            <a:endParaRPr lang="ko-KR" altLang="en-US"/>
          </a:p>
        </p:txBody>
      </p:sp>
      <p:sp>
        <p:nvSpPr>
          <p:cNvPr id="47" name="Shape 44"/>
          <p:cNvSpPr/>
          <p:nvPr/>
        </p:nvSpPr>
        <p:spPr>
          <a:xfrm>
            <a:off x="8999220" y="3120270"/>
            <a:ext cx="1005840" cy="438912"/>
          </a:xfrm>
          <a:prstGeom prst="roundRect">
            <a:avLst>
              <a:gd name="adj" fmla="val 10417"/>
            </a:avLst>
          </a:prstGeom>
          <a:solidFill>
            <a:srgbClr val="EAF2FF"/>
          </a:solidFill>
          <a:ln w="12700">
            <a:solidFill>
              <a:srgbClr val="7EA6E0"/>
            </a:solidFill>
            <a:prstDash val="solid"/>
          </a:ln>
        </p:spPr>
        <p:txBody>
          <a:bodyPr/>
          <a:lstStyle/>
          <a:p>
            <a:endParaRPr lang="ko-KR" altLang="en-US"/>
          </a:p>
        </p:txBody>
      </p:sp>
      <p:sp>
        <p:nvSpPr>
          <p:cNvPr id="48" name="Text 45"/>
          <p:cNvSpPr/>
          <p:nvPr/>
        </p:nvSpPr>
        <p:spPr>
          <a:xfrm>
            <a:off x="9072372" y="3165990"/>
            <a:ext cx="859536" cy="365760"/>
          </a:xfrm>
          <a:prstGeom prst="rect">
            <a:avLst/>
          </a:prstGeom>
          <a:noFill/>
          <a:ln/>
        </p:spPr>
        <p:txBody>
          <a:bodyPr wrap="square" lIns="254" tIns="254" rIns="254" bIns="254" rtlCol="0" anchor="ctr">
            <a:normAutofit/>
          </a:bodyPr>
          <a:lstStyle/>
          <a:p>
            <a:pPr marL="0" indent="0" algn="ctr">
              <a:buNone/>
            </a:pPr>
            <a:r>
              <a:rPr lang="en-US" sz="1080" b="1" dirty="0">
                <a:solidFill>
                  <a:srgbClr val="00245D"/>
                </a:solidFill>
                <a:latin typeface="Arial" pitchFamily="34" charset="0"/>
                <a:ea typeface="Arial" pitchFamily="34" charset="-122"/>
                <a:cs typeface="Arial" pitchFamily="34" charset="-120"/>
              </a:rPr>
              <a:t>4-bit</a:t>
            </a:r>
            <a:endParaRPr lang="en-US" sz="1080" dirty="0"/>
          </a:p>
        </p:txBody>
      </p:sp>
      <p:sp>
        <p:nvSpPr>
          <p:cNvPr id="49" name="Text 46"/>
          <p:cNvSpPr/>
          <p:nvPr/>
        </p:nvSpPr>
        <p:spPr>
          <a:xfrm>
            <a:off x="10160508" y="3220854"/>
            <a:ext cx="1005840" cy="164592"/>
          </a:xfrm>
          <a:prstGeom prst="rect">
            <a:avLst/>
          </a:prstGeom>
          <a:noFill/>
          <a:ln/>
        </p:spPr>
        <p:txBody>
          <a:bodyPr wrap="square" lIns="0" tIns="0" rIns="0" bIns="0" rtlCol="0" anchor="ctr">
            <a:normAutofit fontScale="77500" lnSpcReduction="20000"/>
          </a:bodyPr>
          <a:lstStyle/>
          <a:p>
            <a:pPr marL="0" indent="0" algn="l">
              <a:buNone/>
            </a:pPr>
            <a:r>
              <a:rPr lang="en-US" sz="920" b="1" dirty="0">
                <a:solidFill>
                  <a:srgbClr val="4A4A4A"/>
                </a:solidFill>
                <a:latin typeface="Arial" pitchFamily="34" charset="0"/>
                <a:ea typeface="Arial" pitchFamily="34" charset="-122"/>
                <a:cs typeface="Arial" pitchFamily="34" charset="-120"/>
              </a:rPr>
              <a:t>balanced quality/cost</a:t>
            </a:r>
            <a:endParaRPr lang="en-US" sz="920" dirty="0"/>
          </a:p>
        </p:txBody>
      </p:sp>
      <p:sp>
        <p:nvSpPr>
          <p:cNvPr id="50" name="Shape 47"/>
          <p:cNvSpPr/>
          <p:nvPr/>
        </p:nvSpPr>
        <p:spPr>
          <a:xfrm>
            <a:off x="6804660" y="4107822"/>
            <a:ext cx="1508760" cy="438912"/>
          </a:xfrm>
          <a:prstGeom prst="roundRect">
            <a:avLst>
              <a:gd name="adj" fmla="val 10417"/>
            </a:avLst>
          </a:prstGeom>
          <a:solidFill>
            <a:srgbClr val="FFFFFF"/>
          </a:solidFill>
          <a:ln w="12700">
            <a:solidFill>
              <a:srgbClr val="D6B656"/>
            </a:solidFill>
            <a:prstDash val="solid"/>
          </a:ln>
        </p:spPr>
        <p:txBody>
          <a:bodyPr/>
          <a:lstStyle/>
          <a:p>
            <a:endParaRPr lang="ko-KR" altLang="en-US"/>
          </a:p>
        </p:txBody>
      </p:sp>
      <p:sp>
        <p:nvSpPr>
          <p:cNvPr id="51" name="Text 48"/>
          <p:cNvSpPr/>
          <p:nvPr/>
        </p:nvSpPr>
        <p:spPr>
          <a:xfrm>
            <a:off x="6877812" y="4153542"/>
            <a:ext cx="1362456" cy="365760"/>
          </a:xfrm>
          <a:prstGeom prst="rect">
            <a:avLst/>
          </a:prstGeom>
          <a:noFill/>
          <a:ln/>
        </p:spPr>
        <p:txBody>
          <a:bodyPr wrap="square" lIns="254" tIns="254" rIns="254" bIns="254" rtlCol="0" anchor="ctr">
            <a:normAutofit/>
          </a:bodyPr>
          <a:lstStyle/>
          <a:p>
            <a:pPr marL="0" indent="0" algn="ctr">
              <a:buNone/>
            </a:pPr>
            <a:r>
              <a:rPr lang="en-US" sz="1020" b="1" dirty="0">
                <a:solidFill>
                  <a:srgbClr val="222222"/>
                </a:solidFill>
                <a:latin typeface="Arial" pitchFamily="34" charset="0"/>
                <a:ea typeface="Arial" pitchFamily="34" charset="-122"/>
                <a:cs typeface="Arial" pitchFamily="34" charset="-120"/>
              </a:rPr>
              <a:t>Minimum memory</a:t>
            </a:r>
            <a:endParaRPr lang="en-US" sz="1020" dirty="0"/>
          </a:p>
        </p:txBody>
      </p:sp>
      <p:sp>
        <p:nvSpPr>
          <p:cNvPr id="52" name="Shape 49"/>
          <p:cNvSpPr/>
          <p:nvPr/>
        </p:nvSpPr>
        <p:spPr>
          <a:xfrm>
            <a:off x="8359140" y="4327278"/>
            <a:ext cx="548640" cy="0"/>
          </a:xfrm>
          <a:prstGeom prst="line">
            <a:avLst/>
          </a:prstGeom>
          <a:noFill/>
          <a:ln w="12700">
            <a:solidFill>
              <a:srgbClr val="00245D"/>
            </a:solidFill>
            <a:prstDash val="solid"/>
            <a:tailEnd type="triangle"/>
          </a:ln>
        </p:spPr>
        <p:txBody>
          <a:bodyPr/>
          <a:lstStyle/>
          <a:p>
            <a:endParaRPr lang="ko-KR" altLang="en-US"/>
          </a:p>
        </p:txBody>
      </p:sp>
      <p:sp>
        <p:nvSpPr>
          <p:cNvPr id="53" name="Shape 50"/>
          <p:cNvSpPr/>
          <p:nvPr/>
        </p:nvSpPr>
        <p:spPr>
          <a:xfrm>
            <a:off x="8999220" y="4107822"/>
            <a:ext cx="1005840" cy="438912"/>
          </a:xfrm>
          <a:prstGeom prst="roundRect">
            <a:avLst>
              <a:gd name="adj" fmla="val 10417"/>
            </a:avLst>
          </a:prstGeom>
          <a:solidFill>
            <a:srgbClr val="FDECEC"/>
          </a:solidFill>
          <a:ln w="12700">
            <a:solidFill>
              <a:srgbClr val="C00000"/>
            </a:solidFill>
            <a:prstDash val="solid"/>
          </a:ln>
        </p:spPr>
        <p:txBody>
          <a:bodyPr/>
          <a:lstStyle/>
          <a:p>
            <a:endParaRPr lang="ko-KR" altLang="en-US"/>
          </a:p>
        </p:txBody>
      </p:sp>
      <p:sp>
        <p:nvSpPr>
          <p:cNvPr id="54" name="Text 51"/>
          <p:cNvSpPr/>
          <p:nvPr/>
        </p:nvSpPr>
        <p:spPr>
          <a:xfrm>
            <a:off x="9072372" y="4153542"/>
            <a:ext cx="859536" cy="365760"/>
          </a:xfrm>
          <a:prstGeom prst="rect">
            <a:avLst/>
          </a:prstGeom>
          <a:noFill/>
          <a:ln/>
        </p:spPr>
        <p:txBody>
          <a:bodyPr wrap="square" lIns="254" tIns="254" rIns="254" bIns="254" rtlCol="0" anchor="ctr">
            <a:normAutofit/>
          </a:bodyPr>
          <a:lstStyle/>
          <a:p>
            <a:pPr marL="0" indent="0" algn="ctr">
              <a:buNone/>
            </a:pPr>
            <a:r>
              <a:rPr lang="en-US" sz="1080" b="1" dirty="0">
                <a:solidFill>
                  <a:srgbClr val="C00000"/>
                </a:solidFill>
                <a:latin typeface="Arial" pitchFamily="34" charset="0"/>
                <a:ea typeface="Arial" pitchFamily="34" charset="-122"/>
                <a:cs typeface="Arial" pitchFamily="34" charset="-120"/>
              </a:rPr>
              <a:t>3-bit</a:t>
            </a:r>
            <a:endParaRPr lang="en-US" sz="1080" dirty="0"/>
          </a:p>
        </p:txBody>
      </p:sp>
      <p:sp>
        <p:nvSpPr>
          <p:cNvPr id="55" name="Text 52"/>
          <p:cNvSpPr/>
          <p:nvPr/>
        </p:nvSpPr>
        <p:spPr>
          <a:xfrm>
            <a:off x="10160508" y="4208406"/>
            <a:ext cx="1005840" cy="164592"/>
          </a:xfrm>
          <a:prstGeom prst="rect">
            <a:avLst/>
          </a:prstGeom>
          <a:noFill/>
          <a:ln/>
        </p:spPr>
        <p:txBody>
          <a:bodyPr wrap="square" lIns="0" tIns="0" rIns="0" bIns="0" rtlCol="0" anchor="ctr">
            <a:normAutofit fontScale="85000" lnSpcReduction="10000"/>
          </a:bodyPr>
          <a:lstStyle/>
          <a:p>
            <a:pPr marL="0" indent="0" algn="l">
              <a:buNone/>
            </a:pPr>
            <a:r>
              <a:rPr lang="en-US" sz="920" b="1" dirty="0">
                <a:solidFill>
                  <a:srgbClr val="4A4A4A"/>
                </a:solidFill>
                <a:latin typeface="Arial" pitchFamily="34" charset="0"/>
                <a:ea typeface="Arial" pitchFamily="34" charset="-122"/>
                <a:cs typeface="Arial" pitchFamily="34" charset="-120"/>
              </a:rPr>
              <a:t>needs new data type</a:t>
            </a:r>
            <a:endParaRPr lang="en-US" sz="920" dirty="0"/>
          </a:p>
        </p:txBody>
      </p:sp>
      <p:sp>
        <p:nvSpPr>
          <p:cNvPr id="56" name="Shape 53"/>
          <p:cNvSpPr/>
          <p:nvPr/>
        </p:nvSpPr>
        <p:spPr>
          <a:xfrm>
            <a:off x="6880860" y="4912495"/>
            <a:ext cx="4251960" cy="365758"/>
          </a:xfrm>
          <a:prstGeom prst="roundRect">
            <a:avLst>
              <a:gd name="adj" fmla="val 10000"/>
            </a:avLst>
          </a:prstGeom>
          <a:solidFill>
            <a:srgbClr val="EAF2FF"/>
          </a:solidFill>
          <a:ln w="12700">
            <a:solidFill>
              <a:srgbClr val="7EA6E0"/>
            </a:solidFill>
            <a:prstDash val="solid"/>
          </a:ln>
        </p:spPr>
        <p:txBody>
          <a:bodyPr/>
          <a:lstStyle/>
          <a:p>
            <a:endParaRPr lang="ko-KR" altLang="en-US"/>
          </a:p>
        </p:txBody>
      </p:sp>
      <p:sp>
        <p:nvSpPr>
          <p:cNvPr id="57" name="Text 54"/>
          <p:cNvSpPr/>
          <p:nvPr/>
        </p:nvSpPr>
        <p:spPr>
          <a:xfrm>
            <a:off x="7063740" y="4985647"/>
            <a:ext cx="3886200" cy="164592"/>
          </a:xfrm>
          <a:prstGeom prst="rect">
            <a:avLst/>
          </a:prstGeom>
          <a:noFill/>
          <a:ln/>
        </p:spPr>
        <p:txBody>
          <a:bodyPr wrap="square" lIns="0" tIns="0" rIns="0" bIns="0" rtlCol="0" anchor="ctr">
            <a:normAutofit/>
          </a:bodyPr>
          <a:lstStyle/>
          <a:p>
            <a:pPr marL="0" indent="0" algn="ctr">
              <a:buNone/>
            </a:pPr>
            <a:r>
              <a:rPr lang="en-US" sz="1080" b="1" dirty="0">
                <a:solidFill>
                  <a:srgbClr val="00245D"/>
                </a:solidFill>
                <a:latin typeface="Arial" pitchFamily="34" charset="0"/>
                <a:ea typeface="Arial" pitchFamily="34" charset="-122"/>
                <a:cs typeface="Arial" pitchFamily="34" charset="-120"/>
              </a:rPr>
              <a:t>Fixed 8/4-bit hardware cannot fully exploit this trade-off.</a:t>
            </a:r>
            <a:endParaRPr lang="en-US" sz="1080" dirty="0"/>
          </a:p>
        </p:txBody>
      </p:sp>
      <p:pic>
        <p:nvPicPr>
          <p:cNvPr id="59" name="그림 58">
            <a:extLst>
              <a:ext uri="{FF2B5EF4-FFF2-40B4-BE49-F238E27FC236}">
                <a16:creationId xmlns:a16="http://schemas.microsoft.com/office/drawing/2014/main" id="{190720FD-3F7D-32C7-5B93-4791D3F75C3B}"/>
              </a:ext>
            </a:extLst>
          </p:cNvPr>
          <p:cNvPicPr>
            <a:picLocks noChangeAspect="1"/>
          </p:cNvPicPr>
          <p:nvPr/>
        </p:nvPicPr>
        <p:blipFill>
          <a:blip r:embed="rId4"/>
          <a:stretch>
            <a:fillRect/>
          </a:stretch>
        </p:blipFill>
        <p:spPr>
          <a:xfrm>
            <a:off x="895373" y="2152393"/>
            <a:ext cx="4639153" cy="223558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Bit-Serial Architecture: Flexible Precision by Term Count</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30</a:t>
            </a:r>
            <a:endParaRPr lang="en-US" sz="1000" dirty="0"/>
          </a:p>
        </p:txBody>
      </p:sp>
      <p:sp>
        <p:nvSpPr>
          <p:cNvPr id="8" name="Text 5"/>
          <p:cNvSpPr/>
          <p:nvPr/>
        </p:nvSpPr>
        <p:spPr>
          <a:xfrm>
            <a:off x="594360" y="1024128"/>
            <a:ext cx="10972800" cy="256032"/>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A bit-serial design can use one PE structure while changing the number of processed terms by precision.</a:t>
            </a:r>
            <a:endParaRPr lang="en-US" sz="1300" dirty="0"/>
          </a:p>
        </p:txBody>
      </p:sp>
      <p:sp>
        <p:nvSpPr>
          <p:cNvPr id="9" name="Shape 6"/>
          <p:cNvSpPr/>
          <p:nvPr/>
        </p:nvSpPr>
        <p:spPr>
          <a:xfrm>
            <a:off x="777240" y="1463040"/>
            <a:ext cx="5074920" cy="4434840"/>
          </a:xfrm>
          <a:prstGeom prst="roundRect">
            <a:avLst>
              <a:gd name="adj" fmla="val 1237"/>
            </a:avLst>
          </a:prstGeom>
          <a:solidFill>
            <a:srgbClr val="FDECEC"/>
          </a:solidFill>
          <a:ln w="13335">
            <a:solidFill>
              <a:srgbClr val="E6B8B7"/>
            </a:solidFill>
            <a:prstDash val="solid"/>
          </a:ln>
        </p:spPr>
        <p:txBody>
          <a:bodyPr/>
          <a:lstStyle/>
          <a:p>
            <a:endParaRPr lang="ko-KR" altLang="en-US"/>
          </a:p>
        </p:txBody>
      </p:sp>
      <p:sp>
        <p:nvSpPr>
          <p:cNvPr id="10" name="Text 7"/>
          <p:cNvSpPr/>
          <p:nvPr/>
        </p:nvSpPr>
        <p:spPr>
          <a:xfrm>
            <a:off x="941832" y="1581912"/>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Bit-Parallel limitation</a:t>
            </a:r>
            <a:endParaRPr lang="en-US" sz="1200" dirty="0"/>
          </a:p>
        </p:txBody>
      </p:sp>
      <p:sp>
        <p:nvSpPr>
          <p:cNvPr id="11" name="Text 8"/>
          <p:cNvSpPr/>
          <p:nvPr/>
        </p:nvSpPr>
        <p:spPr>
          <a:xfrm>
            <a:off x="1051560" y="2148840"/>
            <a:ext cx="4572000" cy="237744"/>
          </a:xfrm>
          <a:prstGeom prst="rect">
            <a:avLst/>
          </a:prstGeom>
          <a:noFill/>
          <a:ln/>
        </p:spPr>
        <p:txBody>
          <a:bodyPr wrap="square" lIns="0" tIns="0" rIns="0" bIns="0" rtlCol="0" anchor="ctr"/>
          <a:lstStyle/>
          <a:p>
            <a:pPr marL="0" indent="0" algn="ctr">
              <a:buNone/>
            </a:pPr>
            <a:r>
              <a:rPr lang="en-US" sz="1180" b="1" dirty="0">
                <a:solidFill>
                  <a:srgbClr val="222222"/>
                </a:solidFill>
                <a:latin typeface="Arial" pitchFamily="34" charset="0"/>
                <a:ea typeface="Arial" pitchFamily="34" charset="-122"/>
                <a:cs typeface="Arial" pitchFamily="34" charset="-120"/>
              </a:rPr>
              <a:t>Hardware datapath is often specialized for </a:t>
            </a:r>
            <a:r>
              <a:rPr lang="en-US" sz="1180" b="1" dirty="0">
                <a:solidFill>
                  <a:srgbClr val="FF0000"/>
                </a:solidFill>
                <a:latin typeface="Arial" pitchFamily="34" charset="0"/>
                <a:ea typeface="Arial" pitchFamily="34" charset="-122"/>
                <a:cs typeface="Arial" pitchFamily="34" charset="-120"/>
              </a:rPr>
              <a:t>fixed</a:t>
            </a:r>
            <a:r>
              <a:rPr lang="en-US" sz="1180" b="1" dirty="0">
                <a:solidFill>
                  <a:srgbClr val="222222"/>
                </a:solidFill>
                <a:latin typeface="Arial" pitchFamily="34" charset="0"/>
                <a:ea typeface="Arial" pitchFamily="34" charset="-122"/>
                <a:cs typeface="Arial" pitchFamily="34" charset="-120"/>
              </a:rPr>
              <a:t> precision.</a:t>
            </a:r>
            <a:endParaRPr lang="en-US" sz="1180" dirty="0"/>
          </a:p>
        </p:txBody>
      </p:sp>
      <p:sp>
        <p:nvSpPr>
          <p:cNvPr id="12" name="Shape 9"/>
          <p:cNvSpPr/>
          <p:nvPr/>
        </p:nvSpPr>
        <p:spPr>
          <a:xfrm>
            <a:off x="1325880" y="2743200"/>
            <a:ext cx="1097280" cy="475488"/>
          </a:xfrm>
          <a:prstGeom prst="roundRect">
            <a:avLst>
              <a:gd name="adj" fmla="val 9615"/>
            </a:avLst>
          </a:prstGeom>
          <a:solidFill>
            <a:srgbClr val="FFFFFF"/>
          </a:solidFill>
          <a:ln w="12700">
            <a:solidFill>
              <a:srgbClr val="00245D"/>
            </a:solidFill>
            <a:prstDash val="solid"/>
          </a:ln>
        </p:spPr>
        <p:txBody>
          <a:bodyPr/>
          <a:lstStyle/>
          <a:p>
            <a:endParaRPr lang="ko-KR" altLang="en-US"/>
          </a:p>
        </p:txBody>
      </p:sp>
      <p:sp>
        <p:nvSpPr>
          <p:cNvPr id="13" name="Text 10"/>
          <p:cNvSpPr/>
          <p:nvPr/>
        </p:nvSpPr>
        <p:spPr>
          <a:xfrm>
            <a:off x="1399032" y="2788920"/>
            <a:ext cx="950976" cy="402336"/>
          </a:xfrm>
          <a:prstGeom prst="rect">
            <a:avLst/>
          </a:prstGeom>
          <a:noFill/>
          <a:ln/>
        </p:spPr>
        <p:txBody>
          <a:bodyPr wrap="square" lIns="254" tIns="254" rIns="254" bIns="254" rtlCol="0" anchor="ctr">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INT8</a:t>
            </a:r>
            <a:endParaRPr lang="en-US" sz="1100" dirty="0"/>
          </a:p>
        </p:txBody>
      </p:sp>
      <p:sp>
        <p:nvSpPr>
          <p:cNvPr id="14" name="Shape 11"/>
          <p:cNvSpPr/>
          <p:nvPr/>
        </p:nvSpPr>
        <p:spPr>
          <a:xfrm>
            <a:off x="2743200" y="2743200"/>
            <a:ext cx="1097280" cy="475488"/>
          </a:xfrm>
          <a:prstGeom prst="roundRect">
            <a:avLst>
              <a:gd name="adj" fmla="val 9615"/>
            </a:avLst>
          </a:prstGeom>
          <a:solidFill>
            <a:srgbClr val="FFFFFF"/>
          </a:solidFill>
          <a:ln w="12700">
            <a:solidFill>
              <a:srgbClr val="00245D"/>
            </a:solidFill>
            <a:prstDash val="solid"/>
          </a:ln>
        </p:spPr>
        <p:txBody>
          <a:bodyPr/>
          <a:lstStyle/>
          <a:p>
            <a:endParaRPr lang="ko-KR" altLang="en-US"/>
          </a:p>
        </p:txBody>
      </p:sp>
      <p:sp>
        <p:nvSpPr>
          <p:cNvPr id="15" name="Text 12"/>
          <p:cNvSpPr/>
          <p:nvPr/>
        </p:nvSpPr>
        <p:spPr>
          <a:xfrm>
            <a:off x="2816352" y="2788920"/>
            <a:ext cx="950976" cy="402336"/>
          </a:xfrm>
          <a:prstGeom prst="rect">
            <a:avLst/>
          </a:prstGeom>
          <a:noFill/>
          <a:ln/>
        </p:spPr>
        <p:txBody>
          <a:bodyPr wrap="square" lIns="254" tIns="254" rIns="254" bIns="254" rtlCol="0" anchor="ctr">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INT4</a:t>
            </a:r>
            <a:endParaRPr lang="en-US" sz="1100" dirty="0"/>
          </a:p>
        </p:txBody>
      </p:sp>
      <p:sp>
        <p:nvSpPr>
          <p:cNvPr id="16" name="Shape 13"/>
          <p:cNvSpPr/>
          <p:nvPr/>
        </p:nvSpPr>
        <p:spPr>
          <a:xfrm>
            <a:off x="4160520" y="2743200"/>
            <a:ext cx="1097280" cy="475488"/>
          </a:xfrm>
          <a:prstGeom prst="roundRect">
            <a:avLst>
              <a:gd name="adj" fmla="val 9615"/>
            </a:avLst>
          </a:prstGeom>
          <a:solidFill>
            <a:srgbClr val="FDECEC"/>
          </a:solidFill>
          <a:ln w="12700">
            <a:solidFill>
              <a:srgbClr val="C00000"/>
            </a:solidFill>
            <a:prstDash val="solid"/>
          </a:ln>
        </p:spPr>
        <p:txBody>
          <a:bodyPr/>
          <a:lstStyle/>
          <a:p>
            <a:endParaRPr lang="ko-KR" altLang="en-US"/>
          </a:p>
        </p:txBody>
      </p:sp>
      <p:sp>
        <p:nvSpPr>
          <p:cNvPr id="17" name="Text 14"/>
          <p:cNvSpPr/>
          <p:nvPr/>
        </p:nvSpPr>
        <p:spPr>
          <a:xfrm>
            <a:off x="4233672" y="2788920"/>
            <a:ext cx="950976" cy="402336"/>
          </a:xfrm>
          <a:prstGeom prst="rect">
            <a:avLst/>
          </a:prstGeom>
          <a:noFill/>
          <a:ln/>
        </p:spPr>
        <p:txBody>
          <a:bodyPr wrap="square" lIns="254" tIns="254" rIns="254" bIns="254" rtlCol="0" anchor="ctr">
            <a:normAutofit/>
          </a:bodyPr>
          <a:lstStyle/>
          <a:p>
            <a:pPr marL="0" indent="0" algn="ctr">
              <a:buNone/>
            </a:pPr>
            <a:r>
              <a:rPr lang="en-US" sz="1100" b="1" dirty="0">
                <a:solidFill>
                  <a:srgbClr val="C00000"/>
                </a:solidFill>
                <a:latin typeface="Arial" pitchFamily="34" charset="0"/>
                <a:ea typeface="Arial" pitchFamily="34" charset="-122"/>
                <a:cs typeface="Arial" pitchFamily="34" charset="-120"/>
              </a:rPr>
              <a:t>?</a:t>
            </a:r>
            <a:endParaRPr lang="en-US" sz="1100" dirty="0"/>
          </a:p>
        </p:txBody>
      </p:sp>
      <p:sp>
        <p:nvSpPr>
          <p:cNvPr id="18" name="Text 15"/>
          <p:cNvSpPr/>
          <p:nvPr/>
        </p:nvSpPr>
        <p:spPr>
          <a:xfrm>
            <a:off x="1143000" y="3566160"/>
            <a:ext cx="4434840" cy="310896"/>
          </a:xfrm>
          <a:prstGeom prst="rect">
            <a:avLst/>
          </a:prstGeom>
          <a:noFill/>
          <a:ln/>
        </p:spPr>
        <p:txBody>
          <a:bodyPr wrap="square" lIns="0" tIns="0" rIns="0" bIns="0" rtlCol="0" anchor="ctr">
            <a:normAutofit/>
          </a:bodyPr>
          <a:lstStyle/>
          <a:p>
            <a:pPr marL="0" indent="0" algn="ctr">
              <a:buNone/>
            </a:pPr>
            <a:r>
              <a:rPr lang="en-US" sz="1180" b="1" dirty="0">
                <a:solidFill>
                  <a:srgbClr val="C00000"/>
                </a:solidFill>
                <a:latin typeface="Arial" pitchFamily="34" charset="0"/>
                <a:ea typeface="Arial" pitchFamily="34" charset="-122"/>
                <a:cs typeface="Arial" pitchFamily="34" charset="-120"/>
              </a:rPr>
              <a:t>6-bit and 3-bit are awkward to support efficiently.</a:t>
            </a:r>
            <a:endParaRPr lang="en-US" sz="1180" dirty="0"/>
          </a:p>
        </p:txBody>
      </p:sp>
      <p:sp>
        <p:nvSpPr>
          <p:cNvPr id="19" name="Shape 16"/>
          <p:cNvSpPr/>
          <p:nvPr/>
        </p:nvSpPr>
        <p:spPr>
          <a:xfrm>
            <a:off x="1143000" y="4251960"/>
            <a:ext cx="4434840" cy="530352"/>
          </a:xfrm>
          <a:prstGeom prst="roundRect">
            <a:avLst>
              <a:gd name="adj" fmla="val 10345"/>
            </a:avLst>
          </a:prstGeom>
          <a:solidFill>
            <a:srgbClr val="FFFFFF"/>
          </a:solidFill>
          <a:ln w="12700">
            <a:solidFill>
              <a:srgbClr val="E6B8B7"/>
            </a:solidFill>
            <a:prstDash val="solid"/>
          </a:ln>
        </p:spPr>
        <p:txBody>
          <a:bodyPr/>
          <a:lstStyle/>
          <a:p>
            <a:endParaRPr lang="ko-KR" altLang="en-US"/>
          </a:p>
        </p:txBody>
      </p:sp>
      <p:sp>
        <p:nvSpPr>
          <p:cNvPr id="20" name="Text 17"/>
          <p:cNvSpPr/>
          <p:nvPr/>
        </p:nvSpPr>
        <p:spPr>
          <a:xfrm>
            <a:off x="1325880" y="4407408"/>
            <a:ext cx="4069080" cy="164592"/>
          </a:xfrm>
          <a:prstGeom prst="rect">
            <a:avLst/>
          </a:prstGeom>
          <a:noFill/>
          <a:ln/>
        </p:spPr>
        <p:txBody>
          <a:bodyPr wrap="square" lIns="0" tIns="0" rIns="0" bIns="0" rtlCol="0" anchor="ctr">
            <a:normAutofit/>
          </a:bodyPr>
          <a:lstStyle/>
          <a:p>
            <a:pPr marL="0" indent="0" algn="ctr">
              <a:buNone/>
            </a:pPr>
            <a:r>
              <a:rPr lang="en-US" sz="1080" b="1" dirty="0">
                <a:solidFill>
                  <a:srgbClr val="222222"/>
                </a:solidFill>
                <a:latin typeface="Arial" pitchFamily="34" charset="0"/>
                <a:ea typeface="Arial" pitchFamily="34" charset="-122"/>
                <a:cs typeface="Arial" pitchFamily="34" charset="-120"/>
              </a:rPr>
              <a:t>Good for common fixed widths, but less flexible.</a:t>
            </a:r>
            <a:endParaRPr lang="en-US" sz="1080" dirty="0"/>
          </a:p>
        </p:txBody>
      </p:sp>
      <p:sp>
        <p:nvSpPr>
          <p:cNvPr id="21" name="Shape 18"/>
          <p:cNvSpPr/>
          <p:nvPr/>
        </p:nvSpPr>
        <p:spPr>
          <a:xfrm>
            <a:off x="6355080" y="1463040"/>
            <a:ext cx="5074920" cy="4434840"/>
          </a:xfrm>
          <a:prstGeom prst="roundRect">
            <a:avLst>
              <a:gd name="adj" fmla="val 1237"/>
            </a:avLst>
          </a:prstGeom>
          <a:solidFill>
            <a:srgbClr val="E2F0D9"/>
          </a:solidFill>
          <a:ln w="13335">
            <a:solidFill>
              <a:srgbClr val="548235"/>
            </a:solidFill>
            <a:prstDash val="solid"/>
          </a:ln>
        </p:spPr>
        <p:txBody>
          <a:bodyPr/>
          <a:lstStyle/>
          <a:p>
            <a:endParaRPr lang="ko-KR" altLang="en-US"/>
          </a:p>
        </p:txBody>
      </p:sp>
      <p:sp>
        <p:nvSpPr>
          <p:cNvPr id="22" name="Text 19"/>
          <p:cNvSpPr/>
          <p:nvPr/>
        </p:nvSpPr>
        <p:spPr>
          <a:xfrm>
            <a:off x="6519672" y="1581912"/>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Bit-Serial idea</a:t>
            </a:r>
            <a:endParaRPr lang="en-US" sz="1200" dirty="0"/>
          </a:p>
        </p:txBody>
      </p:sp>
      <p:sp>
        <p:nvSpPr>
          <p:cNvPr id="23" name="Shape 20"/>
          <p:cNvSpPr/>
          <p:nvPr/>
        </p:nvSpPr>
        <p:spPr>
          <a:xfrm>
            <a:off x="6972300" y="2016733"/>
            <a:ext cx="1920240" cy="384048"/>
          </a:xfrm>
          <a:prstGeom prst="rect">
            <a:avLst/>
          </a:prstGeom>
          <a:solidFill>
            <a:srgbClr val="00245D"/>
          </a:solidFill>
          <a:ln w="6350">
            <a:solidFill>
              <a:srgbClr val="D9E2F3"/>
            </a:solidFill>
            <a:prstDash val="solid"/>
          </a:ln>
        </p:spPr>
        <p:txBody>
          <a:bodyPr/>
          <a:lstStyle/>
          <a:p>
            <a:endParaRPr lang="ko-KR" altLang="en-US"/>
          </a:p>
        </p:txBody>
      </p:sp>
      <p:sp>
        <p:nvSpPr>
          <p:cNvPr id="24" name="Text 21"/>
          <p:cNvSpPr/>
          <p:nvPr/>
        </p:nvSpPr>
        <p:spPr>
          <a:xfrm>
            <a:off x="6999732" y="2126461"/>
            <a:ext cx="1865376"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Data Type</a:t>
            </a:r>
            <a:endParaRPr lang="en-US" sz="1050" dirty="0"/>
          </a:p>
        </p:txBody>
      </p:sp>
      <p:sp>
        <p:nvSpPr>
          <p:cNvPr id="25" name="Shape 22"/>
          <p:cNvSpPr/>
          <p:nvPr/>
        </p:nvSpPr>
        <p:spPr>
          <a:xfrm>
            <a:off x="8892540" y="2016733"/>
            <a:ext cx="1920240" cy="384048"/>
          </a:xfrm>
          <a:prstGeom prst="rect">
            <a:avLst/>
          </a:prstGeom>
          <a:solidFill>
            <a:srgbClr val="00245D"/>
          </a:solidFill>
          <a:ln w="6350">
            <a:solidFill>
              <a:srgbClr val="D9E2F3"/>
            </a:solidFill>
            <a:prstDash val="solid"/>
          </a:ln>
        </p:spPr>
        <p:txBody>
          <a:bodyPr/>
          <a:lstStyle/>
          <a:p>
            <a:endParaRPr lang="ko-KR" altLang="en-US"/>
          </a:p>
        </p:txBody>
      </p:sp>
      <p:sp>
        <p:nvSpPr>
          <p:cNvPr id="26" name="Text 23"/>
          <p:cNvSpPr/>
          <p:nvPr/>
        </p:nvSpPr>
        <p:spPr>
          <a:xfrm>
            <a:off x="8919972" y="2126461"/>
            <a:ext cx="1865376" cy="137160"/>
          </a:xfrm>
          <a:prstGeom prst="rect">
            <a:avLst/>
          </a:prstGeom>
          <a:noFill/>
          <a:ln/>
        </p:spPr>
        <p:txBody>
          <a:bodyPr wrap="square" lIns="0" tIns="0" rIns="0" bIns="0" rtlCol="0" anchor="ctr">
            <a:normAutofit fontScale="92500"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Bit-serial Terms</a:t>
            </a:r>
            <a:endParaRPr lang="en-US" sz="1050" dirty="0"/>
          </a:p>
        </p:txBody>
      </p:sp>
      <p:sp>
        <p:nvSpPr>
          <p:cNvPr id="27" name="Shape 24"/>
          <p:cNvSpPr/>
          <p:nvPr/>
        </p:nvSpPr>
        <p:spPr>
          <a:xfrm>
            <a:off x="6972300" y="2400781"/>
            <a:ext cx="1920240" cy="384048"/>
          </a:xfrm>
          <a:prstGeom prst="rect">
            <a:avLst/>
          </a:prstGeom>
          <a:solidFill>
            <a:srgbClr val="FFFFFF"/>
          </a:solidFill>
          <a:ln w="6350">
            <a:solidFill>
              <a:srgbClr val="D9E2F3"/>
            </a:solidFill>
            <a:prstDash val="solid"/>
          </a:ln>
        </p:spPr>
        <p:txBody>
          <a:bodyPr/>
          <a:lstStyle/>
          <a:p>
            <a:endParaRPr lang="ko-KR" altLang="en-US"/>
          </a:p>
        </p:txBody>
      </p:sp>
      <p:sp>
        <p:nvSpPr>
          <p:cNvPr id="28" name="Text 25"/>
          <p:cNvSpPr/>
          <p:nvPr/>
        </p:nvSpPr>
        <p:spPr>
          <a:xfrm>
            <a:off x="7018020" y="2492221"/>
            <a:ext cx="1828800" cy="164592"/>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INT8</a:t>
            </a:r>
            <a:endParaRPr lang="en-US" sz="1050" dirty="0"/>
          </a:p>
        </p:txBody>
      </p:sp>
      <p:sp>
        <p:nvSpPr>
          <p:cNvPr id="29" name="Shape 26"/>
          <p:cNvSpPr/>
          <p:nvPr/>
        </p:nvSpPr>
        <p:spPr>
          <a:xfrm>
            <a:off x="8892540" y="2400781"/>
            <a:ext cx="1920240" cy="384048"/>
          </a:xfrm>
          <a:prstGeom prst="rect">
            <a:avLst/>
          </a:prstGeom>
          <a:solidFill>
            <a:srgbClr val="FFFFFF"/>
          </a:solidFill>
          <a:ln w="6350">
            <a:solidFill>
              <a:srgbClr val="D9E2F3"/>
            </a:solidFill>
            <a:prstDash val="solid"/>
          </a:ln>
        </p:spPr>
        <p:txBody>
          <a:bodyPr/>
          <a:lstStyle/>
          <a:p>
            <a:endParaRPr lang="ko-KR" altLang="en-US"/>
          </a:p>
        </p:txBody>
      </p:sp>
      <p:sp>
        <p:nvSpPr>
          <p:cNvPr id="30" name="Text 27"/>
          <p:cNvSpPr/>
          <p:nvPr/>
        </p:nvSpPr>
        <p:spPr>
          <a:xfrm>
            <a:off x="8938260" y="2492221"/>
            <a:ext cx="1828800" cy="164592"/>
          </a:xfrm>
          <a:prstGeom prst="rect">
            <a:avLst/>
          </a:prstGeom>
          <a:noFill/>
          <a:ln/>
        </p:spPr>
        <p:txBody>
          <a:bodyPr wrap="square" lIns="0" tIns="0" rIns="0" bIns="0" rtlCol="0" anchor="ctr">
            <a:normAutofit/>
          </a:bodyPr>
          <a:lstStyle/>
          <a:p>
            <a:pPr marL="0" indent="0" algn="ctr">
              <a:buNone/>
            </a:pPr>
            <a:r>
              <a:rPr lang="en-US" sz="1050" dirty="0">
                <a:solidFill>
                  <a:srgbClr val="222222"/>
                </a:solidFill>
                <a:latin typeface="Arial" pitchFamily="34" charset="0"/>
                <a:ea typeface="Arial" pitchFamily="34" charset="-122"/>
                <a:cs typeface="Arial" pitchFamily="34" charset="-120"/>
              </a:rPr>
              <a:t>4</a:t>
            </a:r>
            <a:endParaRPr lang="en-US" sz="1050" dirty="0"/>
          </a:p>
        </p:txBody>
      </p:sp>
      <p:sp>
        <p:nvSpPr>
          <p:cNvPr id="31" name="Shape 28"/>
          <p:cNvSpPr/>
          <p:nvPr/>
        </p:nvSpPr>
        <p:spPr>
          <a:xfrm>
            <a:off x="6972300" y="2784829"/>
            <a:ext cx="1920240" cy="384048"/>
          </a:xfrm>
          <a:prstGeom prst="rect">
            <a:avLst/>
          </a:prstGeom>
          <a:solidFill>
            <a:srgbClr val="F5F7FA"/>
          </a:solidFill>
          <a:ln w="6350">
            <a:solidFill>
              <a:srgbClr val="D9E2F3"/>
            </a:solidFill>
            <a:prstDash val="solid"/>
          </a:ln>
        </p:spPr>
        <p:txBody>
          <a:bodyPr/>
          <a:lstStyle/>
          <a:p>
            <a:endParaRPr lang="ko-KR" altLang="en-US"/>
          </a:p>
        </p:txBody>
      </p:sp>
      <p:sp>
        <p:nvSpPr>
          <p:cNvPr id="32" name="Text 29"/>
          <p:cNvSpPr/>
          <p:nvPr/>
        </p:nvSpPr>
        <p:spPr>
          <a:xfrm>
            <a:off x="7018020" y="2876269"/>
            <a:ext cx="1828800" cy="164592"/>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INT6</a:t>
            </a:r>
            <a:endParaRPr lang="en-US" sz="1050" dirty="0"/>
          </a:p>
        </p:txBody>
      </p:sp>
      <p:sp>
        <p:nvSpPr>
          <p:cNvPr id="33" name="Shape 30"/>
          <p:cNvSpPr/>
          <p:nvPr/>
        </p:nvSpPr>
        <p:spPr>
          <a:xfrm>
            <a:off x="8892540" y="2784829"/>
            <a:ext cx="1920240" cy="384048"/>
          </a:xfrm>
          <a:prstGeom prst="rect">
            <a:avLst/>
          </a:prstGeom>
          <a:solidFill>
            <a:srgbClr val="F5F7FA"/>
          </a:solidFill>
          <a:ln w="6350">
            <a:solidFill>
              <a:srgbClr val="D9E2F3"/>
            </a:solidFill>
            <a:prstDash val="solid"/>
          </a:ln>
        </p:spPr>
        <p:txBody>
          <a:bodyPr/>
          <a:lstStyle/>
          <a:p>
            <a:endParaRPr lang="ko-KR" altLang="en-US"/>
          </a:p>
        </p:txBody>
      </p:sp>
      <p:sp>
        <p:nvSpPr>
          <p:cNvPr id="34" name="Text 31"/>
          <p:cNvSpPr/>
          <p:nvPr/>
        </p:nvSpPr>
        <p:spPr>
          <a:xfrm>
            <a:off x="8938260" y="2876269"/>
            <a:ext cx="1828800" cy="164592"/>
          </a:xfrm>
          <a:prstGeom prst="rect">
            <a:avLst/>
          </a:prstGeom>
          <a:noFill/>
          <a:ln/>
        </p:spPr>
        <p:txBody>
          <a:bodyPr wrap="square" lIns="0" tIns="0" rIns="0" bIns="0" rtlCol="0" anchor="ctr">
            <a:normAutofit/>
          </a:bodyPr>
          <a:lstStyle/>
          <a:p>
            <a:pPr marL="0" indent="0" algn="ctr">
              <a:buNone/>
            </a:pPr>
            <a:r>
              <a:rPr lang="en-US" sz="1050" dirty="0">
                <a:solidFill>
                  <a:srgbClr val="222222"/>
                </a:solidFill>
                <a:latin typeface="Arial" pitchFamily="34" charset="0"/>
                <a:ea typeface="Arial" pitchFamily="34" charset="-122"/>
                <a:cs typeface="Arial" pitchFamily="34" charset="-120"/>
              </a:rPr>
              <a:t>3</a:t>
            </a:r>
            <a:endParaRPr lang="en-US" sz="1050" dirty="0"/>
          </a:p>
        </p:txBody>
      </p:sp>
      <p:sp>
        <p:nvSpPr>
          <p:cNvPr id="35" name="Shape 32"/>
          <p:cNvSpPr/>
          <p:nvPr/>
        </p:nvSpPr>
        <p:spPr>
          <a:xfrm>
            <a:off x="6972300" y="3168877"/>
            <a:ext cx="1920240" cy="384048"/>
          </a:xfrm>
          <a:prstGeom prst="rect">
            <a:avLst/>
          </a:prstGeom>
          <a:solidFill>
            <a:srgbClr val="FFFFFF"/>
          </a:solidFill>
          <a:ln w="6350">
            <a:solidFill>
              <a:srgbClr val="D9E2F3"/>
            </a:solidFill>
            <a:prstDash val="solid"/>
          </a:ln>
        </p:spPr>
        <p:txBody>
          <a:bodyPr/>
          <a:lstStyle/>
          <a:p>
            <a:endParaRPr lang="ko-KR" altLang="en-US"/>
          </a:p>
        </p:txBody>
      </p:sp>
      <p:sp>
        <p:nvSpPr>
          <p:cNvPr id="36" name="Text 33"/>
          <p:cNvSpPr/>
          <p:nvPr/>
        </p:nvSpPr>
        <p:spPr>
          <a:xfrm>
            <a:off x="7018020" y="3260317"/>
            <a:ext cx="1828800" cy="164592"/>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FP4</a:t>
            </a:r>
            <a:endParaRPr lang="en-US" sz="1050" dirty="0"/>
          </a:p>
        </p:txBody>
      </p:sp>
      <p:sp>
        <p:nvSpPr>
          <p:cNvPr id="37" name="Shape 34"/>
          <p:cNvSpPr/>
          <p:nvPr/>
        </p:nvSpPr>
        <p:spPr>
          <a:xfrm>
            <a:off x="8892540" y="3168877"/>
            <a:ext cx="1920240" cy="384048"/>
          </a:xfrm>
          <a:prstGeom prst="rect">
            <a:avLst/>
          </a:prstGeom>
          <a:solidFill>
            <a:srgbClr val="FFFFFF"/>
          </a:solidFill>
          <a:ln w="6350">
            <a:solidFill>
              <a:srgbClr val="D9E2F3"/>
            </a:solidFill>
            <a:prstDash val="solid"/>
          </a:ln>
        </p:spPr>
        <p:txBody>
          <a:bodyPr/>
          <a:lstStyle/>
          <a:p>
            <a:endParaRPr lang="ko-KR" altLang="en-US"/>
          </a:p>
        </p:txBody>
      </p:sp>
      <p:sp>
        <p:nvSpPr>
          <p:cNvPr id="38" name="Text 35"/>
          <p:cNvSpPr/>
          <p:nvPr/>
        </p:nvSpPr>
        <p:spPr>
          <a:xfrm>
            <a:off x="8938260" y="3260317"/>
            <a:ext cx="1828800" cy="164592"/>
          </a:xfrm>
          <a:prstGeom prst="rect">
            <a:avLst/>
          </a:prstGeom>
          <a:noFill/>
          <a:ln/>
        </p:spPr>
        <p:txBody>
          <a:bodyPr wrap="square" lIns="0" tIns="0" rIns="0" bIns="0" rtlCol="0" anchor="ctr">
            <a:normAutofit/>
          </a:bodyPr>
          <a:lstStyle/>
          <a:p>
            <a:pPr marL="0" indent="0" algn="ctr">
              <a:buNone/>
            </a:pPr>
            <a:r>
              <a:rPr lang="en-US" sz="1050" dirty="0">
                <a:solidFill>
                  <a:srgbClr val="222222"/>
                </a:solidFill>
                <a:latin typeface="Arial" pitchFamily="34" charset="0"/>
                <a:ea typeface="Arial" pitchFamily="34" charset="-122"/>
                <a:cs typeface="Arial" pitchFamily="34" charset="-120"/>
              </a:rPr>
              <a:t>2</a:t>
            </a:r>
            <a:endParaRPr lang="en-US" sz="1050" dirty="0"/>
          </a:p>
        </p:txBody>
      </p:sp>
      <p:sp>
        <p:nvSpPr>
          <p:cNvPr id="39" name="Shape 36"/>
          <p:cNvSpPr/>
          <p:nvPr/>
        </p:nvSpPr>
        <p:spPr>
          <a:xfrm>
            <a:off x="6972300" y="3552925"/>
            <a:ext cx="1920240" cy="384048"/>
          </a:xfrm>
          <a:prstGeom prst="rect">
            <a:avLst/>
          </a:prstGeom>
          <a:solidFill>
            <a:srgbClr val="F5F7FA"/>
          </a:solidFill>
          <a:ln w="6350">
            <a:solidFill>
              <a:srgbClr val="D9E2F3"/>
            </a:solidFill>
            <a:prstDash val="solid"/>
          </a:ln>
        </p:spPr>
        <p:txBody>
          <a:bodyPr/>
          <a:lstStyle/>
          <a:p>
            <a:endParaRPr lang="ko-KR" altLang="en-US"/>
          </a:p>
        </p:txBody>
      </p:sp>
      <p:sp>
        <p:nvSpPr>
          <p:cNvPr id="40" name="Text 37"/>
          <p:cNvSpPr/>
          <p:nvPr/>
        </p:nvSpPr>
        <p:spPr>
          <a:xfrm>
            <a:off x="7018020" y="3644365"/>
            <a:ext cx="1828800" cy="164592"/>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FP3</a:t>
            </a:r>
            <a:endParaRPr lang="en-US" sz="1050" dirty="0"/>
          </a:p>
        </p:txBody>
      </p:sp>
      <p:sp>
        <p:nvSpPr>
          <p:cNvPr id="41" name="Shape 38"/>
          <p:cNvSpPr/>
          <p:nvPr/>
        </p:nvSpPr>
        <p:spPr>
          <a:xfrm>
            <a:off x="8892540" y="3552925"/>
            <a:ext cx="1920240" cy="384048"/>
          </a:xfrm>
          <a:prstGeom prst="rect">
            <a:avLst/>
          </a:prstGeom>
          <a:solidFill>
            <a:srgbClr val="F5F7FA"/>
          </a:solidFill>
          <a:ln w="6350">
            <a:solidFill>
              <a:srgbClr val="D9E2F3"/>
            </a:solidFill>
            <a:prstDash val="solid"/>
          </a:ln>
        </p:spPr>
        <p:txBody>
          <a:bodyPr/>
          <a:lstStyle/>
          <a:p>
            <a:endParaRPr lang="ko-KR" altLang="en-US"/>
          </a:p>
        </p:txBody>
      </p:sp>
      <p:sp>
        <p:nvSpPr>
          <p:cNvPr id="42" name="Text 39"/>
          <p:cNvSpPr/>
          <p:nvPr/>
        </p:nvSpPr>
        <p:spPr>
          <a:xfrm>
            <a:off x="8938260" y="3644365"/>
            <a:ext cx="1828800" cy="164592"/>
          </a:xfrm>
          <a:prstGeom prst="rect">
            <a:avLst/>
          </a:prstGeom>
          <a:noFill/>
          <a:ln/>
        </p:spPr>
        <p:txBody>
          <a:bodyPr wrap="square" lIns="0" tIns="0" rIns="0" bIns="0" rtlCol="0" anchor="ctr">
            <a:normAutofit/>
          </a:bodyPr>
          <a:lstStyle/>
          <a:p>
            <a:pPr marL="0" indent="0" algn="ctr">
              <a:buNone/>
            </a:pPr>
            <a:r>
              <a:rPr lang="en-US" sz="1050" dirty="0">
                <a:solidFill>
                  <a:srgbClr val="222222"/>
                </a:solidFill>
                <a:latin typeface="Arial" pitchFamily="34" charset="0"/>
                <a:ea typeface="Arial" pitchFamily="34" charset="-122"/>
                <a:cs typeface="Arial" pitchFamily="34" charset="-120"/>
              </a:rPr>
              <a:t>2</a:t>
            </a:r>
            <a:endParaRPr lang="en-US" sz="1050" dirty="0"/>
          </a:p>
        </p:txBody>
      </p:sp>
      <p:sp>
        <p:nvSpPr>
          <p:cNvPr id="43" name="Text 40"/>
          <p:cNvSpPr/>
          <p:nvPr/>
        </p:nvSpPr>
        <p:spPr>
          <a:xfrm>
            <a:off x="6720840" y="4083277"/>
            <a:ext cx="4297680" cy="530352"/>
          </a:xfrm>
          <a:prstGeom prst="rect">
            <a:avLst/>
          </a:prstGeom>
          <a:noFill/>
          <a:ln/>
        </p:spPr>
        <p:txBody>
          <a:bodyPr wrap="square" lIns="254" tIns="254" rIns="254" bIns="254" rtlCol="0" anchor="ctr">
            <a:normAutofit/>
          </a:bodyPr>
          <a:lstStyle/>
          <a:p>
            <a:pPr marL="0" indent="0" algn="ctr">
              <a:buNone/>
            </a:pPr>
            <a:r>
              <a:rPr lang="en-US" sz="1150" b="1" dirty="0">
                <a:solidFill>
                  <a:srgbClr val="222222"/>
                </a:solidFill>
                <a:latin typeface="Arial" pitchFamily="34" charset="0"/>
                <a:ea typeface="Arial" pitchFamily="34" charset="-122"/>
                <a:cs typeface="Arial" pitchFamily="34" charset="-120"/>
              </a:rPr>
              <a:t>Lower precision → fewer terms → fewer cycles.</a:t>
            </a:r>
            <a:endParaRPr lang="en-US" sz="1150" dirty="0"/>
          </a:p>
          <a:p>
            <a:pPr marL="0" indent="0" algn="ctr">
              <a:buNone/>
            </a:pPr>
            <a:r>
              <a:rPr lang="en-US" sz="1150" b="1" dirty="0">
                <a:solidFill>
                  <a:srgbClr val="222222"/>
                </a:solidFill>
                <a:latin typeface="Arial" pitchFamily="34" charset="0"/>
                <a:ea typeface="Arial" pitchFamily="34" charset="-122"/>
                <a:cs typeface="Arial" pitchFamily="34" charset="-120"/>
              </a:rPr>
              <a:t>The same PE can support multiple bit-widths by changing term count.</a:t>
            </a:r>
            <a:endParaRPr lang="en-US" sz="1150" dirty="0"/>
          </a:p>
        </p:txBody>
      </p:sp>
      <p:sp>
        <p:nvSpPr>
          <p:cNvPr id="44" name="Shape 41"/>
          <p:cNvSpPr/>
          <p:nvPr/>
        </p:nvSpPr>
        <p:spPr>
          <a:xfrm>
            <a:off x="6903720" y="4956048"/>
            <a:ext cx="3977640" cy="530352"/>
          </a:xfrm>
          <a:prstGeom prst="roundRect">
            <a:avLst>
              <a:gd name="adj" fmla="val 10345"/>
            </a:avLst>
          </a:prstGeom>
          <a:solidFill>
            <a:srgbClr val="EAF2FF"/>
          </a:solidFill>
          <a:ln w="12700">
            <a:solidFill>
              <a:srgbClr val="7EA6E0"/>
            </a:solidFill>
            <a:prstDash val="solid"/>
          </a:ln>
        </p:spPr>
        <p:txBody>
          <a:bodyPr/>
          <a:lstStyle/>
          <a:p>
            <a:endParaRPr lang="ko-KR" altLang="en-US"/>
          </a:p>
        </p:txBody>
      </p:sp>
      <p:sp>
        <p:nvSpPr>
          <p:cNvPr id="45" name="Text 42"/>
          <p:cNvSpPr/>
          <p:nvPr/>
        </p:nvSpPr>
        <p:spPr>
          <a:xfrm>
            <a:off x="7086600" y="5093208"/>
            <a:ext cx="3611880" cy="164592"/>
          </a:xfrm>
          <a:prstGeom prst="rect">
            <a:avLst/>
          </a:prstGeom>
          <a:noFill/>
          <a:ln/>
        </p:spPr>
        <p:txBody>
          <a:bodyPr wrap="square" lIns="0" tIns="0" rIns="0" bIns="0" rtlCol="0" anchor="ctr">
            <a:normAutofit fontScale="92500"/>
          </a:bodyPr>
          <a:lstStyle/>
          <a:p>
            <a:pPr marL="0" indent="0" algn="ctr">
              <a:buNone/>
            </a:pPr>
            <a:r>
              <a:rPr lang="en-US" sz="1080" b="1" dirty="0">
                <a:solidFill>
                  <a:srgbClr val="00245D"/>
                </a:solidFill>
                <a:latin typeface="Arial" pitchFamily="34" charset="0"/>
                <a:ea typeface="Arial" pitchFamily="34" charset="-122"/>
                <a:cs typeface="Arial" pitchFamily="34" charset="-120"/>
              </a:rPr>
              <a:t>This motivates BitMoD’s unified bit-serial representation.</a:t>
            </a:r>
            <a:endParaRPr lang="en-US" sz="10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But Existing Bit-Serial Accelerators Are Not Enough</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31</a:t>
            </a:r>
            <a:endParaRPr lang="en-US" sz="1000" dirty="0"/>
          </a:p>
        </p:txBody>
      </p:sp>
      <p:sp>
        <p:nvSpPr>
          <p:cNvPr id="8" name="Text 5"/>
          <p:cNvSpPr/>
          <p:nvPr/>
        </p:nvSpPr>
        <p:spPr>
          <a:xfrm>
            <a:off x="594360" y="1024128"/>
            <a:ext cx="10972800" cy="256032"/>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Bit-serial flexibility alone does not solve LLM quantization. Two missing pieces remain.</a:t>
            </a:r>
            <a:endParaRPr lang="en-US" sz="1300" dirty="0"/>
          </a:p>
        </p:txBody>
      </p:sp>
      <p:sp>
        <p:nvSpPr>
          <p:cNvPr id="9" name="Shape 6"/>
          <p:cNvSpPr/>
          <p:nvPr/>
        </p:nvSpPr>
        <p:spPr>
          <a:xfrm>
            <a:off x="868680" y="1508760"/>
            <a:ext cx="4892040" cy="4251960"/>
          </a:xfrm>
          <a:prstGeom prst="roundRect">
            <a:avLst>
              <a:gd name="adj" fmla="val 1290"/>
            </a:avLst>
          </a:prstGeom>
          <a:solidFill>
            <a:srgbClr val="FDECEC"/>
          </a:solidFill>
          <a:ln w="13335">
            <a:solidFill>
              <a:srgbClr val="E6B8B7"/>
            </a:solidFill>
            <a:prstDash val="solid"/>
          </a:ln>
        </p:spPr>
        <p:txBody>
          <a:bodyPr/>
          <a:lstStyle/>
          <a:p>
            <a:endParaRPr lang="ko-KR" altLang="en-US"/>
          </a:p>
        </p:txBody>
      </p:sp>
      <p:sp>
        <p:nvSpPr>
          <p:cNvPr id="10" name="Text 7"/>
          <p:cNvSpPr/>
          <p:nvPr/>
        </p:nvSpPr>
        <p:spPr>
          <a:xfrm>
            <a:off x="1033272" y="1627632"/>
            <a:ext cx="45628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Problem 1. Mostly </a:t>
            </a:r>
            <a:r>
              <a:rPr lang="en-US" sz="1200" b="1" dirty="0">
                <a:solidFill>
                  <a:srgbClr val="FF0000"/>
                </a:solidFill>
                <a:latin typeface="Arial" pitchFamily="34" charset="0"/>
                <a:ea typeface="Arial" pitchFamily="34" charset="-122"/>
                <a:cs typeface="Arial" pitchFamily="34" charset="-120"/>
              </a:rPr>
              <a:t>integer</a:t>
            </a:r>
            <a:r>
              <a:rPr lang="en-US" sz="1200" b="1" dirty="0">
                <a:solidFill>
                  <a:srgbClr val="00245D"/>
                </a:solidFill>
                <a:latin typeface="Arial" pitchFamily="34" charset="0"/>
                <a:ea typeface="Arial" pitchFamily="34" charset="-122"/>
                <a:cs typeface="Arial" pitchFamily="34" charset="-120"/>
              </a:rPr>
              <a:t> data types</a:t>
            </a:r>
            <a:endParaRPr lang="en-US" sz="1200" dirty="0"/>
          </a:p>
        </p:txBody>
      </p:sp>
      <p:sp>
        <p:nvSpPr>
          <p:cNvPr id="11" name="Text 8"/>
          <p:cNvSpPr/>
          <p:nvPr/>
        </p:nvSpPr>
        <p:spPr>
          <a:xfrm>
            <a:off x="1165860" y="2340864"/>
            <a:ext cx="4343400" cy="457200"/>
          </a:xfrm>
          <a:prstGeom prst="rect">
            <a:avLst/>
          </a:prstGeom>
          <a:noFill/>
          <a:ln/>
        </p:spPr>
        <p:txBody>
          <a:bodyPr wrap="square" lIns="254" tIns="254" rIns="254" bIns="254"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Existing bit-serial accelerators are mainly designed around integer representation.</a:t>
            </a:r>
            <a:endParaRPr lang="en-US" sz="1200" dirty="0"/>
          </a:p>
        </p:txBody>
      </p:sp>
      <p:sp>
        <p:nvSpPr>
          <p:cNvPr id="12" name="Shape 9"/>
          <p:cNvSpPr/>
          <p:nvPr/>
        </p:nvSpPr>
        <p:spPr>
          <a:xfrm>
            <a:off x="3332988" y="3026664"/>
            <a:ext cx="0" cy="640080"/>
          </a:xfrm>
          <a:prstGeom prst="line">
            <a:avLst/>
          </a:prstGeom>
          <a:noFill/>
          <a:ln w="15240">
            <a:solidFill>
              <a:srgbClr val="C00000"/>
            </a:solidFill>
            <a:prstDash val="solid"/>
            <a:tailEnd type="triangle"/>
          </a:ln>
        </p:spPr>
        <p:txBody>
          <a:bodyPr/>
          <a:lstStyle/>
          <a:p>
            <a:endParaRPr lang="ko-KR" altLang="en-US"/>
          </a:p>
        </p:txBody>
      </p:sp>
      <p:sp>
        <p:nvSpPr>
          <p:cNvPr id="13" name="Text 10"/>
          <p:cNvSpPr/>
          <p:nvPr/>
        </p:nvSpPr>
        <p:spPr>
          <a:xfrm>
            <a:off x="1211580" y="3867912"/>
            <a:ext cx="4251960" cy="365760"/>
          </a:xfrm>
          <a:prstGeom prst="rect">
            <a:avLst/>
          </a:prstGeom>
          <a:noFill/>
          <a:ln/>
        </p:spPr>
        <p:txBody>
          <a:bodyPr wrap="square" lIns="0" tIns="0" rIns="0" bIns="0" rtlCol="0" anchor="ctr">
            <a:normAutofit lnSpcReduction="10000"/>
          </a:bodyPr>
          <a:lstStyle/>
          <a:p>
            <a:pPr marL="0" indent="0" algn="ctr">
              <a:buNone/>
            </a:pPr>
            <a:r>
              <a:rPr lang="en-US" sz="1220" b="1" dirty="0">
                <a:solidFill>
                  <a:srgbClr val="C00000"/>
                </a:solidFill>
                <a:latin typeface="Arial" pitchFamily="34" charset="0"/>
                <a:ea typeface="Arial" pitchFamily="34" charset="-122"/>
                <a:cs typeface="Arial" pitchFamily="34" charset="-120"/>
              </a:rPr>
              <a:t>At 3-bit, simple integer levels can cause large accuracy loss.</a:t>
            </a:r>
            <a:endParaRPr lang="en-US" sz="1220" dirty="0"/>
          </a:p>
        </p:txBody>
      </p:sp>
      <p:sp>
        <p:nvSpPr>
          <p:cNvPr id="14" name="Text 11"/>
          <p:cNvSpPr/>
          <p:nvPr/>
        </p:nvSpPr>
        <p:spPr>
          <a:xfrm>
            <a:off x="1143000" y="4828032"/>
            <a:ext cx="4343400" cy="228600"/>
          </a:xfrm>
          <a:prstGeom prst="rect">
            <a:avLst/>
          </a:prstGeom>
          <a:noFill/>
          <a:ln/>
        </p:spPr>
        <p:txBody>
          <a:bodyPr wrap="square" lIns="0" tIns="0" rIns="0" bIns="0" rtlCol="0" anchor="ctr">
            <a:normAutofit fontScale="92500"/>
          </a:bodyPr>
          <a:lstStyle/>
          <a:p>
            <a:pPr marL="0" indent="0" algn="ctr">
              <a:buNone/>
            </a:pPr>
            <a:r>
              <a:rPr lang="en-US" sz="1130" b="1" dirty="0">
                <a:solidFill>
                  <a:srgbClr val="00245D"/>
                </a:solidFill>
                <a:latin typeface="Arial" pitchFamily="34" charset="0"/>
                <a:ea typeface="Arial" pitchFamily="34" charset="-122"/>
                <a:cs typeface="Arial" pitchFamily="34" charset="-120"/>
              </a:rPr>
              <a:t>Need: FP/asymmetric data type suitable for local group distribution.</a:t>
            </a:r>
            <a:endParaRPr lang="en-US" sz="1130" dirty="0"/>
          </a:p>
        </p:txBody>
      </p:sp>
      <p:sp>
        <p:nvSpPr>
          <p:cNvPr id="15" name="Shape 12"/>
          <p:cNvSpPr/>
          <p:nvPr/>
        </p:nvSpPr>
        <p:spPr>
          <a:xfrm>
            <a:off x="6446520" y="1508760"/>
            <a:ext cx="4892040" cy="4251960"/>
          </a:xfrm>
          <a:prstGeom prst="roundRect">
            <a:avLst>
              <a:gd name="adj" fmla="val 1290"/>
            </a:avLst>
          </a:prstGeom>
          <a:solidFill>
            <a:srgbClr val="FFFDF2"/>
          </a:solidFill>
          <a:ln w="13335">
            <a:solidFill>
              <a:srgbClr val="D6B656"/>
            </a:solidFill>
            <a:prstDash val="solid"/>
          </a:ln>
        </p:spPr>
        <p:txBody>
          <a:bodyPr/>
          <a:lstStyle/>
          <a:p>
            <a:endParaRPr lang="ko-KR" altLang="en-US"/>
          </a:p>
        </p:txBody>
      </p:sp>
      <p:sp>
        <p:nvSpPr>
          <p:cNvPr id="16" name="Text 13"/>
          <p:cNvSpPr/>
          <p:nvPr/>
        </p:nvSpPr>
        <p:spPr>
          <a:xfrm>
            <a:off x="6611112" y="1627632"/>
            <a:ext cx="45628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Problem 2. Per-Group </a:t>
            </a:r>
            <a:r>
              <a:rPr lang="en-US" sz="1200" b="1" dirty="0">
                <a:solidFill>
                  <a:srgbClr val="FF0000"/>
                </a:solidFill>
                <a:latin typeface="Arial" pitchFamily="34" charset="0"/>
                <a:ea typeface="Arial" pitchFamily="34" charset="-122"/>
                <a:cs typeface="Arial" pitchFamily="34" charset="-120"/>
              </a:rPr>
              <a:t>dequantization cost</a:t>
            </a:r>
            <a:endParaRPr lang="en-US" sz="1200" dirty="0">
              <a:solidFill>
                <a:srgbClr val="FF0000"/>
              </a:solidFill>
            </a:endParaRPr>
          </a:p>
        </p:txBody>
      </p:sp>
      <p:sp>
        <p:nvSpPr>
          <p:cNvPr id="17" name="Text 14"/>
          <p:cNvSpPr/>
          <p:nvPr/>
        </p:nvSpPr>
        <p:spPr>
          <a:xfrm>
            <a:off x="6720840" y="1993392"/>
            <a:ext cx="4343400" cy="256032"/>
          </a:xfrm>
          <a:prstGeom prst="rect">
            <a:avLst/>
          </a:prstGeom>
          <a:noFill/>
          <a:ln/>
        </p:spPr>
        <p:txBody>
          <a:bodyPr wrap="square" lIns="0" tIns="0" rIns="0" bIns="0" rtlCol="0" anchor="ctr"/>
          <a:lstStyle/>
          <a:p>
            <a:pPr marL="0" indent="0" algn="ctr">
              <a:buNone/>
            </a:pPr>
            <a:r>
              <a:rPr lang="en-US" sz="1200" b="1" dirty="0">
                <a:solidFill>
                  <a:srgbClr val="222222"/>
                </a:solidFill>
                <a:latin typeface="Arial" pitchFamily="34" charset="0"/>
                <a:ea typeface="Arial" pitchFamily="34" charset="-122"/>
                <a:cs typeface="Arial" pitchFamily="34" charset="-120"/>
              </a:rPr>
              <a:t>Each group has a different scaling factor:</a:t>
            </a:r>
            <a:endParaRPr lang="en-US" sz="1200" dirty="0"/>
          </a:p>
        </p:txBody>
      </p:sp>
      <mc:AlternateContent xmlns:mc="http://schemas.openxmlformats.org/markup-compatibility/2006" xmlns:a14="http://schemas.microsoft.com/office/drawing/2010/main">
        <mc:Choice Requires="a14">
          <p:sp>
            <p:nvSpPr>
              <p:cNvPr id="18" name="Text 15"/>
              <p:cNvSpPr/>
              <p:nvPr/>
            </p:nvSpPr>
            <p:spPr>
              <a:xfrm>
                <a:off x="6903720" y="2514600"/>
                <a:ext cx="3977640" cy="530352"/>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en-US" altLang="ko-KR" sz="1200" smtClean="0">
                              <a:latin typeface="Cambria Math"/>
                            </a:rPr>
                          </m:ctrlPr>
                        </m:sSubPr>
                        <m:e>
                          <m:r>
                            <a:rPr lang="en-US" altLang="ko-KR" sz="1200" smtClean="0">
                              <a:latin typeface="Cambria Math"/>
                            </a:rPr>
                            <m:t>𝛥</m:t>
                          </m:r>
                        </m:e>
                        <m:sub>
                          <m:r>
                            <a:rPr lang="en-US" altLang="ko-KR" sz="1200" smtClean="0">
                              <a:latin typeface="Cambria Math"/>
                            </a:rPr>
                            <m:t>1</m:t>
                          </m:r>
                        </m:sub>
                      </m:sSub>
                      <m:r>
                        <a:rPr lang="en-US" altLang="ko-KR" sz="1200" smtClean="0">
                          <a:latin typeface="Cambria Math"/>
                        </a:rPr>
                        <m:t>, </m:t>
                      </m:r>
                      <m:sSub>
                        <m:sSubPr>
                          <m:ctrlPr>
                            <a:rPr lang="en-US" altLang="ko-KR" sz="1200" smtClean="0">
                              <a:latin typeface="Cambria Math"/>
                            </a:rPr>
                          </m:ctrlPr>
                        </m:sSubPr>
                        <m:e>
                          <m:r>
                            <a:rPr lang="en-US" altLang="ko-KR" sz="1200" smtClean="0">
                              <a:latin typeface="Cambria Math"/>
                            </a:rPr>
                            <m:t>𝛥</m:t>
                          </m:r>
                        </m:e>
                        <m:sub>
                          <m:r>
                            <a:rPr lang="en-US" altLang="ko-KR" sz="1200" smtClean="0">
                              <a:latin typeface="Cambria Math"/>
                            </a:rPr>
                            <m:t>2</m:t>
                          </m:r>
                        </m:sub>
                      </m:sSub>
                      <m:r>
                        <a:rPr lang="en-US" altLang="ko-KR" sz="1200" smtClean="0">
                          <a:latin typeface="Cambria Math"/>
                        </a:rPr>
                        <m:t>, </m:t>
                      </m:r>
                      <m:sSub>
                        <m:sSubPr>
                          <m:ctrlPr>
                            <a:rPr lang="en-US" altLang="ko-KR" sz="1200" smtClean="0">
                              <a:latin typeface="Cambria Math"/>
                            </a:rPr>
                          </m:ctrlPr>
                        </m:sSubPr>
                        <m:e>
                          <m:r>
                            <a:rPr lang="en-US" altLang="ko-KR" sz="1200" smtClean="0">
                              <a:latin typeface="Cambria Math"/>
                            </a:rPr>
                            <m:t>𝛥</m:t>
                          </m:r>
                        </m:e>
                        <m:sub>
                          <m:r>
                            <a:rPr lang="en-US" altLang="ko-KR" sz="1200" smtClean="0">
                              <a:latin typeface="Cambria Math"/>
                            </a:rPr>
                            <m:t>3</m:t>
                          </m:r>
                        </m:sub>
                      </m:sSub>
                      <m:r>
                        <a:rPr lang="en-US" altLang="ko-KR" sz="1200" smtClean="0">
                          <a:latin typeface="Cambria Math"/>
                        </a:rPr>
                        <m:t>, …</m:t>
                      </m:r>
                    </m:oMath>
                  </m:oMathPara>
                </a14:m>
                <a:endParaRPr/>
              </a:p>
            </p:txBody>
          </p:sp>
        </mc:Choice>
        <mc:Fallback xmlns="">
          <p:sp>
            <p:nvSpPr>
              <p:cNvPr id="18" name="Text 15"/>
              <p:cNvSpPr>
                <a:spLocks noRot="1" noChangeAspect="1" noMove="1" noResize="1" noEditPoints="1" noAdjustHandles="1" noChangeArrowheads="1" noChangeShapeType="1" noTextEdit="1"/>
              </p:cNvSpPr>
              <p:nvPr/>
            </p:nvSpPr>
            <p:spPr>
              <a:xfrm>
                <a:off x="6903720" y="2514600"/>
                <a:ext cx="3977640" cy="530352"/>
              </a:xfrm>
              <a:prstGeom prst="rect">
                <a:avLst/>
              </a:prstGeom>
              <a:blipFill>
                <a:blip r:embed="rId4"/>
                <a:stretch>
                  <a:fillRect/>
                </a:stretch>
              </a:blipFill>
              <a:ln/>
            </p:spPr>
            <p:txBody>
              <a:bodyPr/>
              <a:lstStyle/>
              <a:p>
                <a:r>
                  <a:rPr lang="ko-KR" altLang="en-US">
                    <a:noFill/>
                  </a:rPr>
                  <a:t> </a:t>
                </a:r>
              </a:p>
            </p:txBody>
          </p:sp>
        </mc:Fallback>
      </mc:AlternateContent>
      <p:sp>
        <p:nvSpPr>
          <p:cNvPr id="19" name="Text 16"/>
          <p:cNvSpPr/>
          <p:nvPr/>
        </p:nvSpPr>
        <p:spPr>
          <a:xfrm>
            <a:off x="6720840" y="3273552"/>
            <a:ext cx="4343400" cy="365760"/>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So every group partial sum must be dequantized separately.</a:t>
            </a:r>
            <a:endParaRPr lang="en-US" sz="1200" dirty="0"/>
          </a:p>
        </p:txBody>
      </p:sp>
      <p:sp>
        <p:nvSpPr>
          <p:cNvPr id="20" name="Shape 17"/>
          <p:cNvSpPr/>
          <p:nvPr/>
        </p:nvSpPr>
        <p:spPr>
          <a:xfrm>
            <a:off x="8915400" y="3785616"/>
            <a:ext cx="0" cy="530352"/>
          </a:xfrm>
          <a:prstGeom prst="line">
            <a:avLst/>
          </a:prstGeom>
          <a:noFill/>
          <a:ln w="15240">
            <a:solidFill>
              <a:srgbClr val="C55A11"/>
            </a:solidFill>
            <a:prstDash val="solid"/>
            <a:tailEnd type="triangle"/>
          </a:ln>
        </p:spPr>
        <p:txBody>
          <a:bodyPr/>
          <a:lstStyle/>
          <a:p>
            <a:endParaRPr lang="ko-KR" altLang="en-US"/>
          </a:p>
        </p:txBody>
      </p:sp>
      <p:sp>
        <p:nvSpPr>
          <p:cNvPr id="21" name="Text 18"/>
          <p:cNvSpPr/>
          <p:nvPr/>
        </p:nvSpPr>
        <p:spPr>
          <a:xfrm>
            <a:off x="6720840" y="4498848"/>
            <a:ext cx="4343400" cy="320040"/>
          </a:xfrm>
          <a:prstGeom prst="rect">
            <a:avLst/>
          </a:prstGeom>
          <a:noFill/>
          <a:ln/>
        </p:spPr>
        <p:txBody>
          <a:bodyPr wrap="square" lIns="0" tIns="0" rIns="0" bIns="0" rtlCol="0" anchor="ctr">
            <a:normAutofit/>
          </a:bodyPr>
          <a:lstStyle/>
          <a:p>
            <a:pPr marL="0" indent="0" algn="ctr">
              <a:buNone/>
            </a:pPr>
            <a:r>
              <a:rPr lang="en-US" sz="1220" b="1" dirty="0">
                <a:solidFill>
                  <a:srgbClr val="C55A11"/>
                </a:solidFill>
                <a:latin typeface="Arial" pitchFamily="34" charset="0"/>
                <a:ea typeface="Arial" pitchFamily="34" charset="-122"/>
                <a:cs typeface="Arial" pitchFamily="34" charset="-120"/>
              </a:rPr>
              <a:t>FP scale requires FP unit → area/energy overhead.</a:t>
            </a:r>
            <a:endParaRPr lang="en-US" sz="12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Motivation Summary: What BitMoD Must Satisfy</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32</a:t>
            </a:r>
            <a:endParaRPr lang="en-US" sz="1000" dirty="0"/>
          </a:p>
        </p:txBody>
      </p:sp>
      <p:sp>
        <p:nvSpPr>
          <p:cNvPr id="8" name="Text 5"/>
          <p:cNvSpPr/>
          <p:nvPr/>
        </p:nvSpPr>
        <p:spPr>
          <a:xfrm>
            <a:off x="594360" y="1024128"/>
            <a:ext cx="10972800" cy="256032"/>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Existing frameworks satisfy only part of the requirement. BitMoD is motivated by satisfying all four together.</a:t>
            </a:r>
            <a:endParaRPr lang="en-US" sz="1300" dirty="0"/>
          </a:p>
        </p:txBody>
      </p:sp>
      <p:sp>
        <p:nvSpPr>
          <p:cNvPr id="79" name="Shape 76"/>
          <p:cNvSpPr/>
          <p:nvPr/>
        </p:nvSpPr>
        <p:spPr>
          <a:xfrm>
            <a:off x="1325880" y="4709161"/>
            <a:ext cx="9189720" cy="877824"/>
          </a:xfrm>
          <a:prstGeom prst="roundRect">
            <a:avLst>
              <a:gd name="adj" fmla="val 8333"/>
            </a:avLst>
          </a:prstGeom>
          <a:solidFill>
            <a:srgbClr val="E2F0D9"/>
          </a:solidFill>
          <a:ln w="15240">
            <a:solidFill>
              <a:srgbClr val="548235"/>
            </a:solidFill>
            <a:prstDash val="solid"/>
          </a:ln>
        </p:spPr>
        <p:txBody>
          <a:bodyPr/>
          <a:lstStyle/>
          <a:p>
            <a:endParaRPr lang="ko-KR" altLang="en-US"/>
          </a:p>
        </p:txBody>
      </p:sp>
      <p:sp>
        <p:nvSpPr>
          <p:cNvPr id="80" name="Text 77"/>
          <p:cNvSpPr/>
          <p:nvPr/>
        </p:nvSpPr>
        <p:spPr>
          <a:xfrm>
            <a:off x="1600200" y="5006343"/>
            <a:ext cx="1325880" cy="219456"/>
          </a:xfrm>
          <a:prstGeom prst="rect">
            <a:avLst/>
          </a:prstGeom>
          <a:noFill/>
          <a:ln/>
        </p:spPr>
        <p:txBody>
          <a:bodyPr wrap="square" lIns="0" tIns="0" rIns="0" bIns="0" rtlCol="0" anchor="ctr"/>
          <a:lstStyle/>
          <a:p>
            <a:pPr marL="0" indent="0">
              <a:buNone/>
            </a:pPr>
            <a:r>
              <a:rPr lang="en-US" sz="1250" b="1" dirty="0">
                <a:solidFill>
                  <a:srgbClr val="548235"/>
                </a:solidFill>
                <a:latin typeface="Arial" pitchFamily="34" charset="0"/>
                <a:ea typeface="Arial" pitchFamily="34" charset="-122"/>
                <a:cs typeface="Arial" pitchFamily="34" charset="-120"/>
              </a:rPr>
              <a:t>Core motivation</a:t>
            </a:r>
            <a:endParaRPr lang="en-US" sz="1250" dirty="0"/>
          </a:p>
        </p:txBody>
      </p:sp>
      <p:sp>
        <p:nvSpPr>
          <p:cNvPr id="81" name="Text 78"/>
          <p:cNvSpPr/>
          <p:nvPr/>
        </p:nvSpPr>
        <p:spPr>
          <a:xfrm>
            <a:off x="3268980" y="5010914"/>
            <a:ext cx="6903720" cy="274320"/>
          </a:xfrm>
          <a:prstGeom prst="rect">
            <a:avLst/>
          </a:prstGeom>
          <a:noFill/>
          <a:ln/>
        </p:spPr>
        <p:txBody>
          <a:bodyPr wrap="square" lIns="0" tIns="0" rIns="0" bIns="0" rtlCol="0" anchor="ctr">
            <a:noAutofit/>
          </a:bodyPr>
          <a:lstStyle/>
          <a:p>
            <a:pPr marL="0" indent="0" algn="ctr">
              <a:buNone/>
            </a:pPr>
            <a:r>
              <a:rPr lang="en-US" sz="1400" b="1" dirty="0">
                <a:solidFill>
                  <a:srgbClr val="222222"/>
                </a:solidFill>
                <a:latin typeface="Arial" pitchFamily="34" charset="0"/>
                <a:ea typeface="Arial" pitchFamily="34" charset="-122"/>
                <a:cs typeface="Arial" pitchFamily="34" charset="-120"/>
              </a:rPr>
              <a:t>Design the quantization format and the accelerator together, so </a:t>
            </a:r>
            <a:r>
              <a:rPr lang="en-US" sz="1400" b="1" dirty="0">
                <a:solidFill>
                  <a:srgbClr val="FF0000"/>
                </a:solidFill>
                <a:latin typeface="Arial" pitchFamily="34" charset="0"/>
                <a:ea typeface="Arial" pitchFamily="34" charset="-122"/>
                <a:cs typeface="Arial" pitchFamily="34" charset="-120"/>
              </a:rPr>
              <a:t>low-bit weights </a:t>
            </a:r>
            <a:r>
              <a:rPr lang="en-US" sz="1400" b="1" dirty="0">
                <a:solidFill>
                  <a:srgbClr val="222222"/>
                </a:solidFill>
                <a:latin typeface="Arial" pitchFamily="34" charset="0"/>
                <a:ea typeface="Arial" pitchFamily="34" charset="-122"/>
                <a:cs typeface="Arial" pitchFamily="34" charset="-120"/>
              </a:rPr>
              <a:t>reduce both memory </a:t>
            </a:r>
            <a:r>
              <a:rPr lang="en-US" sz="1400" b="1" dirty="0">
                <a:solidFill>
                  <a:srgbClr val="FF0000"/>
                </a:solidFill>
                <a:latin typeface="Arial" pitchFamily="34" charset="0"/>
                <a:ea typeface="Arial" pitchFamily="34" charset="-122"/>
                <a:cs typeface="Arial" pitchFamily="34" charset="-120"/>
              </a:rPr>
              <a:t>traffic</a:t>
            </a:r>
            <a:r>
              <a:rPr lang="en-US" sz="1400" b="1" dirty="0">
                <a:solidFill>
                  <a:srgbClr val="222222"/>
                </a:solidFill>
                <a:latin typeface="Arial" pitchFamily="34" charset="0"/>
                <a:ea typeface="Arial" pitchFamily="34" charset="-122"/>
                <a:cs typeface="Arial" pitchFamily="34" charset="-120"/>
              </a:rPr>
              <a:t> and actual </a:t>
            </a:r>
            <a:r>
              <a:rPr lang="en-US" sz="1400" b="1" dirty="0">
                <a:solidFill>
                  <a:srgbClr val="FF0000"/>
                </a:solidFill>
                <a:latin typeface="Arial" pitchFamily="34" charset="0"/>
                <a:ea typeface="Arial" pitchFamily="34" charset="-122"/>
                <a:cs typeface="Arial" pitchFamily="34" charset="-120"/>
              </a:rPr>
              <a:t>compute cost.</a:t>
            </a:r>
            <a:endParaRPr lang="en-US" sz="1400" dirty="0">
              <a:solidFill>
                <a:srgbClr val="FF0000"/>
              </a:solidFill>
            </a:endParaRPr>
          </a:p>
        </p:txBody>
      </p:sp>
      <p:pic>
        <p:nvPicPr>
          <p:cNvPr id="84" name="그림 83">
            <a:extLst>
              <a:ext uri="{FF2B5EF4-FFF2-40B4-BE49-F238E27FC236}">
                <a16:creationId xmlns:a16="http://schemas.microsoft.com/office/drawing/2014/main" id="{EEE9DBE4-E0D3-8477-68CA-388F022121AB}"/>
              </a:ext>
            </a:extLst>
          </p:cNvPr>
          <p:cNvPicPr>
            <a:picLocks noChangeAspect="1"/>
          </p:cNvPicPr>
          <p:nvPr/>
        </p:nvPicPr>
        <p:blipFill>
          <a:blip r:embed="rId4"/>
          <a:stretch>
            <a:fillRect/>
          </a:stretch>
        </p:blipFill>
        <p:spPr>
          <a:xfrm>
            <a:off x="2953819" y="1687801"/>
            <a:ext cx="5884976" cy="266474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data/aca_top.png"/>
          <p:cNvPicPr>
            <a:picLocks noChangeAspect="1"/>
          </p:cNvPicPr>
          <p:nvPr/>
        </p:nvPicPr>
        <p:blipFill>
          <a:blip r:embed="rId3"/>
          <a:stretch>
            <a:fillRect/>
          </a:stretch>
        </p:blipFill>
        <p:spPr>
          <a:xfrm>
            <a:off x="118872" y="45720"/>
            <a:ext cx="2057400" cy="566928"/>
          </a:xfrm>
          <a:prstGeom prst="rect">
            <a:avLst/>
          </a:prstGeom>
        </p:spPr>
      </p:pic>
      <p:sp>
        <p:nvSpPr>
          <p:cNvPr id="3" name="Shape 0"/>
          <p:cNvSpPr/>
          <p:nvPr/>
        </p:nvSpPr>
        <p:spPr>
          <a:xfrm>
            <a:off x="338328" y="731520"/>
            <a:ext cx="11503152" cy="45720"/>
          </a:xfrm>
          <a:prstGeom prst="rect">
            <a:avLst/>
          </a:prstGeom>
          <a:solidFill>
            <a:srgbClr val="00245D"/>
          </a:solidFill>
          <a:ln w="12700">
            <a:solidFill>
              <a:srgbClr val="00245D"/>
            </a:solidFill>
            <a:prstDash val="solid"/>
          </a:ln>
        </p:spPr>
        <p:txBody>
          <a:bodyPr/>
          <a:lstStyle/>
          <a:p>
            <a:endParaRPr lang="ko-KR" altLang="en-US"/>
          </a:p>
        </p:txBody>
      </p:sp>
      <p:sp>
        <p:nvSpPr>
          <p:cNvPr id="4" name="Text 1"/>
          <p:cNvSpPr/>
          <p:nvPr/>
        </p:nvSpPr>
        <p:spPr>
          <a:xfrm>
            <a:off x="960120" y="2737595"/>
            <a:ext cx="10332720" cy="777240"/>
          </a:xfrm>
          <a:prstGeom prst="rect">
            <a:avLst/>
          </a:prstGeom>
          <a:noFill/>
          <a:ln/>
        </p:spPr>
        <p:txBody>
          <a:bodyPr wrap="square" lIns="0" tIns="0" rIns="0" bIns="0" rtlCol="0" anchor="ctr"/>
          <a:lstStyle/>
          <a:p>
            <a:pPr marL="0" indent="0" algn="ctr">
              <a:buNone/>
            </a:pPr>
            <a:r>
              <a:rPr lang="en-US" sz="4800" b="1" dirty="0" err="1">
                <a:solidFill>
                  <a:srgbClr val="111111"/>
                </a:solidFill>
                <a:latin typeface="Comic Sans MS" pitchFamily="34" charset="0"/>
                <a:ea typeface="Comic Sans MS" pitchFamily="34" charset="-122"/>
                <a:cs typeface="Comic Sans MS" pitchFamily="34" charset="-120"/>
              </a:rPr>
              <a:t>BitMoD</a:t>
            </a:r>
            <a:r>
              <a:rPr lang="en-US" sz="4800" b="1" dirty="0">
                <a:solidFill>
                  <a:srgbClr val="111111"/>
                </a:solidFill>
                <a:latin typeface="Comic Sans MS" pitchFamily="34" charset="0"/>
                <a:ea typeface="Comic Sans MS" pitchFamily="34" charset="-122"/>
                <a:cs typeface="Comic Sans MS" pitchFamily="34" charset="-120"/>
              </a:rPr>
              <a:t> Quantization Framework</a:t>
            </a:r>
            <a:endParaRPr lang="en-US" sz="4800" dirty="0"/>
          </a:p>
        </p:txBody>
      </p:sp>
      <p:sp>
        <p:nvSpPr>
          <p:cNvPr id="6" name="Shape 3"/>
          <p:cNvSpPr/>
          <p:nvPr/>
        </p:nvSpPr>
        <p:spPr>
          <a:xfrm>
            <a:off x="1325880" y="3600118"/>
            <a:ext cx="9640904" cy="0"/>
          </a:xfrm>
          <a:prstGeom prst="line">
            <a:avLst/>
          </a:prstGeom>
          <a:noFill/>
          <a:ln w="25400">
            <a:solidFill>
              <a:srgbClr val="00245D"/>
            </a:solidFill>
            <a:prstDash val="solid"/>
          </a:ln>
        </p:spPr>
        <p:txBody>
          <a:bodyPr/>
          <a:lstStyle/>
          <a:p>
            <a:endParaRPr lang="ko-KR" altLang="en-US"/>
          </a:p>
        </p:txBody>
      </p:sp>
      <p:sp>
        <p:nvSpPr>
          <p:cNvPr id="7" name="Shape 4"/>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8" name="Image 1" descr="/mnt/data/aca_footer.png"/>
          <p:cNvPicPr>
            <a:picLocks noChangeAspect="1"/>
          </p:cNvPicPr>
          <p:nvPr/>
        </p:nvPicPr>
        <p:blipFill>
          <a:blip r:embed="rId4"/>
          <a:stretch>
            <a:fillRect/>
          </a:stretch>
        </p:blipFill>
        <p:spPr>
          <a:xfrm>
            <a:off x="91440" y="6483096"/>
            <a:ext cx="1234440" cy="274320"/>
          </a:xfrm>
          <a:prstGeom prst="rect">
            <a:avLst/>
          </a:prstGeom>
        </p:spPr>
      </p:pic>
      <p:sp>
        <p:nvSpPr>
          <p:cNvPr id="9" name="Text 5"/>
          <p:cNvSpPr/>
          <p:nvPr/>
        </p:nvSpPr>
        <p:spPr>
          <a:xfrm>
            <a:off x="11567160" y="6473952"/>
            <a:ext cx="365760" cy="274320"/>
          </a:xfrm>
          <a:prstGeom prst="rect">
            <a:avLst/>
          </a:prstGeom>
          <a:noFill/>
          <a:ln/>
        </p:spPr>
        <p:txBody>
          <a:bodyPr wrap="square" lIns="0" tIns="0" rIns="0" bIns="0" rtlCol="0" anchor="ctr"/>
          <a:lstStyle/>
          <a:p>
            <a:pPr marL="0" indent="0" algn="r">
              <a:buNone/>
            </a:pPr>
            <a:r>
              <a:rPr lang="en-US" sz="1800" b="1" dirty="0">
                <a:solidFill>
                  <a:srgbClr val="FFFFFF"/>
                </a:solidFill>
                <a:latin typeface="Arial" pitchFamily="34" charset="0"/>
                <a:ea typeface="Arial" pitchFamily="34" charset="-122"/>
                <a:cs typeface="Arial" pitchFamily="34" charset="-120"/>
              </a:rPr>
              <a:t>33</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r>
              <a:rPr lang="en-US" altLang="ko-KR" sz="2000" b="1" dirty="0">
                <a:solidFill>
                  <a:srgbClr val="222222"/>
                </a:solidFill>
                <a:latin typeface="Arial" pitchFamily="34" charset="0"/>
                <a:ea typeface="Arial" pitchFamily="34" charset="-122"/>
                <a:cs typeface="Arial" pitchFamily="34" charset="-120"/>
              </a:rPr>
              <a:t>A. Asymmetric FP3</a:t>
            </a:r>
            <a:endParaRPr lang="en-US" altLang="ko-KR"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34</a:t>
            </a:r>
            <a:endParaRPr lang="en-US" sz="1000" dirty="0"/>
          </a:p>
        </p:txBody>
      </p:sp>
      <p:sp>
        <p:nvSpPr>
          <p:cNvPr id="8" name="Text 5"/>
          <p:cNvSpPr/>
          <p:nvPr/>
        </p:nvSpPr>
        <p:spPr>
          <a:xfrm>
            <a:off x="594360" y="1024128"/>
            <a:ext cx="10881360" cy="310896"/>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Because sign-magnitude FP stores +0 and −0 as different bit patterns, one quantization level is duplicated.</a:t>
            </a:r>
            <a:endParaRPr lang="en-US" sz="1300" dirty="0"/>
          </a:p>
        </p:txBody>
      </p:sp>
      <p:sp>
        <p:nvSpPr>
          <p:cNvPr id="9" name="Shape 6"/>
          <p:cNvSpPr/>
          <p:nvPr/>
        </p:nvSpPr>
        <p:spPr>
          <a:xfrm>
            <a:off x="685800" y="1554480"/>
            <a:ext cx="5257800" cy="4343400"/>
          </a:xfrm>
          <a:prstGeom prst="roundRect">
            <a:avLst>
              <a:gd name="adj" fmla="val 1263"/>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664208"/>
            <a:ext cx="49286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3-bit sign-magnitude pattern view</a:t>
            </a:r>
            <a:endParaRPr lang="en-US" sz="1200" dirty="0"/>
          </a:p>
        </p:txBody>
      </p:sp>
      <p:sp>
        <p:nvSpPr>
          <p:cNvPr id="11" name="Text 8"/>
          <p:cNvSpPr/>
          <p:nvPr/>
        </p:nvSpPr>
        <p:spPr>
          <a:xfrm>
            <a:off x="1005840" y="1965960"/>
            <a:ext cx="4572000" cy="201168"/>
          </a:xfrm>
          <a:prstGeom prst="rect">
            <a:avLst/>
          </a:prstGeom>
          <a:noFill/>
          <a:ln/>
        </p:spPr>
        <p:txBody>
          <a:bodyPr wrap="square" lIns="0" tIns="0" rIns="0" bIns="0" rtlCol="0" anchor="ctr"/>
          <a:lstStyle/>
          <a:p>
            <a:pPr marL="0" indent="0" algn="ctr">
              <a:buNone/>
            </a:pPr>
            <a:r>
              <a:rPr lang="en-US" sz="1150" b="1" dirty="0">
                <a:solidFill>
                  <a:srgbClr val="00245D"/>
                </a:solidFill>
                <a:latin typeface="Arial" pitchFamily="34" charset="0"/>
                <a:ea typeface="Arial" pitchFamily="34" charset="-122"/>
                <a:cs typeface="Arial" pitchFamily="34" charset="-120"/>
              </a:rPr>
              <a:t>Example conceptual FP3 encoding</a:t>
            </a:r>
            <a:endParaRPr lang="en-US" sz="1150" dirty="0"/>
          </a:p>
        </p:txBody>
      </p:sp>
      <p:sp>
        <p:nvSpPr>
          <p:cNvPr id="12" name="Shape 9"/>
          <p:cNvSpPr/>
          <p:nvPr/>
        </p:nvSpPr>
        <p:spPr>
          <a:xfrm>
            <a:off x="1805940" y="2340864"/>
            <a:ext cx="411480" cy="329184"/>
          </a:xfrm>
          <a:prstGeom prst="rect">
            <a:avLst/>
          </a:prstGeom>
          <a:solidFill>
            <a:srgbClr val="00245D"/>
          </a:solidFill>
          <a:ln w="8890">
            <a:solidFill>
              <a:srgbClr val="00245D"/>
            </a:solidFill>
            <a:prstDash val="solid"/>
          </a:ln>
        </p:spPr>
        <p:txBody>
          <a:bodyPr/>
          <a:lstStyle/>
          <a:p>
            <a:endParaRPr lang="ko-KR" altLang="en-US"/>
          </a:p>
        </p:txBody>
      </p:sp>
      <p:sp>
        <p:nvSpPr>
          <p:cNvPr id="13" name="Text 10"/>
          <p:cNvSpPr/>
          <p:nvPr/>
        </p:nvSpPr>
        <p:spPr>
          <a:xfrm>
            <a:off x="1824228" y="2414016"/>
            <a:ext cx="374904" cy="237744"/>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rial" pitchFamily="34" charset="0"/>
                <a:ea typeface="Arial" pitchFamily="34" charset="-122"/>
                <a:cs typeface="Arial" pitchFamily="34" charset="-120"/>
              </a:rPr>
              <a:t>S</a:t>
            </a:r>
            <a:endParaRPr lang="en-US" sz="1020" dirty="0"/>
          </a:p>
        </p:txBody>
      </p:sp>
      <p:sp>
        <p:nvSpPr>
          <p:cNvPr id="14" name="Shape 11"/>
          <p:cNvSpPr/>
          <p:nvPr/>
        </p:nvSpPr>
        <p:spPr>
          <a:xfrm>
            <a:off x="2217420" y="2340864"/>
            <a:ext cx="685800" cy="329184"/>
          </a:xfrm>
          <a:prstGeom prst="rect">
            <a:avLst/>
          </a:prstGeom>
          <a:solidFill>
            <a:srgbClr val="00245D"/>
          </a:solidFill>
          <a:ln w="8890">
            <a:solidFill>
              <a:srgbClr val="00245D"/>
            </a:solidFill>
            <a:prstDash val="solid"/>
          </a:ln>
        </p:spPr>
        <p:txBody>
          <a:bodyPr/>
          <a:lstStyle/>
          <a:p>
            <a:endParaRPr lang="ko-KR" altLang="en-US"/>
          </a:p>
        </p:txBody>
      </p:sp>
      <p:sp>
        <p:nvSpPr>
          <p:cNvPr id="15" name="Text 12"/>
          <p:cNvSpPr/>
          <p:nvPr/>
        </p:nvSpPr>
        <p:spPr>
          <a:xfrm>
            <a:off x="2235708" y="2414016"/>
            <a:ext cx="649224" cy="237744"/>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rial" pitchFamily="34" charset="0"/>
                <a:ea typeface="Arial" pitchFamily="34" charset="-122"/>
                <a:cs typeface="Arial" pitchFamily="34" charset="-120"/>
              </a:rPr>
              <a:t>E/M</a:t>
            </a:r>
            <a:endParaRPr lang="en-US" sz="1020" dirty="0"/>
          </a:p>
        </p:txBody>
      </p:sp>
      <p:sp>
        <p:nvSpPr>
          <p:cNvPr id="16" name="Shape 13"/>
          <p:cNvSpPr/>
          <p:nvPr/>
        </p:nvSpPr>
        <p:spPr>
          <a:xfrm>
            <a:off x="2903220" y="2340864"/>
            <a:ext cx="1005840" cy="329184"/>
          </a:xfrm>
          <a:prstGeom prst="rect">
            <a:avLst/>
          </a:prstGeom>
          <a:solidFill>
            <a:srgbClr val="00245D"/>
          </a:solidFill>
          <a:ln w="8890">
            <a:solidFill>
              <a:srgbClr val="00245D"/>
            </a:solidFill>
            <a:prstDash val="solid"/>
          </a:ln>
        </p:spPr>
        <p:txBody>
          <a:bodyPr/>
          <a:lstStyle/>
          <a:p>
            <a:endParaRPr lang="ko-KR" altLang="en-US"/>
          </a:p>
        </p:txBody>
      </p:sp>
      <p:sp>
        <p:nvSpPr>
          <p:cNvPr id="17" name="Text 14"/>
          <p:cNvSpPr/>
          <p:nvPr/>
        </p:nvSpPr>
        <p:spPr>
          <a:xfrm>
            <a:off x="2921508" y="2414016"/>
            <a:ext cx="969264" cy="237744"/>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rial" pitchFamily="34" charset="0"/>
                <a:ea typeface="Arial" pitchFamily="34" charset="-122"/>
                <a:cs typeface="Arial" pitchFamily="34" charset="-120"/>
              </a:rPr>
              <a:t>Stored</a:t>
            </a:r>
            <a:endParaRPr lang="en-US" sz="1020" dirty="0"/>
          </a:p>
        </p:txBody>
      </p:sp>
      <p:sp>
        <p:nvSpPr>
          <p:cNvPr id="18" name="Shape 15"/>
          <p:cNvSpPr/>
          <p:nvPr/>
        </p:nvSpPr>
        <p:spPr>
          <a:xfrm>
            <a:off x="3909060" y="2340864"/>
            <a:ext cx="822960" cy="329184"/>
          </a:xfrm>
          <a:prstGeom prst="rect">
            <a:avLst/>
          </a:prstGeom>
          <a:solidFill>
            <a:srgbClr val="00245D"/>
          </a:solidFill>
          <a:ln w="8890">
            <a:solidFill>
              <a:srgbClr val="00245D"/>
            </a:solidFill>
            <a:prstDash val="solid"/>
          </a:ln>
        </p:spPr>
        <p:txBody>
          <a:bodyPr/>
          <a:lstStyle/>
          <a:p>
            <a:endParaRPr lang="ko-KR" altLang="en-US"/>
          </a:p>
        </p:txBody>
      </p:sp>
      <p:sp>
        <p:nvSpPr>
          <p:cNvPr id="19" name="Text 16"/>
          <p:cNvSpPr/>
          <p:nvPr/>
        </p:nvSpPr>
        <p:spPr>
          <a:xfrm>
            <a:off x="3927348" y="2414016"/>
            <a:ext cx="786384" cy="237744"/>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rial" pitchFamily="34" charset="0"/>
                <a:ea typeface="Arial" pitchFamily="34" charset="-122"/>
                <a:cs typeface="Arial" pitchFamily="34" charset="-120"/>
              </a:rPr>
              <a:t>Value</a:t>
            </a:r>
            <a:endParaRPr lang="en-US" sz="1020" dirty="0"/>
          </a:p>
        </p:txBody>
      </p:sp>
      <p:sp>
        <p:nvSpPr>
          <p:cNvPr id="20" name="Shape 17"/>
          <p:cNvSpPr/>
          <p:nvPr/>
        </p:nvSpPr>
        <p:spPr>
          <a:xfrm>
            <a:off x="1805940" y="2670048"/>
            <a:ext cx="411480" cy="329184"/>
          </a:xfrm>
          <a:prstGeom prst="rect">
            <a:avLst/>
          </a:prstGeom>
          <a:solidFill>
            <a:srgbClr val="E2F0D9"/>
          </a:solidFill>
          <a:ln w="8890">
            <a:solidFill>
              <a:srgbClr val="D9E2F3"/>
            </a:solidFill>
            <a:prstDash val="solid"/>
          </a:ln>
        </p:spPr>
        <p:txBody>
          <a:bodyPr/>
          <a:lstStyle/>
          <a:p>
            <a:endParaRPr lang="ko-KR" altLang="en-US"/>
          </a:p>
        </p:txBody>
      </p:sp>
      <p:sp>
        <p:nvSpPr>
          <p:cNvPr id="21" name="Text 18"/>
          <p:cNvSpPr/>
          <p:nvPr/>
        </p:nvSpPr>
        <p:spPr>
          <a:xfrm>
            <a:off x="1824228" y="2743200"/>
            <a:ext cx="374904" cy="237744"/>
          </a:xfrm>
          <a:prstGeom prst="rect">
            <a:avLst/>
          </a:prstGeom>
          <a:noFill/>
          <a:ln/>
        </p:spPr>
        <p:txBody>
          <a:bodyPr wrap="square" lIns="0" tIns="0" rIns="0" bIns="0" rtlCol="0" anchor="ctr">
            <a:normAutofit/>
          </a:bodyPr>
          <a:lstStyle/>
          <a:p>
            <a:pPr marL="0" indent="0" algn="ctr">
              <a:buNone/>
            </a:pPr>
            <a:r>
              <a:rPr lang="en-US" sz="1020" b="1" dirty="0">
                <a:solidFill>
                  <a:srgbClr val="548235"/>
                </a:solidFill>
                <a:latin typeface="Arial" pitchFamily="34" charset="0"/>
                <a:ea typeface="Arial" pitchFamily="34" charset="-122"/>
                <a:cs typeface="Arial" pitchFamily="34" charset="-120"/>
              </a:rPr>
              <a:t>0</a:t>
            </a:r>
            <a:endParaRPr lang="en-US" sz="1020" dirty="0"/>
          </a:p>
        </p:txBody>
      </p:sp>
      <p:sp>
        <p:nvSpPr>
          <p:cNvPr id="22" name="Shape 19"/>
          <p:cNvSpPr/>
          <p:nvPr/>
        </p:nvSpPr>
        <p:spPr>
          <a:xfrm>
            <a:off x="2217420" y="2670048"/>
            <a:ext cx="685800" cy="329184"/>
          </a:xfrm>
          <a:prstGeom prst="rect">
            <a:avLst/>
          </a:prstGeom>
          <a:solidFill>
            <a:srgbClr val="E2F0D9"/>
          </a:solidFill>
          <a:ln w="8890">
            <a:solidFill>
              <a:srgbClr val="D9E2F3"/>
            </a:solidFill>
            <a:prstDash val="solid"/>
          </a:ln>
        </p:spPr>
        <p:txBody>
          <a:bodyPr/>
          <a:lstStyle/>
          <a:p>
            <a:endParaRPr lang="ko-KR" altLang="en-US"/>
          </a:p>
        </p:txBody>
      </p:sp>
      <p:sp>
        <p:nvSpPr>
          <p:cNvPr id="23" name="Text 20"/>
          <p:cNvSpPr/>
          <p:nvPr/>
        </p:nvSpPr>
        <p:spPr>
          <a:xfrm>
            <a:off x="2235708" y="2743200"/>
            <a:ext cx="649224" cy="237744"/>
          </a:xfrm>
          <a:prstGeom prst="rect">
            <a:avLst/>
          </a:prstGeom>
          <a:noFill/>
          <a:ln/>
        </p:spPr>
        <p:txBody>
          <a:bodyPr wrap="square" lIns="0" tIns="0" rIns="0" bIns="0" rtlCol="0" anchor="ctr">
            <a:normAutofit/>
          </a:bodyPr>
          <a:lstStyle/>
          <a:p>
            <a:pPr marL="0" indent="0" algn="ctr">
              <a:buNone/>
            </a:pPr>
            <a:r>
              <a:rPr lang="en-US" sz="1020" b="1" dirty="0">
                <a:solidFill>
                  <a:srgbClr val="548235"/>
                </a:solidFill>
                <a:latin typeface="Arial" pitchFamily="34" charset="0"/>
                <a:ea typeface="Arial" pitchFamily="34" charset="-122"/>
                <a:cs typeface="Arial" pitchFamily="34" charset="-120"/>
              </a:rPr>
              <a:t>00</a:t>
            </a:r>
            <a:endParaRPr lang="en-US" sz="1020" dirty="0"/>
          </a:p>
        </p:txBody>
      </p:sp>
      <p:sp>
        <p:nvSpPr>
          <p:cNvPr id="24" name="Shape 21"/>
          <p:cNvSpPr/>
          <p:nvPr/>
        </p:nvSpPr>
        <p:spPr>
          <a:xfrm>
            <a:off x="2903220" y="2670048"/>
            <a:ext cx="1005840" cy="329184"/>
          </a:xfrm>
          <a:prstGeom prst="rect">
            <a:avLst/>
          </a:prstGeom>
          <a:solidFill>
            <a:srgbClr val="E2F0D9"/>
          </a:solidFill>
          <a:ln w="8890">
            <a:solidFill>
              <a:srgbClr val="D9E2F3"/>
            </a:solidFill>
            <a:prstDash val="solid"/>
          </a:ln>
        </p:spPr>
        <p:txBody>
          <a:bodyPr/>
          <a:lstStyle/>
          <a:p>
            <a:endParaRPr lang="ko-KR" altLang="en-US"/>
          </a:p>
        </p:txBody>
      </p:sp>
      <p:sp>
        <p:nvSpPr>
          <p:cNvPr id="25" name="Text 22"/>
          <p:cNvSpPr/>
          <p:nvPr/>
        </p:nvSpPr>
        <p:spPr>
          <a:xfrm>
            <a:off x="2921508" y="2743200"/>
            <a:ext cx="969264" cy="237744"/>
          </a:xfrm>
          <a:prstGeom prst="rect">
            <a:avLst/>
          </a:prstGeom>
          <a:noFill/>
          <a:ln/>
        </p:spPr>
        <p:txBody>
          <a:bodyPr wrap="square" lIns="0" tIns="0" rIns="0" bIns="0" rtlCol="0" anchor="ctr">
            <a:normAutofit/>
          </a:bodyPr>
          <a:lstStyle/>
          <a:p>
            <a:pPr marL="0" indent="0" algn="ctr">
              <a:buNone/>
            </a:pPr>
            <a:r>
              <a:rPr lang="en-US" sz="1020" b="1" dirty="0">
                <a:solidFill>
                  <a:srgbClr val="548235"/>
                </a:solidFill>
                <a:latin typeface="Arial" pitchFamily="34" charset="0"/>
                <a:ea typeface="Arial" pitchFamily="34" charset="-122"/>
                <a:cs typeface="Arial" pitchFamily="34" charset="-120"/>
              </a:rPr>
              <a:t>+0</a:t>
            </a:r>
            <a:endParaRPr lang="en-US" sz="1020" dirty="0"/>
          </a:p>
        </p:txBody>
      </p:sp>
      <p:sp>
        <p:nvSpPr>
          <p:cNvPr id="26" name="Shape 23"/>
          <p:cNvSpPr/>
          <p:nvPr/>
        </p:nvSpPr>
        <p:spPr>
          <a:xfrm>
            <a:off x="3909060" y="2670048"/>
            <a:ext cx="822960" cy="329184"/>
          </a:xfrm>
          <a:prstGeom prst="rect">
            <a:avLst/>
          </a:prstGeom>
          <a:solidFill>
            <a:srgbClr val="E2F0D9"/>
          </a:solidFill>
          <a:ln w="8890">
            <a:solidFill>
              <a:srgbClr val="D9E2F3"/>
            </a:solidFill>
            <a:prstDash val="solid"/>
          </a:ln>
        </p:spPr>
        <p:txBody>
          <a:bodyPr/>
          <a:lstStyle/>
          <a:p>
            <a:endParaRPr lang="ko-KR" altLang="en-US"/>
          </a:p>
        </p:txBody>
      </p:sp>
      <p:sp>
        <p:nvSpPr>
          <p:cNvPr id="27" name="Text 24"/>
          <p:cNvSpPr/>
          <p:nvPr/>
        </p:nvSpPr>
        <p:spPr>
          <a:xfrm>
            <a:off x="3927348" y="2743200"/>
            <a:ext cx="786384" cy="237744"/>
          </a:xfrm>
          <a:prstGeom prst="rect">
            <a:avLst/>
          </a:prstGeom>
          <a:noFill/>
          <a:ln/>
        </p:spPr>
        <p:txBody>
          <a:bodyPr wrap="square" lIns="0" tIns="0" rIns="0" bIns="0" rtlCol="0" anchor="ctr">
            <a:normAutofit/>
          </a:bodyPr>
          <a:lstStyle/>
          <a:p>
            <a:pPr marL="0" indent="0" algn="ctr">
              <a:buNone/>
            </a:pPr>
            <a:r>
              <a:rPr lang="en-US" sz="1020" b="1" dirty="0">
                <a:solidFill>
                  <a:srgbClr val="548235"/>
                </a:solidFill>
                <a:latin typeface="Arial" pitchFamily="34" charset="0"/>
                <a:ea typeface="Arial" pitchFamily="34" charset="-122"/>
                <a:cs typeface="Arial" pitchFamily="34" charset="-120"/>
              </a:rPr>
              <a:t>0</a:t>
            </a:r>
            <a:endParaRPr lang="en-US" sz="1020" dirty="0"/>
          </a:p>
        </p:txBody>
      </p:sp>
      <p:sp>
        <p:nvSpPr>
          <p:cNvPr id="28" name="Shape 25"/>
          <p:cNvSpPr/>
          <p:nvPr/>
        </p:nvSpPr>
        <p:spPr>
          <a:xfrm>
            <a:off x="1805940" y="2999232"/>
            <a:ext cx="411480" cy="329184"/>
          </a:xfrm>
          <a:prstGeom prst="rect">
            <a:avLst/>
          </a:prstGeom>
          <a:solidFill>
            <a:srgbClr val="FDECEC"/>
          </a:solidFill>
          <a:ln w="8890">
            <a:solidFill>
              <a:srgbClr val="D9E2F3"/>
            </a:solidFill>
            <a:prstDash val="solid"/>
          </a:ln>
        </p:spPr>
        <p:txBody>
          <a:bodyPr/>
          <a:lstStyle/>
          <a:p>
            <a:endParaRPr lang="ko-KR" altLang="en-US"/>
          </a:p>
        </p:txBody>
      </p:sp>
      <p:sp>
        <p:nvSpPr>
          <p:cNvPr id="29" name="Text 26"/>
          <p:cNvSpPr/>
          <p:nvPr/>
        </p:nvSpPr>
        <p:spPr>
          <a:xfrm>
            <a:off x="1824228" y="3072384"/>
            <a:ext cx="374904" cy="237744"/>
          </a:xfrm>
          <a:prstGeom prst="rect">
            <a:avLst/>
          </a:prstGeom>
          <a:noFill/>
          <a:ln/>
        </p:spPr>
        <p:txBody>
          <a:bodyPr wrap="square" lIns="0" tIns="0" rIns="0" bIns="0" rtlCol="0" anchor="ctr">
            <a:normAutofit/>
          </a:bodyPr>
          <a:lstStyle/>
          <a:p>
            <a:pPr marL="0" indent="0" algn="ctr">
              <a:buNone/>
            </a:pPr>
            <a:r>
              <a:rPr lang="en-US" sz="1020" b="1" dirty="0">
                <a:solidFill>
                  <a:srgbClr val="C00000"/>
                </a:solidFill>
                <a:latin typeface="Arial" pitchFamily="34" charset="0"/>
                <a:ea typeface="Arial" pitchFamily="34" charset="-122"/>
                <a:cs typeface="Arial" pitchFamily="34" charset="-120"/>
              </a:rPr>
              <a:t>1</a:t>
            </a:r>
            <a:endParaRPr lang="en-US" sz="1020" dirty="0"/>
          </a:p>
        </p:txBody>
      </p:sp>
      <p:sp>
        <p:nvSpPr>
          <p:cNvPr id="30" name="Shape 27"/>
          <p:cNvSpPr/>
          <p:nvPr/>
        </p:nvSpPr>
        <p:spPr>
          <a:xfrm>
            <a:off x="2217420" y="2999232"/>
            <a:ext cx="685800" cy="329184"/>
          </a:xfrm>
          <a:prstGeom prst="rect">
            <a:avLst/>
          </a:prstGeom>
          <a:solidFill>
            <a:srgbClr val="FDECEC"/>
          </a:solidFill>
          <a:ln w="8890">
            <a:solidFill>
              <a:srgbClr val="D9E2F3"/>
            </a:solidFill>
            <a:prstDash val="solid"/>
          </a:ln>
        </p:spPr>
        <p:txBody>
          <a:bodyPr/>
          <a:lstStyle/>
          <a:p>
            <a:endParaRPr lang="ko-KR" altLang="en-US"/>
          </a:p>
        </p:txBody>
      </p:sp>
      <p:sp>
        <p:nvSpPr>
          <p:cNvPr id="31" name="Text 28"/>
          <p:cNvSpPr/>
          <p:nvPr/>
        </p:nvSpPr>
        <p:spPr>
          <a:xfrm>
            <a:off x="2235708" y="3072384"/>
            <a:ext cx="649224" cy="237744"/>
          </a:xfrm>
          <a:prstGeom prst="rect">
            <a:avLst/>
          </a:prstGeom>
          <a:noFill/>
          <a:ln/>
        </p:spPr>
        <p:txBody>
          <a:bodyPr wrap="square" lIns="0" tIns="0" rIns="0" bIns="0" rtlCol="0" anchor="ctr">
            <a:normAutofit/>
          </a:bodyPr>
          <a:lstStyle/>
          <a:p>
            <a:pPr marL="0" indent="0" algn="ctr">
              <a:buNone/>
            </a:pPr>
            <a:r>
              <a:rPr lang="en-US" sz="1020" b="1" dirty="0">
                <a:solidFill>
                  <a:srgbClr val="C00000"/>
                </a:solidFill>
                <a:latin typeface="Arial" pitchFamily="34" charset="0"/>
                <a:ea typeface="Arial" pitchFamily="34" charset="-122"/>
                <a:cs typeface="Arial" pitchFamily="34" charset="-120"/>
              </a:rPr>
              <a:t>00</a:t>
            </a:r>
            <a:endParaRPr lang="en-US" sz="1020" dirty="0"/>
          </a:p>
        </p:txBody>
      </p:sp>
      <p:sp>
        <p:nvSpPr>
          <p:cNvPr id="32" name="Shape 29"/>
          <p:cNvSpPr/>
          <p:nvPr/>
        </p:nvSpPr>
        <p:spPr>
          <a:xfrm>
            <a:off x="2903220" y="2999232"/>
            <a:ext cx="1005840" cy="329184"/>
          </a:xfrm>
          <a:prstGeom prst="rect">
            <a:avLst/>
          </a:prstGeom>
          <a:solidFill>
            <a:srgbClr val="FDECEC"/>
          </a:solidFill>
          <a:ln w="8890">
            <a:solidFill>
              <a:srgbClr val="D9E2F3"/>
            </a:solidFill>
            <a:prstDash val="solid"/>
          </a:ln>
        </p:spPr>
        <p:txBody>
          <a:bodyPr/>
          <a:lstStyle/>
          <a:p>
            <a:endParaRPr lang="ko-KR" altLang="en-US"/>
          </a:p>
        </p:txBody>
      </p:sp>
      <p:sp>
        <p:nvSpPr>
          <p:cNvPr id="33" name="Text 30"/>
          <p:cNvSpPr/>
          <p:nvPr/>
        </p:nvSpPr>
        <p:spPr>
          <a:xfrm>
            <a:off x="2921508" y="3072384"/>
            <a:ext cx="969264" cy="237744"/>
          </a:xfrm>
          <a:prstGeom prst="rect">
            <a:avLst/>
          </a:prstGeom>
          <a:noFill/>
          <a:ln/>
        </p:spPr>
        <p:txBody>
          <a:bodyPr wrap="square" lIns="0" tIns="0" rIns="0" bIns="0" rtlCol="0" anchor="ctr">
            <a:normAutofit/>
          </a:bodyPr>
          <a:lstStyle/>
          <a:p>
            <a:pPr marL="0" indent="0" algn="ctr">
              <a:buNone/>
            </a:pPr>
            <a:r>
              <a:rPr lang="en-US" sz="1020" b="1" dirty="0">
                <a:solidFill>
                  <a:srgbClr val="C00000"/>
                </a:solidFill>
                <a:latin typeface="Arial" pitchFamily="34" charset="0"/>
                <a:ea typeface="Arial" pitchFamily="34" charset="-122"/>
                <a:cs typeface="Arial" pitchFamily="34" charset="-120"/>
              </a:rPr>
              <a:t>−0</a:t>
            </a:r>
            <a:endParaRPr lang="en-US" sz="1020" dirty="0"/>
          </a:p>
        </p:txBody>
      </p:sp>
      <p:sp>
        <p:nvSpPr>
          <p:cNvPr id="34" name="Shape 31"/>
          <p:cNvSpPr/>
          <p:nvPr/>
        </p:nvSpPr>
        <p:spPr>
          <a:xfrm>
            <a:off x="3909060" y="2999232"/>
            <a:ext cx="822960" cy="329184"/>
          </a:xfrm>
          <a:prstGeom prst="rect">
            <a:avLst/>
          </a:prstGeom>
          <a:solidFill>
            <a:srgbClr val="FDECEC"/>
          </a:solidFill>
          <a:ln w="8890">
            <a:solidFill>
              <a:srgbClr val="D9E2F3"/>
            </a:solidFill>
            <a:prstDash val="solid"/>
          </a:ln>
        </p:spPr>
        <p:txBody>
          <a:bodyPr/>
          <a:lstStyle/>
          <a:p>
            <a:endParaRPr lang="ko-KR" altLang="en-US"/>
          </a:p>
        </p:txBody>
      </p:sp>
      <p:sp>
        <p:nvSpPr>
          <p:cNvPr id="35" name="Text 32"/>
          <p:cNvSpPr/>
          <p:nvPr/>
        </p:nvSpPr>
        <p:spPr>
          <a:xfrm>
            <a:off x="3927348" y="3072384"/>
            <a:ext cx="786384" cy="237744"/>
          </a:xfrm>
          <a:prstGeom prst="rect">
            <a:avLst/>
          </a:prstGeom>
          <a:noFill/>
          <a:ln/>
        </p:spPr>
        <p:txBody>
          <a:bodyPr wrap="square" lIns="0" tIns="0" rIns="0" bIns="0" rtlCol="0" anchor="ctr">
            <a:normAutofit/>
          </a:bodyPr>
          <a:lstStyle/>
          <a:p>
            <a:pPr marL="0" indent="0" algn="ctr">
              <a:buNone/>
            </a:pPr>
            <a:r>
              <a:rPr lang="en-US" sz="1020" b="1" dirty="0">
                <a:solidFill>
                  <a:srgbClr val="C00000"/>
                </a:solidFill>
                <a:latin typeface="Arial" pitchFamily="34" charset="0"/>
                <a:ea typeface="Arial" pitchFamily="34" charset="-122"/>
                <a:cs typeface="Arial" pitchFamily="34" charset="-120"/>
              </a:rPr>
              <a:t>0</a:t>
            </a:r>
            <a:endParaRPr lang="en-US" sz="1020" dirty="0"/>
          </a:p>
        </p:txBody>
      </p:sp>
      <p:sp>
        <p:nvSpPr>
          <p:cNvPr id="36" name="Shape 33"/>
          <p:cNvSpPr/>
          <p:nvPr/>
        </p:nvSpPr>
        <p:spPr>
          <a:xfrm>
            <a:off x="1805940" y="3328416"/>
            <a:ext cx="411480" cy="329184"/>
          </a:xfrm>
          <a:prstGeom prst="rect">
            <a:avLst/>
          </a:prstGeom>
          <a:solidFill>
            <a:srgbClr val="F5F7FA"/>
          </a:solidFill>
          <a:ln w="8890">
            <a:solidFill>
              <a:srgbClr val="D9E2F3"/>
            </a:solidFill>
            <a:prstDash val="solid"/>
          </a:ln>
        </p:spPr>
        <p:txBody>
          <a:bodyPr/>
          <a:lstStyle/>
          <a:p>
            <a:endParaRPr lang="ko-KR" altLang="en-US"/>
          </a:p>
        </p:txBody>
      </p:sp>
      <p:sp>
        <p:nvSpPr>
          <p:cNvPr id="37" name="Text 34"/>
          <p:cNvSpPr/>
          <p:nvPr/>
        </p:nvSpPr>
        <p:spPr>
          <a:xfrm>
            <a:off x="1824228" y="3401568"/>
            <a:ext cx="37490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0</a:t>
            </a:r>
            <a:endParaRPr lang="en-US" sz="1020" dirty="0"/>
          </a:p>
        </p:txBody>
      </p:sp>
      <p:sp>
        <p:nvSpPr>
          <p:cNvPr id="38" name="Shape 35"/>
          <p:cNvSpPr/>
          <p:nvPr/>
        </p:nvSpPr>
        <p:spPr>
          <a:xfrm>
            <a:off x="2217420" y="3328416"/>
            <a:ext cx="685800" cy="329184"/>
          </a:xfrm>
          <a:prstGeom prst="rect">
            <a:avLst/>
          </a:prstGeom>
          <a:solidFill>
            <a:srgbClr val="F5F7FA"/>
          </a:solidFill>
          <a:ln w="8890">
            <a:solidFill>
              <a:srgbClr val="D9E2F3"/>
            </a:solidFill>
            <a:prstDash val="solid"/>
          </a:ln>
        </p:spPr>
        <p:txBody>
          <a:bodyPr/>
          <a:lstStyle/>
          <a:p>
            <a:endParaRPr lang="ko-KR" altLang="en-US"/>
          </a:p>
        </p:txBody>
      </p:sp>
      <p:sp>
        <p:nvSpPr>
          <p:cNvPr id="39" name="Text 36"/>
          <p:cNvSpPr/>
          <p:nvPr/>
        </p:nvSpPr>
        <p:spPr>
          <a:xfrm>
            <a:off x="2235708" y="3401568"/>
            <a:ext cx="64922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01</a:t>
            </a:r>
            <a:endParaRPr lang="en-US" sz="1020" dirty="0"/>
          </a:p>
        </p:txBody>
      </p:sp>
      <p:sp>
        <p:nvSpPr>
          <p:cNvPr id="40" name="Shape 37"/>
          <p:cNvSpPr/>
          <p:nvPr/>
        </p:nvSpPr>
        <p:spPr>
          <a:xfrm>
            <a:off x="2903220" y="3328416"/>
            <a:ext cx="1005840" cy="329184"/>
          </a:xfrm>
          <a:prstGeom prst="rect">
            <a:avLst/>
          </a:prstGeom>
          <a:solidFill>
            <a:srgbClr val="F5F7FA"/>
          </a:solidFill>
          <a:ln w="8890">
            <a:solidFill>
              <a:srgbClr val="D9E2F3"/>
            </a:solidFill>
            <a:prstDash val="solid"/>
          </a:ln>
        </p:spPr>
        <p:txBody>
          <a:bodyPr/>
          <a:lstStyle/>
          <a:p>
            <a:endParaRPr lang="ko-KR" altLang="en-US"/>
          </a:p>
        </p:txBody>
      </p:sp>
      <p:sp>
        <p:nvSpPr>
          <p:cNvPr id="41" name="Text 38"/>
          <p:cNvSpPr/>
          <p:nvPr/>
        </p:nvSpPr>
        <p:spPr>
          <a:xfrm>
            <a:off x="2921508" y="3401568"/>
            <a:ext cx="96926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a:t>
            </a:r>
            <a:endParaRPr lang="en-US" sz="1020" dirty="0"/>
          </a:p>
        </p:txBody>
      </p:sp>
      <p:sp>
        <p:nvSpPr>
          <p:cNvPr id="42" name="Shape 39"/>
          <p:cNvSpPr/>
          <p:nvPr/>
        </p:nvSpPr>
        <p:spPr>
          <a:xfrm>
            <a:off x="3909060" y="3328416"/>
            <a:ext cx="822960" cy="329184"/>
          </a:xfrm>
          <a:prstGeom prst="rect">
            <a:avLst/>
          </a:prstGeom>
          <a:solidFill>
            <a:srgbClr val="F5F7FA"/>
          </a:solidFill>
          <a:ln w="8890">
            <a:solidFill>
              <a:srgbClr val="D9E2F3"/>
            </a:solidFill>
            <a:prstDash val="solid"/>
          </a:ln>
        </p:spPr>
        <p:txBody>
          <a:bodyPr/>
          <a:lstStyle/>
          <a:p>
            <a:endParaRPr lang="ko-KR" altLang="en-US"/>
          </a:p>
        </p:txBody>
      </p:sp>
      <p:sp>
        <p:nvSpPr>
          <p:cNvPr id="43" name="Text 40"/>
          <p:cNvSpPr/>
          <p:nvPr/>
        </p:nvSpPr>
        <p:spPr>
          <a:xfrm>
            <a:off x="3927348" y="3401568"/>
            <a:ext cx="78638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a:t>
            </a:r>
            <a:endParaRPr lang="en-US" sz="1020" dirty="0"/>
          </a:p>
        </p:txBody>
      </p:sp>
      <p:sp>
        <p:nvSpPr>
          <p:cNvPr id="44" name="Shape 41"/>
          <p:cNvSpPr/>
          <p:nvPr/>
        </p:nvSpPr>
        <p:spPr>
          <a:xfrm>
            <a:off x="1805940" y="3657600"/>
            <a:ext cx="411480" cy="329184"/>
          </a:xfrm>
          <a:prstGeom prst="rect">
            <a:avLst/>
          </a:prstGeom>
          <a:solidFill>
            <a:srgbClr val="FFFFFF"/>
          </a:solidFill>
          <a:ln w="8890">
            <a:solidFill>
              <a:srgbClr val="D9E2F3"/>
            </a:solidFill>
            <a:prstDash val="solid"/>
          </a:ln>
        </p:spPr>
        <p:txBody>
          <a:bodyPr/>
          <a:lstStyle/>
          <a:p>
            <a:endParaRPr lang="ko-KR" altLang="en-US"/>
          </a:p>
        </p:txBody>
      </p:sp>
      <p:sp>
        <p:nvSpPr>
          <p:cNvPr id="45" name="Text 42"/>
          <p:cNvSpPr/>
          <p:nvPr/>
        </p:nvSpPr>
        <p:spPr>
          <a:xfrm>
            <a:off x="1824228" y="3730752"/>
            <a:ext cx="37490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a:t>
            </a:r>
            <a:endParaRPr lang="en-US" sz="1020" dirty="0"/>
          </a:p>
        </p:txBody>
      </p:sp>
      <p:sp>
        <p:nvSpPr>
          <p:cNvPr id="46" name="Shape 43"/>
          <p:cNvSpPr/>
          <p:nvPr/>
        </p:nvSpPr>
        <p:spPr>
          <a:xfrm>
            <a:off x="2217420" y="3657600"/>
            <a:ext cx="685800" cy="329184"/>
          </a:xfrm>
          <a:prstGeom prst="rect">
            <a:avLst/>
          </a:prstGeom>
          <a:solidFill>
            <a:srgbClr val="FFFFFF"/>
          </a:solidFill>
          <a:ln w="8890">
            <a:solidFill>
              <a:srgbClr val="D9E2F3"/>
            </a:solidFill>
            <a:prstDash val="solid"/>
          </a:ln>
        </p:spPr>
        <p:txBody>
          <a:bodyPr/>
          <a:lstStyle/>
          <a:p>
            <a:endParaRPr lang="ko-KR" altLang="en-US"/>
          </a:p>
        </p:txBody>
      </p:sp>
      <p:sp>
        <p:nvSpPr>
          <p:cNvPr id="47" name="Text 44"/>
          <p:cNvSpPr/>
          <p:nvPr/>
        </p:nvSpPr>
        <p:spPr>
          <a:xfrm>
            <a:off x="2235708" y="3730752"/>
            <a:ext cx="64922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01</a:t>
            </a:r>
            <a:endParaRPr lang="en-US" sz="1020" dirty="0"/>
          </a:p>
        </p:txBody>
      </p:sp>
      <p:sp>
        <p:nvSpPr>
          <p:cNvPr id="48" name="Shape 45"/>
          <p:cNvSpPr/>
          <p:nvPr/>
        </p:nvSpPr>
        <p:spPr>
          <a:xfrm>
            <a:off x="2903220" y="3657600"/>
            <a:ext cx="1005840" cy="329184"/>
          </a:xfrm>
          <a:prstGeom prst="rect">
            <a:avLst/>
          </a:prstGeom>
          <a:solidFill>
            <a:srgbClr val="FFFFFF"/>
          </a:solidFill>
          <a:ln w="8890">
            <a:solidFill>
              <a:srgbClr val="D9E2F3"/>
            </a:solidFill>
            <a:prstDash val="solid"/>
          </a:ln>
        </p:spPr>
        <p:txBody>
          <a:bodyPr/>
          <a:lstStyle/>
          <a:p>
            <a:endParaRPr lang="ko-KR" altLang="en-US"/>
          </a:p>
        </p:txBody>
      </p:sp>
      <p:sp>
        <p:nvSpPr>
          <p:cNvPr id="49" name="Text 46"/>
          <p:cNvSpPr/>
          <p:nvPr/>
        </p:nvSpPr>
        <p:spPr>
          <a:xfrm>
            <a:off x="2921508" y="3730752"/>
            <a:ext cx="96926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a:t>
            </a:r>
            <a:endParaRPr lang="en-US" sz="1020" dirty="0"/>
          </a:p>
        </p:txBody>
      </p:sp>
      <p:sp>
        <p:nvSpPr>
          <p:cNvPr id="50" name="Shape 47"/>
          <p:cNvSpPr/>
          <p:nvPr/>
        </p:nvSpPr>
        <p:spPr>
          <a:xfrm>
            <a:off x="3909060" y="3657600"/>
            <a:ext cx="822960" cy="329184"/>
          </a:xfrm>
          <a:prstGeom prst="rect">
            <a:avLst/>
          </a:prstGeom>
          <a:solidFill>
            <a:srgbClr val="FFFFFF"/>
          </a:solidFill>
          <a:ln w="8890">
            <a:solidFill>
              <a:srgbClr val="D9E2F3"/>
            </a:solidFill>
            <a:prstDash val="solid"/>
          </a:ln>
        </p:spPr>
        <p:txBody>
          <a:bodyPr/>
          <a:lstStyle/>
          <a:p>
            <a:endParaRPr lang="ko-KR" altLang="en-US"/>
          </a:p>
        </p:txBody>
      </p:sp>
      <p:sp>
        <p:nvSpPr>
          <p:cNvPr id="51" name="Text 48"/>
          <p:cNvSpPr/>
          <p:nvPr/>
        </p:nvSpPr>
        <p:spPr>
          <a:xfrm>
            <a:off x="3927348" y="3730752"/>
            <a:ext cx="78638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a:t>
            </a:r>
            <a:endParaRPr lang="en-US" sz="1020" dirty="0"/>
          </a:p>
        </p:txBody>
      </p:sp>
      <p:sp>
        <p:nvSpPr>
          <p:cNvPr id="52" name="Shape 49"/>
          <p:cNvSpPr/>
          <p:nvPr/>
        </p:nvSpPr>
        <p:spPr>
          <a:xfrm>
            <a:off x="1805940" y="3986784"/>
            <a:ext cx="411480" cy="329184"/>
          </a:xfrm>
          <a:prstGeom prst="rect">
            <a:avLst/>
          </a:prstGeom>
          <a:solidFill>
            <a:srgbClr val="F5F7FA"/>
          </a:solidFill>
          <a:ln w="8890">
            <a:solidFill>
              <a:srgbClr val="D9E2F3"/>
            </a:solidFill>
            <a:prstDash val="solid"/>
          </a:ln>
        </p:spPr>
        <p:txBody>
          <a:bodyPr/>
          <a:lstStyle/>
          <a:p>
            <a:endParaRPr lang="ko-KR" altLang="en-US"/>
          </a:p>
        </p:txBody>
      </p:sp>
      <p:sp>
        <p:nvSpPr>
          <p:cNvPr id="53" name="Text 50"/>
          <p:cNvSpPr/>
          <p:nvPr/>
        </p:nvSpPr>
        <p:spPr>
          <a:xfrm>
            <a:off x="1824228" y="4059936"/>
            <a:ext cx="37490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0</a:t>
            </a:r>
            <a:endParaRPr lang="en-US" sz="1020" dirty="0"/>
          </a:p>
        </p:txBody>
      </p:sp>
      <p:sp>
        <p:nvSpPr>
          <p:cNvPr id="54" name="Shape 51"/>
          <p:cNvSpPr/>
          <p:nvPr/>
        </p:nvSpPr>
        <p:spPr>
          <a:xfrm>
            <a:off x="2217420" y="3986784"/>
            <a:ext cx="685800" cy="329184"/>
          </a:xfrm>
          <a:prstGeom prst="rect">
            <a:avLst/>
          </a:prstGeom>
          <a:solidFill>
            <a:srgbClr val="F5F7FA"/>
          </a:solidFill>
          <a:ln w="8890">
            <a:solidFill>
              <a:srgbClr val="D9E2F3"/>
            </a:solidFill>
            <a:prstDash val="solid"/>
          </a:ln>
        </p:spPr>
        <p:txBody>
          <a:bodyPr/>
          <a:lstStyle/>
          <a:p>
            <a:endParaRPr lang="ko-KR" altLang="en-US"/>
          </a:p>
        </p:txBody>
      </p:sp>
      <p:sp>
        <p:nvSpPr>
          <p:cNvPr id="55" name="Text 52"/>
          <p:cNvSpPr/>
          <p:nvPr/>
        </p:nvSpPr>
        <p:spPr>
          <a:xfrm>
            <a:off x="2235708" y="4059936"/>
            <a:ext cx="64922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10</a:t>
            </a:r>
            <a:endParaRPr lang="en-US" sz="1020" dirty="0"/>
          </a:p>
        </p:txBody>
      </p:sp>
      <p:sp>
        <p:nvSpPr>
          <p:cNvPr id="56" name="Shape 53"/>
          <p:cNvSpPr/>
          <p:nvPr/>
        </p:nvSpPr>
        <p:spPr>
          <a:xfrm>
            <a:off x="2903220" y="3986784"/>
            <a:ext cx="1005840" cy="329184"/>
          </a:xfrm>
          <a:prstGeom prst="rect">
            <a:avLst/>
          </a:prstGeom>
          <a:solidFill>
            <a:srgbClr val="F5F7FA"/>
          </a:solidFill>
          <a:ln w="8890">
            <a:solidFill>
              <a:srgbClr val="D9E2F3"/>
            </a:solidFill>
            <a:prstDash val="solid"/>
          </a:ln>
        </p:spPr>
        <p:txBody>
          <a:bodyPr/>
          <a:lstStyle/>
          <a:p>
            <a:endParaRPr lang="ko-KR" altLang="en-US"/>
          </a:p>
        </p:txBody>
      </p:sp>
      <p:sp>
        <p:nvSpPr>
          <p:cNvPr id="57" name="Text 54"/>
          <p:cNvSpPr/>
          <p:nvPr/>
        </p:nvSpPr>
        <p:spPr>
          <a:xfrm>
            <a:off x="2921508" y="4059936"/>
            <a:ext cx="96926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+2</a:t>
            </a:r>
            <a:endParaRPr lang="en-US" sz="1020" dirty="0"/>
          </a:p>
        </p:txBody>
      </p:sp>
      <p:sp>
        <p:nvSpPr>
          <p:cNvPr id="58" name="Shape 55"/>
          <p:cNvSpPr/>
          <p:nvPr/>
        </p:nvSpPr>
        <p:spPr>
          <a:xfrm>
            <a:off x="3909060" y="3986784"/>
            <a:ext cx="822960" cy="329184"/>
          </a:xfrm>
          <a:prstGeom prst="rect">
            <a:avLst/>
          </a:prstGeom>
          <a:solidFill>
            <a:srgbClr val="F5F7FA"/>
          </a:solidFill>
          <a:ln w="8890">
            <a:solidFill>
              <a:srgbClr val="D9E2F3"/>
            </a:solidFill>
            <a:prstDash val="solid"/>
          </a:ln>
        </p:spPr>
        <p:txBody>
          <a:bodyPr/>
          <a:lstStyle/>
          <a:p>
            <a:endParaRPr lang="ko-KR" altLang="en-US"/>
          </a:p>
        </p:txBody>
      </p:sp>
      <p:sp>
        <p:nvSpPr>
          <p:cNvPr id="59" name="Text 56"/>
          <p:cNvSpPr/>
          <p:nvPr/>
        </p:nvSpPr>
        <p:spPr>
          <a:xfrm>
            <a:off x="3927348" y="4059936"/>
            <a:ext cx="78638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+2</a:t>
            </a:r>
            <a:endParaRPr lang="en-US" sz="1020" dirty="0"/>
          </a:p>
        </p:txBody>
      </p:sp>
      <p:sp>
        <p:nvSpPr>
          <p:cNvPr id="60" name="Shape 57"/>
          <p:cNvSpPr/>
          <p:nvPr/>
        </p:nvSpPr>
        <p:spPr>
          <a:xfrm>
            <a:off x="1805940" y="4315968"/>
            <a:ext cx="411480" cy="329184"/>
          </a:xfrm>
          <a:prstGeom prst="rect">
            <a:avLst/>
          </a:prstGeom>
          <a:solidFill>
            <a:srgbClr val="FFFFFF"/>
          </a:solidFill>
          <a:ln w="8890">
            <a:solidFill>
              <a:srgbClr val="D9E2F3"/>
            </a:solidFill>
            <a:prstDash val="solid"/>
          </a:ln>
        </p:spPr>
        <p:txBody>
          <a:bodyPr/>
          <a:lstStyle/>
          <a:p>
            <a:endParaRPr lang="ko-KR" altLang="en-US"/>
          </a:p>
        </p:txBody>
      </p:sp>
      <p:sp>
        <p:nvSpPr>
          <p:cNvPr id="61" name="Text 58"/>
          <p:cNvSpPr/>
          <p:nvPr/>
        </p:nvSpPr>
        <p:spPr>
          <a:xfrm>
            <a:off x="1824228" y="4389120"/>
            <a:ext cx="37490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a:t>
            </a:r>
            <a:endParaRPr lang="en-US" sz="1020" dirty="0"/>
          </a:p>
        </p:txBody>
      </p:sp>
      <p:sp>
        <p:nvSpPr>
          <p:cNvPr id="62" name="Shape 59"/>
          <p:cNvSpPr/>
          <p:nvPr/>
        </p:nvSpPr>
        <p:spPr>
          <a:xfrm>
            <a:off x="2217420" y="4315968"/>
            <a:ext cx="685800" cy="329184"/>
          </a:xfrm>
          <a:prstGeom prst="rect">
            <a:avLst/>
          </a:prstGeom>
          <a:solidFill>
            <a:srgbClr val="FFFFFF"/>
          </a:solidFill>
          <a:ln w="8890">
            <a:solidFill>
              <a:srgbClr val="D9E2F3"/>
            </a:solidFill>
            <a:prstDash val="solid"/>
          </a:ln>
        </p:spPr>
        <p:txBody>
          <a:bodyPr/>
          <a:lstStyle/>
          <a:p>
            <a:endParaRPr lang="ko-KR" altLang="en-US"/>
          </a:p>
        </p:txBody>
      </p:sp>
      <p:sp>
        <p:nvSpPr>
          <p:cNvPr id="63" name="Text 60"/>
          <p:cNvSpPr/>
          <p:nvPr/>
        </p:nvSpPr>
        <p:spPr>
          <a:xfrm>
            <a:off x="2235708" y="4389120"/>
            <a:ext cx="64922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10</a:t>
            </a:r>
            <a:endParaRPr lang="en-US" sz="1020" dirty="0"/>
          </a:p>
        </p:txBody>
      </p:sp>
      <p:sp>
        <p:nvSpPr>
          <p:cNvPr id="64" name="Shape 61"/>
          <p:cNvSpPr/>
          <p:nvPr/>
        </p:nvSpPr>
        <p:spPr>
          <a:xfrm>
            <a:off x="2903220" y="4315968"/>
            <a:ext cx="1005840" cy="329184"/>
          </a:xfrm>
          <a:prstGeom prst="rect">
            <a:avLst/>
          </a:prstGeom>
          <a:solidFill>
            <a:srgbClr val="FFFFFF"/>
          </a:solidFill>
          <a:ln w="8890">
            <a:solidFill>
              <a:srgbClr val="D9E2F3"/>
            </a:solidFill>
            <a:prstDash val="solid"/>
          </a:ln>
        </p:spPr>
        <p:txBody>
          <a:bodyPr/>
          <a:lstStyle/>
          <a:p>
            <a:endParaRPr lang="ko-KR" altLang="en-US"/>
          </a:p>
        </p:txBody>
      </p:sp>
      <p:sp>
        <p:nvSpPr>
          <p:cNvPr id="65" name="Text 62"/>
          <p:cNvSpPr/>
          <p:nvPr/>
        </p:nvSpPr>
        <p:spPr>
          <a:xfrm>
            <a:off x="2921508" y="4389120"/>
            <a:ext cx="96926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−2</a:t>
            </a:r>
            <a:endParaRPr lang="en-US" sz="1020" dirty="0"/>
          </a:p>
        </p:txBody>
      </p:sp>
      <p:sp>
        <p:nvSpPr>
          <p:cNvPr id="66" name="Shape 63"/>
          <p:cNvSpPr/>
          <p:nvPr/>
        </p:nvSpPr>
        <p:spPr>
          <a:xfrm>
            <a:off x="3909060" y="4315968"/>
            <a:ext cx="822960" cy="329184"/>
          </a:xfrm>
          <a:prstGeom prst="rect">
            <a:avLst/>
          </a:prstGeom>
          <a:solidFill>
            <a:srgbClr val="FFFFFF"/>
          </a:solidFill>
          <a:ln w="8890">
            <a:solidFill>
              <a:srgbClr val="D9E2F3"/>
            </a:solidFill>
            <a:prstDash val="solid"/>
          </a:ln>
        </p:spPr>
        <p:txBody>
          <a:bodyPr/>
          <a:lstStyle/>
          <a:p>
            <a:endParaRPr lang="ko-KR" altLang="en-US"/>
          </a:p>
        </p:txBody>
      </p:sp>
      <p:sp>
        <p:nvSpPr>
          <p:cNvPr id="67" name="Text 64"/>
          <p:cNvSpPr/>
          <p:nvPr/>
        </p:nvSpPr>
        <p:spPr>
          <a:xfrm>
            <a:off x="3927348" y="4389120"/>
            <a:ext cx="78638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−2</a:t>
            </a:r>
            <a:endParaRPr lang="en-US" sz="1020" dirty="0"/>
          </a:p>
        </p:txBody>
      </p:sp>
      <p:sp>
        <p:nvSpPr>
          <p:cNvPr id="68" name="Shape 65"/>
          <p:cNvSpPr/>
          <p:nvPr/>
        </p:nvSpPr>
        <p:spPr>
          <a:xfrm>
            <a:off x="1805940" y="4645152"/>
            <a:ext cx="411480" cy="329184"/>
          </a:xfrm>
          <a:prstGeom prst="rect">
            <a:avLst/>
          </a:prstGeom>
          <a:solidFill>
            <a:srgbClr val="F5F7FA"/>
          </a:solidFill>
          <a:ln w="8890">
            <a:solidFill>
              <a:srgbClr val="D9E2F3"/>
            </a:solidFill>
            <a:prstDash val="solid"/>
          </a:ln>
        </p:spPr>
        <p:txBody>
          <a:bodyPr/>
          <a:lstStyle/>
          <a:p>
            <a:endParaRPr lang="ko-KR" altLang="en-US"/>
          </a:p>
        </p:txBody>
      </p:sp>
      <p:sp>
        <p:nvSpPr>
          <p:cNvPr id="69" name="Text 66"/>
          <p:cNvSpPr/>
          <p:nvPr/>
        </p:nvSpPr>
        <p:spPr>
          <a:xfrm>
            <a:off x="1824228" y="4718304"/>
            <a:ext cx="37490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0</a:t>
            </a:r>
            <a:endParaRPr lang="en-US" sz="1020" dirty="0"/>
          </a:p>
        </p:txBody>
      </p:sp>
      <p:sp>
        <p:nvSpPr>
          <p:cNvPr id="70" name="Shape 67"/>
          <p:cNvSpPr/>
          <p:nvPr/>
        </p:nvSpPr>
        <p:spPr>
          <a:xfrm>
            <a:off x="2217420" y="4645152"/>
            <a:ext cx="685800" cy="329184"/>
          </a:xfrm>
          <a:prstGeom prst="rect">
            <a:avLst/>
          </a:prstGeom>
          <a:solidFill>
            <a:srgbClr val="F5F7FA"/>
          </a:solidFill>
          <a:ln w="8890">
            <a:solidFill>
              <a:srgbClr val="D9E2F3"/>
            </a:solidFill>
            <a:prstDash val="solid"/>
          </a:ln>
        </p:spPr>
        <p:txBody>
          <a:bodyPr/>
          <a:lstStyle/>
          <a:p>
            <a:endParaRPr lang="ko-KR" altLang="en-US"/>
          </a:p>
        </p:txBody>
      </p:sp>
      <p:sp>
        <p:nvSpPr>
          <p:cNvPr id="71" name="Text 68"/>
          <p:cNvSpPr/>
          <p:nvPr/>
        </p:nvSpPr>
        <p:spPr>
          <a:xfrm>
            <a:off x="2235708" y="4718304"/>
            <a:ext cx="64922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11</a:t>
            </a:r>
            <a:endParaRPr lang="en-US" sz="1020" dirty="0"/>
          </a:p>
        </p:txBody>
      </p:sp>
      <p:sp>
        <p:nvSpPr>
          <p:cNvPr id="72" name="Shape 69"/>
          <p:cNvSpPr/>
          <p:nvPr/>
        </p:nvSpPr>
        <p:spPr>
          <a:xfrm>
            <a:off x="2903220" y="4645152"/>
            <a:ext cx="1005840" cy="329184"/>
          </a:xfrm>
          <a:prstGeom prst="rect">
            <a:avLst/>
          </a:prstGeom>
          <a:solidFill>
            <a:srgbClr val="F5F7FA"/>
          </a:solidFill>
          <a:ln w="8890">
            <a:solidFill>
              <a:srgbClr val="D9E2F3"/>
            </a:solidFill>
            <a:prstDash val="solid"/>
          </a:ln>
        </p:spPr>
        <p:txBody>
          <a:bodyPr/>
          <a:lstStyle/>
          <a:p>
            <a:endParaRPr lang="ko-KR" altLang="en-US"/>
          </a:p>
        </p:txBody>
      </p:sp>
      <p:sp>
        <p:nvSpPr>
          <p:cNvPr id="73" name="Text 70"/>
          <p:cNvSpPr/>
          <p:nvPr/>
        </p:nvSpPr>
        <p:spPr>
          <a:xfrm>
            <a:off x="2921508" y="4718304"/>
            <a:ext cx="96926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+4</a:t>
            </a:r>
            <a:endParaRPr lang="en-US" sz="1020" dirty="0"/>
          </a:p>
        </p:txBody>
      </p:sp>
      <p:sp>
        <p:nvSpPr>
          <p:cNvPr id="74" name="Shape 71"/>
          <p:cNvSpPr/>
          <p:nvPr/>
        </p:nvSpPr>
        <p:spPr>
          <a:xfrm>
            <a:off x="3909060" y="4645152"/>
            <a:ext cx="822960" cy="329184"/>
          </a:xfrm>
          <a:prstGeom prst="rect">
            <a:avLst/>
          </a:prstGeom>
          <a:solidFill>
            <a:srgbClr val="F5F7FA"/>
          </a:solidFill>
          <a:ln w="8890">
            <a:solidFill>
              <a:srgbClr val="D9E2F3"/>
            </a:solidFill>
            <a:prstDash val="solid"/>
          </a:ln>
        </p:spPr>
        <p:txBody>
          <a:bodyPr/>
          <a:lstStyle/>
          <a:p>
            <a:endParaRPr lang="ko-KR" altLang="en-US"/>
          </a:p>
        </p:txBody>
      </p:sp>
      <p:sp>
        <p:nvSpPr>
          <p:cNvPr id="75" name="Text 72"/>
          <p:cNvSpPr/>
          <p:nvPr/>
        </p:nvSpPr>
        <p:spPr>
          <a:xfrm>
            <a:off x="3927348" y="4718304"/>
            <a:ext cx="78638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+4</a:t>
            </a:r>
            <a:endParaRPr lang="en-US" sz="1020" dirty="0"/>
          </a:p>
        </p:txBody>
      </p:sp>
      <p:sp>
        <p:nvSpPr>
          <p:cNvPr id="76" name="Shape 73"/>
          <p:cNvSpPr/>
          <p:nvPr/>
        </p:nvSpPr>
        <p:spPr>
          <a:xfrm>
            <a:off x="1805940" y="4974336"/>
            <a:ext cx="411480" cy="329184"/>
          </a:xfrm>
          <a:prstGeom prst="rect">
            <a:avLst/>
          </a:prstGeom>
          <a:solidFill>
            <a:srgbClr val="FFFFFF"/>
          </a:solidFill>
          <a:ln w="8890">
            <a:solidFill>
              <a:srgbClr val="D9E2F3"/>
            </a:solidFill>
            <a:prstDash val="solid"/>
          </a:ln>
        </p:spPr>
        <p:txBody>
          <a:bodyPr/>
          <a:lstStyle/>
          <a:p>
            <a:endParaRPr lang="ko-KR" altLang="en-US"/>
          </a:p>
        </p:txBody>
      </p:sp>
      <p:sp>
        <p:nvSpPr>
          <p:cNvPr id="77" name="Text 74"/>
          <p:cNvSpPr/>
          <p:nvPr/>
        </p:nvSpPr>
        <p:spPr>
          <a:xfrm>
            <a:off x="1824228" y="5047488"/>
            <a:ext cx="37490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a:t>
            </a:r>
            <a:endParaRPr lang="en-US" sz="1020" dirty="0"/>
          </a:p>
        </p:txBody>
      </p:sp>
      <p:sp>
        <p:nvSpPr>
          <p:cNvPr id="78" name="Shape 75"/>
          <p:cNvSpPr/>
          <p:nvPr/>
        </p:nvSpPr>
        <p:spPr>
          <a:xfrm>
            <a:off x="2217420" y="4974336"/>
            <a:ext cx="685800" cy="329184"/>
          </a:xfrm>
          <a:prstGeom prst="rect">
            <a:avLst/>
          </a:prstGeom>
          <a:solidFill>
            <a:srgbClr val="FFFFFF"/>
          </a:solidFill>
          <a:ln w="8890">
            <a:solidFill>
              <a:srgbClr val="D9E2F3"/>
            </a:solidFill>
            <a:prstDash val="solid"/>
          </a:ln>
        </p:spPr>
        <p:txBody>
          <a:bodyPr/>
          <a:lstStyle/>
          <a:p>
            <a:endParaRPr lang="ko-KR" altLang="en-US"/>
          </a:p>
        </p:txBody>
      </p:sp>
      <p:sp>
        <p:nvSpPr>
          <p:cNvPr id="79" name="Text 76"/>
          <p:cNvSpPr/>
          <p:nvPr/>
        </p:nvSpPr>
        <p:spPr>
          <a:xfrm>
            <a:off x="2235708" y="5047488"/>
            <a:ext cx="64922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11</a:t>
            </a:r>
            <a:endParaRPr lang="en-US" sz="1020" dirty="0"/>
          </a:p>
        </p:txBody>
      </p:sp>
      <p:sp>
        <p:nvSpPr>
          <p:cNvPr id="80" name="Shape 77"/>
          <p:cNvSpPr/>
          <p:nvPr/>
        </p:nvSpPr>
        <p:spPr>
          <a:xfrm>
            <a:off x="2903220" y="4974336"/>
            <a:ext cx="1005840" cy="329184"/>
          </a:xfrm>
          <a:prstGeom prst="rect">
            <a:avLst/>
          </a:prstGeom>
          <a:solidFill>
            <a:srgbClr val="FFFFFF"/>
          </a:solidFill>
          <a:ln w="8890">
            <a:solidFill>
              <a:srgbClr val="D9E2F3"/>
            </a:solidFill>
            <a:prstDash val="solid"/>
          </a:ln>
        </p:spPr>
        <p:txBody>
          <a:bodyPr/>
          <a:lstStyle/>
          <a:p>
            <a:endParaRPr lang="ko-KR" altLang="en-US"/>
          </a:p>
        </p:txBody>
      </p:sp>
      <p:sp>
        <p:nvSpPr>
          <p:cNvPr id="81" name="Text 78"/>
          <p:cNvSpPr/>
          <p:nvPr/>
        </p:nvSpPr>
        <p:spPr>
          <a:xfrm>
            <a:off x="2921508" y="5047488"/>
            <a:ext cx="96926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−4</a:t>
            </a:r>
            <a:endParaRPr lang="en-US" sz="1020" dirty="0"/>
          </a:p>
        </p:txBody>
      </p:sp>
      <p:sp>
        <p:nvSpPr>
          <p:cNvPr id="82" name="Shape 79"/>
          <p:cNvSpPr/>
          <p:nvPr/>
        </p:nvSpPr>
        <p:spPr>
          <a:xfrm>
            <a:off x="3909060" y="4974336"/>
            <a:ext cx="822960" cy="329184"/>
          </a:xfrm>
          <a:prstGeom prst="rect">
            <a:avLst/>
          </a:prstGeom>
          <a:solidFill>
            <a:srgbClr val="FFFFFF"/>
          </a:solidFill>
          <a:ln w="8890">
            <a:solidFill>
              <a:srgbClr val="D9E2F3"/>
            </a:solidFill>
            <a:prstDash val="solid"/>
          </a:ln>
        </p:spPr>
        <p:txBody>
          <a:bodyPr/>
          <a:lstStyle/>
          <a:p>
            <a:endParaRPr lang="ko-KR" altLang="en-US"/>
          </a:p>
        </p:txBody>
      </p:sp>
      <p:sp>
        <p:nvSpPr>
          <p:cNvPr id="83" name="Text 80"/>
          <p:cNvSpPr/>
          <p:nvPr/>
        </p:nvSpPr>
        <p:spPr>
          <a:xfrm>
            <a:off x="3927348" y="5047488"/>
            <a:ext cx="786384" cy="237744"/>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−4</a:t>
            </a:r>
            <a:endParaRPr lang="en-US" sz="1020" dirty="0"/>
          </a:p>
        </p:txBody>
      </p:sp>
      <p:sp>
        <p:nvSpPr>
          <p:cNvPr id="84" name="Shape 81"/>
          <p:cNvSpPr/>
          <p:nvPr/>
        </p:nvSpPr>
        <p:spPr>
          <a:xfrm>
            <a:off x="4187952" y="2706624"/>
            <a:ext cx="274320" cy="640080"/>
          </a:xfrm>
          <a:prstGeom prst="bracePair">
            <a:avLst/>
          </a:prstGeom>
          <a:noFill/>
          <a:ln w="15240">
            <a:solidFill>
              <a:srgbClr val="C00000"/>
            </a:solidFill>
            <a:prstDash val="solid"/>
          </a:ln>
        </p:spPr>
        <p:txBody>
          <a:bodyPr/>
          <a:lstStyle/>
          <a:p>
            <a:endParaRPr lang="ko-KR" altLang="en-US"/>
          </a:p>
        </p:txBody>
      </p:sp>
      <p:sp>
        <p:nvSpPr>
          <p:cNvPr id="85" name="Text 82"/>
          <p:cNvSpPr/>
          <p:nvPr/>
        </p:nvSpPr>
        <p:spPr>
          <a:xfrm>
            <a:off x="4498848" y="2834640"/>
            <a:ext cx="1143000" cy="310896"/>
          </a:xfrm>
          <a:prstGeom prst="rect">
            <a:avLst/>
          </a:prstGeom>
          <a:noFill/>
          <a:ln/>
        </p:spPr>
        <p:txBody>
          <a:bodyPr wrap="square" lIns="0" tIns="0" rIns="0" bIns="0" rtlCol="0" anchor="ctr">
            <a:normAutofit/>
          </a:bodyPr>
          <a:lstStyle/>
          <a:p>
            <a:pPr marL="0" indent="0">
              <a:buNone/>
            </a:pPr>
            <a:r>
              <a:rPr lang="en-US" sz="960" b="1" dirty="0">
                <a:solidFill>
                  <a:srgbClr val="C00000"/>
                </a:solidFill>
                <a:latin typeface="Arial" pitchFamily="34" charset="0"/>
                <a:ea typeface="Arial" pitchFamily="34" charset="-122"/>
                <a:cs typeface="Arial" pitchFamily="34" charset="-120"/>
              </a:rPr>
              <a:t>two patterns</a:t>
            </a:r>
            <a:endParaRPr lang="en-US" sz="960" dirty="0"/>
          </a:p>
          <a:p>
            <a:pPr marL="0" indent="0">
              <a:buNone/>
            </a:pPr>
            <a:r>
              <a:rPr lang="en-US" sz="960" b="1" dirty="0">
                <a:solidFill>
                  <a:srgbClr val="C00000"/>
                </a:solidFill>
                <a:latin typeface="Arial" pitchFamily="34" charset="0"/>
                <a:ea typeface="Arial" pitchFamily="34" charset="-122"/>
                <a:cs typeface="Arial" pitchFamily="34" charset="-120"/>
              </a:rPr>
              <a:t>same value 0</a:t>
            </a:r>
            <a:endParaRPr lang="en-US" sz="960" dirty="0"/>
          </a:p>
        </p:txBody>
      </p:sp>
      <p:sp>
        <p:nvSpPr>
          <p:cNvPr id="86" name="Shape 83"/>
          <p:cNvSpPr/>
          <p:nvPr/>
        </p:nvSpPr>
        <p:spPr>
          <a:xfrm>
            <a:off x="6446520" y="1554480"/>
            <a:ext cx="4983480" cy="4343400"/>
          </a:xfrm>
          <a:prstGeom prst="roundRect">
            <a:avLst>
              <a:gd name="adj" fmla="val 1263"/>
            </a:avLst>
          </a:prstGeom>
          <a:solidFill>
            <a:srgbClr val="FFFDF2"/>
          </a:solidFill>
          <a:ln w="13335">
            <a:solidFill>
              <a:srgbClr val="D6B656"/>
            </a:solidFill>
            <a:prstDash val="solid"/>
          </a:ln>
        </p:spPr>
        <p:txBody>
          <a:bodyPr/>
          <a:lstStyle/>
          <a:p>
            <a:endParaRPr lang="ko-KR" altLang="en-US"/>
          </a:p>
        </p:txBody>
      </p:sp>
      <p:sp>
        <p:nvSpPr>
          <p:cNvPr id="87" name="Text 84"/>
          <p:cNvSpPr/>
          <p:nvPr/>
        </p:nvSpPr>
        <p:spPr>
          <a:xfrm>
            <a:off x="6611112" y="1664208"/>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Actual unique FP3 values</a:t>
            </a:r>
            <a:endParaRPr lang="en-US" sz="1200" dirty="0"/>
          </a:p>
        </p:txBody>
      </p:sp>
      <mc:AlternateContent xmlns:mc="http://schemas.openxmlformats.org/markup-compatibility/2006" xmlns:a14="http://schemas.microsoft.com/office/drawing/2010/main">
        <mc:Choice Requires="a14">
          <p:sp>
            <p:nvSpPr>
              <p:cNvPr id="88" name="Text 85"/>
              <p:cNvSpPr/>
              <p:nvPr/>
            </p:nvSpPr>
            <p:spPr>
              <a:xfrm>
                <a:off x="6858000" y="2057400"/>
                <a:ext cx="4160520" cy="5029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300" smtClean="0">
                          <a:latin typeface="Cambria Math"/>
                        </a:rPr>
                        <m:t>{0,±1,±2,±4}</m:t>
                      </m:r>
                    </m:oMath>
                  </m:oMathPara>
                </a14:m>
                <a:endParaRPr/>
              </a:p>
            </p:txBody>
          </p:sp>
        </mc:Choice>
        <mc:Fallback xmlns="">
          <p:sp>
            <p:nvSpPr>
              <p:cNvPr id="88" name="Text 85"/>
              <p:cNvSpPr>
                <a:spLocks noRot="1" noChangeAspect="1" noMove="1" noResize="1" noEditPoints="1" noAdjustHandles="1" noChangeArrowheads="1" noChangeShapeType="1" noTextEdit="1"/>
              </p:cNvSpPr>
              <p:nvPr/>
            </p:nvSpPr>
            <p:spPr>
              <a:xfrm>
                <a:off x="6858000" y="2057400"/>
                <a:ext cx="4160520" cy="502920"/>
              </a:xfrm>
              <a:prstGeom prst="rect">
                <a:avLst/>
              </a:prstGeom>
              <a:blipFill>
                <a:blip r:embed="rId4"/>
                <a:stretch>
                  <a:fillRect/>
                </a:stretch>
              </a:blipFill>
              <a:ln/>
            </p:spPr>
            <p:txBody>
              <a:bodyPr/>
              <a:lstStyle/>
              <a:p>
                <a:r>
                  <a:rPr lang="ko-KR" altLang="en-US">
                    <a:noFill/>
                  </a:rPr>
                  <a:t> </a:t>
                </a:r>
              </a:p>
            </p:txBody>
          </p:sp>
        </mc:Fallback>
      </mc:AlternateContent>
      <p:sp>
        <p:nvSpPr>
          <p:cNvPr id="89" name="Text 86"/>
          <p:cNvSpPr/>
          <p:nvPr/>
        </p:nvSpPr>
        <p:spPr>
          <a:xfrm>
            <a:off x="6812280" y="2889504"/>
            <a:ext cx="1920240" cy="182880"/>
          </a:xfrm>
          <a:prstGeom prst="rect">
            <a:avLst/>
          </a:prstGeom>
          <a:noFill/>
          <a:ln/>
        </p:spPr>
        <p:txBody>
          <a:bodyPr wrap="square" lIns="0" tIns="0" rIns="0" bIns="0" rtlCol="0" anchor="ctr"/>
          <a:lstStyle/>
          <a:p>
            <a:pPr marL="0" indent="0" algn="ctr">
              <a:buNone/>
            </a:pPr>
            <a:r>
              <a:rPr lang="en-US" sz="1100" b="1" dirty="0">
                <a:solidFill>
                  <a:srgbClr val="222222"/>
                </a:solidFill>
                <a:latin typeface="Arial" pitchFamily="34" charset="0"/>
                <a:ea typeface="Arial" pitchFamily="34" charset="-122"/>
                <a:cs typeface="Arial" pitchFamily="34" charset="-120"/>
              </a:rPr>
              <a:t>Total bit patterns</a:t>
            </a:r>
            <a:endParaRPr lang="en-US" sz="1100" dirty="0"/>
          </a:p>
        </p:txBody>
      </p:sp>
      <mc:AlternateContent xmlns:mc="http://schemas.openxmlformats.org/markup-compatibility/2006" xmlns:a14="http://schemas.microsoft.com/office/drawing/2010/main">
        <mc:Choice Requires="a14">
          <p:sp>
            <p:nvSpPr>
              <p:cNvPr id="90" name="Text 87"/>
              <p:cNvSpPr/>
              <p:nvPr/>
            </p:nvSpPr>
            <p:spPr>
              <a:xfrm>
                <a:off x="9281160" y="2816352"/>
                <a:ext cx="1417320" cy="38404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p>
                        <m:sSupPr>
                          <m:ctrlPr>
                            <a:rPr lang="ko-KR" altLang="en-US" sz="1300" smtClean="0">
                              <a:latin typeface="Cambria Math"/>
                            </a:rPr>
                          </m:ctrlPr>
                        </m:sSupPr>
                        <m:e>
                          <m:r>
                            <a:rPr lang="ko-KR" altLang="en-US" sz="1300" smtClean="0">
                              <a:latin typeface="Cambria Math"/>
                            </a:rPr>
                            <m:t>2</m:t>
                          </m:r>
                        </m:e>
                        <m:sup>
                          <m:r>
                            <a:rPr lang="ko-KR" altLang="en-US" sz="1300" smtClean="0">
                              <a:latin typeface="Cambria Math"/>
                            </a:rPr>
                            <m:t>3</m:t>
                          </m:r>
                        </m:sup>
                      </m:sSup>
                      <m:r>
                        <a:rPr lang="ko-KR" altLang="en-US" sz="1300" smtClean="0">
                          <a:latin typeface="Cambria Math"/>
                        </a:rPr>
                        <m:t>=8</m:t>
                      </m:r>
                    </m:oMath>
                  </m:oMathPara>
                </a14:m>
                <a:endParaRPr/>
              </a:p>
            </p:txBody>
          </p:sp>
        </mc:Choice>
        <mc:Fallback xmlns="">
          <p:sp>
            <p:nvSpPr>
              <p:cNvPr id="90" name="Text 87"/>
              <p:cNvSpPr>
                <a:spLocks noRot="1" noChangeAspect="1" noMove="1" noResize="1" noEditPoints="1" noAdjustHandles="1" noChangeArrowheads="1" noChangeShapeType="1" noTextEdit="1"/>
              </p:cNvSpPr>
              <p:nvPr/>
            </p:nvSpPr>
            <p:spPr>
              <a:xfrm>
                <a:off x="9281160" y="2816352"/>
                <a:ext cx="1417320" cy="384048"/>
              </a:xfrm>
              <a:prstGeom prst="rect">
                <a:avLst/>
              </a:prstGeom>
              <a:blipFill>
                <a:blip r:embed="rId5"/>
                <a:stretch>
                  <a:fillRect/>
                </a:stretch>
              </a:blipFill>
              <a:ln/>
            </p:spPr>
            <p:txBody>
              <a:bodyPr/>
              <a:lstStyle/>
              <a:p>
                <a:r>
                  <a:rPr lang="ko-KR" altLang="en-US">
                    <a:noFill/>
                  </a:rPr>
                  <a:t> </a:t>
                </a:r>
              </a:p>
            </p:txBody>
          </p:sp>
        </mc:Fallback>
      </mc:AlternateContent>
      <p:sp>
        <p:nvSpPr>
          <p:cNvPr id="91" name="Text 88"/>
          <p:cNvSpPr/>
          <p:nvPr/>
        </p:nvSpPr>
        <p:spPr>
          <a:xfrm>
            <a:off x="6812280" y="3675888"/>
            <a:ext cx="2057400" cy="182880"/>
          </a:xfrm>
          <a:prstGeom prst="rect">
            <a:avLst/>
          </a:prstGeom>
          <a:noFill/>
          <a:ln/>
        </p:spPr>
        <p:txBody>
          <a:bodyPr wrap="square" lIns="0" tIns="0" rIns="0" bIns="0" rtlCol="0" anchor="ctr"/>
          <a:lstStyle/>
          <a:p>
            <a:pPr marL="0" indent="0" algn="ctr">
              <a:buNone/>
            </a:pPr>
            <a:r>
              <a:rPr lang="en-US" sz="1100" b="1" dirty="0">
                <a:solidFill>
                  <a:srgbClr val="222222"/>
                </a:solidFill>
                <a:latin typeface="Arial" pitchFamily="34" charset="0"/>
                <a:ea typeface="Arial" pitchFamily="34" charset="-122"/>
                <a:cs typeface="Arial" pitchFamily="34" charset="-120"/>
              </a:rPr>
              <a:t>Unique numeric levels</a:t>
            </a:r>
            <a:endParaRPr lang="en-US" sz="1100" dirty="0"/>
          </a:p>
        </p:txBody>
      </p:sp>
      <p:sp>
        <p:nvSpPr>
          <p:cNvPr id="92" name="Text 89"/>
          <p:cNvSpPr/>
          <p:nvPr/>
        </p:nvSpPr>
        <p:spPr>
          <a:xfrm>
            <a:off x="9326880" y="3639312"/>
            <a:ext cx="1280160" cy="256032"/>
          </a:xfrm>
          <a:prstGeom prst="rect">
            <a:avLst/>
          </a:prstGeom>
          <a:noFill/>
          <a:ln/>
        </p:spPr>
        <p:txBody>
          <a:bodyPr wrap="square" lIns="0" tIns="0" rIns="0" bIns="0" rtlCol="0" anchor="ctr"/>
          <a:lstStyle/>
          <a:p>
            <a:pPr marL="0" indent="0" algn="ctr">
              <a:buNone/>
            </a:pPr>
            <a:r>
              <a:rPr lang="en-US" sz="1600" b="1" dirty="0">
                <a:solidFill>
                  <a:srgbClr val="C00000"/>
                </a:solidFill>
                <a:latin typeface="Arial" pitchFamily="34" charset="0"/>
                <a:ea typeface="Arial" pitchFamily="34" charset="-122"/>
                <a:cs typeface="Arial" pitchFamily="34" charset="-120"/>
              </a:rPr>
              <a:t>7 levels</a:t>
            </a:r>
            <a:endParaRPr lang="en-US" sz="1600" dirty="0"/>
          </a:p>
        </p:txBody>
      </p:sp>
      <p:sp>
        <p:nvSpPr>
          <p:cNvPr id="93" name="Shape 90"/>
          <p:cNvSpPr/>
          <p:nvPr/>
        </p:nvSpPr>
        <p:spPr>
          <a:xfrm>
            <a:off x="6903720" y="4617720"/>
            <a:ext cx="3977640" cy="566928"/>
          </a:xfrm>
          <a:prstGeom prst="roundRect">
            <a:avLst>
              <a:gd name="adj" fmla="val 9677"/>
            </a:avLst>
          </a:prstGeom>
          <a:solidFill>
            <a:srgbClr val="EAF2FF"/>
          </a:solidFill>
          <a:ln w="12700">
            <a:solidFill>
              <a:srgbClr val="7EA6E0"/>
            </a:solidFill>
            <a:prstDash val="solid"/>
          </a:ln>
        </p:spPr>
        <p:txBody>
          <a:bodyPr/>
          <a:lstStyle/>
          <a:p>
            <a:endParaRPr lang="ko-KR" altLang="en-US"/>
          </a:p>
        </p:txBody>
      </p:sp>
      <p:sp>
        <p:nvSpPr>
          <p:cNvPr id="94" name="Text 91"/>
          <p:cNvSpPr/>
          <p:nvPr/>
        </p:nvSpPr>
        <p:spPr>
          <a:xfrm>
            <a:off x="7114032" y="4754880"/>
            <a:ext cx="3547872" cy="164592"/>
          </a:xfrm>
          <a:prstGeom prst="rect">
            <a:avLst/>
          </a:prstGeom>
          <a:noFill/>
          <a:ln/>
        </p:spPr>
        <p:txBody>
          <a:bodyPr wrap="square" lIns="0" tIns="0" rIns="0" bIns="0" rtlCol="0" anchor="ctr">
            <a:normAutofit fontScale="77500" lnSpcReduction="20000"/>
          </a:bodyPr>
          <a:lstStyle/>
          <a:p>
            <a:pPr marL="0" indent="0" algn="ctr">
              <a:buNone/>
            </a:pPr>
            <a:r>
              <a:rPr lang="en-US" sz="1070" b="1" dirty="0">
                <a:solidFill>
                  <a:srgbClr val="00245D"/>
                </a:solidFill>
                <a:latin typeface="Arial" pitchFamily="34" charset="0"/>
                <a:ea typeface="Arial" pitchFamily="34" charset="-122"/>
                <a:cs typeface="Arial" pitchFamily="34" charset="-120"/>
              </a:rPr>
              <a:t>BitMoD turns the wasted −0 pattern into one useful Special Value.</a:t>
            </a:r>
            <a:endParaRPr lang="en-US" sz="107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From Redundant −0 to Special Value</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35</a:t>
            </a:r>
            <a:endParaRPr lang="en-US" sz="1000" dirty="0"/>
          </a:p>
        </p:txBody>
      </p:sp>
      <p:sp>
        <p:nvSpPr>
          <p:cNvPr id="8" name="Text 5"/>
          <p:cNvSpPr/>
          <p:nvPr/>
        </p:nvSpPr>
        <p:spPr>
          <a:xfrm>
            <a:off x="594360" y="1024128"/>
            <a:ext cx="10881360" cy="310896"/>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BitMoD uses the redundant negative zero pattern as an extra quantization level selected for each weight group.</a:t>
            </a:r>
            <a:endParaRPr lang="en-US" sz="1300" dirty="0"/>
          </a:p>
        </p:txBody>
      </p:sp>
      <p:sp>
        <p:nvSpPr>
          <p:cNvPr id="9" name="Shape 6"/>
          <p:cNvSpPr/>
          <p:nvPr/>
        </p:nvSpPr>
        <p:spPr>
          <a:xfrm>
            <a:off x="658368" y="1444752"/>
            <a:ext cx="5349240" cy="3429000"/>
          </a:xfrm>
          <a:prstGeom prst="roundRect">
            <a:avLst>
              <a:gd name="adj" fmla="val 1600"/>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22960" y="1554480"/>
            <a:ext cx="50200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Before: Basic FP3</a:t>
            </a:r>
            <a:endParaRPr lang="en-US" sz="1200" dirty="0"/>
          </a:p>
        </p:txBody>
      </p:sp>
      <p:sp>
        <p:nvSpPr>
          <p:cNvPr id="11" name="Shape 8"/>
          <p:cNvSpPr/>
          <p:nvPr/>
        </p:nvSpPr>
        <p:spPr>
          <a:xfrm>
            <a:off x="1143000" y="3090672"/>
            <a:ext cx="4251960" cy="0"/>
          </a:xfrm>
          <a:prstGeom prst="line">
            <a:avLst/>
          </a:prstGeom>
          <a:noFill/>
          <a:ln w="15240">
            <a:solidFill>
              <a:srgbClr val="444444"/>
            </a:solidFill>
            <a:prstDash val="solid"/>
            <a:headEnd type="triangle"/>
            <a:tailEnd type="triangle"/>
          </a:ln>
        </p:spPr>
        <p:txBody>
          <a:bodyPr/>
          <a:lstStyle/>
          <a:p>
            <a:endParaRPr lang="ko-KR" altLang="en-US"/>
          </a:p>
        </p:txBody>
      </p:sp>
      <p:sp>
        <p:nvSpPr>
          <p:cNvPr id="12" name="Shape 9"/>
          <p:cNvSpPr/>
          <p:nvPr/>
        </p:nvSpPr>
        <p:spPr>
          <a:xfrm>
            <a:off x="1143000" y="2999232"/>
            <a:ext cx="0" cy="182880"/>
          </a:xfrm>
          <a:prstGeom prst="line">
            <a:avLst/>
          </a:prstGeom>
          <a:noFill/>
          <a:ln w="12700">
            <a:solidFill>
              <a:srgbClr val="00245D"/>
            </a:solidFill>
            <a:prstDash val="solid"/>
          </a:ln>
        </p:spPr>
        <p:txBody>
          <a:bodyPr/>
          <a:lstStyle/>
          <a:p>
            <a:endParaRPr lang="ko-KR" altLang="en-US"/>
          </a:p>
        </p:txBody>
      </p:sp>
      <p:sp>
        <p:nvSpPr>
          <p:cNvPr id="13" name="Text 10"/>
          <p:cNvSpPr/>
          <p:nvPr/>
        </p:nvSpPr>
        <p:spPr>
          <a:xfrm>
            <a:off x="905256" y="3227832"/>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14" name="Shape 11"/>
          <p:cNvSpPr/>
          <p:nvPr/>
        </p:nvSpPr>
        <p:spPr>
          <a:xfrm>
            <a:off x="2205990" y="2999232"/>
            <a:ext cx="0" cy="182880"/>
          </a:xfrm>
          <a:prstGeom prst="line">
            <a:avLst/>
          </a:prstGeom>
          <a:noFill/>
          <a:ln w="12700">
            <a:solidFill>
              <a:srgbClr val="00245D"/>
            </a:solidFill>
            <a:prstDash val="solid"/>
          </a:ln>
        </p:spPr>
        <p:txBody>
          <a:bodyPr/>
          <a:lstStyle/>
          <a:p>
            <a:endParaRPr lang="ko-KR" altLang="en-US"/>
          </a:p>
        </p:txBody>
      </p:sp>
      <p:sp>
        <p:nvSpPr>
          <p:cNvPr id="15" name="Text 12"/>
          <p:cNvSpPr/>
          <p:nvPr/>
        </p:nvSpPr>
        <p:spPr>
          <a:xfrm>
            <a:off x="1968246" y="342900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16" name="Shape 13"/>
          <p:cNvSpPr/>
          <p:nvPr/>
        </p:nvSpPr>
        <p:spPr>
          <a:xfrm>
            <a:off x="2737485" y="2999232"/>
            <a:ext cx="0" cy="182880"/>
          </a:xfrm>
          <a:prstGeom prst="line">
            <a:avLst/>
          </a:prstGeom>
          <a:noFill/>
          <a:ln w="12700">
            <a:solidFill>
              <a:srgbClr val="00245D"/>
            </a:solidFill>
            <a:prstDash val="solid"/>
          </a:ln>
        </p:spPr>
        <p:txBody>
          <a:bodyPr/>
          <a:lstStyle/>
          <a:p>
            <a:endParaRPr lang="ko-KR" altLang="en-US"/>
          </a:p>
        </p:txBody>
      </p:sp>
      <p:sp>
        <p:nvSpPr>
          <p:cNvPr id="17" name="Text 14"/>
          <p:cNvSpPr/>
          <p:nvPr/>
        </p:nvSpPr>
        <p:spPr>
          <a:xfrm>
            <a:off x="2499741" y="3227832"/>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18" name="Shape 15"/>
          <p:cNvSpPr/>
          <p:nvPr/>
        </p:nvSpPr>
        <p:spPr>
          <a:xfrm>
            <a:off x="3268980" y="2999232"/>
            <a:ext cx="0" cy="182880"/>
          </a:xfrm>
          <a:prstGeom prst="line">
            <a:avLst/>
          </a:prstGeom>
          <a:noFill/>
          <a:ln w="12700">
            <a:solidFill>
              <a:srgbClr val="00245D"/>
            </a:solidFill>
            <a:prstDash val="solid"/>
          </a:ln>
        </p:spPr>
        <p:txBody>
          <a:bodyPr/>
          <a:lstStyle/>
          <a:p>
            <a:endParaRPr lang="ko-KR" altLang="en-US"/>
          </a:p>
        </p:txBody>
      </p:sp>
      <p:sp>
        <p:nvSpPr>
          <p:cNvPr id="19" name="Text 16"/>
          <p:cNvSpPr/>
          <p:nvPr/>
        </p:nvSpPr>
        <p:spPr>
          <a:xfrm>
            <a:off x="3031236" y="342900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0</a:t>
            </a:r>
            <a:endParaRPr lang="en-US" sz="800" dirty="0"/>
          </a:p>
        </p:txBody>
      </p:sp>
      <p:sp>
        <p:nvSpPr>
          <p:cNvPr id="20" name="Shape 17"/>
          <p:cNvSpPr/>
          <p:nvPr/>
        </p:nvSpPr>
        <p:spPr>
          <a:xfrm>
            <a:off x="3800475" y="2999232"/>
            <a:ext cx="0" cy="182880"/>
          </a:xfrm>
          <a:prstGeom prst="line">
            <a:avLst/>
          </a:prstGeom>
          <a:noFill/>
          <a:ln w="12700">
            <a:solidFill>
              <a:srgbClr val="00245D"/>
            </a:solidFill>
            <a:prstDash val="solid"/>
          </a:ln>
        </p:spPr>
        <p:txBody>
          <a:bodyPr/>
          <a:lstStyle/>
          <a:p>
            <a:endParaRPr lang="ko-KR" altLang="en-US"/>
          </a:p>
        </p:txBody>
      </p:sp>
      <p:sp>
        <p:nvSpPr>
          <p:cNvPr id="21" name="Text 18"/>
          <p:cNvSpPr/>
          <p:nvPr/>
        </p:nvSpPr>
        <p:spPr>
          <a:xfrm>
            <a:off x="3562731" y="3227832"/>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22" name="Shape 19"/>
          <p:cNvSpPr/>
          <p:nvPr/>
        </p:nvSpPr>
        <p:spPr>
          <a:xfrm>
            <a:off x="4331970" y="2999232"/>
            <a:ext cx="0" cy="182880"/>
          </a:xfrm>
          <a:prstGeom prst="line">
            <a:avLst/>
          </a:prstGeom>
          <a:noFill/>
          <a:ln w="12700">
            <a:solidFill>
              <a:srgbClr val="00245D"/>
            </a:solidFill>
            <a:prstDash val="solid"/>
          </a:ln>
        </p:spPr>
        <p:txBody>
          <a:bodyPr/>
          <a:lstStyle/>
          <a:p>
            <a:endParaRPr lang="ko-KR" altLang="en-US"/>
          </a:p>
        </p:txBody>
      </p:sp>
      <p:sp>
        <p:nvSpPr>
          <p:cNvPr id="23" name="Text 20"/>
          <p:cNvSpPr/>
          <p:nvPr/>
        </p:nvSpPr>
        <p:spPr>
          <a:xfrm>
            <a:off x="4094226" y="342900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24" name="Shape 21"/>
          <p:cNvSpPr/>
          <p:nvPr/>
        </p:nvSpPr>
        <p:spPr>
          <a:xfrm>
            <a:off x="5394960" y="2999232"/>
            <a:ext cx="0" cy="182880"/>
          </a:xfrm>
          <a:prstGeom prst="line">
            <a:avLst/>
          </a:prstGeom>
          <a:noFill/>
          <a:ln w="12700">
            <a:solidFill>
              <a:srgbClr val="00245D"/>
            </a:solidFill>
            <a:prstDash val="solid"/>
          </a:ln>
        </p:spPr>
        <p:txBody>
          <a:bodyPr/>
          <a:lstStyle/>
          <a:p>
            <a:endParaRPr lang="ko-KR" altLang="en-US"/>
          </a:p>
        </p:txBody>
      </p:sp>
      <p:sp>
        <p:nvSpPr>
          <p:cNvPr id="25" name="Text 22"/>
          <p:cNvSpPr/>
          <p:nvPr/>
        </p:nvSpPr>
        <p:spPr>
          <a:xfrm>
            <a:off x="5157216" y="3227832"/>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26" name="Text 23"/>
          <p:cNvSpPr/>
          <p:nvPr/>
        </p:nvSpPr>
        <p:spPr>
          <a:xfrm>
            <a:off x="1325880" y="2011680"/>
            <a:ext cx="3840480" cy="237744"/>
          </a:xfrm>
          <a:prstGeom prst="rect">
            <a:avLst/>
          </a:prstGeom>
          <a:noFill/>
          <a:ln/>
        </p:spPr>
        <p:txBody>
          <a:bodyPr wrap="square" lIns="0" tIns="0" rIns="0" bIns="0" rtlCol="0" anchor="ctr"/>
          <a:lstStyle/>
          <a:p>
            <a:pPr marL="0" indent="0" algn="ctr">
              <a:buNone/>
            </a:pPr>
            <a:r>
              <a:rPr lang="en-US" sz="1200" b="1" dirty="0">
                <a:solidFill>
                  <a:srgbClr val="C00000"/>
                </a:solidFill>
                <a:latin typeface="Arial" pitchFamily="34" charset="0"/>
                <a:ea typeface="Arial" pitchFamily="34" charset="-122"/>
                <a:cs typeface="Arial" pitchFamily="34" charset="-120"/>
              </a:rPr>
              <a:t>+0 and −0 both map to 0</a:t>
            </a:r>
            <a:endParaRPr lang="en-US" sz="1200" dirty="0"/>
          </a:p>
        </p:txBody>
      </p:sp>
      <p:sp>
        <p:nvSpPr>
          <p:cNvPr id="27" name="Text 24"/>
          <p:cNvSpPr/>
          <p:nvPr/>
        </p:nvSpPr>
        <p:spPr>
          <a:xfrm>
            <a:off x="1234440" y="3794760"/>
            <a:ext cx="3977640" cy="384048"/>
          </a:xfrm>
          <a:prstGeom prst="rect">
            <a:avLst/>
          </a:prstGeom>
          <a:noFill/>
          <a:ln/>
        </p:spPr>
        <p:txBody>
          <a:bodyPr wrap="square" lIns="254" tIns="254" rIns="254" bIns="254" rtlCol="0" anchor="ctr">
            <a:normAutofit/>
          </a:bodyPr>
          <a:lstStyle/>
          <a:p>
            <a:pPr marL="0" indent="0" algn="ctr">
              <a:buNone/>
            </a:pPr>
            <a:r>
              <a:rPr lang="en-US" sz="1120" dirty="0">
                <a:solidFill>
                  <a:srgbClr val="222222"/>
                </a:solidFill>
                <a:latin typeface="Arial" pitchFamily="34" charset="0"/>
                <a:ea typeface="Arial" pitchFamily="34" charset="-122"/>
                <a:cs typeface="Arial" pitchFamily="34" charset="-120"/>
              </a:rPr>
              <a:t>Only 7 unique values are available, even though there are 8 bit patterns.</a:t>
            </a:r>
            <a:endParaRPr lang="en-US" sz="1120" dirty="0"/>
          </a:p>
        </p:txBody>
      </p:sp>
      <p:sp>
        <p:nvSpPr>
          <p:cNvPr id="28" name="Shape 25"/>
          <p:cNvSpPr/>
          <p:nvPr/>
        </p:nvSpPr>
        <p:spPr>
          <a:xfrm>
            <a:off x="5897880" y="3291840"/>
            <a:ext cx="457200" cy="0"/>
          </a:xfrm>
          <a:prstGeom prst="line">
            <a:avLst/>
          </a:prstGeom>
          <a:noFill/>
          <a:ln w="19050">
            <a:solidFill>
              <a:srgbClr val="2F75B5"/>
            </a:solidFill>
            <a:prstDash val="solid"/>
            <a:tailEnd type="triangle"/>
          </a:ln>
        </p:spPr>
        <p:txBody>
          <a:bodyPr/>
          <a:lstStyle/>
          <a:p>
            <a:endParaRPr lang="ko-KR" altLang="en-US"/>
          </a:p>
        </p:txBody>
      </p:sp>
      <p:sp>
        <p:nvSpPr>
          <p:cNvPr id="29" name="Shape 26"/>
          <p:cNvSpPr/>
          <p:nvPr/>
        </p:nvSpPr>
        <p:spPr>
          <a:xfrm>
            <a:off x="6510528" y="1444752"/>
            <a:ext cx="4983480" cy="3429000"/>
          </a:xfrm>
          <a:prstGeom prst="roundRect">
            <a:avLst>
              <a:gd name="adj" fmla="val 1600"/>
            </a:avLst>
          </a:prstGeom>
          <a:solidFill>
            <a:srgbClr val="FFFDF2"/>
          </a:solidFill>
          <a:ln w="13335">
            <a:solidFill>
              <a:srgbClr val="D6B656"/>
            </a:solidFill>
            <a:prstDash val="solid"/>
          </a:ln>
        </p:spPr>
        <p:txBody>
          <a:bodyPr/>
          <a:lstStyle/>
          <a:p>
            <a:endParaRPr lang="ko-KR" altLang="en-US"/>
          </a:p>
        </p:txBody>
      </p:sp>
      <p:sp>
        <p:nvSpPr>
          <p:cNvPr id="30" name="Text 27"/>
          <p:cNvSpPr/>
          <p:nvPr/>
        </p:nvSpPr>
        <p:spPr>
          <a:xfrm>
            <a:off x="6675120" y="1554480"/>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After: Extended FP3</a:t>
            </a:r>
            <a:endParaRPr lang="en-US" sz="1200" dirty="0"/>
          </a:p>
        </p:txBody>
      </p:sp>
      <p:sp>
        <p:nvSpPr>
          <p:cNvPr id="31" name="Shape 28"/>
          <p:cNvSpPr/>
          <p:nvPr/>
        </p:nvSpPr>
        <p:spPr>
          <a:xfrm>
            <a:off x="6995160" y="3090672"/>
            <a:ext cx="3886200" cy="0"/>
          </a:xfrm>
          <a:prstGeom prst="line">
            <a:avLst/>
          </a:prstGeom>
          <a:noFill/>
          <a:ln w="15240">
            <a:solidFill>
              <a:srgbClr val="444444"/>
            </a:solidFill>
            <a:prstDash val="solid"/>
            <a:headEnd type="triangle"/>
            <a:tailEnd type="triangle"/>
          </a:ln>
        </p:spPr>
        <p:txBody>
          <a:bodyPr/>
          <a:lstStyle/>
          <a:p>
            <a:endParaRPr lang="ko-KR" altLang="en-US"/>
          </a:p>
        </p:txBody>
      </p:sp>
      <p:sp>
        <p:nvSpPr>
          <p:cNvPr id="32" name="Shape 29"/>
          <p:cNvSpPr/>
          <p:nvPr/>
        </p:nvSpPr>
        <p:spPr>
          <a:xfrm>
            <a:off x="6995160" y="2999232"/>
            <a:ext cx="0" cy="182880"/>
          </a:xfrm>
          <a:prstGeom prst="line">
            <a:avLst/>
          </a:prstGeom>
          <a:noFill/>
          <a:ln w="12700">
            <a:solidFill>
              <a:srgbClr val="00245D"/>
            </a:solidFill>
            <a:prstDash val="solid"/>
          </a:ln>
        </p:spPr>
        <p:txBody>
          <a:bodyPr/>
          <a:lstStyle/>
          <a:p>
            <a:endParaRPr lang="ko-KR" altLang="en-US"/>
          </a:p>
        </p:txBody>
      </p:sp>
      <p:sp>
        <p:nvSpPr>
          <p:cNvPr id="33" name="Text 30"/>
          <p:cNvSpPr/>
          <p:nvPr/>
        </p:nvSpPr>
        <p:spPr>
          <a:xfrm>
            <a:off x="6757416" y="3227832"/>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34" name="Shape 31"/>
          <p:cNvSpPr/>
          <p:nvPr/>
        </p:nvSpPr>
        <p:spPr>
          <a:xfrm>
            <a:off x="7966710" y="2999232"/>
            <a:ext cx="0" cy="182880"/>
          </a:xfrm>
          <a:prstGeom prst="line">
            <a:avLst/>
          </a:prstGeom>
          <a:noFill/>
          <a:ln w="12700">
            <a:solidFill>
              <a:srgbClr val="00245D"/>
            </a:solidFill>
            <a:prstDash val="solid"/>
          </a:ln>
        </p:spPr>
        <p:txBody>
          <a:bodyPr/>
          <a:lstStyle/>
          <a:p>
            <a:endParaRPr lang="ko-KR" altLang="en-US"/>
          </a:p>
        </p:txBody>
      </p:sp>
      <p:sp>
        <p:nvSpPr>
          <p:cNvPr id="35" name="Text 32"/>
          <p:cNvSpPr/>
          <p:nvPr/>
        </p:nvSpPr>
        <p:spPr>
          <a:xfrm>
            <a:off x="7728966" y="342900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36" name="Shape 33"/>
          <p:cNvSpPr/>
          <p:nvPr/>
        </p:nvSpPr>
        <p:spPr>
          <a:xfrm>
            <a:off x="8452485" y="2999232"/>
            <a:ext cx="0" cy="182880"/>
          </a:xfrm>
          <a:prstGeom prst="line">
            <a:avLst/>
          </a:prstGeom>
          <a:noFill/>
          <a:ln w="12700">
            <a:solidFill>
              <a:srgbClr val="00245D"/>
            </a:solidFill>
            <a:prstDash val="solid"/>
          </a:ln>
        </p:spPr>
        <p:txBody>
          <a:bodyPr/>
          <a:lstStyle/>
          <a:p>
            <a:endParaRPr lang="ko-KR" altLang="en-US"/>
          </a:p>
        </p:txBody>
      </p:sp>
      <p:sp>
        <p:nvSpPr>
          <p:cNvPr id="37" name="Text 34"/>
          <p:cNvSpPr/>
          <p:nvPr/>
        </p:nvSpPr>
        <p:spPr>
          <a:xfrm>
            <a:off x="8214741" y="3227832"/>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38" name="Shape 35"/>
          <p:cNvSpPr/>
          <p:nvPr/>
        </p:nvSpPr>
        <p:spPr>
          <a:xfrm>
            <a:off x="8938260" y="2999232"/>
            <a:ext cx="0" cy="182880"/>
          </a:xfrm>
          <a:prstGeom prst="line">
            <a:avLst/>
          </a:prstGeom>
          <a:noFill/>
          <a:ln w="12700">
            <a:solidFill>
              <a:srgbClr val="00245D"/>
            </a:solidFill>
            <a:prstDash val="solid"/>
          </a:ln>
        </p:spPr>
        <p:txBody>
          <a:bodyPr/>
          <a:lstStyle/>
          <a:p>
            <a:endParaRPr lang="ko-KR" altLang="en-US"/>
          </a:p>
        </p:txBody>
      </p:sp>
      <p:sp>
        <p:nvSpPr>
          <p:cNvPr id="39" name="Text 36"/>
          <p:cNvSpPr/>
          <p:nvPr/>
        </p:nvSpPr>
        <p:spPr>
          <a:xfrm>
            <a:off x="8700516" y="342900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0</a:t>
            </a:r>
            <a:endParaRPr lang="en-US" sz="800" dirty="0"/>
          </a:p>
        </p:txBody>
      </p:sp>
      <p:sp>
        <p:nvSpPr>
          <p:cNvPr id="40" name="Shape 37"/>
          <p:cNvSpPr/>
          <p:nvPr/>
        </p:nvSpPr>
        <p:spPr>
          <a:xfrm>
            <a:off x="9424035" y="2999232"/>
            <a:ext cx="0" cy="182880"/>
          </a:xfrm>
          <a:prstGeom prst="line">
            <a:avLst/>
          </a:prstGeom>
          <a:noFill/>
          <a:ln w="12700">
            <a:solidFill>
              <a:srgbClr val="00245D"/>
            </a:solidFill>
            <a:prstDash val="solid"/>
          </a:ln>
        </p:spPr>
        <p:txBody>
          <a:bodyPr/>
          <a:lstStyle/>
          <a:p>
            <a:endParaRPr lang="ko-KR" altLang="en-US"/>
          </a:p>
        </p:txBody>
      </p:sp>
      <p:sp>
        <p:nvSpPr>
          <p:cNvPr id="41" name="Text 38"/>
          <p:cNvSpPr/>
          <p:nvPr/>
        </p:nvSpPr>
        <p:spPr>
          <a:xfrm>
            <a:off x="9186291" y="3227832"/>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42" name="Shape 39"/>
          <p:cNvSpPr/>
          <p:nvPr/>
        </p:nvSpPr>
        <p:spPr>
          <a:xfrm>
            <a:off x="9909810" y="2999232"/>
            <a:ext cx="0" cy="182880"/>
          </a:xfrm>
          <a:prstGeom prst="line">
            <a:avLst/>
          </a:prstGeom>
          <a:noFill/>
          <a:ln w="12700">
            <a:solidFill>
              <a:srgbClr val="00245D"/>
            </a:solidFill>
            <a:prstDash val="solid"/>
          </a:ln>
        </p:spPr>
        <p:txBody>
          <a:bodyPr/>
          <a:lstStyle/>
          <a:p>
            <a:endParaRPr lang="ko-KR" altLang="en-US"/>
          </a:p>
        </p:txBody>
      </p:sp>
      <p:sp>
        <p:nvSpPr>
          <p:cNvPr id="43" name="Text 40"/>
          <p:cNvSpPr/>
          <p:nvPr/>
        </p:nvSpPr>
        <p:spPr>
          <a:xfrm>
            <a:off x="9672066" y="342900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44" name="Shape 41"/>
          <p:cNvSpPr/>
          <p:nvPr/>
        </p:nvSpPr>
        <p:spPr>
          <a:xfrm>
            <a:off x="10395585" y="2999232"/>
            <a:ext cx="0" cy="182880"/>
          </a:xfrm>
          <a:prstGeom prst="line">
            <a:avLst/>
          </a:prstGeom>
          <a:noFill/>
          <a:ln w="25400">
            <a:solidFill>
              <a:srgbClr val="548235"/>
            </a:solidFill>
            <a:prstDash val="solid"/>
          </a:ln>
        </p:spPr>
        <p:txBody>
          <a:bodyPr/>
          <a:lstStyle/>
          <a:p>
            <a:endParaRPr lang="ko-KR" altLang="en-US"/>
          </a:p>
        </p:txBody>
      </p:sp>
      <p:sp>
        <p:nvSpPr>
          <p:cNvPr id="45" name="Text 42"/>
          <p:cNvSpPr/>
          <p:nvPr/>
        </p:nvSpPr>
        <p:spPr>
          <a:xfrm>
            <a:off x="10157841" y="3227832"/>
            <a:ext cx="475488" cy="146304"/>
          </a:xfrm>
          <a:prstGeom prst="rect">
            <a:avLst/>
          </a:prstGeom>
          <a:noFill/>
          <a:ln/>
        </p:spPr>
        <p:txBody>
          <a:bodyPr wrap="square" lIns="0" tIns="0" rIns="0" bIns="0" rtlCol="0" anchor="ctr">
            <a:normAutofit/>
          </a:bodyPr>
          <a:lstStyle/>
          <a:p>
            <a:pPr marL="0" indent="0" algn="ctr">
              <a:buNone/>
            </a:pPr>
            <a:r>
              <a:rPr lang="en-US" sz="800" b="1" dirty="0">
                <a:solidFill>
                  <a:srgbClr val="548235"/>
                </a:solidFill>
                <a:latin typeface="Arial" pitchFamily="34" charset="0"/>
                <a:ea typeface="Arial" pitchFamily="34" charset="-122"/>
                <a:cs typeface="Arial" pitchFamily="34" charset="-120"/>
              </a:rPr>
              <a:t>+3</a:t>
            </a:r>
            <a:endParaRPr lang="en-US" sz="800" dirty="0"/>
          </a:p>
        </p:txBody>
      </p:sp>
      <p:sp>
        <p:nvSpPr>
          <p:cNvPr id="46" name="Shape 43"/>
          <p:cNvSpPr/>
          <p:nvPr/>
        </p:nvSpPr>
        <p:spPr>
          <a:xfrm rot="10800000">
            <a:off x="10304145" y="2679192"/>
            <a:ext cx="182880" cy="164592"/>
          </a:xfrm>
          <a:prstGeom prst="triangle">
            <a:avLst/>
          </a:prstGeom>
          <a:solidFill>
            <a:srgbClr val="548235"/>
          </a:solidFill>
          <a:ln w="8890">
            <a:solidFill>
              <a:srgbClr val="548235"/>
            </a:solidFill>
            <a:prstDash val="solid"/>
          </a:ln>
        </p:spPr>
        <p:txBody>
          <a:bodyPr/>
          <a:lstStyle/>
          <a:p>
            <a:endParaRPr lang="ko-KR" altLang="en-US"/>
          </a:p>
        </p:txBody>
      </p:sp>
      <p:sp>
        <p:nvSpPr>
          <p:cNvPr id="47" name="Text 44"/>
          <p:cNvSpPr/>
          <p:nvPr/>
        </p:nvSpPr>
        <p:spPr>
          <a:xfrm>
            <a:off x="10212705" y="2432304"/>
            <a:ext cx="365760" cy="164592"/>
          </a:xfrm>
          <a:prstGeom prst="rect">
            <a:avLst/>
          </a:prstGeom>
          <a:noFill/>
          <a:ln/>
        </p:spPr>
        <p:txBody>
          <a:bodyPr wrap="square" lIns="0" tIns="0" rIns="0" bIns="0" rtlCol="0" anchor="ctr"/>
          <a:lstStyle/>
          <a:p>
            <a:pPr marL="0" indent="0" algn="ctr">
              <a:buNone/>
            </a:pPr>
            <a:r>
              <a:rPr lang="en-US" sz="900" b="1" dirty="0">
                <a:solidFill>
                  <a:srgbClr val="548235"/>
                </a:solidFill>
                <a:latin typeface="Arial" pitchFamily="34" charset="0"/>
                <a:ea typeface="Arial" pitchFamily="34" charset="-122"/>
                <a:cs typeface="Arial" pitchFamily="34" charset="-120"/>
              </a:rPr>
              <a:t>SV</a:t>
            </a:r>
            <a:endParaRPr lang="en-US" sz="900" dirty="0"/>
          </a:p>
        </p:txBody>
      </p:sp>
      <p:sp>
        <p:nvSpPr>
          <p:cNvPr id="48" name="Shape 45"/>
          <p:cNvSpPr/>
          <p:nvPr/>
        </p:nvSpPr>
        <p:spPr>
          <a:xfrm>
            <a:off x="10881360" y="2999232"/>
            <a:ext cx="0" cy="182880"/>
          </a:xfrm>
          <a:prstGeom prst="line">
            <a:avLst/>
          </a:prstGeom>
          <a:noFill/>
          <a:ln w="12700">
            <a:solidFill>
              <a:srgbClr val="00245D"/>
            </a:solidFill>
            <a:prstDash val="solid"/>
          </a:ln>
        </p:spPr>
        <p:txBody>
          <a:bodyPr/>
          <a:lstStyle/>
          <a:p>
            <a:endParaRPr lang="ko-KR" altLang="en-US"/>
          </a:p>
        </p:txBody>
      </p:sp>
      <p:sp>
        <p:nvSpPr>
          <p:cNvPr id="49" name="Text 46"/>
          <p:cNvSpPr/>
          <p:nvPr/>
        </p:nvSpPr>
        <p:spPr>
          <a:xfrm>
            <a:off x="10643616" y="342900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50" name="Text 47"/>
          <p:cNvSpPr/>
          <p:nvPr/>
        </p:nvSpPr>
        <p:spPr>
          <a:xfrm>
            <a:off x="6903720" y="2011680"/>
            <a:ext cx="4160520" cy="237744"/>
          </a:xfrm>
          <a:prstGeom prst="rect">
            <a:avLst/>
          </a:prstGeom>
          <a:noFill/>
          <a:ln/>
        </p:spPr>
        <p:txBody>
          <a:bodyPr wrap="square" lIns="0" tIns="0" rIns="0" bIns="0" rtlCol="0" anchor="ctr"/>
          <a:lstStyle/>
          <a:p>
            <a:pPr marL="0" indent="0" algn="ctr">
              <a:buNone/>
            </a:pPr>
            <a:r>
              <a:rPr lang="en-US" sz="1200" b="1" dirty="0">
                <a:solidFill>
                  <a:srgbClr val="548235"/>
                </a:solidFill>
                <a:latin typeface="Arial" pitchFamily="34" charset="0"/>
                <a:ea typeface="Arial" pitchFamily="34" charset="-122"/>
                <a:cs typeface="Arial" pitchFamily="34" charset="-120"/>
              </a:rPr>
              <a:t>−0 encoding is reinterpreted as a Special Value</a:t>
            </a:r>
            <a:endParaRPr lang="en-US" sz="1200" dirty="0"/>
          </a:p>
        </p:txBody>
      </p:sp>
      <p:sp>
        <p:nvSpPr>
          <p:cNvPr id="51" name="Text 48"/>
          <p:cNvSpPr/>
          <p:nvPr/>
        </p:nvSpPr>
        <p:spPr>
          <a:xfrm>
            <a:off x="7086600" y="3794760"/>
            <a:ext cx="3794760" cy="384048"/>
          </a:xfrm>
          <a:prstGeom prst="rect">
            <a:avLst/>
          </a:prstGeom>
          <a:noFill/>
          <a:ln/>
        </p:spPr>
        <p:txBody>
          <a:bodyPr wrap="square" lIns="254" tIns="254" rIns="254" bIns="254" rtlCol="0" anchor="ctr">
            <a:normAutofit/>
          </a:bodyPr>
          <a:lstStyle/>
          <a:p>
            <a:pPr marL="0" indent="0" algn="ctr">
              <a:buNone/>
            </a:pPr>
            <a:r>
              <a:rPr lang="en-US" sz="1120" dirty="0">
                <a:solidFill>
                  <a:srgbClr val="222222"/>
                </a:solidFill>
                <a:latin typeface="Arial" pitchFamily="34" charset="0"/>
                <a:ea typeface="Arial" pitchFamily="34" charset="-122"/>
                <a:cs typeface="Arial" pitchFamily="34" charset="-120"/>
              </a:rPr>
              <a:t>The group now has 8 useful quantization levels.</a:t>
            </a:r>
            <a:endParaRPr lang="en-US" sz="1120" dirty="0"/>
          </a:p>
        </p:txBody>
      </p:sp>
      <p:sp>
        <p:nvSpPr>
          <p:cNvPr id="52" name="Shape 49"/>
          <p:cNvSpPr/>
          <p:nvPr/>
        </p:nvSpPr>
        <p:spPr>
          <a:xfrm>
            <a:off x="1143000" y="5166360"/>
            <a:ext cx="9921240" cy="530352"/>
          </a:xfrm>
          <a:prstGeom prst="roundRect">
            <a:avLst>
              <a:gd name="adj" fmla="val 10345"/>
            </a:avLst>
          </a:prstGeom>
          <a:solidFill>
            <a:srgbClr val="EAF2FF"/>
          </a:solidFill>
          <a:ln w="12700">
            <a:solidFill>
              <a:srgbClr val="7EA6E0"/>
            </a:solidFill>
            <a:prstDash val="solid"/>
          </a:ln>
        </p:spPr>
        <p:txBody>
          <a:bodyPr/>
          <a:lstStyle/>
          <a:p>
            <a:endParaRPr lang="ko-KR" altLang="en-US"/>
          </a:p>
        </p:txBody>
      </p:sp>
      <p:sp>
        <p:nvSpPr>
          <p:cNvPr id="53" name="Text 50"/>
          <p:cNvSpPr/>
          <p:nvPr/>
        </p:nvSpPr>
        <p:spPr>
          <a:xfrm>
            <a:off x="1325880" y="5303520"/>
            <a:ext cx="9555480" cy="164592"/>
          </a:xfrm>
          <a:prstGeom prst="rect">
            <a:avLst/>
          </a:prstGeom>
          <a:noFill/>
          <a:ln/>
        </p:spPr>
        <p:txBody>
          <a:bodyPr wrap="square" lIns="0" tIns="0" rIns="0" bIns="0" rtlCol="0" anchor="ctr">
            <a:normAutofit/>
          </a:bodyPr>
          <a:lstStyle/>
          <a:p>
            <a:pPr marL="0" indent="0" algn="ctr">
              <a:buNone/>
            </a:pPr>
            <a:r>
              <a:rPr lang="en-US" sz="1070" b="1" dirty="0">
                <a:solidFill>
                  <a:srgbClr val="00245D"/>
                </a:solidFill>
                <a:latin typeface="Arial" pitchFamily="34" charset="0"/>
                <a:ea typeface="Arial" pitchFamily="34" charset="-122"/>
                <a:cs typeface="Arial" pitchFamily="34" charset="-120"/>
              </a:rPr>
              <a:t>Important: the Special Value is not chosen in this figure; it is defined here as a candidate and later selected per group by Algorithm 1.</a:t>
            </a:r>
            <a:endParaRPr lang="en-US" sz="107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FP3-ER: Extended Resolution</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36</a:t>
            </a:r>
            <a:endParaRPr lang="en-US" sz="1000" dirty="0"/>
          </a:p>
        </p:txBody>
      </p:sp>
      <p:sp>
        <p:nvSpPr>
          <p:cNvPr id="8" name="Text 5"/>
          <p:cNvSpPr/>
          <p:nvPr/>
        </p:nvSpPr>
        <p:spPr>
          <a:xfrm>
            <a:off x="594360" y="1024128"/>
            <a:ext cx="10881360" cy="310896"/>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ER adds a Special Value inside the original FP3 range, making the value grid denser.</a:t>
            </a:r>
            <a:endParaRPr lang="en-US" sz="1300" dirty="0"/>
          </a:p>
        </p:txBody>
      </p:sp>
      <p:sp>
        <p:nvSpPr>
          <p:cNvPr id="9" name="Shape 6"/>
          <p:cNvSpPr/>
          <p:nvPr/>
        </p:nvSpPr>
        <p:spPr>
          <a:xfrm>
            <a:off x="731520" y="1444752"/>
            <a:ext cx="5349240" cy="4434840"/>
          </a:xfrm>
          <a:prstGeom prst="roundRect">
            <a:avLst>
              <a:gd name="adj" fmla="val 1237"/>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96112" y="1554480"/>
            <a:ext cx="50200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Basic FP3</a:t>
            </a:r>
            <a:endParaRPr lang="en-US" sz="1200" dirty="0"/>
          </a:p>
        </p:txBody>
      </p:sp>
      <p:sp>
        <p:nvSpPr>
          <p:cNvPr id="11" name="Text 8"/>
          <p:cNvSpPr/>
          <p:nvPr/>
        </p:nvSpPr>
        <p:spPr>
          <a:xfrm>
            <a:off x="1005840" y="2259531"/>
            <a:ext cx="1371600" cy="201168"/>
          </a:xfrm>
          <a:prstGeom prst="rect">
            <a:avLst/>
          </a:prstGeom>
          <a:noFill/>
          <a:ln/>
        </p:spPr>
        <p:txBody>
          <a:bodyPr wrap="square" lIns="0" tIns="0" rIns="0" bIns="0" rtlCol="0" anchor="ctr"/>
          <a:lstStyle/>
          <a:p>
            <a:pPr marL="0" indent="0">
              <a:buNone/>
            </a:pPr>
            <a:r>
              <a:rPr lang="en-US" sz="1150" b="1" dirty="0">
                <a:solidFill>
                  <a:srgbClr val="222222"/>
                </a:solidFill>
                <a:latin typeface="Arial" pitchFamily="34" charset="0"/>
                <a:ea typeface="Arial" pitchFamily="34" charset="-122"/>
                <a:cs typeface="Arial" pitchFamily="34" charset="-120"/>
              </a:rPr>
              <a:t>Range stays:</a:t>
            </a:r>
            <a:endParaRPr lang="en-US" sz="1150" dirty="0"/>
          </a:p>
        </p:txBody>
      </p:sp>
      <mc:AlternateContent xmlns:mc="http://schemas.openxmlformats.org/markup-compatibility/2006" xmlns:a14="http://schemas.microsoft.com/office/drawing/2010/main">
        <mc:Choice Requires="a14">
          <p:sp>
            <p:nvSpPr>
              <p:cNvPr id="12" name="Text 9"/>
              <p:cNvSpPr/>
              <p:nvPr/>
            </p:nvSpPr>
            <p:spPr>
              <a:xfrm>
                <a:off x="2880360" y="2149803"/>
                <a:ext cx="2057400" cy="4114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d>
                        <m:dPr>
                          <m:begChr m:val="["/>
                          <m:endChr m:val="]"/>
                          <m:ctrlPr>
                            <a:rPr lang="ko-KR" altLang="en-US" sz="1300" smtClean="0">
                              <a:latin typeface="Cambria Math"/>
                            </a:rPr>
                          </m:ctrlPr>
                        </m:dPr>
                        <m:e>
                          <m:r>
                            <a:rPr lang="ko-KR" altLang="en-US" sz="1300" smtClean="0">
                              <a:latin typeface="Cambria Math"/>
                            </a:rPr>
                            <m:t>−4,+4</m:t>
                          </m:r>
                        </m:e>
                      </m:d>
                    </m:oMath>
                  </m:oMathPara>
                </a14:m>
                <a:endParaRPr/>
              </a:p>
            </p:txBody>
          </p:sp>
        </mc:Choice>
        <mc:Fallback xmlns="">
          <p:sp>
            <p:nvSpPr>
              <p:cNvPr id="12" name="Text 9"/>
              <p:cNvSpPr>
                <a:spLocks noRot="1" noChangeAspect="1" noMove="1" noResize="1" noEditPoints="1" noAdjustHandles="1" noChangeArrowheads="1" noChangeShapeType="1" noTextEdit="1"/>
              </p:cNvSpPr>
              <p:nvPr/>
            </p:nvSpPr>
            <p:spPr>
              <a:xfrm>
                <a:off x="2880360" y="2149803"/>
                <a:ext cx="2057400" cy="411480"/>
              </a:xfrm>
              <a:prstGeom prst="rect">
                <a:avLst/>
              </a:prstGeom>
              <a:blipFill>
                <a:blip r:embed="rId4"/>
                <a:stretch>
                  <a:fillRect/>
                </a:stretch>
              </a:blipFill>
              <a:ln/>
            </p:spPr>
            <p:txBody>
              <a:bodyPr/>
              <a:lstStyle/>
              <a:p>
                <a:r>
                  <a:rPr lang="ko-KR" altLang="en-US">
                    <a:noFill/>
                  </a:rPr>
                  <a:t> </a:t>
                </a:r>
              </a:p>
            </p:txBody>
          </p:sp>
        </mc:Fallback>
      </mc:AlternateContent>
      <p:sp>
        <p:nvSpPr>
          <p:cNvPr id="13" name="Shape 10"/>
          <p:cNvSpPr/>
          <p:nvPr/>
        </p:nvSpPr>
        <p:spPr>
          <a:xfrm>
            <a:off x="1188720" y="3402531"/>
            <a:ext cx="4389120" cy="0"/>
          </a:xfrm>
          <a:prstGeom prst="line">
            <a:avLst/>
          </a:prstGeom>
          <a:noFill/>
          <a:ln w="15240">
            <a:solidFill>
              <a:srgbClr val="444444"/>
            </a:solidFill>
            <a:prstDash val="solid"/>
            <a:headEnd type="triangle"/>
            <a:tailEnd type="triangle"/>
          </a:ln>
        </p:spPr>
        <p:txBody>
          <a:bodyPr/>
          <a:lstStyle/>
          <a:p>
            <a:endParaRPr lang="ko-KR" altLang="en-US"/>
          </a:p>
        </p:txBody>
      </p:sp>
      <p:sp>
        <p:nvSpPr>
          <p:cNvPr id="14" name="Shape 11"/>
          <p:cNvSpPr/>
          <p:nvPr/>
        </p:nvSpPr>
        <p:spPr>
          <a:xfrm>
            <a:off x="1188720" y="3311091"/>
            <a:ext cx="0" cy="182880"/>
          </a:xfrm>
          <a:prstGeom prst="line">
            <a:avLst/>
          </a:prstGeom>
          <a:noFill/>
          <a:ln w="12700">
            <a:solidFill>
              <a:srgbClr val="00245D"/>
            </a:solidFill>
            <a:prstDash val="solid"/>
          </a:ln>
        </p:spPr>
        <p:txBody>
          <a:bodyPr/>
          <a:lstStyle/>
          <a:p>
            <a:endParaRPr lang="ko-KR" altLang="en-US"/>
          </a:p>
        </p:txBody>
      </p:sp>
      <p:sp>
        <p:nvSpPr>
          <p:cNvPr id="15" name="Text 12"/>
          <p:cNvSpPr/>
          <p:nvPr/>
        </p:nvSpPr>
        <p:spPr>
          <a:xfrm>
            <a:off x="950976" y="3539691"/>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16" name="Shape 13"/>
          <p:cNvSpPr/>
          <p:nvPr/>
        </p:nvSpPr>
        <p:spPr>
          <a:xfrm>
            <a:off x="2286000" y="3311091"/>
            <a:ext cx="0" cy="182880"/>
          </a:xfrm>
          <a:prstGeom prst="line">
            <a:avLst/>
          </a:prstGeom>
          <a:noFill/>
          <a:ln w="12700">
            <a:solidFill>
              <a:srgbClr val="00245D"/>
            </a:solidFill>
            <a:prstDash val="solid"/>
          </a:ln>
        </p:spPr>
        <p:txBody>
          <a:bodyPr/>
          <a:lstStyle/>
          <a:p>
            <a:endParaRPr lang="ko-KR" altLang="en-US"/>
          </a:p>
        </p:txBody>
      </p:sp>
      <p:sp>
        <p:nvSpPr>
          <p:cNvPr id="17" name="Text 14"/>
          <p:cNvSpPr/>
          <p:nvPr/>
        </p:nvSpPr>
        <p:spPr>
          <a:xfrm>
            <a:off x="2048256" y="3740859"/>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18" name="Shape 15"/>
          <p:cNvSpPr/>
          <p:nvPr/>
        </p:nvSpPr>
        <p:spPr>
          <a:xfrm>
            <a:off x="2834640" y="3311091"/>
            <a:ext cx="0" cy="182880"/>
          </a:xfrm>
          <a:prstGeom prst="line">
            <a:avLst/>
          </a:prstGeom>
          <a:noFill/>
          <a:ln w="12700">
            <a:solidFill>
              <a:srgbClr val="00245D"/>
            </a:solidFill>
            <a:prstDash val="solid"/>
          </a:ln>
        </p:spPr>
        <p:txBody>
          <a:bodyPr/>
          <a:lstStyle/>
          <a:p>
            <a:endParaRPr lang="ko-KR" altLang="en-US"/>
          </a:p>
        </p:txBody>
      </p:sp>
      <p:sp>
        <p:nvSpPr>
          <p:cNvPr id="19" name="Text 16"/>
          <p:cNvSpPr/>
          <p:nvPr/>
        </p:nvSpPr>
        <p:spPr>
          <a:xfrm>
            <a:off x="2596896" y="3539691"/>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20" name="Shape 17"/>
          <p:cNvSpPr/>
          <p:nvPr/>
        </p:nvSpPr>
        <p:spPr>
          <a:xfrm>
            <a:off x="3383280" y="3311091"/>
            <a:ext cx="0" cy="182880"/>
          </a:xfrm>
          <a:prstGeom prst="line">
            <a:avLst/>
          </a:prstGeom>
          <a:noFill/>
          <a:ln w="12700">
            <a:solidFill>
              <a:srgbClr val="00245D"/>
            </a:solidFill>
            <a:prstDash val="solid"/>
          </a:ln>
        </p:spPr>
        <p:txBody>
          <a:bodyPr/>
          <a:lstStyle/>
          <a:p>
            <a:endParaRPr lang="ko-KR" altLang="en-US"/>
          </a:p>
        </p:txBody>
      </p:sp>
      <p:sp>
        <p:nvSpPr>
          <p:cNvPr id="21" name="Text 18"/>
          <p:cNvSpPr/>
          <p:nvPr/>
        </p:nvSpPr>
        <p:spPr>
          <a:xfrm>
            <a:off x="3145536" y="3740859"/>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0</a:t>
            </a:r>
            <a:endParaRPr lang="en-US" sz="800" dirty="0"/>
          </a:p>
        </p:txBody>
      </p:sp>
      <p:sp>
        <p:nvSpPr>
          <p:cNvPr id="22" name="Shape 19"/>
          <p:cNvSpPr/>
          <p:nvPr/>
        </p:nvSpPr>
        <p:spPr>
          <a:xfrm>
            <a:off x="3931920" y="3311091"/>
            <a:ext cx="0" cy="182880"/>
          </a:xfrm>
          <a:prstGeom prst="line">
            <a:avLst/>
          </a:prstGeom>
          <a:noFill/>
          <a:ln w="12700">
            <a:solidFill>
              <a:srgbClr val="00245D"/>
            </a:solidFill>
            <a:prstDash val="solid"/>
          </a:ln>
        </p:spPr>
        <p:txBody>
          <a:bodyPr/>
          <a:lstStyle/>
          <a:p>
            <a:endParaRPr lang="ko-KR" altLang="en-US"/>
          </a:p>
        </p:txBody>
      </p:sp>
      <p:sp>
        <p:nvSpPr>
          <p:cNvPr id="23" name="Text 20"/>
          <p:cNvSpPr/>
          <p:nvPr/>
        </p:nvSpPr>
        <p:spPr>
          <a:xfrm>
            <a:off x="3694176" y="3539691"/>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24" name="Shape 21"/>
          <p:cNvSpPr/>
          <p:nvPr/>
        </p:nvSpPr>
        <p:spPr>
          <a:xfrm>
            <a:off x="4480560" y="3311091"/>
            <a:ext cx="0" cy="182880"/>
          </a:xfrm>
          <a:prstGeom prst="line">
            <a:avLst/>
          </a:prstGeom>
          <a:noFill/>
          <a:ln w="12700">
            <a:solidFill>
              <a:srgbClr val="00245D"/>
            </a:solidFill>
            <a:prstDash val="solid"/>
          </a:ln>
        </p:spPr>
        <p:txBody>
          <a:bodyPr/>
          <a:lstStyle/>
          <a:p>
            <a:endParaRPr lang="ko-KR" altLang="en-US"/>
          </a:p>
        </p:txBody>
      </p:sp>
      <p:sp>
        <p:nvSpPr>
          <p:cNvPr id="25" name="Text 22"/>
          <p:cNvSpPr/>
          <p:nvPr/>
        </p:nvSpPr>
        <p:spPr>
          <a:xfrm>
            <a:off x="4242816" y="3740859"/>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26" name="Shape 23"/>
          <p:cNvSpPr/>
          <p:nvPr/>
        </p:nvSpPr>
        <p:spPr>
          <a:xfrm>
            <a:off x="5577840" y="3311091"/>
            <a:ext cx="0" cy="182880"/>
          </a:xfrm>
          <a:prstGeom prst="line">
            <a:avLst/>
          </a:prstGeom>
          <a:noFill/>
          <a:ln w="12700">
            <a:solidFill>
              <a:srgbClr val="00245D"/>
            </a:solidFill>
            <a:prstDash val="solid"/>
          </a:ln>
        </p:spPr>
        <p:txBody>
          <a:bodyPr/>
          <a:lstStyle/>
          <a:p>
            <a:endParaRPr lang="ko-KR" altLang="en-US"/>
          </a:p>
        </p:txBody>
      </p:sp>
      <p:sp>
        <p:nvSpPr>
          <p:cNvPr id="27" name="Text 24"/>
          <p:cNvSpPr/>
          <p:nvPr/>
        </p:nvSpPr>
        <p:spPr>
          <a:xfrm>
            <a:off x="5340096" y="3539691"/>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28" name="Text 25"/>
          <p:cNvSpPr/>
          <p:nvPr/>
        </p:nvSpPr>
        <p:spPr>
          <a:xfrm>
            <a:off x="1325880" y="4179771"/>
            <a:ext cx="4160520" cy="237744"/>
          </a:xfrm>
          <a:prstGeom prst="rect">
            <a:avLst/>
          </a:prstGeom>
          <a:noFill/>
          <a:ln/>
        </p:spPr>
        <p:txBody>
          <a:bodyPr wrap="square" lIns="0" tIns="0" rIns="0" bIns="0" rtlCol="0" anchor="ctr"/>
          <a:lstStyle/>
          <a:p>
            <a:pPr marL="0" indent="0" algn="ctr">
              <a:buNone/>
            </a:pPr>
            <a:r>
              <a:rPr lang="en-US" sz="1120" dirty="0">
                <a:solidFill>
                  <a:srgbClr val="222222"/>
                </a:solidFill>
                <a:latin typeface="Arial" pitchFamily="34" charset="0"/>
                <a:ea typeface="Arial" pitchFamily="34" charset="-122"/>
                <a:cs typeface="Arial" pitchFamily="34" charset="-120"/>
              </a:rPr>
              <a:t>Notice the </a:t>
            </a:r>
            <a:r>
              <a:rPr lang="en-US" sz="1120" dirty="0">
                <a:solidFill>
                  <a:srgbClr val="FF0000"/>
                </a:solidFill>
                <a:latin typeface="Arial" pitchFamily="34" charset="0"/>
                <a:ea typeface="Arial" pitchFamily="34" charset="-122"/>
                <a:cs typeface="Arial" pitchFamily="34" charset="-120"/>
              </a:rPr>
              <a:t>empty space </a:t>
            </a:r>
            <a:r>
              <a:rPr lang="en-US" sz="1120" dirty="0">
                <a:solidFill>
                  <a:srgbClr val="222222"/>
                </a:solidFill>
                <a:latin typeface="Arial" pitchFamily="34" charset="0"/>
                <a:ea typeface="Arial" pitchFamily="34" charset="-122"/>
                <a:cs typeface="Arial" pitchFamily="34" charset="-120"/>
              </a:rPr>
              <a:t>between +2 and +4.</a:t>
            </a:r>
            <a:endParaRPr lang="en-US" sz="1120" dirty="0"/>
          </a:p>
        </p:txBody>
      </p:sp>
      <p:sp>
        <p:nvSpPr>
          <p:cNvPr id="29" name="Shape 26"/>
          <p:cNvSpPr/>
          <p:nvPr/>
        </p:nvSpPr>
        <p:spPr>
          <a:xfrm>
            <a:off x="6446520" y="1444752"/>
            <a:ext cx="4983480" cy="4434840"/>
          </a:xfrm>
          <a:prstGeom prst="roundRect">
            <a:avLst>
              <a:gd name="adj" fmla="val 1237"/>
            </a:avLst>
          </a:prstGeom>
          <a:solidFill>
            <a:srgbClr val="FFFDF2"/>
          </a:solidFill>
          <a:ln w="13335">
            <a:solidFill>
              <a:srgbClr val="D6B656"/>
            </a:solidFill>
            <a:prstDash val="solid"/>
          </a:ln>
        </p:spPr>
        <p:txBody>
          <a:bodyPr/>
          <a:lstStyle/>
          <a:p>
            <a:endParaRPr lang="ko-KR" altLang="en-US"/>
          </a:p>
        </p:txBody>
      </p:sp>
      <p:sp>
        <p:nvSpPr>
          <p:cNvPr id="30" name="Text 27"/>
          <p:cNvSpPr/>
          <p:nvPr/>
        </p:nvSpPr>
        <p:spPr>
          <a:xfrm>
            <a:off x="6611112" y="1554480"/>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FP3-ER</a:t>
            </a:r>
            <a:endParaRPr lang="en-US" sz="1200" dirty="0"/>
          </a:p>
        </p:txBody>
      </p:sp>
      <p:sp>
        <p:nvSpPr>
          <p:cNvPr id="31" name="Shape 28"/>
          <p:cNvSpPr/>
          <p:nvPr/>
        </p:nvSpPr>
        <p:spPr>
          <a:xfrm>
            <a:off x="6881863" y="3419855"/>
            <a:ext cx="4069080" cy="0"/>
          </a:xfrm>
          <a:prstGeom prst="line">
            <a:avLst/>
          </a:prstGeom>
          <a:noFill/>
          <a:ln w="15240">
            <a:solidFill>
              <a:srgbClr val="444444"/>
            </a:solidFill>
            <a:prstDash val="solid"/>
            <a:headEnd type="triangle"/>
            <a:tailEnd type="triangle"/>
          </a:ln>
        </p:spPr>
        <p:txBody>
          <a:bodyPr/>
          <a:lstStyle/>
          <a:p>
            <a:endParaRPr lang="ko-KR" altLang="en-US"/>
          </a:p>
        </p:txBody>
      </p:sp>
      <p:sp>
        <p:nvSpPr>
          <p:cNvPr id="32" name="Shape 29"/>
          <p:cNvSpPr/>
          <p:nvPr/>
        </p:nvSpPr>
        <p:spPr>
          <a:xfrm>
            <a:off x="6881863" y="3328415"/>
            <a:ext cx="0" cy="182880"/>
          </a:xfrm>
          <a:prstGeom prst="line">
            <a:avLst/>
          </a:prstGeom>
          <a:noFill/>
          <a:ln w="12700">
            <a:solidFill>
              <a:srgbClr val="00245D"/>
            </a:solidFill>
            <a:prstDash val="solid"/>
          </a:ln>
        </p:spPr>
        <p:txBody>
          <a:bodyPr/>
          <a:lstStyle/>
          <a:p>
            <a:endParaRPr lang="ko-KR" altLang="en-US"/>
          </a:p>
        </p:txBody>
      </p:sp>
      <p:sp>
        <p:nvSpPr>
          <p:cNvPr id="33" name="Text 30"/>
          <p:cNvSpPr/>
          <p:nvPr/>
        </p:nvSpPr>
        <p:spPr>
          <a:xfrm>
            <a:off x="6644119" y="3557015"/>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34" name="Shape 31"/>
          <p:cNvSpPr/>
          <p:nvPr/>
        </p:nvSpPr>
        <p:spPr>
          <a:xfrm>
            <a:off x="7390498" y="3328415"/>
            <a:ext cx="0" cy="182880"/>
          </a:xfrm>
          <a:prstGeom prst="line">
            <a:avLst/>
          </a:prstGeom>
          <a:noFill/>
          <a:ln w="25400">
            <a:solidFill>
              <a:srgbClr val="548235"/>
            </a:solidFill>
            <a:prstDash val="solid"/>
          </a:ln>
        </p:spPr>
        <p:txBody>
          <a:bodyPr/>
          <a:lstStyle/>
          <a:p>
            <a:endParaRPr lang="ko-KR" altLang="en-US"/>
          </a:p>
        </p:txBody>
      </p:sp>
      <p:sp>
        <p:nvSpPr>
          <p:cNvPr id="35" name="Text 32"/>
          <p:cNvSpPr/>
          <p:nvPr/>
        </p:nvSpPr>
        <p:spPr>
          <a:xfrm>
            <a:off x="7152754" y="3758183"/>
            <a:ext cx="475488" cy="146304"/>
          </a:xfrm>
          <a:prstGeom prst="rect">
            <a:avLst/>
          </a:prstGeom>
          <a:noFill/>
          <a:ln/>
        </p:spPr>
        <p:txBody>
          <a:bodyPr wrap="square" lIns="0" tIns="0" rIns="0" bIns="0" rtlCol="0" anchor="ctr">
            <a:normAutofit/>
          </a:bodyPr>
          <a:lstStyle/>
          <a:p>
            <a:pPr marL="0" indent="0" algn="ctr">
              <a:buNone/>
            </a:pPr>
            <a:r>
              <a:rPr lang="en-US" sz="800" b="1" dirty="0">
                <a:solidFill>
                  <a:srgbClr val="548235"/>
                </a:solidFill>
                <a:latin typeface="Arial" pitchFamily="34" charset="0"/>
                <a:ea typeface="Arial" pitchFamily="34" charset="-122"/>
                <a:cs typeface="Arial" pitchFamily="34" charset="-120"/>
              </a:rPr>
              <a:t>−3</a:t>
            </a:r>
            <a:endParaRPr lang="en-US" sz="800" dirty="0"/>
          </a:p>
        </p:txBody>
      </p:sp>
      <p:sp>
        <p:nvSpPr>
          <p:cNvPr id="36" name="Shape 33"/>
          <p:cNvSpPr/>
          <p:nvPr/>
        </p:nvSpPr>
        <p:spPr>
          <a:xfrm rot="10800000">
            <a:off x="7299058" y="3008375"/>
            <a:ext cx="182880" cy="164592"/>
          </a:xfrm>
          <a:prstGeom prst="triangle">
            <a:avLst/>
          </a:prstGeom>
          <a:solidFill>
            <a:srgbClr val="548235"/>
          </a:solidFill>
          <a:ln w="8890">
            <a:solidFill>
              <a:srgbClr val="548235"/>
            </a:solidFill>
            <a:prstDash val="solid"/>
          </a:ln>
        </p:spPr>
        <p:txBody>
          <a:bodyPr/>
          <a:lstStyle/>
          <a:p>
            <a:endParaRPr lang="ko-KR" altLang="en-US"/>
          </a:p>
        </p:txBody>
      </p:sp>
      <p:sp>
        <p:nvSpPr>
          <p:cNvPr id="37" name="Text 34"/>
          <p:cNvSpPr/>
          <p:nvPr/>
        </p:nvSpPr>
        <p:spPr>
          <a:xfrm>
            <a:off x="7207618" y="2761487"/>
            <a:ext cx="365760" cy="164592"/>
          </a:xfrm>
          <a:prstGeom prst="rect">
            <a:avLst/>
          </a:prstGeom>
          <a:noFill/>
          <a:ln/>
        </p:spPr>
        <p:txBody>
          <a:bodyPr wrap="square" lIns="0" tIns="0" rIns="0" bIns="0" rtlCol="0" anchor="ctr"/>
          <a:lstStyle/>
          <a:p>
            <a:pPr marL="0" indent="0" algn="ctr">
              <a:buNone/>
            </a:pPr>
            <a:r>
              <a:rPr lang="en-US" sz="900" b="1" dirty="0">
                <a:solidFill>
                  <a:srgbClr val="548235"/>
                </a:solidFill>
                <a:latin typeface="Arial" pitchFamily="34" charset="0"/>
                <a:ea typeface="Arial" pitchFamily="34" charset="-122"/>
                <a:cs typeface="Arial" pitchFamily="34" charset="-120"/>
              </a:rPr>
              <a:t>SV</a:t>
            </a:r>
            <a:endParaRPr lang="en-US" sz="900" dirty="0"/>
          </a:p>
        </p:txBody>
      </p:sp>
      <p:sp>
        <p:nvSpPr>
          <p:cNvPr id="38" name="Shape 35"/>
          <p:cNvSpPr/>
          <p:nvPr/>
        </p:nvSpPr>
        <p:spPr>
          <a:xfrm>
            <a:off x="7899133" y="3328415"/>
            <a:ext cx="0" cy="182880"/>
          </a:xfrm>
          <a:prstGeom prst="line">
            <a:avLst/>
          </a:prstGeom>
          <a:noFill/>
          <a:ln w="12700">
            <a:solidFill>
              <a:srgbClr val="00245D"/>
            </a:solidFill>
            <a:prstDash val="solid"/>
          </a:ln>
        </p:spPr>
        <p:txBody>
          <a:bodyPr/>
          <a:lstStyle/>
          <a:p>
            <a:endParaRPr lang="ko-KR" altLang="en-US"/>
          </a:p>
        </p:txBody>
      </p:sp>
      <p:sp>
        <p:nvSpPr>
          <p:cNvPr id="39" name="Text 36"/>
          <p:cNvSpPr/>
          <p:nvPr/>
        </p:nvSpPr>
        <p:spPr>
          <a:xfrm>
            <a:off x="7661389" y="3557015"/>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40" name="Shape 37"/>
          <p:cNvSpPr/>
          <p:nvPr/>
        </p:nvSpPr>
        <p:spPr>
          <a:xfrm>
            <a:off x="8407768" y="3328415"/>
            <a:ext cx="0" cy="182880"/>
          </a:xfrm>
          <a:prstGeom prst="line">
            <a:avLst/>
          </a:prstGeom>
          <a:noFill/>
          <a:ln w="12700">
            <a:solidFill>
              <a:srgbClr val="00245D"/>
            </a:solidFill>
            <a:prstDash val="solid"/>
          </a:ln>
        </p:spPr>
        <p:txBody>
          <a:bodyPr/>
          <a:lstStyle/>
          <a:p>
            <a:endParaRPr lang="ko-KR" altLang="en-US"/>
          </a:p>
        </p:txBody>
      </p:sp>
      <p:sp>
        <p:nvSpPr>
          <p:cNvPr id="41" name="Text 38"/>
          <p:cNvSpPr/>
          <p:nvPr/>
        </p:nvSpPr>
        <p:spPr>
          <a:xfrm>
            <a:off x="8170024" y="3758183"/>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42" name="Shape 39"/>
          <p:cNvSpPr/>
          <p:nvPr/>
        </p:nvSpPr>
        <p:spPr>
          <a:xfrm>
            <a:off x="8916403" y="3328415"/>
            <a:ext cx="0" cy="182880"/>
          </a:xfrm>
          <a:prstGeom prst="line">
            <a:avLst/>
          </a:prstGeom>
          <a:noFill/>
          <a:ln w="12700">
            <a:solidFill>
              <a:srgbClr val="00245D"/>
            </a:solidFill>
            <a:prstDash val="solid"/>
          </a:ln>
        </p:spPr>
        <p:txBody>
          <a:bodyPr/>
          <a:lstStyle/>
          <a:p>
            <a:endParaRPr lang="ko-KR" altLang="en-US"/>
          </a:p>
        </p:txBody>
      </p:sp>
      <p:sp>
        <p:nvSpPr>
          <p:cNvPr id="43" name="Text 40"/>
          <p:cNvSpPr/>
          <p:nvPr/>
        </p:nvSpPr>
        <p:spPr>
          <a:xfrm>
            <a:off x="8678659" y="3557015"/>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0</a:t>
            </a:r>
            <a:endParaRPr lang="en-US" sz="800" dirty="0"/>
          </a:p>
        </p:txBody>
      </p:sp>
      <p:sp>
        <p:nvSpPr>
          <p:cNvPr id="44" name="Shape 41"/>
          <p:cNvSpPr/>
          <p:nvPr/>
        </p:nvSpPr>
        <p:spPr>
          <a:xfrm>
            <a:off x="9425038" y="3328415"/>
            <a:ext cx="0" cy="182880"/>
          </a:xfrm>
          <a:prstGeom prst="line">
            <a:avLst/>
          </a:prstGeom>
          <a:noFill/>
          <a:ln w="12700">
            <a:solidFill>
              <a:srgbClr val="00245D"/>
            </a:solidFill>
            <a:prstDash val="solid"/>
          </a:ln>
        </p:spPr>
        <p:txBody>
          <a:bodyPr/>
          <a:lstStyle/>
          <a:p>
            <a:endParaRPr lang="ko-KR" altLang="en-US"/>
          </a:p>
        </p:txBody>
      </p:sp>
      <p:sp>
        <p:nvSpPr>
          <p:cNvPr id="45" name="Text 42"/>
          <p:cNvSpPr/>
          <p:nvPr/>
        </p:nvSpPr>
        <p:spPr>
          <a:xfrm>
            <a:off x="9187294" y="3758183"/>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46" name="Shape 43"/>
          <p:cNvSpPr/>
          <p:nvPr/>
        </p:nvSpPr>
        <p:spPr>
          <a:xfrm>
            <a:off x="9933673" y="3328415"/>
            <a:ext cx="0" cy="182880"/>
          </a:xfrm>
          <a:prstGeom prst="line">
            <a:avLst/>
          </a:prstGeom>
          <a:noFill/>
          <a:ln w="12700">
            <a:solidFill>
              <a:srgbClr val="00245D"/>
            </a:solidFill>
            <a:prstDash val="solid"/>
          </a:ln>
        </p:spPr>
        <p:txBody>
          <a:bodyPr/>
          <a:lstStyle/>
          <a:p>
            <a:endParaRPr lang="ko-KR" altLang="en-US"/>
          </a:p>
        </p:txBody>
      </p:sp>
      <p:sp>
        <p:nvSpPr>
          <p:cNvPr id="47" name="Text 44"/>
          <p:cNvSpPr/>
          <p:nvPr/>
        </p:nvSpPr>
        <p:spPr>
          <a:xfrm>
            <a:off x="9695929" y="3557015"/>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48" name="Shape 45"/>
          <p:cNvSpPr/>
          <p:nvPr/>
        </p:nvSpPr>
        <p:spPr>
          <a:xfrm>
            <a:off x="10442308" y="3328415"/>
            <a:ext cx="0" cy="182880"/>
          </a:xfrm>
          <a:prstGeom prst="line">
            <a:avLst/>
          </a:prstGeom>
          <a:noFill/>
          <a:ln w="25400">
            <a:solidFill>
              <a:srgbClr val="548235"/>
            </a:solidFill>
            <a:prstDash val="solid"/>
          </a:ln>
        </p:spPr>
        <p:txBody>
          <a:bodyPr/>
          <a:lstStyle/>
          <a:p>
            <a:endParaRPr lang="ko-KR" altLang="en-US"/>
          </a:p>
        </p:txBody>
      </p:sp>
      <p:sp>
        <p:nvSpPr>
          <p:cNvPr id="49" name="Text 46"/>
          <p:cNvSpPr/>
          <p:nvPr/>
        </p:nvSpPr>
        <p:spPr>
          <a:xfrm>
            <a:off x="10204564" y="3758183"/>
            <a:ext cx="475488" cy="146304"/>
          </a:xfrm>
          <a:prstGeom prst="rect">
            <a:avLst/>
          </a:prstGeom>
          <a:noFill/>
          <a:ln/>
        </p:spPr>
        <p:txBody>
          <a:bodyPr wrap="square" lIns="0" tIns="0" rIns="0" bIns="0" rtlCol="0" anchor="ctr">
            <a:normAutofit/>
          </a:bodyPr>
          <a:lstStyle/>
          <a:p>
            <a:pPr marL="0" indent="0" algn="ctr">
              <a:buNone/>
            </a:pPr>
            <a:r>
              <a:rPr lang="en-US" sz="800" b="1" dirty="0">
                <a:solidFill>
                  <a:srgbClr val="548235"/>
                </a:solidFill>
                <a:latin typeface="Arial" pitchFamily="34" charset="0"/>
                <a:ea typeface="Arial" pitchFamily="34" charset="-122"/>
                <a:cs typeface="Arial" pitchFamily="34" charset="-120"/>
              </a:rPr>
              <a:t>+3</a:t>
            </a:r>
            <a:endParaRPr lang="en-US" sz="800" dirty="0"/>
          </a:p>
        </p:txBody>
      </p:sp>
      <p:sp>
        <p:nvSpPr>
          <p:cNvPr id="50" name="Shape 47"/>
          <p:cNvSpPr/>
          <p:nvPr/>
        </p:nvSpPr>
        <p:spPr>
          <a:xfrm rot="10800000">
            <a:off x="10350868" y="3008375"/>
            <a:ext cx="182880" cy="164592"/>
          </a:xfrm>
          <a:prstGeom prst="triangle">
            <a:avLst/>
          </a:prstGeom>
          <a:solidFill>
            <a:srgbClr val="548235"/>
          </a:solidFill>
          <a:ln w="8890">
            <a:solidFill>
              <a:srgbClr val="548235"/>
            </a:solidFill>
            <a:prstDash val="solid"/>
          </a:ln>
        </p:spPr>
        <p:txBody>
          <a:bodyPr/>
          <a:lstStyle/>
          <a:p>
            <a:endParaRPr lang="ko-KR" altLang="en-US"/>
          </a:p>
        </p:txBody>
      </p:sp>
      <p:sp>
        <p:nvSpPr>
          <p:cNvPr id="51" name="Text 48"/>
          <p:cNvSpPr/>
          <p:nvPr/>
        </p:nvSpPr>
        <p:spPr>
          <a:xfrm>
            <a:off x="10259428" y="2761487"/>
            <a:ext cx="365760" cy="164592"/>
          </a:xfrm>
          <a:prstGeom prst="rect">
            <a:avLst/>
          </a:prstGeom>
          <a:noFill/>
          <a:ln/>
        </p:spPr>
        <p:txBody>
          <a:bodyPr wrap="square" lIns="0" tIns="0" rIns="0" bIns="0" rtlCol="0" anchor="ctr"/>
          <a:lstStyle/>
          <a:p>
            <a:pPr marL="0" indent="0" algn="ctr">
              <a:buNone/>
            </a:pPr>
            <a:r>
              <a:rPr lang="en-US" sz="900" b="1" dirty="0">
                <a:solidFill>
                  <a:srgbClr val="548235"/>
                </a:solidFill>
                <a:latin typeface="Arial" pitchFamily="34" charset="0"/>
                <a:ea typeface="Arial" pitchFamily="34" charset="-122"/>
                <a:cs typeface="Arial" pitchFamily="34" charset="-120"/>
              </a:rPr>
              <a:t>SV</a:t>
            </a:r>
            <a:endParaRPr lang="en-US" sz="900" dirty="0"/>
          </a:p>
        </p:txBody>
      </p:sp>
      <p:sp>
        <p:nvSpPr>
          <p:cNvPr id="52" name="Shape 49"/>
          <p:cNvSpPr/>
          <p:nvPr/>
        </p:nvSpPr>
        <p:spPr>
          <a:xfrm>
            <a:off x="10950943" y="3328415"/>
            <a:ext cx="0" cy="182880"/>
          </a:xfrm>
          <a:prstGeom prst="line">
            <a:avLst/>
          </a:prstGeom>
          <a:noFill/>
          <a:ln w="12700">
            <a:solidFill>
              <a:srgbClr val="00245D"/>
            </a:solidFill>
            <a:prstDash val="solid"/>
          </a:ln>
        </p:spPr>
        <p:txBody>
          <a:bodyPr/>
          <a:lstStyle/>
          <a:p>
            <a:endParaRPr lang="ko-KR" altLang="en-US"/>
          </a:p>
        </p:txBody>
      </p:sp>
      <p:sp>
        <p:nvSpPr>
          <p:cNvPr id="53" name="Text 50"/>
          <p:cNvSpPr/>
          <p:nvPr/>
        </p:nvSpPr>
        <p:spPr>
          <a:xfrm>
            <a:off x="10713199" y="3557015"/>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54" name="Text 51"/>
          <p:cNvSpPr/>
          <p:nvPr/>
        </p:nvSpPr>
        <p:spPr>
          <a:xfrm>
            <a:off x="6698983" y="2276855"/>
            <a:ext cx="1417320" cy="201168"/>
          </a:xfrm>
          <a:prstGeom prst="rect">
            <a:avLst/>
          </a:prstGeom>
          <a:noFill/>
          <a:ln/>
        </p:spPr>
        <p:txBody>
          <a:bodyPr wrap="square" lIns="0" tIns="0" rIns="0" bIns="0" rtlCol="0" anchor="ctr"/>
          <a:lstStyle/>
          <a:p>
            <a:pPr marL="0" indent="0">
              <a:buNone/>
            </a:pPr>
            <a:r>
              <a:rPr lang="en-US" sz="1150" b="1" dirty="0">
                <a:solidFill>
                  <a:srgbClr val="222222"/>
                </a:solidFill>
                <a:latin typeface="Arial" pitchFamily="34" charset="0"/>
                <a:ea typeface="Arial" pitchFamily="34" charset="-122"/>
                <a:cs typeface="Arial" pitchFamily="34" charset="-120"/>
              </a:rPr>
              <a:t>Special Value:</a:t>
            </a:r>
            <a:endParaRPr lang="en-US" sz="1150" dirty="0"/>
          </a:p>
        </p:txBody>
      </p:sp>
      <mc:AlternateContent xmlns:mc="http://schemas.openxmlformats.org/markup-compatibility/2006" xmlns:a14="http://schemas.microsoft.com/office/drawing/2010/main">
        <mc:Choice Requires="a14">
          <p:sp>
            <p:nvSpPr>
              <p:cNvPr id="55" name="Text 52"/>
              <p:cNvSpPr/>
              <p:nvPr/>
            </p:nvSpPr>
            <p:spPr>
              <a:xfrm>
                <a:off x="8344903" y="2148839"/>
                <a:ext cx="214884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m:rPr>
                          <m:nor/>
                        </m:rPr>
                        <a:rPr lang="ko-KR" altLang="en-US" sz="1300" i="0" smtClean="0">
                          <a:latin typeface="Cambria Math"/>
                        </a:rPr>
                        <m:t>SV</m:t>
                      </m:r>
                      <m:r>
                        <a:rPr lang="ko-KR" altLang="en-US" sz="1300" smtClean="0">
                          <a:latin typeface="Cambria Math"/>
                        </a:rPr>
                        <m:t>=±3</m:t>
                      </m:r>
                    </m:oMath>
                  </m:oMathPara>
                </a14:m>
                <a:endParaRPr/>
              </a:p>
            </p:txBody>
          </p:sp>
        </mc:Choice>
        <mc:Fallback xmlns="">
          <p:sp>
            <p:nvSpPr>
              <p:cNvPr id="55" name="Text 52"/>
              <p:cNvSpPr>
                <a:spLocks noRot="1" noChangeAspect="1" noMove="1" noResize="1" noEditPoints="1" noAdjustHandles="1" noChangeArrowheads="1" noChangeShapeType="1" noTextEdit="1"/>
              </p:cNvSpPr>
              <p:nvPr/>
            </p:nvSpPr>
            <p:spPr>
              <a:xfrm>
                <a:off x="8344903" y="2148839"/>
                <a:ext cx="2148840" cy="457200"/>
              </a:xfrm>
              <a:prstGeom prst="rect">
                <a:avLst/>
              </a:prstGeom>
              <a:blipFill>
                <a:blip r:embed="rId5"/>
                <a:stretch>
                  <a:fillRect/>
                </a:stretch>
              </a:blipFill>
              <a:ln/>
            </p:spPr>
            <p:txBody>
              <a:bodyPr/>
              <a:lstStyle/>
              <a:p>
                <a:r>
                  <a:rPr lang="ko-KR" altLang="en-US">
                    <a:noFill/>
                  </a:rPr>
                  <a:t> </a:t>
                </a:r>
              </a:p>
            </p:txBody>
          </p:sp>
        </mc:Fallback>
      </mc:AlternateContent>
      <p:sp>
        <p:nvSpPr>
          <p:cNvPr id="56" name="Shape 53"/>
          <p:cNvSpPr/>
          <p:nvPr/>
        </p:nvSpPr>
        <p:spPr>
          <a:xfrm>
            <a:off x="6903720" y="4133086"/>
            <a:ext cx="3886200" cy="566928"/>
          </a:xfrm>
          <a:prstGeom prst="roundRect">
            <a:avLst>
              <a:gd name="adj" fmla="val 9677"/>
            </a:avLst>
          </a:prstGeom>
          <a:solidFill>
            <a:srgbClr val="E2F0D9"/>
          </a:solidFill>
          <a:ln w="12700">
            <a:solidFill>
              <a:srgbClr val="548235"/>
            </a:solidFill>
            <a:prstDash val="solid"/>
          </a:ln>
        </p:spPr>
        <p:txBody>
          <a:bodyPr/>
          <a:lstStyle/>
          <a:p>
            <a:endParaRPr lang="ko-KR" altLang="en-US"/>
          </a:p>
        </p:txBody>
      </p:sp>
      <p:sp>
        <p:nvSpPr>
          <p:cNvPr id="57" name="Text 54"/>
          <p:cNvSpPr/>
          <p:nvPr/>
        </p:nvSpPr>
        <p:spPr>
          <a:xfrm>
            <a:off x="7086600" y="4242814"/>
            <a:ext cx="3520440" cy="292608"/>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548235"/>
                </a:solidFill>
                <a:latin typeface="Arial" pitchFamily="34" charset="0"/>
                <a:ea typeface="Arial" pitchFamily="34" charset="-122"/>
                <a:cs typeface="Arial" pitchFamily="34" charset="-120"/>
              </a:rPr>
              <a:t>Purpose: </a:t>
            </a:r>
            <a:r>
              <a:rPr lang="en-US" sz="1080" b="1" dirty="0">
                <a:solidFill>
                  <a:srgbClr val="FF0000"/>
                </a:solidFill>
                <a:latin typeface="Arial" pitchFamily="34" charset="0"/>
                <a:ea typeface="Arial" pitchFamily="34" charset="-122"/>
                <a:cs typeface="Arial" pitchFamily="34" charset="-120"/>
              </a:rPr>
              <a:t>improve quantization resolution</a:t>
            </a:r>
            <a:endParaRPr lang="en-US" sz="1080" dirty="0">
              <a:solidFill>
                <a:srgbClr val="FF0000"/>
              </a:solidFill>
            </a:endParaRPr>
          </a:p>
          <a:p>
            <a:pPr marL="0" indent="0" algn="ctr">
              <a:buNone/>
            </a:pPr>
            <a:r>
              <a:rPr lang="en-US" sz="1080" b="1" dirty="0">
                <a:solidFill>
                  <a:srgbClr val="548235"/>
                </a:solidFill>
                <a:latin typeface="Arial" pitchFamily="34" charset="0"/>
                <a:ea typeface="Arial" pitchFamily="34" charset="-122"/>
                <a:cs typeface="Arial" pitchFamily="34" charset="-120"/>
              </a:rPr>
              <a:t>without changing the maximum range.</a:t>
            </a:r>
            <a:endParaRPr lang="en-US" sz="1080" dirty="0"/>
          </a:p>
        </p:txBody>
      </p:sp>
      <p:sp>
        <p:nvSpPr>
          <p:cNvPr id="58" name="Text 55"/>
          <p:cNvSpPr/>
          <p:nvPr/>
        </p:nvSpPr>
        <p:spPr>
          <a:xfrm>
            <a:off x="6903720" y="5029200"/>
            <a:ext cx="3886200" cy="219456"/>
          </a:xfrm>
          <a:prstGeom prst="rect">
            <a:avLst/>
          </a:prstGeom>
          <a:noFill/>
          <a:ln/>
        </p:spPr>
        <p:txBody>
          <a:bodyPr wrap="square" lIns="0" tIns="0" rIns="0" bIns="0" rtlCol="0" anchor="ctr"/>
          <a:lstStyle/>
          <a:p>
            <a:pPr marL="0" indent="0" algn="ctr">
              <a:buNone/>
            </a:pPr>
            <a:r>
              <a:rPr lang="en-US" sz="1120" b="1" dirty="0">
                <a:solidFill>
                  <a:srgbClr val="00245D"/>
                </a:solidFill>
                <a:latin typeface="Arial" pitchFamily="34" charset="0"/>
                <a:ea typeface="Arial" pitchFamily="34" charset="-122"/>
                <a:cs typeface="Arial" pitchFamily="34" charset="-120"/>
              </a:rPr>
              <a:t>Useful for </a:t>
            </a:r>
            <a:r>
              <a:rPr lang="en-US" sz="1120" b="1" dirty="0">
                <a:solidFill>
                  <a:srgbClr val="FF0000"/>
                </a:solidFill>
                <a:latin typeface="Arial" pitchFamily="34" charset="0"/>
                <a:ea typeface="Arial" pitchFamily="34" charset="-122"/>
                <a:cs typeface="Arial" pitchFamily="34" charset="-120"/>
              </a:rPr>
              <a:t>symmetric</a:t>
            </a:r>
            <a:r>
              <a:rPr lang="en-US" sz="1120" b="1" dirty="0">
                <a:solidFill>
                  <a:srgbClr val="00245D"/>
                </a:solidFill>
                <a:latin typeface="Arial" pitchFamily="34" charset="0"/>
                <a:ea typeface="Arial" pitchFamily="34" charset="-122"/>
                <a:cs typeface="Arial" pitchFamily="34" charset="-120"/>
              </a:rPr>
              <a:t>, Gaussian-like weight groups.</a:t>
            </a:r>
            <a:endParaRPr lang="en-US" sz="11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FP3-EA: Extended Asymmetry</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37</a:t>
            </a:r>
            <a:endParaRPr lang="en-US" sz="1000" dirty="0"/>
          </a:p>
        </p:txBody>
      </p:sp>
      <p:sp>
        <p:nvSpPr>
          <p:cNvPr id="8" name="Text 5"/>
          <p:cNvSpPr/>
          <p:nvPr/>
        </p:nvSpPr>
        <p:spPr>
          <a:xfrm>
            <a:off x="594360" y="1024128"/>
            <a:ext cx="10881360" cy="310896"/>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EA adds a Special Value </a:t>
            </a:r>
            <a:r>
              <a:rPr lang="en-US" sz="1300" dirty="0">
                <a:solidFill>
                  <a:srgbClr val="FF0000"/>
                </a:solidFill>
                <a:latin typeface="Arial" pitchFamily="34" charset="0"/>
                <a:ea typeface="Arial" pitchFamily="34" charset="-122"/>
                <a:cs typeface="Arial" pitchFamily="34" charset="-120"/>
              </a:rPr>
              <a:t>outside</a:t>
            </a:r>
            <a:r>
              <a:rPr lang="en-US" sz="1300" dirty="0">
                <a:solidFill>
                  <a:srgbClr val="222222"/>
                </a:solidFill>
                <a:latin typeface="Arial" pitchFamily="34" charset="0"/>
                <a:ea typeface="Arial" pitchFamily="34" charset="-122"/>
                <a:cs typeface="Arial" pitchFamily="34" charset="-120"/>
              </a:rPr>
              <a:t> the original FP3 range, allowing one side to represent a larger value.</a:t>
            </a:r>
            <a:endParaRPr lang="en-US" sz="1300" dirty="0"/>
          </a:p>
        </p:txBody>
      </p:sp>
      <p:sp>
        <p:nvSpPr>
          <p:cNvPr id="9" name="Shape 6"/>
          <p:cNvSpPr/>
          <p:nvPr/>
        </p:nvSpPr>
        <p:spPr>
          <a:xfrm>
            <a:off x="731520" y="1417320"/>
            <a:ext cx="5166360" cy="4480560"/>
          </a:xfrm>
          <a:prstGeom prst="roundRect">
            <a:avLst>
              <a:gd name="adj" fmla="val 1224"/>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96112" y="1527048"/>
            <a:ext cx="48371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Basic FP3</a:t>
            </a:r>
            <a:endParaRPr lang="en-US" sz="1200" dirty="0"/>
          </a:p>
        </p:txBody>
      </p:sp>
      <p:sp>
        <p:nvSpPr>
          <p:cNvPr id="11" name="Shape 8"/>
          <p:cNvSpPr/>
          <p:nvPr/>
        </p:nvSpPr>
        <p:spPr>
          <a:xfrm>
            <a:off x="1188720" y="2971800"/>
            <a:ext cx="4160520" cy="0"/>
          </a:xfrm>
          <a:prstGeom prst="line">
            <a:avLst/>
          </a:prstGeom>
          <a:noFill/>
          <a:ln w="15240">
            <a:solidFill>
              <a:srgbClr val="444444"/>
            </a:solidFill>
            <a:prstDash val="solid"/>
            <a:headEnd type="triangle"/>
            <a:tailEnd type="triangle"/>
          </a:ln>
        </p:spPr>
        <p:txBody>
          <a:bodyPr/>
          <a:lstStyle/>
          <a:p>
            <a:endParaRPr lang="ko-KR" altLang="en-US"/>
          </a:p>
        </p:txBody>
      </p:sp>
      <p:sp>
        <p:nvSpPr>
          <p:cNvPr id="12" name="Shape 9"/>
          <p:cNvSpPr/>
          <p:nvPr/>
        </p:nvSpPr>
        <p:spPr>
          <a:xfrm>
            <a:off x="1882140" y="2880360"/>
            <a:ext cx="0" cy="182880"/>
          </a:xfrm>
          <a:prstGeom prst="line">
            <a:avLst/>
          </a:prstGeom>
          <a:noFill/>
          <a:ln w="12700">
            <a:solidFill>
              <a:srgbClr val="00245D"/>
            </a:solidFill>
            <a:prstDash val="solid"/>
          </a:ln>
        </p:spPr>
        <p:txBody>
          <a:bodyPr/>
          <a:lstStyle/>
          <a:p>
            <a:endParaRPr lang="ko-KR" altLang="en-US"/>
          </a:p>
        </p:txBody>
      </p:sp>
      <p:sp>
        <p:nvSpPr>
          <p:cNvPr id="13" name="Text 10"/>
          <p:cNvSpPr/>
          <p:nvPr/>
        </p:nvSpPr>
        <p:spPr>
          <a:xfrm>
            <a:off x="1644396" y="310896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14" name="Shape 11"/>
          <p:cNvSpPr/>
          <p:nvPr/>
        </p:nvSpPr>
        <p:spPr>
          <a:xfrm>
            <a:off x="2575560" y="2880360"/>
            <a:ext cx="0" cy="182880"/>
          </a:xfrm>
          <a:prstGeom prst="line">
            <a:avLst/>
          </a:prstGeom>
          <a:noFill/>
          <a:ln w="12700">
            <a:solidFill>
              <a:srgbClr val="00245D"/>
            </a:solidFill>
            <a:prstDash val="solid"/>
          </a:ln>
        </p:spPr>
        <p:txBody>
          <a:bodyPr/>
          <a:lstStyle/>
          <a:p>
            <a:endParaRPr lang="ko-KR" altLang="en-US"/>
          </a:p>
        </p:txBody>
      </p:sp>
      <p:sp>
        <p:nvSpPr>
          <p:cNvPr id="15" name="Text 12"/>
          <p:cNvSpPr/>
          <p:nvPr/>
        </p:nvSpPr>
        <p:spPr>
          <a:xfrm>
            <a:off x="2337816" y="331012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16" name="Shape 13"/>
          <p:cNvSpPr/>
          <p:nvPr/>
        </p:nvSpPr>
        <p:spPr>
          <a:xfrm>
            <a:off x="2922270" y="2880360"/>
            <a:ext cx="0" cy="182880"/>
          </a:xfrm>
          <a:prstGeom prst="line">
            <a:avLst/>
          </a:prstGeom>
          <a:noFill/>
          <a:ln w="12700">
            <a:solidFill>
              <a:srgbClr val="00245D"/>
            </a:solidFill>
            <a:prstDash val="solid"/>
          </a:ln>
        </p:spPr>
        <p:txBody>
          <a:bodyPr/>
          <a:lstStyle/>
          <a:p>
            <a:endParaRPr lang="ko-KR" altLang="en-US"/>
          </a:p>
        </p:txBody>
      </p:sp>
      <p:sp>
        <p:nvSpPr>
          <p:cNvPr id="17" name="Text 14"/>
          <p:cNvSpPr/>
          <p:nvPr/>
        </p:nvSpPr>
        <p:spPr>
          <a:xfrm>
            <a:off x="2684526" y="310896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18" name="Shape 15"/>
          <p:cNvSpPr/>
          <p:nvPr/>
        </p:nvSpPr>
        <p:spPr>
          <a:xfrm>
            <a:off x="3268980" y="2880360"/>
            <a:ext cx="0" cy="182880"/>
          </a:xfrm>
          <a:prstGeom prst="line">
            <a:avLst/>
          </a:prstGeom>
          <a:noFill/>
          <a:ln w="12700">
            <a:solidFill>
              <a:srgbClr val="00245D"/>
            </a:solidFill>
            <a:prstDash val="solid"/>
          </a:ln>
        </p:spPr>
        <p:txBody>
          <a:bodyPr/>
          <a:lstStyle/>
          <a:p>
            <a:endParaRPr lang="ko-KR" altLang="en-US"/>
          </a:p>
        </p:txBody>
      </p:sp>
      <p:sp>
        <p:nvSpPr>
          <p:cNvPr id="19" name="Text 16"/>
          <p:cNvSpPr/>
          <p:nvPr/>
        </p:nvSpPr>
        <p:spPr>
          <a:xfrm>
            <a:off x="3031236" y="331012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0</a:t>
            </a:r>
            <a:endParaRPr lang="en-US" sz="800" dirty="0"/>
          </a:p>
        </p:txBody>
      </p:sp>
      <p:sp>
        <p:nvSpPr>
          <p:cNvPr id="20" name="Shape 17"/>
          <p:cNvSpPr/>
          <p:nvPr/>
        </p:nvSpPr>
        <p:spPr>
          <a:xfrm>
            <a:off x="3615690" y="2880360"/>
            <a:ext cx="0" cy="182880"/>
          </a:xfrm>
          <a:prstGeom prst="line">
            <a:avLst/>
          </a:prstGeom>
          <a:noFill/>
          <a:ln w="12700">
            <a:solidFill>
              <a:srgbClr val="00245D"/>
            </a:solidFill>
            <a:prstDash val="solid"/>
          </a:ln>
        </p:spPr>
        <p:txBody>
          <a:bodyPr/>
          <a:lstStyle/>
          <a:p>
            <a:endParaRPr lang="ko-KR" altLang="en-US"/>
          </a:p>
        </p:txBody>
      </p:sp>
      <p:sp>
        <p:nvSpPr>
          <p:cNvPr id="21" name="Text 18"/>
          <p:cNvSpPr/>
          <p:nvPr/>
        </p:nvSpPr>
        <p:spPr>
          <a:xfrm>
            <a:off x="3377946" y="310896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22" name="Shape 19"/>
          <p:cNvSpPr/>
          <p:nvPr/>
        </p:nvSpPr>
        <p:spPr>
          <a:xfrm>
            <a:off x="3962400" y="2880360"/>
            <a:ext cx="0" cy="182880"/>
          </a:xfrm>
          <a:prstGeom prst="line">
            <a:avLst/>
          </a:prstGeom>
          <a:noFill/>
          <a:ln w="12700">
            <a:solidFill>
              <a:srgbClr val="00245D"/>
            </a:solidFill>
            <a:prstDash val="solid"/>
          </a:ln>
        </p:spPr>
        <p:txBody>
          <a:bodyPr/>
          <a:lstStyle/>
          <a:p>
            <a:endParaRPr lang="ko-KR" altLang="en-US"/>
          </a:p>
        </p:txBody>
      </p:sp>
      <p:sp>
        <p:nvSpPr>
          <p:cNvPr id="23" name="Text 20"/>
          <p:cNvSpPr/>
          <p:nvPr/>
        </p:nvSpPr>
        <p:spPr>
          <a:xfrm>
            <a:off x="3724656" y="331012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24" name="Shape 21"/>
          <p:cNvSpPr/>
          <p:nvPr/>
        </p:nvSpPr>
        <p:spPr>
          <a:xfrm>
            <a:off x="4655820" y="2880360"/>
            <a:ext cx="0" cy="182880"/>
          </a:xfrm>
          <a:prstGeom prst="line">
            <a:avLst/>
          </a:prstGeom>
          <a:noFill/>
          <a:ln w="12700">
            <a:solidFill>
              <a:srgbClr val="00245D"/>
            </a:solidFill>
            <a:prstDash val="solid"/>
          </a:ln>
        </p:spPr>
        <p:txBody>
          <a:bodyPr/>
          <a:lstStyle/>
          <a:p>
            <a:endParaRPr lang="ko-KR" altLang="en-US"/>
          </a:p>
        </p:txBody>
      </p:sp>
      <p:sp>
        <p:nvSpPr>
          <p:cNvPr id="25" name="Text 22"/>
          <p:cNvSpPr/>
          <p:nvPr/>
        </p:nvSpPr>
        <p:spPr>
          <a:xfrm>
            <a:off x="4418076" y="310896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26" name="Text 23"/>
          <p:cNvSpPr/>
          <p:nvPr/>
        </p:nvSpPr>
        <p:spPr>
          <a:xfrm>
            <a:off x="1234440" y="3749040"/>
            <a:ext cx="1737360" cy="201168"/>
          </a:xfrm>
          <a:prstGeom prst="rect">
            <a:avLst/>
          </a:prstGeom>
          <a:noFill/>
          <a:ln/>
        </p:spPr>
        <p:txBody>
          <a:bodyPr wrap="square" lIns="0" tIns="0" rIns="0" bIns="0" rtlCol="0" anchor="ctr"/>
          <a:lstStyle/>
          <a:p>
            <a:pPr marL="0" indent="0" algn="ctr">
              <a:buNone/>
            </a:pPr>
            <a:r>
              <a:rPr lang="en-US" sz="1120" b="1" dirty="0">
                <a:solidFill>
                  <a:srgbClr val="222222"/>
                </a:solidFill>
                <a:latin typeface="Arial" pitchFamily="34" charset="0"/>
                <a:ea typeface="Arial" pitchFamily="34" charset="-122"/>
                <a:cs typeface="Arial" pitchFamily="34" charset="-120"/>
              </a:rPr>
              <a:t>Negative Range → −4</a:t>
            </a:r>
            <a:endParaRPr lang="en-US" sz="1120" dirty="0"/>
          </a:p>
        </p:txBody>
      </p:sp>
      <p:sp>
        <p:nvSpPr>
          <p:cNvPr id="27" name="Text 24"/>
          <p:cNvSpPr/>
          <p:nvPr/>
        </p:nvSpPr>
        <p:spPr>
          <a:xfrm>
            <a:off x="3154680" y="3749040"/>
            <a:ext cx="1737360" cy="201168"/>
          </a:xfrm>
          <a:prstGeom prst="rect">
            <a:avLst/>
          </a:prstGeom>
          <a:noFill/>
          <a:ln/>
        </p:spPr>
        <p:txBody>
          <a:bodyPr wrap="square" lIns="0" tIns="0" rIns="0" bIns="0" rtlCol="0" anchor="ctr"/>
          <a:lstStyle/>
          <a:p>
            <a:pPr marL="0" indent="0" algn="ctr">
              <a:buNone/>
            </a:pPr>
            <a:r>
              <a:rPr lang="en-US" sz="1120" b="1" dirty="0">
                <a:solidFill>
                  <a:srgbClr val="222222"/>
                </a:solidFill>
                <a:latin typeface="Arial" pitchFamily="34" charset="0"/>
                <a:ea typeface="Arial" pitchFamily="34" charset="-122"/>
                <a:cs typeface="Arial" pitchFamily="34" charset="-120"/>
              </a:rPr>
              <a:t>Positive Range → +4</a:t>
            </a:r>
            <a:endParaRPr lang="en-US" sz="1120" dirty="0"/>
          </a:p>
        </p:txBody>
      </p:sp>
      <p:sp>
        <p:nvSpPr>
          <p:cNvPr id="28" name="Shape 25"/>
          <p:cNvSpPr/>
          <p:nvPr/>
        </p:nvSpPr>
        <p:spPr>
          <a:xfrm>
            <a:off x="6355080" y="1417320"/>
            <a:ext cx="5120640" cy="4480560"/>
          </a:xfrm>
          <a:prstGeom prst="roundRect">
            <a:avLst>
              <a:gd name="adj" fmla="val 1224"/>
            </a:avLst>
          </a:prstGeom>
          <a:solidFill>
            <a:srgbClr val="FFFDF2"/>
          </a:solidFill>
          <a:ln w="13335">
            <a:solidFill>
              <a:srgbClr val="D6B656"/>
            </a:solidFill>
            <a:prstDash val="solid"/>
          </a:ln>
        </p:spPr>
        <p:txBody>
          <a:bodyPr/>
          <a:lstStyle/>
          <a:p>
            <a:endParaRPr lang="ko-KR" altLang="en-US"/>
          </a:p>
        </p:txBody>
      </p:sp>
      <p:sp>
        <p:nvSpPr>
          <p:cNvPr id="29" name="Text 26"/>
          <p:cNvSpPr/>
          <p:nvPr/>
        </p:nvSpPr>
        <p:spPr>
          <a:xfrm>
            <a:off x="6519672" y="1527048"/>
            <a:ext cx="47914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FP3-EA </a:t>
            </a:r>
            <a:r>
              <a:rPr lang="en-US" sz="1200" b="1" dirty="0">
                <a:solidFill>
                  <a:srgbClr val="FF0000"/>
                </a:solidFill>
                <a:latin typeface="Arial" pitchFamily="34" charset="0"/>
                <a:ea typeface="Arial" pitchFamily="34" charset="-122"/>
                <a:cs typeface="Arial" pitchFamily="34" charset="-120"/>
              </a:rPr>
              <a:t>(+6 example</a:t>
            </a:r>
            <a:r>
              <a:rPr lang="en-US" sz="1200" b="1" dirty="0">
                <a:solidFill>
                  <a:srgbClr val="00245D"/>
                </a:solidFill>
                <a:latin typeface="Arial" pitchFamily="34" charset="0"/>
                <a:ea typeface="Arial" pitchFamily="34" charset="-122"/>
                <a:cs typeface="Arial" pitchFamily="34" charset="-120"/>
              </a:rPr>
              <a:t>)</a:t>
            </a:r>
            <a:endParaRPr lang="en-US" sz="1200" dirty="0"/>
          </a:p>
        </p:txBody>
      </p:sp>
      <p:sp>
        <p:nvSpPr>
          <p:cNvPr id="30" name="Shape 27"/>
          <p:cNvSpPr/>
          <p:nvPr/>
        </p:nvSpPr>
        <p:spPr>
          <a:xfrm>
            <a:off x="6812280" y="2971800"/>
            <a:ext cx="4160520" cy="0"/>
          </a:xfrm>
          <a:prstGeom prst="line">
            <a:avLst/>
          </a:prstGeom>
          <a:noFill/>
          <a:ln w="15240">
            <a:solidFill>
              <a:srgbClr val="444444"/>
            </a:solidFill>
            <a:prstDash val="solid"/>
            <a:headEnd type="triangle"/>
            <a:tailEnd type="triangle"/>
          </a:ln>
        </p:spPr>
        <p:txBody>
          <a:bodyPr/>
          <a:lstStyle/>
          <a:p>
            <a:endParaRPr lang="ko-KR" altLang="en-US"/>
          </a:p>
        </p:txBody>
      </p:sp>
      <p:sp>
        <p:nvSpPr>
          <p:cNvPr id="31" name="Shape 28"/>
          <p:cNvSpPr/>
          <p:nvPr/>
        </p:nvSpPr>
        <p:spPr>
          <a:xfrm>
            <a:off x="7505700" y="2880360"/>
            <a:ext cx="0" cy="182880"/>
          </a:xfrm>
          <a:prstGeom prst="line">
            <a:avLst/>
          </a:prstGeom>
          <a:noFill/>
          <a:ln w="12700">
            <a:solidFill>
              <a:srgbClr val="00245D"/>
            </a:solidFill>
            <a:prstDash val="solid"/>
          </a:ln>
        </p:spPr>
        <p:txBody>
          <a:bodyPr/>
          <a:lstStyle/>
          <a:p>
            <a:endParaRPr lang="ko-KR" altLang="en-US"/>
          </a:p>
        </p:txBody>
      </p:sp>
      <p:sp>
        <p:nvSpPr>
          <p:cNvPr id="32" name="Text 29"/>
          <p:cNvSpPr/>
          <p:nvPr/>
        </p:nvSpPr>
        <p:spPr>
          <a:xfrm>
            <a:off x="7267956" y="310896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33" name="Shape 30"/>
          <p:cNvSpPr/>
          <p:nvPr/>
        </p:nvSpPr>
        <p:spPr>
          <a:xfrm>
            <a:off x="8199120" y="2880360"/>
            <a:ext cx="0" cy="182880"/>
          </a:xfrm>
          <a:prstGeom prst="line">
            <a:avLst/>
          </a:prstGeom>
          <a:noFill/>
          <a:ln w="12700">
            <a:solidFill>
              <a:srgbClr val="00245D"/>
            </a:solidFill>
            <a:prstDash val="solid"/>
          </a:ln>
        </p:spPr>
        <p:txBody>
          <a:bodyPr/>
          <a:lstStyle/>
          <a:p>
            <a:endParaRPr lang="ko-KR" altLang="en-US"/>
          </a:p>
        </p:txBody>
      </p:sp>
      <p:sp>
        <p:nvSpPr>
          <p:cNvPr id="34" name="Text 31"/>
          <p:cNvSpPr/>
          <p:nvPr/>
        </p:nvSpPr>
        <p:spPr>
          <a:xfrm>
            <a:off x="7961376" y="331012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35" name="Shape 32"/>
          <p:cNvSpPr/>
          <p:nvPr/>
        </p:nvSpPr>
        <p:spPr>
          <a:xfrm>
            <a:off x="8545830" y="2880360"/>
            <a:ext cx="0" cy="182880"/>
          </a:xfrm>
          <a:prstGeom prst="line">
            <a:avLst/>
          </a:prstGeom>
          <a:noFill/>
          <a:ln w="12700">
            <a:solidFill>
              <a:srgbClr val="00245D"/>
            </a:solidFill>
            <a:prstDash val="solid"/>
          </a:ln>
        </p:spPr>
        <p:txBody>
          <a:bodyPr/>
          <a:lstStyle/>
          <a:p>
            <a:endParaRPr lang="ko-KR" altLang="en-US"/>
          </a:p>
        </p:txBody>
      </p:sp>
      <p:sp>
        <p:nvSpPr>
          <p:cNvPr id="36" name="Text 33"/>
          <p:cNvSpPr/>
          <p:nvPr/>
        </p:nvSpPr>
        <p:spPr>
          <a:xfrm>
            <a:off x="8308086" y="310896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37" name="Shape 34"/>
          <p:cNvSpPr/>
          <p:nvPr/>
        </p:nvSpPr>
        <p:spPr>
          <a:xfrm>
            <a:off x="8892540" y="2880360"/>
            <a:ext cx="0" cy="182880"/>
          </a:xfrm>
          <a:prstGeom prst="line">
            <a:avLst/>
          </a:prstGeom>
          <a:noFill/>
          <a:ln w="12700">
            <a:solidFill>
              <a:srgbClr val="00245D"/>
            </a:solidFill>
            <a:prstDash val="solid"/>
          </a:ln>
        </p:spPr>
        <p:txBody>
          <a:bodyPr/>
          <a:lstStyle/>
          <a:p>
            <a:endParaRPr lang="ko-KR" altLang="en-US"/>
          </a:p>
        </p:txBody>
      </p:sp>
      <p:sp>
        <p:nvSpPr>
          <p:cNvPr id="38" name="Text 35"/>
          <p:cNvSpPr/>
          <p:nvPr/>
        </p:nvSpPr>
        <p:spPr>
          <a:xfrm>
            <a:off x="8654796" y="331012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0</a:t>
            </a:r>
            <a:endParaRPr lang="en-US" sz="800" dirty="0"/>
          </a:p>
        </p:txBody>
      </p:sp>
      <p:sp>
        <p:nvSpPr>
          <p:cNvPr id="39" name="Shape 36"/>
          <p:cNvSpPr/>
          <p:nvPr/>
        </p:nvSpPr>
        <p:spPr>
          <a:xfrm>
            <a:off x="9239250" y="2880360"/>
            <a:ext cx="0" cy="182880"/>
          </a:xfrm>
          <a:prstGeom prst="line">
            <a:avLst/>
          </a:prstGeom>
          <a:noFill/>
          <a:ln w="12700">
            <a:solidFill>
              <a:srgbClr val="00245D"/>
            </a:solidFill>
            <a:prstDash val="solid"/>
          </a:ln>
        </p:spPr>
        <p:txBody>
          <a:bodyPr/>
          <a:lstStyle/>
          <a:p>
            <a:endParaRPr lang="ko-KR" altLang="en-US"/>
          </a:p>
        </p:txBody>
      </p:sp>
      <p:sp>
        <p:nvSpPr>
          <p:cNvPr id="40" name="Text 37"/>
          <p:cNvSpPr/>
          <p:nvPr/>
        </p:nvSpPr>
        <p:spPr>
          <a:xfrm>
            <a:off x="9001506" y="310896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41" name="Shape 38"/>
          <p:cNvSpPr/>
          <p:nvPr/>
        </p:nvSpPr>
        <p:spPr>
          <a:xfrm>
            <a:off x="9585960" y="2880360"/>
            <a:ext cx="0" cy="182880"/>
          </a:xfrm>
          <a:prstGeom prst="line">
            <a:avLst/>
          </a:prstGeom>
          <a:noFill/>
          <a:ln w="12700">
            <a:solidFill>
              <a:srgbClr val="00245D"/>
            </a:solidFill>
            <a:prstDash val="solid"/>
          </a:ln>
        </p:spPr>
        <p:txBody>
          <a:bodyPr/>
          <a:lstStyle/>
          <a:p>
            <a:endParaRPr lang="ko-KR" altLang="en-US"/>
          </a:p>
        </p:txBody>
      </p:sp>
      <p:sp>
        <p:nvSpPr>
          <p:cNvPr id="42" name="Text 39"/>
          <p:cNvSpPr/>
          <p:nvPr/>
        </p:nvSpPr>
        <p:spPr>
          <a:xfrm>
            <a:off x="9348216" y="331012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43" name="Shape 40"/>
          <p:cNvSpPr/>
          <p:nvPr/>
        </p:nvSpPr>
        <p:spPr>
          <a:xfrm>
            <a:off x="10279380" y="2880360"/>
            <a:ext cx="0" cy="182880"/>
          </a:xfrm>
          <a:prstGeom prst="line">
            <a:avLst/>
          </a:prstGeom>
          <a:noFill/>
          <a:ln w="12700">
            <a:solidFill>
              <a:srgbClr val="00245D"/>
            </a:solidFill>
            <a:prstDash val="solid"/>
          </a:ln>
        </p:spPr>
        <p:txBody>
          <a:bodyPr/>
          <a:lstStyle/>
          <a:p>
            <a:endParaRPr lang="ko-KR" altLang="en-US"/>
          </a:p>
        </p:txBody>
      </p:sp>
      <p:sp>
        <p:nvSpPr>
          <p:cNvPr id="44" name="Text 41"/>
          <p:cNvSpPr/>
          <p:nvPr/>
        </p:nvSpPr>
        <p:spPr>
          <a:xfrm>
            <a:off x="10041636" y="310896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45" name="Shape 42"/>
          <p:cNvSpPr/>
          <p:nvPr/>
        </p:nvSpPr>
        <p:spPr>
          <a:xfrm>
            <a:off x="10972800" y="2880360"/>
            <a:ext cx="0" cy="182880"/>
          </a:xfrm>
          <a:prstGeom prst="line">
            <a:avLst/>
          </a:prstGeom>
          <a:noFill/>
          <a:ln w="25400">
            <a:solidFill>
              <a:srgbClr val="C00000"/>
            </a:solidFill>
            <a:prstDash val="solid"/>
          </a:ln>
        </p:spPr>
        <p:txBody>
          <a:bodyPr/>
          <a:lstStyle/>
          <a:p>
            <a:endParaRPr lang="ko-KR" altLang="en-US"/>
          </a:p>
        </p:txBody>
      </p:sp>
      <p:sp>
        <p:nvSpPr>
          <p:cNvPr id="46" name="Text 43"/>
          <p:cNvSpPr/>
          <p:nvPr/>
        </p:nvSpPr>
        <p:spPr>
          <a:xfrm>
            <a:off x="10735056" y="3310128"/>
            <a:ext cx="475488" cy="146304"/>
          </a:xfrm>
          <a:prstGeom prst="rect">
            <a:avLst/>
          </a:prstGeom>
          <a:noFill/>
          <a:ln/>
        </p:spPr>
        <p:txBody>
          <a:bodyPr wrap="square" lIns="0" tIns="0" rIns="0" bIns="0" rtlCol="0" anchor="ctr">
            <a:normAutofit/>
          </a:bodyPr>
          <a:lstStyle/>
          <a:p>
            <a:pPr marL="0" indent="0" algn="ctr">
              <a:buNone/>
            </a:pPr>
            <a:r>
              <a:rPr lang="en-US" sz="800" b="1" dirty="0">
                <a:solidFill>
                  <a:srgbClr val="C00000"/>
                </a:solidFill>
                <a:latin typeface="Arial" pitchFamily="34" charset="0"/>
                <a:ea typeface="Arial" pitchFamily="34" charset="-122"/>
                <a:cs typeface="Arial" pitchFamily="34" charset="-120"/>
              </a:rPr>
              <a:t>+6</a:t>
            </a:r>
            <a:endParaRPr lang="en-US" sz="800" dirty="0"/>
          </a:p>
        </p:txBody>
      </p:sp>
      <p:sp>
        <p:nvSpPr>
          <p:cNvPr id="47" name="Shape 44"/>
          <p:cNvSpPr/>
          <p:nvPr/>
        </p:nvSpPr>
        <p:spPr>
          <a:xfrm rot="10800000">
            <a:off x="10881360" y="2560320"/>
            <a:ext cx="182880" cy="164592"/>
          </a:xfrm>
          <a:prstGeom prst="triangle">
            <a:avLst/>
          </a:prstGeom>
          <a:solidFill>
            <a:srgbClr val="C00000"/>
          </a:solidFill>
          <a:ln w="8890">
            <a:solidFill>
              <a:srgbClr val="C00000"/>
            </a:solidFill>
            <a:prstDash val="solid"/>
          </a:ln>
        </p:spPr>
        <p:txBody>
          <a:bodyPr/>
          <a:lstStyle/>
          <a:p>
            <a:endParaRPr lang="ko-KR" altLang="en-US"/>
          </a:p>
        </p:txBody>
      </p:sp>
      <p:sp>
        <p:nvSpPr>
          <p:cNvPr id="48" name="Text 45"/>
          <p:cNvSpPr/>
          <p:nvPr/>
        </p:nvSpPr>
        <p:spPr>
          <a:xfrm>
            <a:off x="10789920" y="2313432"/>
            <a:ext cx="365760" cy="164592"/>
          </a:xfrm>
          <a:prstGeom prst="rect">
            <a:avLst/>
          </a:prstGeom>
          <a:noFill/>
          <a:ln/>
        </p:spPr>
        <p:txBody>
          <a:bodyPr wrap="square" lIns="0" tIns="0" rIns="0" bIns="0" rtlCol="0" anchor="ctr"/>
          <a:lstStyle/>
          <a:p>
            <a:pPr marL="0" indent="0" algn="ctr">
              <a:buNone/>
            </a:pPr>
            <a:r>
              <a:rPr lang="en-US" sz="900" b="1" dirty="0">
                <a:solidFill>
                  <a:srgbClr val="C00000"/>
                </a:solidFill>
                <a:latin typeface="Arial" pitchFamily="34" charset="0"/>
                <a:ea typeface="Arial" pitchFamily="34" charset="-122"/>
                <a:cs typeface="Arial" pitchFamily="34" charset="-120"/>
              </a:rPr>
              <a:t>SV</a:t>
            </a:r>
            <a:endParaRPr lang="en-US" sz="900" dirty="0"/>
          </a:p>
        </p:txBody>
      </p:sp>
      <p:sp>
        <p:nvSpPr>
          <p:cNvPr id="49" name="Text 46"/>
          <p:cNvSpPr/>
          <p:nvPr/>
        </p:nvSpPr>
        <p:spPr>
          <a:xfrm>
            <a:off x="6903720" y="3749040"/>
            <a:ext cx="1737360" cy="201168"/>
          </a:xfrm>
          <a:prstGeom prst="rect">
            <a:avLst/>
          </a:prstGeom>
          <a:noFill/>
          <a:ln/>
        </p:spPr>
        <p:txBody>
          <a:bodyPr wrap="square" lIns="0" tIns="0" rIns="0" bIns="0" rtlCol="0" anchor="ctr"/>
          <a:lstStyle/>
          <a:p>
            <a:pPr marL="0" indent="0" algn="ctr">
              <a:buNone/>
            </a:pPr>
            <a:r>
              <a:rPr lang="en-US" sz="1120" b="1" dirty="0">
                <a:solidFill>
                  <a:srgbClr val="222222"/>
                </a:solidFill>
                <a:latin typeface="Arial" pitchFamily="34" charset="0"/>
                <a:ea typeface="Arial" pitchFamily="34" charset="-122"/>
                <a:cs typeface="Arial" pitchFamily="34" charset="-120"/>
              </a:rPr>
              <a:t>Negative Range → −4</a:t>
            </a:r>
            <a:endParaRPr lang="en-US" sz="1120" dirty="0"/>
          </a:p>
        </p:txBody>
      </p:sp>
      <p:sp>
        <p:nvSpPr>
          <p:cNvPr id="50" name="Text 47"/>
          <p:cNvSpPr/>
          <p:nvPr/>
        </p:nvSpPr>
        <p:spPr>
          <a:xfrm>
            <a:off x="9098280" y="3749040"/>
            <a:ext cx="1737360" cy="201168"/>
          </a:xfrm>
          <a:prstGeom prst="rect">
            <a:avLst/>
          </a:prstGeom>
          <a:noFill/>
          <a:ln/>
        </p:spPr>
        <p:txBody>
          <a:bodyPr wrap="square" lIns="0" tIns="0" rIns="0" bIns="0" rtlCol="0" anchor="ctr"/>
          <a:lstStyle/>
          <a:p>
            <a:pPr marL="0" indent="0" algn="ctr">
              <a:buNone/>
            </a:pPr>
            <a:r>
              <a:rPr lang="en-US" sz="1120" b="1" dirty="0">
                <a:solidFill>
                  <a:srgbClr val="C00000"/>
                </a:solidFill>
                <a:latin typeface="Arial" pitchFamily="34" charset="0"/>
                <a:ea typeface="Arial" pitchFamily="34" charset="-122"/>
                <a:cs typeface="Arial" pitchFamily="34" charset="-120"/>
              </a:rPr>
              <a:t>Positive Range → +6</a:t>
            </a:r>
            <a:endParaRPr lang="en-US" sz="1120" dirty="0"/>
          </a:p>
        </p:txBody>
      </p:sp>
      <p:sp>
        <p:nvSpPr>
          <p:cNvPr id="51" name="Text 48"/>
          <p:cNvSpPr/>
          <p:nvPr/>
        </p:nvSpPr>
        <p:spPr>
          <a:xfrm>
            <a:off x="6720840" y="1874520"/>
            <a:ext cx="1417320" cy="201168"/>
          </a:xfrm>
          <a:prstGeom prst="rect">
            <a:avLst/>
          </a:prstGeom>
          <a:noFill/>
          <a:ln/>
        </p:spPr>
        <p:txBody>
          <a:bodyPr wrap="square" lIns="0" tIns="0" rIns="0" bIns="0" rtlCol="0" anchor="ctr"/>
          <a:lstStyle/>
          <a:p>
            <a:pPr marL="0" indent="0">
              <a:buNone/>
            </a:pPr>
            <a:r>
              <a:rPr lang="en-US" sz="1150" b="1" dirty="0">
                <a:solidFill>
                  <a:srgbClr val="222222"/>
                </a:solidFill>
                <a:latin typeface="Arial" pitchFamily="34" charset="0"/>
                <a:ea typeface="Arial" pitchFamily="34" charset="-122"/>
                <a:cs typeface="Arial" pitchFamily="34" charset="-120"/>
              </a:rPr>
              <a:t>Special Value:</a:t>
            </a:r>
            <a:endParaRPr lang="en-US" sz="1150" dirty="0"/>
          </a:p>
        </p:txBody>
      </p:sp>
      <mc:AlternateContent xmlns:mc="http://schemas.openxmlformats.org/markup-compatibility/2006" xmlns:a14="http://schemas.microsoft.com/office/drawing/2010/main">
        <mc:Choice Requires="a14">
          <p:sp>
            <p:nvSpPr>
              <p:cNvPr id="52" name="Text 49"/>
              <p:cNvSpPr/>
              <p:nvPr/>
            </p:nvSpPr>
            <p:spPr>
              <a:xfrm>
                <a:off x="8366760" y="1746504"/>
                <a:ext cx="214884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m:rPr>
                          <m:nor/>
                        </m:rPr>
                        <a:rPr lang="ko-KR" altLang="en-US" sz="1300" i="0" smtClean="0">
                          <a:latin typeface="Cambria Math"/>
                        </a:rPr>
                        <m:t>SV</m:t>
                      </m:r>
                      <m:r>
                        <a:rPr lang="ko-KR" altLang="en-US" sz="1300" smtClean="0">
                          <a:latin typeface="Cambria Math"/>
                        </a:rPr>
                        <m:t>=±6</m:t>
                      </m:r>
                    </m:oMath>
                  </m:oMathPara>
                </a14:m>
                <a:endParaRPr/>
              </a:p>
            </p:txBody>
          </p:sp>
        </mc:Choice>
        <mc:Fallback xmlns="">
          <p:sp>
            <p:nvSpPr>
              <p:cNvPr id="52" name="Text 49"/>
              <p:cNvSpPr>
                <a:spLocks noRot="1" noChangeAspect="1" noMove="1" noResize="1" noEditPoints="1" noAdjustHandles="1" noChangeArrowheads="1" noChangeShapeType="1" noTextEdit="1"/>
              </p:cNvSpPr>
              <p:nvPr/>
            </p:nvSpPr>
            <p:spPr>
              <a:xfrm>
                <a:off x="8366760" y="1746504"/>
                <a:ext cx="2148840" cy="457200"/>
              </a:xfrm>
              <a:prstGeom prst="rect">
                <a:avLst/>
              </a:prstGeom>
              <a:blipFill>
                <a:blip r:embed="rId4"/>
                <a:stretch>
                  <a:fillRect/>
                </a:stretch>
              </a:blipFill>
              <a:ln/>
            </p:spPr>
            <p:txBody>
              <a:bodyPr/>
              <a:lstStyle/>
              <a:p>
                <a:r>
                  <a:rPr lang="ko-KR" altLang="en-US">
                    <a:noFill/>
                  </a:rPr>
                  <a:t> </a:t>
                </a:r>
              </a:p>
            </p:txBody>
          </p:sp>
        </mc:Fallback>
      </mc:AlternateContent>
      <p:sp>
        <p:nvSpPr>
          <p:cNvPr id="53" name="Shape 50"/>
          <p:cNvSpPr/>
          <p:nvPr/>
        </p:nvSpPr>
        <p:spPr>
          <a:xfrm>
            <a:off x="6903720" y="4343400"/>
            <a:ext cx="3977640" cy="621792"/>
          </a:xfrm>
          <a:prstGeom prst="roundRect">
            <a:avLst>
              <a:gd name="adj" fmla="val 8824"/>
            </a:avLst>
          </a:prstGeom>
          <a:solidFill>
            <a:srgbClr val="FDECEC"/>
          </a:solidFill>
          <a:ln w="12700">
            <a:solidFill>
              <a:srgbClr val="E6B8B7"/>
            </a:solidFill>
            <a:prstDash val="solid"/>
          </a:ln>
        </p:spPr>
        <p:txBody>
          <a:bodyPr/>
          <a:lstStyle/>
          <a:p>
            <a:endParaRPr lang="ko-KR" altLang="en-US"/>
          </a:p>
        </p:txBody>
      </p:sp>
      <p:sp>
        <p:nvSpPr>
          <p:cNvPr id="54" name="Text 51"/>
          <p:cNvSpPr/>
          <p:nvPr/>
        </p:nvSpPr>
        <p:spPr>
          <a:xfrm>
            <a:off x="7086600" y="4471416"/>
            <a:ext cx="3611880" cy="310896"/>
          </a:xfrm>
          <a:prstGeom prst="rect">
            <a:avLst/>
          </a:prstGeom>
          <a:noFill/>
          <a:ln/>
        </p:spPr>
        <p:txBody>
          <a:bodyPr wrap="square" lIns="0" tIns="0" rIns="0" bIns="0" rtlCol="0" anchor="ctr">
            <a:normAutofit lnSpcReduction="10000"/>
          </a:bodyPr>
          <a:lstStyle/>
          <a:p>
            <a:pPr marL="0" indent="0" algn="ctr">
              <a:buNone/>
            </a:pPr>
            <a:r>
              <a:rPr lang="en-US" sz="1080" b="1" dirty="0">
                <a:solidFill>
                  <a:srgbClr val="C00000"/>
                </a:solidFill>
                <a:latin typeface="Arial" pitchFamily="34" charset="0"/>
                <a:ea typeface="Arial" pitchFamily="34" charset="-122"/>
                <a:cs typeface="Arial" pitchFamily="34" charset="-120"/>
              </a:rPr>
              <a:t>Purpose: represent one-sided outliers</a:t>
            </a:r>
            <a:endParaRPr lang="en-US" sz="1080" dirty="0"/>
          </a:p>
          <a:p>
            <a:pPr marL="0" indent="0" algn="ctr">
              <a:buNone/>
            </a:pPr>
            <a:r>
              <a:rPr lang="en-US" sz="1080" b="1" dirty="0">
                <a:solidFill>
                  <a:srgbClr val="C00000"/>
                </a:solidFill>
                <a:latin typeface="Arial" pitchFamily="34" charset="0"/>
                <a:ea typeface="Arial" pitchFamily="34" charset="-122"/>
                <a:cs typeface="Arial" pitchFamily="34" charset="-120"/>
              </a:rPr>
              <a:t>or shifted weight groups.</a:t>
            </a:r>
            <a:endParaRPr lang="en-US" sz="10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ER vs EA: Different Special Values for Different Weight Groups</a:t>
            </a:r>
            <a:endParaRPr lang="en-US" sz="2000" dirty="0"/>
          </a:p>
        </p:txBody>
      </p:sp>
      <p:sp>
        <p:nvSpPr>
          <p:cNvPr id="3" name="Text 1"/>
          <p:cNvSpPr/>
          <p:nvPr/>
        </p:nvSpPr>
        <p:spPr>
          <a:xfrm>
            <a:off x="11475720" y="384048"/>
            <a:ext cx="411480" cy="228600"/>
          </a:xfrm>
          <a:prstGeom prst="rect">
            <a:avLst/>
          </a:prstGeom>
          <a:noFill/>
          <a:ln/>
        </p:spPr>
        <p:txBody>
          <a:bodyPr wrap="square" lIns="0" tIns="0" rIns="0" bIns="0" rtlCol="0" anchor="ctr"/>
          <a:lstStyle/>
          <a:p>
            <a:pPr marL="0" indent="0" algn="r">
              <a:buNone/>
            </a:pPr>
            <a:r>
              <a:rPr lang="en-US" sz="1000" b="1" dirty="0">
                <a:solidFill>
                  <a:srgbClr val="222222"/>
                </a:solidFill>
                <a:latin typeface="Arial" pitchFamily="34" charset="0"/>
                <a:ea typeface="Arial" pitchFamily="34" charset="-122"/>
                <a:cs typeface="Arial" pitchFamily="34" charset="-120"/>
              </a:rPr>
              <a:t>8</a:t>
            </a:r>
            <a:endParaRPr lang="en-US" sz="1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38</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BitMoD prepares both resolution-oriented and asymmetry-oriented extensions.</a:t>
            </a:r>
            <a:endParaRPr lang="en-US" sz="1300" dirty="0"/>
          </a:p>
        </p:txBody>
      </p:sp>
      <p:sp>
        <p:nvSpPr>
          <p:cNvPr id="9" name="Shape 6"/>
          <p:cNvSpPr/>
          <p:nvPr/>
        </p:nvSpPr>
        <p:spPr>
          <a:xfrm>
            <a:off x="914400" y="1554480"/>
            <a:ext cx="1828800" cy="530352"/>
          </a:xfrm>
          <a:prstGeom prst="rect">
            <a:avLst/>
          </a:prstGeom>
          <a:solidFill>
            <a:srgbClr val="00245D"/>
          </a:solidFill>
          <a:ln w="6350">
            <a:solidFill>
              <a:srgbClr val="D9E2F3"/>
            </a:solidFill>
            <a:prstDash val="solid"/>
          </a:ln>
        </p:spPr>
        <p:txBody>
          <a:bodyPr/>
          <a:lstStyle/>
          <a:p>
            <a:endParaRPr lang="ko-KR" altLang="en-US"/>
          </a:p>
        </p:txBody>
      </p:sp>
      <p:sp>
        <p:nvSpPr>
          <p:cNvPr id="10" name="Text 7"/>
          <p:cNvSpPr/>
          <p:nvPr/>
        </p:nvSpPr>
        <p:spPr>
          <a:xfrm>
            <a:off x="950976" y="1673352"/>
            <a:ext cx="175564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Type</a:t>
            </a:r>
            <a:endParaRPr lang="en-US" sz="1100" dirty="0"/>
          </a:p>
        </p:txBody>
      </p:sp>
      <p:sp>
        <p:nvSpPr>
          <p:cNvPr id="11" name="Shape 8"/>
          <p:cNvSpPr/>
          <p:nvPr/>
        </p:nvSpPr>
        <p:spPr>
          <a:xfrm>
            <a:off x="2743200" y="1554480"/>
            <a:ext cx="2011680" cy="530352"/>
          </a:xfrm>
          <a:prstGeom prst="rect">
            <a:avLst/>
          </a:prstGeom>
          <a:solidFill>
            <a:srgbClr val="00245D"/>
          </a:solidFill>
          <a:ln w="6350">
            <a:solidFill>
              <a:srgbClr val="D9E2F3"/>
            </a:solidFill>
            <a:prstDash val="solid"/>
          </a:ln>
        </p:spPr>
        <p:txBody>
          <a:bodyPr/>
          <a:lstStyle/>
          <a:p>
            <a:endParaRPr lang="ko-KR" altLang="en-US"/>
          </a:p>
        </p:txBody>
      </p:sp>
      <p:sp>
        <p:nvSpPr>
          <p:cNvPr id="12" name="Text 9"/>
          <p:cNvSpPr/>
          <p:nvPr/>
        </p:nvSpPr>
        <p:spPr>
          <a:xfrm>
            <a:off x="2779776" y="1673352"/>
            <a:ext cx="193852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Special Value</a:t>
            </a:r>
            <a:endParaRPr lang="en-US" sz="1100" dirty="0"/>
          </a:p>
        </p:txBody>
      </p:sp>
      <p:sp>
        <p:nvSpPr>
          <p:cNvPr id="13" name="Shape 10"/>
          <p:cNvSpPr/>
          <p:nvPr/>
        </p:nvSpPr>
        <p:spPr>
          <a:xfrm>
            <a:off x="4754880" y="1554480"/>
            <a:ext cx="2468880" cy="530352"/>
          </a:xfrm>
          <a:prstGeom prst="rect">
            <a:avLst/>
          </a:prstGeom>
          <a:solidFill>
            <a:srgbClr val="00245D"/>
          </a:solidFill>
          <a:ln w="6350">
            <a:solidFill>
              <a:srgbClr val="D9E2F3"/>
            </a:solidFill>
            <a:prstDash val="solid"/>
          </a:ln>
        </p:spPr>
        <p:txBody>
          <a:bodyPr/>
          <a:lstStyle/>
          <a:p>
            <a:endParaRPr lang="ko-KR" altLang="en-US"/>
          </a:p>
        </p:txBody>
      </p:sp>
      <p:sp>
        <p:nvSpPr>
          <p:cNvPr id="14" name="Text 11"/>
          <p:cNvSpPr/>
          <p:nvPr/>
        </p:nvSpPr>
        <p:spPr>
          <a:xfrm>
            <a:off x="4791456" y="1673352"/>
            <a:ext cx="239572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Range Change</a:t>
            </a:r>
            <a:endParaRPr lang="en-US" sz="1100" dirty="0"/>
          </a:p>
        </p:txBody>
      </p:sp>
      <p:sp>
        <p:nvSpPr>
          <p:cNvPr id="15" name="Shape 12"/>
          <p:cNvSpPr/>
          <p:nvPr/>
        </p:nvSpPr>
        <p:spPr>
          <a:xfrm>
            <a:off x="7223760" y="1554480"/>
            <a:ext cx="4206240" cy="530352"/>
          </a:xfrm>
          <a:prstGeom prst="rect">
            <a:avLst/>
          </a:prstGeom>
          <a:solidFill>
            <a:srgbClr val="00245D"/>
          </a:solidFill>
          <a:ln w="6350">
            <a:solidFill>
              <a:srgbClr val="D9E2F3"/>
            </a:solidFill>
            <a:prstDash val="solid"/>
          </a:ln>
        </p:spPr>
        <p:txBody>
          <a:bodyPr/>
          <a:lstStyle/>
          <a:p>
            <a:endParaRPr lang="ko-KR" altLang="en-US"/>
          </a:p>
        </p:txBody>
      </p:sp>
      <p:sp>
        <p:nvSpPr>
          <p:cNvPr id="16" name="Text 13"/>
          <p:cNvSpPr/>
          <p:nvPr/>
        </p:nvSpPr>
        <p:spPr>
          <a:xfrm>
            <a:off x="7260336" y="1673352"/>
            <a:ext cx="413308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Best for</a:t>
            </a:r>
            <a:endParaRPr lang="en-US" sz="1100" dirty="0"/>
          </a:p>
        </p:txBody>
      </p:sp>
      <p:sp>
        <p:nvSpPr>
          <p:cNvPr id="17" name="Shape 14"/>
          <p:cNvSpPr/>
          <p:nvPr/>
        </p:nvSpPr>
        <p:spPr>
          <a:xfrm>
            <a:off x="914400" y="2084832"/>
            <a:ext cx="1828800" cy="530352"/>
          </a:xfrm>
          <a:prstGeom prst="rect">
            <a:avLst/>
          </a:prstGeom>
          <a:solidFill>
            <a:srgbClr val="FFFFFF"/>
          </a:solidFill>
          <a:ln w="6350">
            <a:solidFill>
              <a:srgbClr val="D9E2F3"/>
            </a:solidFill>
            <a:prstDash val="solid"/>
          </a:ln>
        </p:spPr>
        <p:txBody>
          <a:bodyPr/>
          <a:lstStyle/>
          <a:p>
            <a:endParaRPr lang="ko-KR" altLang="en-US"/>
          </a:p>
        </p:txBody>
      </p:sp>
      <p:sp>
        <p:nvSpPr>
          <p:cNvPr id="18" name="Text 15"/>
          <p:cNvSpPr/>
          <p:nvPr/>
        </p:nvSpPr>
        <p:spPr>
          <a:xfrm>
            <a:off x="960120" y="2203704"/>
            <a:ext cx="1737360"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222222"/>
                </a:solidFill>
                <a:latin typeface="Arial" pitchFamily="34" charset="0"/>
                <a:ea typeface="Arial" pitchFamily="34" charset="-122"/>
                <a:cs typeface="Arial" pitchFamily="34" charset="-120"/>
              </a:rPr>
              <a:t>FP3-</a:t>
            </a:r>
            <a:r>
              <a:rPr lang="en-US" sz="1100" b="1" dirty="0">
                <a:solidFill>
                  <a:srgbClr val="FF0000"/>
                </a:solidFill>
                <a:latin typeface="Arial" pitchFamily="34" charset="0"/>
                <a:ea typeface="Arial" pitchFamily="34" charset="-122"/>
                <a:cs typeface="Arial" pitchFamily="34" charset="-120"/>
              </a:rPr>
              <a:t>ER</a:t>
            </a:r>
            <a:endParaRPr lang="en-US" sz="1100" dirty="0">
              <a:solidFill>
                <a:srgbClr val="FF0000"/>
              </a:solidFill>
            </a:endParaRPr>
          </a:p>
        </p:txBody>
      </p:sp>
      <p:sp>
        <p:nvSpPr>
          <p:cNvPr id="19" name="Shape 16"/>
          <p:cNvSpPr/>
          <p:nvPr/>
        </p:nvSpPr>
        <p:spPr>
          <a:xfrm>
            <a:off x="2743200" y="2084832"/>
            <a:ext cx="2011680" cy="530352"/>
          </a:xfrm>
          <a:prstGeom prst="rect">
            <a:avLst/>
          </a:prstGeom>
          <a:solidFill>
            <a:srgbClr val="FFFFFF"/>
          </a:solidFill>
          <a:ln w="6350">
            <a:solidFill>
              <a:srgbClr val="D9E2F3"/>
            </a:solidFill>
            <a:prstDash val="solid"/>
          </a:ln>
        </p:spPr>
        <p:txBody>
          <a:bodyPr/>
          <a:lstStyle/>
          <a:p>
            <a:endParaRPr lang="ko-KR" altLang="en-US"/>
          </a:p>
        </p:txBody>
      </p:sp>
      <p:sp>
        <p:nvSpPr>
          <p:cNvPr id="20" name="Text 17"/>
          <p:cNvSpPr/>
          <p:nvPr/>
        </p:nvSpPr>
        <p:spPr>
          <a:xfrm>
            <a:off x="2788920" y="2203704"/>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±3</a:t>
            </a:r>
            <a:endParaRPr lang="en-US" sz="1100" dirty="0"/>
          </a:p>
        </p:txBody>
      </p:sp>
      <p:sp>
        <p:nvSpPr>
          <p:cNvPr id="21" name="Shape 18"/>
          <p:cNvSpPr/>
          <p:nvPr/>
        </p:nvSpPr>
        <p:spPr>
          <a:xfrm>
            <a:off x="4754880" y="2084832"/>
            <a:ext cx="2468880" cy="530352"/>
          </a:xfrm>
          <a:prstGeom prst="rect">
            <a:avLst/>
          </a:prstGeom>
          <a:solidFill>
            <a:srgbClr val="FFFFFF"/>
          </a:solidFill>
          <a:ln w="6350">
            <a:solidFill>
              <a:srgbClr val="D9E2F3"/>
            </a:solidFill>
            <a:prstDash val="solid"/>
          </a:ln>
        </p:spPr>
        <p:txBody>
          <a:bodyPr/>
          <a:lstStyle/>
          <a:p>
            <a:endParaRPr lang="ko-KR" altLang="en-US"/>
          </a:p>
        </p:txBody>
      </p:sp>
      <p:sp>
        <p:nvSpPr>
          <p:cNvPr id="22" name="Text 19"/>
          <p:cNvSpPr/>
          <p:nvPr/>
        </p:nvSpPr>
        <p:spPr>
          <a:xfrm>
            <a:off x="4800600" y="2203704"/>
            <a:ext cx="23774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Range X</a:t>
            </a:r>
            <a:endParaRPr lang="en-US" sz="1100" dirty="0"/>
          </a:p>
        </p:txBody>
      </p:sp>
      <p:sp>
        <p:nvSpPr>
          <p:cNvPr id="23" name="Shape 20"/>
          <p:cNvSpPr/>
          <p:nvPr/>
        </p:nvSpPr>
        <p:spPr>
          <a:xfrm>
            <a:off x="7223760" y="2084832"/>
            <a:ext cx="4206240" cy="530352"/>
          </a:xfrm>
          <a:prstGeom prst="rect">
            <a:avLst/>
          </a:prstGeom>
          <a:solidFill>
            <a:srgbClr val="FFFFFF"/>
          </a:solidFill>
          <a:ln w="6350">
            <a:solidFill>
              <a:srgbClr val="D9E2F3"/>
            </a:solidFill>
            <a:prstDash val="solid"/>
          </a:ln>
        </p:spPr>
        <p:txBody>
          <a:bodyPr/>
          <a:lstStyle/>
          <a:p>
            <a:endParaRPr lang="ko-KR" altLang="en-US"/>
          </a:p>
        </p:txBody>
      </p:sp>
      <p:sp>
        <p:nvSpPr>
          <p:cNvPr id="24" name="Text 21"/>
          <p:cNvSpPr/>
          <p:nvPr/>
        </p:nvSpPr>
        <p:spPr>
          <a:xfrm>
            <a:off x="7269480" y="2203704"/>
            <a:ext cx="411480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Dense / Gaussian-like group</a:t>
            </a:r>
            <a:endParaRPr lang="en-US" sz="1100" dirty="0"/>
          </a:p>
        </p:txBody>
      </p:sp>
      <p:sp>
        <p:nvSpPr>
          <p:cNvPr id="25" name="Shape 22"/>
          <p:cNvSpPr/>
          <p:nvPr/>
        </p:nvSpPr>
        <p:spPr>
          <a:xfrm>
            <a:off x="914400" y="2615184"/>
            <a:ext cx="1828800" cy="530352"/>
          </a:xfrm>
          <a:prstGeom prst="rect">
            <a:avLst/>
          </a:prstGeom>
          <a:solidFill>
            <a:srgbClr val="F5F7FA"/>
          </a:solidFill>
          <a:ln w="6350">
            <a:solidFill>
              <a:srgbClr val="D9E2F3"/>
            </a:solidFill>
            <a:prstDash val="solid"/>
          </a:ln>
        </p:spPr>
        <p:txBody>
          <a:bodyPr/>
          <a:lstStyle/>
          <a:p>
            <a:endParaRPr lang="ko-KR" altLang="en-US"/>
          </a:p>
        </p:txBody>
      </p:sp>
      <p:sp>
        <p:nvSpPr>
          <p:cNvPr id="26" name="Text 23"/>
          <p:cNvSpPr/>
          <p:nvPr/>
        </p:nvSpPr>
        <p:spPr>
          <a:xfrm>
            <a:off x="960120" y="2734056"/>
            <a:ext cx="1737360"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222222"/>
                </a:solidFill>
                <a:latin typeface="Arial" pitchFamily="34" charset="0"/>
                <a:ea typeface="Arial" pitchFamily="34" charset="-122"/>
                <a:cs typeface="Arial" pitchFamily="34" charset="-120"/>
              </a:rPr>
              <a:t>FP3-</a:t>
            </a:r>
            <a:r>
              <a:rPr lang="en-US" sz="1100" b="1" dirty="0">
                <a:solidFill>
                  <a:srgbClr val="FF0000"/>
                </a:solidFill>
                <a:latin typeface="Arial" pitchFamily="34" charset="0"/>
                <a:ea typeface="Arial" pitchFamily="34" charset="-122"/>
                <a:cs typeface="Arial" pitchFamily="34" charset="-120"/>
              </a:rPr>
              <a:t>EA</a:t>
            </a:r>
            <a:endParaRPr lang="en-US" sz="1100" dirty="0">
              <a:solidFill>
                <a:srgbClr val="FF0000"/>
              </a:solidFill>
            </a:endParaRPr>
          </a:p>
        </p:txBody>
      </p:sp>
      <p:sp>
        <p:nvSpPr>
          <p:cNvPr id="27" name="Shape 24"/>
          <p:cNvSpPr/>
          <p:nvPr/>
        </p:nvSpPr>
        <p:spPr>
          <a:xfrm>
            <a:off x="2743200" y="2615184"/>
            <a:ext cx="2011680" cy="530352"/>
          </a:xfrm>
          <a:prstGeom prst="rect">
            <a:avLst/>
          </a:prstGeom>
          <a:solidFill>
            <a:srgbClr val="F5F7FA"/>
          </a:solidFill>
          <a:ln w="6350">
            <a:solidFill>
              <a:srgbClr val="D9E2F3"/>
            </a:solidFill>
            <a:prstDash val="solid"/>
          </a:ln>
        </p:spPr>
        <p:txBody>
          <a:bodyPr/>
          <a:lstStyle/>
          <a:p>
            <a:endParaRPr lang="ko-KR" altLang="en-US"/>
          </a:p>
        </p:txBody>
      </p:sp>
      <p:sp>
        <p:nvSpPr>
          <p:cNvPr id="28" name="Text 25"/>
          <p:cNvSpPr/>
          <p:nvPr/>
        </p:nvSpPr>
        <p:spPr>
          <a:xfrm>
            <a:off x="2788920" y="2734056"/>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±6</a:t>
            </a:r>
            <a:endParaRPr lang="en-US" sz="1100" dirty="0"/>
          </a:p>
        </p:txBody>
      </p:sp>
      <p:sp>
        <p:nvSpPr>
          <p:cNvPr id="29" name="Shape 26"/>
          <p:cNvSpPr/>
          <p:nvPr/>
        </p:nvSpPr>
        <p:spPr>
          <a:xfrm>
            <a:off x="4754880" y="2615184"/>
            <a:ext cx="2468880" cy="530352"/>
          </a:xfrm>
          <a:prstGeom prst="rect">
            <a:avLst/>
          </a:prstGeom>
          <a:solidFill>
            <a:srgbClr val="F5F7FA"/>
          </a:solidFill>
          <a:ln w="6350">
            <a:solidFill>
              <a:srgbClr val="D9E2F3"/>
            </a:solidFill>
            <a:prstDash val="solid"/>
          </a:ln>
        </p:spPr>
        <p:txBody>
          <a:bodyPr/>
          <a:lstStyle/>
          <a:p>
            <a:endParaRPr lang="ko-KR" altLang="en-US"/>
          </a:p>
        </p:txBody>
      </p:sp>
      <p:sp>
        <p:nvSpPr>
          <p:cNvPr id="30" name="Text 27"/>
          <p:cNvSpPr/>
          <p:nvPr/>
        </p:nvSpPr>
        <p:spPr>
          <a:xfrm>
            <a:off x="4800600" y="2734056"/>
            <a:ext cx="23774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Extend Range</a:t>
            </a:r>
            <a:endParaRPr lang="en-US" sz="1100" dirty="0"/>
          </a:p>
        </p:txBody>
      </p:sp>
      <p:sp>
        <p:nvSpPr>
          <p:cNvPr id="31" name="Shape 28"/>
          <p:cNvSpPr/>
          <p:nvPr/>
        </p:nvSpPr>
        <p:spPr>
          <a:xfrm>
            <a:off x="7223760" y="2615184"/>
            <a:ext cx="4206240" cy="530352"/>
          </a:xfrm>
          <a:prstGeom prst="rect">
            <a:avLst/>
          </a:prstGeom>
          <a:solidFill>
            <a:srgbClr val="F5F7FA"/>
          </a:solidFill>
          <a:ln w="6350">
            <a:solidFill>
              <a:srgbClr val="D9E2F3"/>
            </a:solidFill>
            <a:prstDash val="solid"/>
          </a:ln>
        </p:spPr>
        <p:txBody>
          <a:bodyPr/>
          <a:lstStyle/>
          <a:p>
            <a:endParaRPr lang="ko-KR" altLang="en-US"/>
          </a:p>
        </p:txBody>
      </p:sp>
      <p:sp>
        <p:nvSpPr>
          <p:cNvPr id="32" name="Text 29"/>
          <p:cNvSpPr/>
          <p:nvPr/>
        </p:nvSpPr>
        <p:spPr>
          <a:xfrm>
            <a:off x="7269480" y="2734056"/>
            <a:ext cx="411480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Asymmetric outlier group</a:t>
            </a:r>
            <a:endParaRPr lang="en-US" sz="1100" dirty="0"/>
          </a:p>
        </p:txBody>
      </p:sp>
      <p:sp>
        <p:nvSpPr>
          <p:cNvPr id="33" name="Shape 30"/>
          <p:cNvSpPr/>
          <p:nvPr/>
        </p:nvSpPr>
        <p:spPr>
          <a:xfrm>
            <a:off x="868680" y="3063240"/>
            <a:ext cx="5074920" cy="2240280"/>
          </a:xfrm>
          <a:prstGeom prst="roundRect">
            <a:avLst>
              <a:gd name="adj" fmla="val 2449"/>
            </a:avLst>
          </a:prstGeom>
          <a:solidFill>
            <a:srgbClr val="E2F0D9"/>
          </a:solidFill>
          <a:ln w="13335">
            <a:solidFill>
              <a:srgbClr val="548235"/>
            </a:solidFill>
            <a:prstDash val="solid"/>
          </a:ln>
        </p:spPr>
        <p:txBody>
          <a:bodyPr/>
          <a:lstStyle/>
          <a:p>
            <a:endParaRPr lang="ko-KR" altLang="en-US"/>
          </a:p>
        </p:txBody>
      </p:sp>
      <p:sp>
        <p:nvSpPr>
          <p:cNvPr id="34" name="Text 31"/>
          <p:cNvSpPr/>
          <p:nvPr/>
        </p:nvSpPr>
        <p:spPr>
          <a:xfrm>
            <a:off x="1033272" y="3172968"/>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ER intuition</a:t>
            </a:r>
            <a:endParaRPr lang="en-US" sz="1200" dirty="0"/>
          </a:p>
        </p:txBody>
      </p:sp>
      <p:sp>
        <p:nvSpPr>
          <p:cNvPr id="35" name="Shape 32"/>
          <p:cNvSpPr/>
          <p:nvPr/>
        </p:nvSpPr>
        <p:spPr>
          <a:xfrm>
            <a:off x="1325880" y="4041648"/>
            <a:ext cx="4160520" cy="0"/>
          </a:xfrm>
          <a:prstGeom prst="line">
            <a:avLst/>
          </a:prstGeom>
          <a:noFill/>
          <a:ln w="15240">
            <a:solidFill>
              <a:srgbClr val="548235"/>
            </a:solidFill>
            <a:prstDash val="solid"/>
            <a:headEnd type="triangle"/>
            <a:tailEnd type="triangle"/>
          </a:ln>
        </p:spPr>
        <p:txBody>
          <a:bodyPr/>
          <a:lstStyle/>
          <a:p>
            <a:endParaRPr lang="ko-KR" altLang="en-US"/>
          </a:p>
        </p:txBody>
      </p:sp>
      <p:sp>
        <p:nvSpPr>
          <p:cNvPr id="36" name="Shape 33"/>
          <p:cNvSpPr/>
          <p:nvPr/>
        </p:nvSpPr>
        <p:spPr>
          <a:xfrm>
            <a:off x="1325880" y="3950208"/>
            <a:ext cx="0" cy="182880"/>
          </a:xfrm>
          <a:prstGeom prst="line">
            <a:avLst/>
          </a:prstGeom>
          <a:noFill/>
          <a:ln w="12700">
            <a:solidFill>
              <a:srgbClr val="00245D"/>
            </a:solidFill>
            <a:prstDash val="solid"/>
          </a:ln>
        </p:spPr>
        <p:txBody>
          <a:bodyPr/>
          <a:lstStyle/>
          <a:p>
            <a:endParaRPr lang="ko-KR" altLang="en-US"/>
          </a:p>
        </p:txBody>
      </p:sp>
      <p:sp>
        <p:nvSpPr>
          <p:cNvPr id="37" name="Text 34"/>
          <p:cNvSpPr/>
          <p:nvPr/>
        </p:nvSpPr>
        <p:spPr>
          <a:xfrm>
            <a:off x="1088136" y="417880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38" name="Shape 35"/>
          <p:cNvSpPr/>
          <p:nvPr/>
        </p:nvSpPr>
        <p:spPr>
          <a:xfrm>
            <a:off x="1845945" y="3950208"/>
            <a:ext cx="0" cy="182880"/>
          </a:xfrm>
          <a:prstGeom prst="line">
            <a:avLst/>
          </a:prstGeom>
          <a:noFill/>
          <a:ln w="25400">
            <a:solidFill>
              <a:srgbClr val="548235"/>
            </a:solidFill>
            <a:prstDash val="solid"/>
          </a:ln>
        </p:spPr>
        <p:txBody>
          <a:bodyPr/>
          <a:lstStyle/>
          <a:p>
            <a:endParaRPr lang="ko-KR" altLang="en-US"/>
          </a:p>
        </p:txBody>
      </p:sp>
      <p:sp>
        <p:nvSpPr>
          <p:cNvPr id="39" name="Text 36"/>
          <p:cNvSpPr/>
          <p:nvPr/>
        </p:nvSpPr>
        <p:spPr>
          <a:xfrm>
            <a:off x="1608201" y="4379976"/>
            <a:ext cx="475488" cy="146304"/>
          </a:xfrm>
          <a:prstGeom prst="rect">
            <a:avLst/>
          </a:prstGeom>
          <a:noFill/>
          <a:ln/>
        </p:spPr>
        <p:txBody>
          <a:bodyPr wrap="square" lIns="0" tIns="0" rIns="0" bIns="0" rtlCol="0" anchor="ctr">
            <a:normAutofit/>
          </a:bodyPr>
          <a:lstStyle/>
          <a:p>
            <a:pPr marL="0" indent="0" algn="ctr">
              <a:buNone/>
            </a:pPr>
            <a:r>
              <a:rPr lang="en-US" sz="800" b="1" dirty="0">
                <a:solidFill>
                  <a:srgbClr val="548235"/>
                </a:solidFill>
                <a:latin typeface="Arial" pitchFamily="34" charset="0"/>
                <a:ea typeface="Arial" pitchFamily="34" charset="-122"/>
                <a:cs typeface="Arial" pitchFamily="34" charset="-120"/>
              </a:rPr>
              <a:t>−3</a:t>
            </a:r>
            <a:endParaRPr lang="en-US" sz="800" dirty="0"/>
          </a:p>
        </p:txBody>
      </p:sp>
      <p:sp>
        <p:nvSpPr>
          <p:cNvPr id="40" name="Shape 37"/>
          <p:cNvSpPr/>
          <p:nvPr/>
        </p:nvSpPr>
        <p:spPr>
          <a:xfrm rot="10800000">
            <a:off x="1754505" y="3630168"/>
            <a:ext cx="182880" cy="164592"/>
          </a:xfrm>
          <a:prstGeom prst="triangle">
            <a:avLst/>
          </a:prstGeom>
          <a:solidFill>
            <a:srgbClr val="548235"/>
          </a:solidFill>
          <a:ln w="8890">
            <a:solidFill>
              <a:srgbClr val="548235"/>
            </a:solidFill>
            <a:prstDash val="solid"/>
          </a:ln>
        </p:spPr>
        <p:txBody>
          <a:bodyPr/>
          <a:lstStyle/>
          <a:p>
            <a:endParaRPr lang="ko-KR" altLang="en-US"/>
          </a:p>
        </p:txBody>
      </p:sp>
      <p:sp>
        <p:nvSpPr>
          <p:cNvPr id="41" name="Text 38"/>
          <p:cNvSpPr/>
          <p:nvPr/>
        </p:nvSpPr>
        <p:spPr>
          <a:xfrm>
            <a:off x="1663065" y="3383280"/>
            <a:ext cx="365760" cy="164592"/>
          </a:xfrm>
          <a:prstGeom prst="rect">
            <a:avLst/>
          </a:prstGeom>
          <a:noFill/>
          <a:ln/>
        </p:spPr>
        <p:txBody>
          <a:bodyPr wrap="square" lIns="0" tIns="0" rIns="0" bIns="0" rtlCol="0" anchor="ctr"/>
          <a:lstStyle/>
          <a:p>
            <a:pPr marL="0" indent="0" algn="ctr">
              <a:buNone/>
            </a:pPr>
            <a:r>
              <a:rPr lang="en-US" sz="900" b="1" dirty="0">
                <a:solidFill>
                  <a:srgbClr val="548235"/>
                </a:solidFill>
                <a:latin typeface="Arial" pitchFamily="34" charset="0"/>
                <a:ea typeface="Arial" pitchFamily="34" charset="-122"/>
                <a:cs typeface="Arial" pitchFamily="34" charset="-120"/>
              </a:rPr>
              <a:t>SV</a:t>
            </a:r>
            <a:endParaRPr lang="en-US" sz="900" dirty="0"/>
          </a:p>
        </p:txBody>
      </p:sp>
      <p:sp>
        <p:nvSpPr>
          <p:cNvPr id="42" name="Shape 39"/>
          <p:cNvSpPr/>
          <p:nvPr/>
        </p:nvSpPr>
        <p:spPr>
          <a:xfrm>
            <a:off x="2366010" y="3950208"/>
            <a:ext cx="0" cy="182880"/>
          </a:xfrm>
          <a:prstGeom prst="line">
            <a:avLst/>
          </a:prstGeom>
          <a:noFill/>
          <a:ln w="12700">
            <a:solidFill>
              <a:srgbClr val="00245D"/>
            </a:solidFill>
            <a:prstDash val="solid"/>
          </a:ln>
        </p:spPr>
        <p:txBody>
          <a:bodyPr/>
          <a:lstStyle/>
          <a:p>
            <a:endParaRPr lang="ko-KR" altLang="en-US"/>
          </a:p>
        </p:txBody>
      </p:sp>
      <p:sp>
        <p:nvSpPr>
          <p:cNvPr id="43" name="Text 40"/>
          <p:cNvSpPr/>
          <p:nvPr/>
        </p:nvSpPr>
        <p:spPr>
          <a:xfrm>
            <a:off x="2128266" y="417880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44" name="Shape 41"/>
          <p:cNvSpPr/>
          <p:nvPr/>
        </p:nvSpPr>
        <p:spPr>
          <a:xfrm>
            <a:off x="2886075" y="3950208"/>
            <a:ext cx="0" cy="182880"/>
          </a:xfrm>
          <a:prstGeom prst="line">
            <a:avLst/>
          </a:prstGeom>
          <a:noFill/>
          <a:ln w="12700">
            <a:solidFill>
              <a:srgbClr val="00245D"/>
            </a:solidFill>
            <a:prstDash val="solid"/>
          </a:ln>
        </p:spPr>
        <p:txBody>
          <a:bodyPr/>
          <a:lstStyle/>
          <a:p>
            <a:endParaRPr lang="ko-KR" altLang="en-US"/>
          </a:p>
        </p:txBody>
      </p:sp>
      <p:sp>
        <p:nvSpPr>
          <p:cNvPr id="45" name="Text 42"/>
          <p:cNvSpPr/>
          <p:nvPr/>
        </p:nvSpPr>
        <p:spPr>
          <a:xfrm>
            <a:off x="2648331" y="4379976"/>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46" name="Shape 43"/>
          <p:cNvSpPr/>
          <p:nvPr/>
        </p:nvSpPr>
        <p:spPr>
          <a:xfrm>
            <a:off x="3406140" y="3950208"/>
            <a:ext cx="0" cy="182880"/>
          </a:xfrm>
          <a:prstGeom prst="line">
            <a:avLst/>
          </a:prstGeom>
          <a:noFill/>
          <a:ln w="12700">
            <a:solidFill>
              <a:srgbClr val="00245D"/>
            </a:solidFill>
            <a:prstDash val="solid"/>
          </a:ln>
        </p:spPr>
        <p:txBody>
          <a:bodyPr/>
          <a:lstStyle/>
          <a:p>
            <a:endParaRPr lang="ko-KR" altLang="en-US"/>
          </a:p>
        </p:txBody>
      </p:sp>
      <p:sp>
        <p:nvSpPr>
          <p:cNvPr id="47" name="Text 44"/>
          <p:cNvSpPr/>
          <p:nvPr/>
        </p:nvSpPr>
        <p:spPr>
          <a:xfrm>
            <a:off x="3168396" y="417880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0</a:t>
            </a:r>
            <a:endParaRPr lang="en-US" sz="800" dirty="0"/>
          </a:p>
        </p:txBody>
      </p:sp>
      <p:sp>
        <p:nvSpPr>
          <p:cNvPr id="48" name="Shape 45"/>
          <p:cNvSpPr/>
          <p:nvPr/>
        </p:nvSpPr>
        <p:spPr>
          <a:xfrm>
            <a:off x="3926205" y="3950208"/>
            <a:ext cx="0" cy="182880"/>
          </a:xfrm>
          <a:prstGeom prst="line">
            <a:avLst/>
          </a:prstGeom>
          <a:noFill/>
          <a:ln w="12700">
            <a:solidFill>
              <a:srgbClr val="00245D"/>
            </a:solidFill>
            <a:prstDash val="solid"/>
          </a:ln>
        </p:spPr>
        <p:txBody>
          <a:bodyPr/>
          <a:lstStyle/>
          <a:p>
            <a:endParaRPr lang="ko-KR" altLang="en-US"/>
          </a:p>
        </p:txBody>
      </p:sp>
      <p:sp>
        <p:nvSpPr>
          <p:cNvPr id="49" name="Text 46"/>
          <p:cNvSpPr/>
          <p:nvPr/>
        </p:nvSpPr>
        <p:spPr>
          <a:xfrm>
            <a:off x="3688461" y="4379976"/>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50" name="Shape 47"/>
          <p:cNvSpPr/>
          <p:nvPr/>
        </p:nvSpPr>
        <p:spPr>
          <a:xfrm>
            <a:off x="4446270" y="3950208"/>
            <a:ext cx="0" cy="182880"/>
          </a:xfrm>
          <a:prstGeom prst="line">
            <a:avLst/>
          </a:prstGeom>
          <a:noFill/>
          <a:ln w="12700">
            <a:solidFill>
              <a:srgbClr val="00245D"/>
            </a:solidFill>
            <a:prstDash val="solid"/>
          </a:ln>
        </p:spPr>
        <p:txBody>
          <a:bodyPr/>
          <a:lstStyle/>
          <a:p>
            <a:endParaRPr lang="ko-KR" altLang="en-US"/>
          </a:p>
        </p:txBody>
      </p:sp>
      <p:sp>
        <p:nvSpPr>
          <p:cNvPr id="51" name="Text 48"/>
          <p:cNvSpPr/>
          <p:nvPr/>
        </p:nvSpPr>
        <p:spPr>
          <a:xfrm>
            <a:off x="4208526" y="417880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52" name="Shape 49"/>
          <p:cNvSpPr/>
          <p:nvPr/>
        </p:nvSpPr>
        <p:spPr>
          <a:xfrm>
            <a:off x="4966335" y="3950208"/>
            <a:ext cx="0" cy="182880"/>
          </a:xfrm>
          <a:prstGeom prst="line">
            <a:avLst/>
          </a:prstGeom>
          <a:noFill/>
          <a:ln w="25400">
            <a:solidFill>
              <a:srgbClr val="548235"/>
            </a:solidFill>
            <a:prstDash val="solid"/>
          </a:ln>
        </p:spPr>
        <p:txBody>
          <a:bodyPr/>
          <a:lstStyle/>
          <a:p>
            <a:endParaRPr lang="ko-KR" altLang="en-US"/>
          </a:p>
        </p:txBody>
      </p:sp>
      <p:sp>
        <p:nvSpPr>
          <p:cNvPr id="53" name="Text 50"/>
          <p:cNvSpPr/>
          <p:nvPr/>
        </p:nvSpPr>
        <p:spPr>
          <a:xfrm>
            <a:off x="4728591" y="4379976"/>
            <a:ext cx="475488" cy="146304"/>
          </a:xfrm>
          <a:prstGeom prst="rect">
            <a:avLst/>
          </a:prstGeom>
          <a:noFill/>
          <a:ln/>
        </p:spPr>
        <p:txBody>
          <a:bodyPr wrap="square" lIns="0" tIns="0" rIns="0" bIns="0" rtlCol="0" anchor="ctr">
            <a:normAutofit/>
          </a:bodyPr>
          <a:lstStyle/>
          <a:p>
            <a:pPr marL="0" indent="0" algn="ctr">
              <a:buNone/>
            </a:pPr>
            <a:r>
              <a:rPr lang="en-US" sz="800" b="1" dirty="0">
                <a:solidFill>
                  <a:srgbClr val="548235"/>
                </a:solidFill>
                <a:latin typeface="Arial" pitchFamily="34" charset="0"/>
                <a:ea typeface="Arial" pitchFamily="34" charset="-122"/>
                <a:cs typeface="Arial" pitchFamily="34" charset="-120"/>
              </a:rPr>
              <a:t>+3</a:t>
            </a:r>
            <a:endParaRPr lang="en-US" sz="800" dirty="0"/>
          </a:p>
        </p:txBody>
      </p:sp>
      <p:sp>
        <p:nvSpPr>
          <p:cNvPr id="54" name="Shape 51"/>
          <p:cNvSpPr/>
          <p:nvPr/>
        </p:nvSpPr>
        <p:spPr>
          <a:xfrm rot="10800000">
            <a:off x="4874895" y="3630168"/>
            <a:ext cx="182880" cy="164592"/>
          </a:xfrm>
          <a:prstGeom prst="triangle">
            <a:avLst/>
          </a:prstGeom>
          <a:solidFill>
            <a:srgbClr val="548235"/>
          </a:solidFill>
          <a:ln w="8890">
            <a:solidFill>
              <a:srgbClr val="548235"/>
            </a:solidFill>
            <a:prstDash val="solid"/>
          </a:ln>
        </p:spPr>
        <p:txBody>
          <a:bodyPr/>
          <a:lstStyle/>
          <a:p>
            <a:endParaRPr lang="ko-KR" altLang="en-US"/>
          </a:p>
        </p:txBody>
      </p:sp>
      <p:sp>
        <p:nvSpPr>
          <p:cNvPr id="55" name="Text 52"/>
          <p:cNvSpPr/>
          <p:nvPr/>
        </p:nvSpPr>
        <p:spPr>
          <a:xfrm>
            <a:off x="4783455" y="3383280"/>
            <a:ext cx="365760" cy="164592"/>
          </a:xfrm>
          <a:prstGeom prst="rect">
            <a:avLst/>
          </a:prstGeom>
          <a:noFill/>
          <a:ln/>
        </p:spPr>
        <p:txBody>
          <a:bodyPr wrap="square" lIns="0" tIns="0" rIns="0" bIns="0" rtlCol="0" anchor="ctr"/>
          <a:lstStyle/>
          <a:p>
            <a:pPr marL="0" indent="0" algn="ctr">
              <a:buNone/>
            </a:pPr>
            <a:r>
              <a:rPr lang="en-US" sz="900" b="1" dirty="0">
                <a:solidFill>
                  <a:srgbClr val="548235"/>
                </a:solidFill>
                <a:latin typeface="Arial" pitchFamily="34" charset="0"/>
                <a:ea typeface="Arial" pitchFamily="34" charset="-122"/>
                <a:cs typeface="Arial" pitchFamily="34" charset="-120"/>
              </a:rPr>
              <a:t>SV</a:t>
            </a:r>
            <a:endParaRPr lang="en-US" sz="900" dirty="0"/>
          </a:p>
        </p:txBody>
      </p:sp>
      <p:sp>
        <p:nvSpPr>
          <p:cNvPr id="56" name="Shape 53"/>
          <p:cNvSpPr/>
          <p:nvPr/>
        </p:nvSpPr>
        <p:spPr>
          <a:xfrm>
            <a:off x="5486400" y="3950208"/>
            <a:ext cx="0" cy="182880"/>
          </a:xfrm>
          <a:prstGeom prst="line">
            <a:avLst/>
          </a:prstGeom>
          <a:noFill/>
          <a:ln w="12700">
            <a:solidFill>
              <a:srgbClr val="00245D"/>
            </a:solidFill>
            <a:prstDash val="solid"/>
          </a:ln>
        </p:spPr>
        <p:txBody>
          <a:bodyPr/>
          <a:lstStyle/>
          <a:p>
            <a:endParaRPr lang="ko-KR" altLang="en-US"/>
          </a:p>
        </p:txBody>
      </p:sp>
      <p:sp>
        <p:nvSpPr>
          <p:cNvPr id="57" name="Text 54"/>
          <p:cNvSpPr/>
          <p:nvPr/>
        </p:nvSpPr>
        <p:spPr>
          <a:xfrm>
            <a:off x="5248656" y="417880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58" name="Text 55"/>
          <p:cNvSpPr/>
          <p:nvPr/>
        </p:nvSpPr>
        <p:spPr>
          <a:xfrm>
            <a:off x="1417320" y="4736592"/>
            <a:ext cx="3977640" cy="228600"/>
          </a:xfrm>
          <a:prstGeom prst="rect">
            <a:avLst/>
          </a:prstGeom>
          <a:noFill/>
          <a:ln/>
        </p:spPr>
        <p:txBody>
          <a:bodyPr wrap="square" lIns="0" tIns="0" rIns="0" bIns="0" rtlCol="0" anchor="ctr"/>
          <a:lstStyle/>
          <a:p>
            <a:pPr marL="0" indent="0" algn="ctr">
              <a:buNone/>
            </a:pPr>
            <a:r>
              <a:rPr lang="en-US" sz="1100" b="1" dirty="0">
                <a:solidFill>
                  <a:srgbClr val="548235"/>
                </a:solidFill>
                <a:latin typeface="Arial" pitchFamily="34" charset="0"/>
                <a:ea typeface="Arial" pitchFamily="34" charset="-122"/>
                <a:cs typeface="Arial" pitchFamily="34" charset="-120"/>
              </a:rPr>
              <a:t>Adds missing levels inside the same range.</a:t>
            </a:r>
            <a:endParaRPr lang="en-US" sz="1100" dirty="0"/>
          </a:p>
        </p:txBody>
      </p:sp>
      <p:sp>
        <p:nvSpPr>
          <p:cNvPr id="59" name="Shape 56"/>
          <p:cNvSpPr/>
          <p:nvPr/>
        </p:nvSpPr>
        <p:spPr>
          <a:xfrm>
            <a:off x="6309360" y="3063240"/>
            <a:ext cx="5074920" cy="2240280"/>
          </a:xfrm>
          <a:prstGeom prst="roundRect">
            <a:avLst>
              <a:gd name="adj" fmla="val 2449"/>
            </a:avLst>
          </a:prstGeom>
          <a:solidFill>
            <a:srgbClr val="FDECEC"/>
          </a:solidFill>
          <a:ln w="13335">
            <a:solidFill>
              <a:srgbClr val="E6B8B7"/>
            </a:solidFill>
            <a:prstDash val="solid"/>
          </a:ln>
        </p:spPr>
        <p:txBody>
          <a:bodyPr/>
          <a:lstStyle/>
          <a:p>
            <a:endParaRPr lang="ko-KR" altLang="en-US"/>
          </a:p>
        </p:txBody>
      </p:sp>
      <p:sp>
        <p:nvSpPr>
          <p:cNvPr id="60" name="Text 57"/>
          <p:cNvSpPr/>
          <p:nvPr/>
        </p:nvSpPr>
        <p:spPr>
          <a:xfrm>
            <a:off x="6473952" y="3172968"/>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EA intuition</a:t>
            </a:r>
            <a:endParaRPr lang="en-US" sz="1200" dirty="0"/>
          </a:p>
        </p:txBody>
      </p:sp>
      <p:sp>
        <p:nvSpPr>
          <p:cNvPr id="61" name="Shape 58"/>
          <p:cNvSpPr/>
          <p:nvPr/>
        </p:nvSpPr>
        <p:spPr>
          <a:xfrm>
            <a:off x="6766560" y="4041648"/>
            <a:ext cx="4160520" cy="0"/>
          </a:xfrm>
          <a:prstGeom prst="line">
            <a:avLst/>
          </a:prstGeom>
          <a:noFill/>
          <a:ln w="15240">
            <a:solidFill>
              <a:srgbClr val="C00000"/>
            </a:solidFill>
            <a:prstDash val="solid"/>
            <a:headEnd type="triangle"/>
            <a:tailEnd type="triangle"/>
          </a:ln>
        </p:spPr>
        <p:txBody>
          <a:bodyPr/>
          <a:lstStyle/>
          <a:p>
            <a:endParaRPr lang="ko-KR" altLang="en-US"/>
          </a:p>
        </p:txBody>
      </p:sp>
      <p:sp>
        <p:nvSpPr>
          <p:cNvPr id="62" name="Shape 59"/>
          <p:cNvSpPr/>
          <p:nvPr/>
        </p:nvSpPr>
        <p:spPr>
          <a:xfrm>
            <a:off x="7459980" y="3950208"/>
            <a:ext cx="0" cy="182880"/>
          </a:xfrm>
          <a:prstGeom prst="line">
            <a:avLst/>
          </a:prstGeom>
          <a:noFill/>
          <a:ln w="12700">
            <a:solidFill>
              <a:srgbClr val="00245D"/>
            </a:solidFill>
            <a:prstDash val="solid"/>
          </a:ln>
        </p:spPr>
        <p:txBody>
          <a:bodyPr/>
          <a:lstStyle/>
          <a:p>
            <a:endParaRPr lang="ko-KR" altLang="en-US"/>
          </a:p>
        </p:txBody>
      </p:sp>
      <p:sp>
        <p:nvSpPr>
          <p:cNvPr id="63" name="Text 60"/>
          <p:cNvSpPr/>
          <p:nvPr/>
        </p:nvSpPr>
        <p:spPr>
          <a:xfrm>
            <a:off x="7222236" y="417880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64" name="Shape 61"/>
          <p:cNvSpPr/>
          <p:nvPr/>
        </p:nvSpPr>
        <p:spPr>
          <a:xfrm>
            <a:off x="8153400" y="3950208"/>
            <a:ext cx="0" cy="182880"/>
          </a:xfrm>
          <a:prstGeom prst="line">
            <a:avLst/>
          </a:prstGeom>
          <a:noFill/>
          <a:ln w="12700">
            <a:solidFill>
              <a:srgbClr val="00245D"/>
            </a:solidFill>
            <a:prstDash val="solid"/>
          </a:ln>
        </p:spPr>
        <p:txBody>
          <a:bodyPr/>
          <a:lstStyle/>
          <a:p>
            <a:endParaRPr lang="ko-KR" altLang="en-US"/>
          </a:p>
        </p:txBody>
      </p:sp>
      <p:sp>
        <p:nvSpPr>
          <p:cNvPr id="65" name="Text 62"/>
          <p:cNvSpPr/>
          <p:nvPr/>
        </p:nvSpPr>
        <p:spPr>
          <a:xfrm>
            <a:off x="7915656" y="4379976"/>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66" name="Shape 63"/>
          <p:cNvSpPr/>
          <p:nvPr/>
        </p:nvSpPr>
        <p:spPr>
          <a:xfrm>
            <a:off x="8500110" y="3950208"/>
            <a:ext cx="0" cy="182880"/>
          </a:xfrm>
          <a:prstGeom prst="line">
            <a:avLst/>
          </a:prstGeom>
          <a:noFill/>
          <a:ln w="12700">
            <a:solidFill>
              <a:srgbClr val="00245D"/>
            </a:solidFill>
            <a:prstDash val="solid"/>
          </a:ln>
        </p:spPr>
        <p:txBody>
          <a:bodyPr/>
          <a:lstStyle/>
          <a:p>
            <a:endParaRPr lang="ko-KR" altLang="en-US"/>
          </a:p>
        </p:txBody>
      </p:sp>
      <p:sp>
        <p:nvSpPr>
          <p:cNvPr id="67" name="Text 64"/>
          <p:cNvSpPr/>
          <p:nvPr/>
        </p:nvSpPr>
        <p:spPr>
          <a:xfrm>
            <a:off x="8262366" y="417880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68" name="Shape 65"/>
          <p:cNvSpPr/>
          <p:nvPr/>
        </p:nvSpPr>
        <p:spPr>
          <a:xfrm>
            <a:off x="8846820" y="3950208"/>
            <a:ext cx="0" cy="182880"/>
          </a:xfrm>
          <a:prstGeom prst="line">
            <a:avLst/>
          </a:prstGeom>
          <a:noFill/>
          <a:ln w="12700">
            <a:solidFill>
              <a:srgbClr val="00245D"/>
            </a:solidFill>
            <a:prstDash val="solid"/>
          </a:ln>
        </p:spPr>
        <p:txBody>
          <a:bodyPr/>
          <a:lstStyle/>
          <a:p>
            <a:endParaRPr lang="ko-KR" altLang="en-US"/>
          </a:p>
        </p:txBody>
      </p:sp>
      <p:sp>
        <p:nvSpPr>
          <p:cNvPr id="69" name="Text 66"/>
          <p:cNvSpPr/>
          <p:nvPr/>
        </p:nvSpPr>
        <p:spPr>
          <a:xfrm>
            <a:off x="8609076" y="4379976"/>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0</a:t>
            </a:r>
            <a:endParaRPr lang="en-US" sz="800" dirty="0"/>
          </a:p>
        </p:txBody>
      </p:sp>
      <p:sp>
        <p:nvSpPr>
          <p:cNvPr id="70" name="Shape 67"/>
          <p:cNvSpPr/>
          <p:nvPr/>
        </p:nvSpPr>
        <p:spPr>
          <a:xfrm>
            <a:off x="9193530" y="3950208"/>
            <a:ext cx="0" cy="182880"/>
          </a:xfrm>
          <a:prstGeom prst="line">
            <a:avLst/>
          </a:prstGeom>
          <a:noFill/>
          <a:ln w="12700">
            <a:solidFill>
              <a:srgbClr val="00245D"/>
            </a:solidFill>
            <a:prstDash val="solid"/>
          </a:ln>
        </p:spPr>
        <p:txBody>
          <a:bodyPr/>
          <a:lstStyle/>
          <a:p>
            <a:endParaRPr lang="ko-KR" altLang="en-US"/>
          </a:p>
        </p:txBody>
      </p:sp>
      <p:sp>
        <p:nvSpPr>
          <p:cNvPr id="71" name="Text 68"/>
          <p:cNvSpPr/>
          <p:nvPr/>
        </p:nvSpPr>
        <p:spPr>
          <a:xfrm>
            <a:off x="8955786" y="417880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72" name="Shape 69"/>
          <p:cNvSpPr/>
          <p:nvPr/>
        </p:nvSpPr>
        <p:spPr>
          <a:xfrm>
            <a:off x="9540240" y="3950208"/>
            <a:ext cx="0" cy="182880"/>
          </a:xfrm>
          <a:prstGeom prst="line">
            <a:avLst/>
          </a:prstGeom>
          <a:noFill/>
          <a:ln w="12700">
            <a:solidFill>
              <a:srgbClr val="00245D"/>
            </a:solidFill>
            <a:prstDash val="solid"/>
          </a:ln>
        </p:spPr>
        <p:txBody>
          <a:bodyPr/>
          <a:lstStyle/>
          <a:p>
            <a:endParaRPr lang="ko-KR" altLang="en-US"/>
          </a:p>
        </p:txBody>
      </p:sp>
      <p:sp>
        <p:nvSpPr>
          <p:cNvPr id="73" name="Text 70"/>
          <p:cNvSpPr/>
          <p:nvPr/>
        </p:nvSpPr>
        <p:spPr>
          <a:xfrm>
            <a:off x="9302496" y="4379976"/>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74" name="Shape 71"/>
          <p:cNvSpPr/>
          <p:nvPr/>
        </p:nvSpPr>
        <p:spPr>
          <a:xfrm>
            <a:off x="10233660" y="3950208"/>
            <a:ext cx="0" cy="182880"/>
          </a:xfrm>
          <a:prstGeom prst="line">
            <a:avLst/>
          </a:prstGeom>
          <a:noFill/>
          <a:ln w="12700">
            <a:solidFill>
              <a:srgbClr val="00245D"/>
            </a:solidFill>
            <a:prstDash val="solid"/>
          </a:ln>
        </p:spPr>
        <p:txBody>
          <a:bodyPr/>
          <a:lstStyle/>
          <a:p>
            <a:endParaRPr lang="ko-KR" altLang="en-US"/>
          </a:p>
        </p:txBody>
      </p:sp>
      <p:sp>
        <p:nvSpPr>
          <p:cNvPr id="75" name="Text 72"/>
          <p:cNvSpPr/>
          <p:nvPr/>
        </p:nvSpPr>
        <p:spPr>
          <a:xfrm>
            <a:off x="9995916" y="417880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76" name="Shape 73"/>
          <p:cNvSpPr/>
          <p:nvPr/>
        </p:nvSpPr>
        <p:spPr>
          <a:xfrm>
            <a:off x="10927080" y="3950208"/>
            <a:ext cx="0" cy="182880"/>
          </a:xfrm>
          <a:prstGeom prst="line">
            <a:avLst/>
          </a:prstGeom>
          <a:noFill/>
          <a:ln w="25400">
            <a:solidFill>
              <a:srgbClr val="C00000"/>
            </a:solidFill>
            <a:prstDash val="solid"/>
          </a:ln>
        </p:spPr>
        <p:txBody>
          <a:bodyPr/>
          <a:lstStyle/>
          <a:p>
            <a:endParaRPr lang="ko-KR" altLang="en-US"/>
          </a:p>
        </p:txBody>
      </p:sp>
      <p:sp>
        <p:nvSpPr>
          <p:cNvPr id="77" name="Text 74"/>
          <p:cNvSpPr/>
          <p:nvPr/>
        </p:nvSpPr>
        <p:spPr>
          <a:xfrm>
            <a:off x="10689336" y="4379976"/>
            <a:ext cx="475488" cy="146304"/>
          </a:xfrm>
          <a:prstGeom prst="rect">
            <a:avLst/>
          </a:prstGeom>
          <a:noFill/>
          <a:ln/>
        </p:spPr>
        <p:txBody>
          <a:bodyPr wrap="square" lIns="0" tIns="0" rIns="0" bIns="0" rtlCol="0" anchor="ctr">
            <a:normAutofit/>
          </a:bodyPr>
          <a:lstStyle/>
          <a:p>
            <a:pPr marL="0" indent="0" algn="ctr">
              <a:buNone/>
            </a:pPr>
            <a:r>
              <a:rPr lang="en-US" sz="800" b="1" dirty="0">
                <a:solidFill>
                  <a:srgbClr val="C00000"/>
                </a:solidFill>
                <a:latin typeface="Arial" pitchFamily="34" charset="0"/>
                <a:ea typeface="Arial" pitchFamily="34" charset="-122"/>
                <a:cs typeface="Arial" pitchFamily="34" charset="-120"/>
              </a:rPr>
              <a:t>+6</a:t>
            </a:r>
            <a:endParaRPr lang="en-US" sz="800" dirty="0"/>
          </a:p>
        </p:txBody>
      </p:sp>
      <p:sp>
        <p:nvSpPr>
          <p:cNvPr id="78" name="Shape 75"/>
          <p:cNvSpPr/>
          <p:nvPr/>
        </p:nvSpPr>
        <p:spPr>
          <a:xfrm rot="10800000">
            <a:off x="10835640" y="3630168"/>
            <a:ext cx="182880" cy="164592"/>
          </a:xfrm>
          <a:prstGeom prst="triangle">
            <a:avLst/>
          </a:prstGeom>
          <a:solidFill>
            <a:srgbClr val="C00000"/>
          </a:solidFill>
          <a:ln w="8890">
            <a:solidFill>
              <a:srgbClr val="C00000"/>
            </a:solidFill>
            <a:prstDash val="solid"/>
          </a:ln>
        </p:spPr>
        <p:txBody>
          <a:bodyPr/>
          <a:lstStyle/>
          <a:p>
            <a:endParaRPr lang="ko-KR" altLang="en-US"/>
          </a:p>
        </p:txBody>
      </p:sp>
      <p:sp>
        <p:nvSpPr>
          <p:cNvPr id="79" name="Text 76"/>
          <p:cNvSpPr/>
          <p:nvPr/>
        </p:nvSpPr>
        <p:spPr>
          <a:xfrm>
            <a:off x="10744200" y="3383280"/>
            <a:ext cx="365760" cy="164592"/>
          </a:xfrm>
          <a:prstGeom prst="rect">
            <a:avLst/>
          </a:prstGeom>
          <a:noFill/>
          <a:ln/>
        </p:spPr>
        <p:txBody>
          <a:bodyPr wrap="square" lIns="0" tIns="0" rIns="0" bIns="0" rtlCol="0" anchor="ctr"/>
          <a:lstStyle/>
          <a:p>
            <a:pPr marL="0" indent="0" algn="ctr">
              <a:buNone/>
            </a:pPr>
            <a:r>
              <a:rPr lang="en-US" sz="900" b="1" dirty="0">
                <a:solidFill>
                  <a:srgbClr val="C00000"/>
                </a:solidFill>
                <a:latin typeface="Arial" pitchFamily="34" charset="0"/>
                <a:ea typeface="Arial" pitchFamily="34" charset="-122"/>
                <a:cs typeface="Arial" pitchFamily="34" charset="-120"/>
              </a:rPr>
              <a:t>SV</a:t>
            </a:r>
            <a:endParaRPr lang="en-US" sz="900" dirty="0"/>
          </a:p>
        </p:txBody>
      </p:sp>
      <p:sp>
        <p:nvSpPr>
          <p:cNvPr id="80" name="Text 77"/>
          <p:cNvSpPr/>
          <p:nvPr/>
        </p:nvSpPr>
        <p:spPr>
          <a:xfrm>
            <a:off x="6903720" y="4736592"/>
            <a:ext cx="3931920" cy="228600"/>
          </a:xfrm>
          <a:prstGeom prst="rect">
            <a:avLst/>
          </a:prstGeom>
          <a:noFill/>
          <a:ln/>
        </p:spPr>
        <p:txBody>
          <a:bodyPr wrap="square" lIns="0" tIns="0" rIns="0" bIns="0" rtlCol="0" anchor="ctr"/>
          <a:lstStyle/>
          <a:p>
            <a:pPr marL="0" indent="0" algn="ctr">
              <a:buNone/>
            </a:pPr>
            <a:r>
              <a:rPr lang="en-US" sz="1100" b="1" dirty="0">
                <a:solidFill>
                  <a:srgbClr val="C00000"/>
                </a:solidFill>
                <a:latin typeface="Arial" pitchFamily="34" charset="0"/>
                <a:ea typeface="Arial" pitchFamily="34" charset="-122"/>
                <a:cs typeface="Arial" pitchFamily="34" charset="-120"/>
              </a:rPr>
              <a:t>Extends the range toward the outlier side.</a:t>
            </a:r>
            <a:endParaRPr lang="en-US" sz="1100" dirty="0"/>
          </a:p>
        </p:txBody>
      </p:sp>
      <p:sp>
        <p:nvSpPr>
          <p:cNvPr id="81" name="Shape 78"/>
          <p:cNvSpPr/>
          <p:nvPr/>
        </p:nvSpPr>
        <p:spPr>
          <a:xfrm>
            <a:off x="1234440" y="5715000"/>
            <a:ext cx="9738360" cy="457200"/>
          </a:xfrm>
          <a:prstGeom prst="roundRect">
            <a:avLst>
              <a:gd name="adj" fmla="val 12000"/>
            </a:avLst>
          </a:prstGeom>
          <a:solidFill>
            <a:srgbClr val="EAF2FF"/>
          </a:solidFill>
          <a:ln w="12700">
            <a:solidFill>
              <a:srgbClr val="7EA6E0"/>
            </a:solidFill>
            <a:prstDash val="solid"/>
          </a:ln>
        </p:spPr>
        <p:txBody>
          <a:bodyPr/>
          <a:lstStyle/>
          <a:p>
            <a:endParaRPr lang="ko-KR" altLang="en-US"/>
          </a:p>
        </p:txBody>
      </p:sp>
      <p:sp>
        <p:nvSpPr>
          <p:cNvPr id="82" name="Text 79"/>
          <p:cNvSpPr/>
          <p:nvPr/>
        </p:nvSpPr>
        <p:spPr>
          <a:xfrm>
            <a:off x="1417320" y="5843016"/>
            <a:ext cx="9372600"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00245D"/>
                </a:solidFill>
                <a:latin typeface="Arial" pitchFamily="34" charset="0"/>
                <a:ea typeface="Arial" pitchFamily="34" charset="-122"/>
                <a:cs typeface="Arial" pitchFamily="34" charset="-120"/>
              </a:rPr>
              <a:t>The same basic FP3 can become ER or EA depending on the selected Special Value.</a:t>
            </a:r>
            <a:endParaRPr lang="en-US" sz="1080" dirty="0"/>
          </a:p>
        </p:txBody>
      </p:sp>
      <p:sp>
        <p:nvSpPr>
          <p:cNvPr id="92" name="Shape 73">
            <a:extLst>
              <a:ext uri="{FF2B5EF4-FFF2-40B4-BE49-F238E27FC236}">
                <a16:creationId xmlns:a16="http://schemas.microsoft.com/office/drawing/2014/main" id="{2318EDD3-B2DC-AD60-AB62-860B074BE7B5}"/>
              </a:ext>
            </a:extLst>
          </p:cNvPr>
          <p:cNvSpPr/>
          <p:nvPr/>
        </p:nvSpPr>
        <p:spPr>
          <a:xfrm>
            <a:off x="6766560" y="3950207"/>
            <a:ext cx="0" cy="182880"/>
          </a:xfrm>
          <a:prstGeom prst="line">
            <a:avLst/>
          </a:prstGeom>
          <a:noFill/>
          <a:ln w="25400">
            <a:solidFill>
              <a:srgbClr val="C00000"/>
            </a:solidFill>
            <a:prstDash val="solid"/>
          </a:ln>
        </p:spPr>
        <p:txBody>
          <a:bodyPr/>
          <a:lstStyle/>
          <a:p>
            <a:endParaRPr lang="ko-KR" altLang="en-US"/>
          </a:p>
        </p:txBody>
      </p:sp>
      <p:sp>
        <p:nvSpPr>
          <p:cNvPr id="94" name="Text 74">
            <a:extLst>
              <a:ext uri="{FF2B5EF4-FFF2-40B4-BE49-F238E27FC236}">
                <a16:creationId xmlns:a16="http://schemas.microsoft.com/office/drawing/2014/main" id="{331D85B8-18D5-74AC-2D61-6504125DA0E0}"/>
              </a:ext>
            </a:extLst>
          </p:cNvPr>
          <p:cNvSpPr/>
          <p:nvPr/>
        </p:nvSpPr>
        <p:spPr>
          <a:xfrm>
            <a:off x="6528816" y="4379975"/>
            <a:ext cx="475488" cy="146304"/>
          </a:xfrm>
          <a:prstGeom prst="rect">
            <a:avLst/>
          </a:prstGeom>
          <a:noFill/>
          <a:ln/>
        </p:spPr>
        <p:txBody>
          <a:bodyPr wrap="square" lIns="0" tIns="0" rIns="0" bIns="0" rtlCol="0" anchor="ctr">
            <a:normAutofit/>
          </a:bodyPr>
          <a:lstStyle/>
          <a:p>
            <a:pPr marL="0" indent="0" algn="ctr">
              <a:buNone/>
            </a:pPr>
            <a:r>
              <a:rPr lang="en-US" sz="800" b="1" dirty="0">
                <a:solidFill>
                  <a:srgbClr val="C00000"/>
                </a:solidFill>
                <a:latin typeface="Arial" pitchFamily="34" charset="0"/>
                <a:ea typeface="Arial" pitchFamily="34" charset="-122"/>
                <a:cs typeface="Arial" pitchFamily="34" charset="-120"/>
              </a:rPr>
              <a:t>-6</a:t>
            </a:r>
            <a:endParaRPr lang="en-US" sz="800" dirty="0"/>
          </a:p>
        </p:txBody>
      </p:sp>
      <p:sp>
        <p:nvSpPr>
          <p:cNvPr id="96" name="Shape 75">
            <a:extLst>
              <a:ext uri="{FF2B5EF4-FFF2-40B4-BE49-F238E27FC236}">
                <a16:creationId xmlns:a16="http://schemas.microsoft.com/office/drawing/2014/main" id="{BF4B4DAC-B3BF-DF9C-1FC3-5AF9DCBD23B7}"/>
              </a:ext>
            </a:extLst>
          </p:cNvPr>
          <p:cNvSpPr/>
          <p:nvPr/>
        </p:nvSpPr>
        <p:spPr>
          <a:xfrm rot="10800000">
            <a:off x="6675120" y="3630167"/>
            <a:ext cx="182880" cy="164592"/>
          </a:xfrm>
          <a:prstGeom prst="triangle">
            <a:avLst/>
          </a:prstGeom>
          <a:solidFill>
            <a:srgbClr val="C00000"/>
          </a:solidFill>
          <a:ln w="8890">
            <a:solidFill>
              <a:srgbClr val="C00000"/>
            </a:solidFill>
            <a:prstDash val="solid"/>
          </a:ln>
        </p:spPr>
        <p:txBody>
          <a:bodyPr/>
          <a:lstStyle/>
          <a:p>
            <a:endParaRPr lang="ko-KR" altLang="en-US"/>
          </a:p>
        </p:txBody>
      </p:sp>
      <p:sp>
        <p:nvSpPr>
          <p:cNvPr id="98" name="Text 76">
            <a:extLst>
              <a:ext uri="{FF2B5EF4-FFF2-40B4-BE49-F238E27FC236}">
                <a16:creationId xmlns:a16="http://schemas.microsoft.com/office/drawing/2014/main" id="{A6DDC8C8-EC8F-D9A6-FB98-2D6B41485745}"/>
              </a:ext>
            </a:extLst>
          </p:cNvPr>
          <p:cNvSpPr/>
          <p:nvPr/>
        </p:nvSpPr>
        <p:spPr>
          <a:xfrm>
            <a:off x="6583680" y="3383279"/>
            <a:ext cx="365760" cy="164592"/>
          </a:xfrm>
          <a:prstGeom prst="rect">
            <a:avLst/>
          </a:prstGeom>
          <a:noFill/>
          <a:ln/>
        </p:spPr>
        <p:txBody>
          <a:bodyPr wrap="square" lIns="0" tIns="0" rIns="0" bIns="0" rtlCol="0" anchor="ctr"/>
          <a:lstStyle/>
          <a:p>
            <a:pPr marL="0" indent="0" algn="ctr">
              <a:buNone/>
            </a:pPr>
            <a:r>
              <a:rPr lang="en-US" sz="900" b="1" dirty="0">
                <a:solidFill>
                  <a:srgbClr val="C00000"/>
                </a:solidFill>
                <a:latin typeface="Arial" pitchFamily="34" charset="0"/>
                <a:ea typeface="Arial" pitchFamily="34" charset="-122"/>
                <a:cs typeface="Arial" pitchFamily="34" charset="-120"/>
              </a:rPr>
              <a:t>SV</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FP4 Extension: Same Idea, More Levels</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39</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BitMoD applies the same redundant-zero reuse idea to FP4.</a:t>
            </a:r>
            <a:endParaRPr lang="en-US" sz="1300" dirty="0"/>
          </a:p>
        </p:txBody>
      </p:sp>
      <p:sp>
        <p:nvSpPr>
          <p:cNvPr id="9" name="Shape 6"/>
          <p:cNvSpPr/>
          <p:nvPr/>
        </p:nvSpPr>
        <p:spPr>
          <a:xfrm>
            <a:off x="685800" y="1417320"/>
            <a:ext cx="5440680" cy="4480560"/>
          </a:xfrm>
          <a:prstGeom prst="roundRect">
            <a:avLst>
              <a:gd name="adj" fmla="val 1224"/>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27048"/>
            <a:ext cx="51114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Basic FP4 values</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60120" y="1920240"/>
                <a:ext cx="4892040" cy="59436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300" smtClean="0">
                          <a:latin typeface="Cambria Math"/>
                        </a:rPr>
                        <m:t>{0,±0.5,±1,±1.5,±2,±3,±4,±6}</m:t>
                      </m:r>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60120" y="1920240"/>
                <a:ext cx="4892040" cy="594360"/>
              </a:xfrm>
              <a:prstGeom prst="rect">
                <a:avLst/>
              </a:prstGeom>
              <a:blipFill>
                <a:blip r:embed="rId4"/>
                <a:stretch>
                  <a:fillRect/>
                </a:stretch>
              </a:blipFill>
              <a:ln/>
            </p:spPr>
            <p:txBody>
              <a:bodyPr/>
              <a:lstStyle/>
              <a:p>
                <a:r>
                  <a:rPr lang="ko-KR" altLang="en-US">
                    <a:noFill/>
                  </a:rPr>
                  <a:t> </a:t>
                </a:r>
              </a:p>
            </p:txBody>
          </p:sp>
        </mc:Fallback>
      </mc:AlternateContent>
      <p:sp>
        <p:nvSpPr>
          <p:cNvPr id="12" name="Text 9"/>
          <p:cNvSpPr/>
          <p:nvPr/>
        </p:nvSpPr>
        <p:spPr>
          <a:xfrm>
            <a:off x="1051560" y="2788920"/>
            <a:ext cx="4709160" cy="512064"/>
          </a:xfrm>
          <a:prstGeom prst="rect">
            <a:avLst/>
          </a:prstGeom>
          <a:noFill/>
          <a:ln/>
        </p:spPr>
        <p:txBody>
          <a:bodyPr wrap="square" lIns="254" tIns="254" rIns="254" bIns="254" rtlCol="0" anchor="ctr">
            <a:normAutofit/>
          </a:bodyPr>
          <a:lstStyle/>
          <a:p>
            <a:pPr marL="0" indent="0" algn="ctr">
              <a:buNone/>
            </a:pPr>
            <a:r>
              <a:rPr lang="en-US" sz="1120" dirty="0">
                <a:solidFill>
                  <a:srgbClr val="222222"/>
                </a:solidFill>
                <a:latin typeface="Arial" pitchFamily="34" charset="0"/>
                <a:ea typeface="Arial" pitchFamily="34" charset="-122"/>
                <a:cs typeface="Arial" pitchFamily="34" charset="-120"/>
              </a:rPr>
              <a:t>Basic FP4 already has more representable values than FP3, including fractional levels such as ±0.5 and ±1.5.</a:t>
            </a:r>
            <a:endParaRPr lang="en-US" sz="1120" dirty="0"/>
          </a:p>
        </p:txBody>
      </p:sp>
      <p:sp>
        <p:nvSpPr>
          <p:cNvPr id="13" name="Shape 10"/>
          <p:cNvSpPr/>
          <p:nvPr/>
        </p:nvSpPr>
        <p:spPr>
          <a:xfrm>
            <a:off x="1143000" y="4251960"/>
            <a:ext cx="4617720" cy="0"/>
          </a:xfrm>
          <a:prstGeom prst="line">
            <a:avLst/>
          </a:prstGeom>
          <a:noFill/>
          <a:ln w="15240">
            <a:solidFill>
              <a:srgbClr val="444444"/>
            </a:solidFill>
            <a:prstDash val="solid"/>
            <a:headEnd type="triangle"/>
            <a:tailEnd type="triangle"/>
          </a:ln>
        </p:spPr>
        <p:txBody>
          <a:bodyPr/>
          <a:lstStyle/>
          <a:p>
            <a:endParaRPr lang="ko-KR" altLang="en-US"/>
          </a:p>
        </p:txBody>
      </p:sp>
      <p:sp>
        <p:nvSpPr>
          <p:cNvPr id="14" name="Shape 11"/>
          <p:cNvSpPr/>
          <p:nvPr/>
        </p:nvSpPr>
        <p:spPr>
          <a:xfrm>
            <a:off x="1720215" y="4160520"/>
            <a:ext cx="0" cy="182880"/>
          </a:xfrm>
          <a:prstGeom prst="line">
            <a:avLst/>
          </a:prstGeom>
          <a:noFill/>
          <a:ln w="12700">
            <a:solidFill>
              <a:srgbClr val="00245D"/>
            </a:solidFill>
            <a:prstDash val="solid"/>
          </a:ln>
        </p:spPr>
        <p:txBody>
          <a:bodyPr/>
          <a:lstStyle/>
          <a:p>
            <a:endParaRPr lang="ko-KR" altLang="en-US"/>
          </a:p>
        </p:txBody>
      </p:sp>
      <p:sp>
        <p:nvSpPr>
          <p:cNvPr id="15" name="Text 12"/>
          <p:cNvSpPr/>
          <p:nvPr/>
        </p:nvSpPr>
        <p:spPr>
          <a:xfrm>
            <a:off x="1482471" y="438912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−6</a:t>
            </a:r>
            <a:endParaRPr lang="en-US" sz="800" dirty="0"/>
          </a:p>
        </p:txBody>
      </p:sp>
      <p:sp>
        <p:nvSpPr>
          <p:cNvPr id="16" name="Shape 13"/>
          <p:cNvSpPr/>
          <p:nvPr/>
        </p:nvSpPr>
        <p:spPr>
          <a:xfrm>
            <a:off x="2297430" y="4160520"/>
            <a:ext cx="0" cy="182880"/>
          </a:xfrm>
          <a:prstGeom prst="line">
            <a:avLst/>
          </a:prstGeom>
          <a:noFill/>
          <a:ln w="12700">
            <a:solidFill>
              <a:srgbClr val="00245D"/>
            </a:solidFill>
            <a:prstDash val="solid"/>
          </a:ln>
        </p:spPr>
        <p:txBody>
          <a:bodyPr/>
          <a:lstStyle/>
          <a:p>
            <a:endParaRPr lang="ko-KR" altLang="en-US"/>
          </a:p>
        </p:txBody>
      </p:sp>
      <p:sp>
        <p:nvSpPr>
          <p:cNvPr id="17" name="Text 14"/>
          <p:cNvSpPr/>
          <p:nvPr/>
        </p:nvSpPr>
        <p:spPr>
          <a:xfrm>
            <a:off x="2059686" y="459028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18" name="Shape 15"/>
          <p:cNvSpPr/>
          <p:nvPr/>
        </p:nvSpPr>
        <p:spPr>
          <a:xfrm>
            <a:off x="2586038" y="4160520"/>
            <a:ext cx="0" cy="182880"/>
          </a:xfrm>
          <a:prstGeom prst="line">
            <a:avLst/>
          </a:prstGeom>
          <a:noFill/>
          <a:ln w="12700">
            <a:solidFill>
              <a:srgbClr val="00245D"/>
            </a:solidFill>
            <a:prstDash val="solid"/>
          </a:ln>
        </p:spPr>
        <p:txBody>
          <a:bodyPr/>
          <a:lstStyle/>
          <a:p>
            <a:endParaRPr lang="ko-KR" altLang="en-US"/>
          </a:p>
        </p:txBody>
      </p:sp>
      <p:sp>
        <p:nvSpPr>
          <p:cNvPr id="19" name="Text 16"/>
          <p:cNvSpPr/>
          <p:nvPr/>
        </p:nvSpPr>
        <p:spPr>
          <a:xfrm>
            <a:off x="2348294" y="4791456"/>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−3</a:t>
            </a:r>
            <a:endParaRPr lang="en-US" sz="800" dirty="0"/>
          </a:p>
        </p:txBody>
      </p:sp>
      <p:sp>
        <p:nvSpPr>
          <p:cNvPr id="20" name="Shape 17"/>
          <p:cNvSpPr/>
          <p:nvPr/>
        </p:nvSpPr>
        <p:spPr>
          <a:xfrm>
            <a:off x="2874645" y="4160520"/>
            <a:ext cx="0" cy="182880"/>
          </a:xfrm>
          <a:prstGeom prst="line">
            <a:avLst/>
          </a:prstGeom>
          <a:noFill/>
          <a:ln w="12700">
            <a:solidFill>
              <a:srgbClr val="00245D"/>
            </a:solidFill>
            <a:prstDash val="solid"/>
          </a:ln>
        </p:spPr>
        <p:txBody>
          <a:bodyPr/>
          <a:lstStyle/>
          <a:p>
            <a:endParaRPr lang="ko-KR" altLang="en-US"/>
          </a:p>
        </p:txBody>
      </p:sp>
      <p:sp>
        <p:nvSpPr>
          <p:cNvPr id="21" name="Text 18"/>
          <p:cNvSpPr/>
          <p:nvPr/>
        </p:nvSpPr>
        <p:spPr>
          <a:xfrm>
            <a:off x="2636901" y="4992624"/>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22" name="Shape 19"/>
          <p:cNvSpPr/>
          <p:nvPr/>
        </p:nvSpPr>
        <p:spPr>
          <a:xfrm>
            <a:off x="3018949" y="4160520"/>
            <a:ext cx="0" cy="182880"/>
          </a:xfrm>
          <a:prstGeom prst="line">
            <a:avLst/>
          </a:prstGeom>
          <a:noFill/>
          <a:ln w="12700">
            <a:solidFill>
              <a:srgbClr val="00245D"/>
            </a:solidFill>
            <a:prstDash val="solid"/>
          </a:ln>
        </p:spPr>
        <p:txBody>
          <a:bodyPr/>
          <a:lstStyle/>
          <a:p>
            <a:endParaRPr lang="ko-KR" altLang="en-US"/>
          </a:p>
        </p:txBody>
      </p:sp>
      <p:sp>
        <p:nvSpPr>
          <p:cNvPr id="23" name="Text 20"/>
          <p:cNvSpPr/>
          <p:nvPr/>
        </p:nvSpPr>
        <p:spPr>
          <a:xfrm>
            <a:off x="2781205" y="438912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−1.5</a:t>
            </a:r>
            <a:endParaRPr lang="en-US" sz="800" dirty="0"/>
          </a:p>
        </p:txBody>
      </p:sp>
      <p:sp>
        <p:nvSpPr>
          <p:cNvPr id="24" name="Shape 21"/>
          <p:cNvSpPr/>
          <p:nvPr/>
        </p:nvSpPr>
        <p:spPr>
          <a:xfrm>
            <a:off x="3163253" y="4160520"/>
            <a:ext cx="0" cy="182880"/>
          </a:xfrm>
          <a:prstGeom prst="line">
            <a:avLst/>
          </a:prstGeom>
          <a:noFill/>
          <a:ln w="12700">
            <a:solidFill>
              <a:srgbClr val="00245D"/>
            </a:solidFill>
            <a:prstDash val="solid"/>
          </a:ln>
        </p:spPr>
        <p:txBody>
          <a:bodyPr/>
          <a:lstStyle/>
          <a:p>
            <a:endParaRPr lang="ko-KR" altLang="en-US"/>
          </a:p>
        </p:txBody>
      </p:sp>
      <p:sp>
        <p:nvSpPr>
          <p:cNvPr id="25" name="Text 22"/>
          <p:cNvSpPr/>
          <p:nvPr/>
        </p:nvSpPr>
        <p:spPr>
          <a:xfrm>
            <a:off x="2925509" y="459028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26" name="Shape 23"/>
          <p:cNvSpPr/>
          <p:nvPr/>
        </p:nvSpPr>
        <p:spPr>
          <a:xfrm>
            <a:off x="3307556" y="4160520"/>
            <a:ext cx="0" cy="182880"/>
          </a:xfrm>
          <a:prstGeom prst="line">
            <a:avLst/>
          </a:prstGeom>
          <a:noFill/>
          <a:ln w="12700">
            <a:solidFill>
              <a:srgbClr val="00245D"/>
            </a:solidFill>
            <a:prstDash val="solid"/>
          </a:ln>
        </p:spPr>
        <p:txBody>
          <a:bodyPr/>
          <a:lstStyle/>
          <a:p>
            <a:endParaRPr lang="ko-KR" altLang="en-US"/>
          </a:p>
        </p:txBody>
      </p:sp>
      <p:sp>
        <p:nvSpPr>
          <p:cNvPr id="27" name="Text 24"/>
          <p:cNvSpPr/>
          <p:nvPr/>
        </p:nvSpPr>
        <p:spPr>
          <a:xfrm>
            <a:off x="3069812" y="4791456"/>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−.5</a:t>
            </a:r>
            <a:endParaRPr lang="en-US" sz="800" dirty="0"/>
          </a:p>
        </p:txBody>
      </p:sp>
      <p:sp>
        <p:nvSpPr>
          <p:cNvPr id="28" name="Shape 25"/>
          <p:cNvSpPr/>
          <p:nvPr/>
        </p:nvSpPr>
        <p:spPr>
          <a:xfrm>
            <a:off x="3451860" y="4160520"/>
            <a:ext cx="0" cy="182880"/>
          </a:xfrm>
          <a:prstGeom prst="line">
            <a:avLst/>
          </a:prstGeom>
          <a:noFill/>
          <a:ln w="12700">
            <a:solidFill>
              <a:srgbClr val="00245D"/>
            </a:solidFill>
            <a:prstDash val="solid"/>
          </a:ln>
        </p:spPr>
        <p:txBody>
          <a:bodyPr/>
          <a:lstStyle/>
          <a:p>
            <a:endParaRPr lang="ko-KR" altLang="en-US"/>
          </a:p>
        </p:txBody>
      </p:sp>
      <p:sp>
        <p:nvSpPr>
          <p:cNvPr id="29" name="Text 26"/>
          <p:cNvSpPr/>
          <p:nvPr/>
        </p:nvSpPr>
        <p:spPr>
          <a:xfrm>
            <a:off x="3214116" y="4992624"/>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0</a:t>
            </a:r>
            <a:endParaRPr lang="en-US" sz="800" dirty="0"/>
          </a:p>
        </p:txBody>
      </p:sp>
      <p:sp>
        <p:nvSpPr>
          <p:cNvPr id="30" name="Shape 27"/>
          <p:cNvSpPr/>
          <p:nvPr/>
        </p:nvSpPr>
        <p:spPr>
          <a:xfrm>
            <a:off x="3596164" y="4160520"/>
            <a:ext cx="0" cy="182880"/>
          </a:xfrm>
          <a:prstGeom prst="line">
            <a:avLst/>
          </a:prstGeom>
          <a:noFill/>
          <a:ln w="12700">
            <a:solidFill>
              <a:srgbClr val="00245D"/>
            </a:solidFill>
            <a:prstDash val="solid"/>
          </a:ln>
        </p:spPr>
        <p:txBody>
          <a:bodyPr/>
          <a:lstStyle/>
          <a:p>
            <a:endParaRPr lang="ko-KR" altLang="en-US"/>
          </a:p>
        </p:txBody>
      </p:sp>
      <p:sp>
        <p:nvSpPr>
          <p:cNvPr id="31" name="Text 28"/>
          <p:cNvSpPr/>
          <p:nvPr/>
        </p:nvSpPr>
        <p:spPr>
          <a:xfrm>
            <a:off x="3358420" y="438912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.5</a:t>
            </a:r>
            <a:endParaRPr lang="en-US" sz="800" dirty="0"/>
          </a:p>
        </p:txBody>
      </p:sp>
      <p:sp>
        <p:nvSpPr>
          <p:cNvPr id="32" name="Shape 29"/>
          <p:cNvSpPr/>
          <p:nvPr/>
        </p:nvSpPr>
        <p:spPr>
          <a:xfrm>
            <a:off x="3740467" y="4160520"/>
            <a:ext cx="0" cy="182880"/>
          </a:xfrm>
          <a:prstGeom prst="line">
            <a:avLst/>
          </a:prstGeom>
          <a:noFill/>
          <a:ln w="12700">
            <a:solidFill>
              <a:srgbClr val="00245D"/>
            </a:solidFill>
            <a:prstDash val="solid"/>
          </a:ln>
        </p:spPr>
        <p:txBody>
          <a:bodyPr/>
          <a:lstStyle/>
          <a:p>
            <a:endParaRPr lang="ko-KR" altLang="en-US"/>
          </a:p>
        </p:txBody>
      </p:sp>
      <p:sp>
        <p:nvSpPr>
          <p:cNvPr id="33" name="Text 30"/>
          <p:cNvSpPr/>
          <p:nvPr/>
        </p:nvSpPr>
        <p:spPr>
          <a:xfrm>
            <a:off x="3502723" y="459028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a:t>
            </a:r>
            <a:endParaRPr lang="en-US" sz="800" dirty="0"/>
          </a:p>
        </p:txBody>
      </p:sp>
      <p:sp>
        <p:nvSpPr>
          <p:cNvPr id="34" name="Shape 31"/>
          <p:cNvSpPr/>
          <p:nvPr/>
        </p:nvSpPr>
        <p:spPr>
          <a:xfrm>
            <a:off x="3884771" y="4160520"/>
            <a:ext cx="0" cy="182880"/>
          </a:xfrm>
          <a:prstGeom prst="line">
            <a:avLst/>
          </a:prstGeom>
          <a:noFill/>
          <a:ln w="12700">
            <a:solidFill>
              <a:srgbClr val="00245D"/>
            </a:solidFill>
            <a:prstDash val="solid"/>
          </a:ln>
        </p:spPr>
        <p:txBody>
          <a:bodyPr/>
          <a:lstStyle/>
          <a:p>
            <a:endParaRPr lang="ko-KR" altLang="en-US"/>
          </a:p>
        </p:txBody>
      </p:sp>
      <p:sp>
        <p:nvSpPr>
          <p:cNvPr id="35" name="Text 32"/>
          <p:cNvSpPr/>
          <p:nvPr/>
        </p:nvSpPr>
        <p:spPr>
          <a:xfrm>
            <a:off x="3647027" y="4791456"/>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1.5</a:t>
            </a:r>
            <a:endParaRPr lang="en-US" sz="800" dirty="0"/>
          </a:p>
        </p:txBody>
      </p:sp>
      <p:sp>
        <p:nvSpPr>
          <p:cNvPr id="36" name="Shape 33"/>
          <p:cNvSpPr/>
          <p:nvPr/>
        </p:nvSpPr>
        <p:spPr>
          <a:xfrm>
            <a:off x="4029075" y="4160520"/>
            <a:ext cx="0" cy="182880"/>
          </a:xfrm>
          <a:prstGeom prst="line">
            <a:avLst/>
          </a:prstGeom>
          <a:noFill/>
          <a:ln w="12700">
            <a:solidFill>
              <a:srgbClr val="00245D"/>
            </a:solidFill>
            <a:prstDash val="solid"/>
          </a:ln>
        </p:spPr>
        <p:txBody>
          <a:bodyPr/>
          <a:lstStyle/>
          <a:p>
            <a:endParaRPr lang="ko-KR" altLang="en-US"/>
          </a:p>
        </p:txBody>
      </p:sp>
      <p:sp>
        <p:nvSpPr>
          <p:cNvPr id="37" name="Text 34"/>
          <p:cNvSpPr/>
          <p:nvPr/>
        </p:nvSpPr>
        <p:spPr>
          <a:xfrm>
            <a:off x="3791331" y="4992624"/>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2</a:t>
            </a:r>
            <a:endParaRPr lang="en-US" sz="800" dirty="0"/>
          </a:p>
        </p:txBody>
      </p:sp>
      <p:sp>
        <p:nvSpPr>
          <p:cNvPr id="38" name="Shape 35"/>
          <p:cNvSpPr/>
          <p:nvPr/>
        </p:nvSpPr>
        <p:spPr>
          <a:xfrm>
            <a:off x="4317683" y="4160520"/>
            <a:ext cx="0" cy="182880"/>
          </a:xfrm>
          <a:prstGeom prst="line">
            <a:avLst/>
          </a:prstGeom>
          <a:noFill/>
          <a:ln w="12700">
            <a:solidFill>
              <a:srgbClr val="00245D"/>
            </a:solidFill>
            <a:prstDash val="solid"/>
          </a:ln>
        </p:spPr>
        <p:txBody>
          <a:bodyPr/>
          <a:lstStyle/>
          <a:p>
            <a:endParaRPr lang="ko-KR" altLang="en-US"/>
          </a:p>
        </p:txBody>
      </p:sp>
      <p:sp>
        <p:nvSpPr>
          <p:cNvPr id="39" name="Text 36"/>
          <p:cNvSpPr/>
          <p:nvPr/>
        </p:nvSpPr>
        <p:spPr>
          <a:xfrm>
            <a:off x="4079939" y="4389120"/>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3</a:t>
            </a:r>
            <a:endParaRPr lang="en-US" sz="800" dirty="0"/>
          </a:p>
        </p:txBody>
      </p:sp>
      <p:sp>
        <p:nvSpPr>
          <p:cNvPr id="40" name="Shape 37"/>
          <p:cNvSpPr/>
          <p:nvPr/>
        </p:nvSpPr>
        <p:spPr>
          <a:xfrm>
            <a:off x="4606290" y="4160520"/>
            <a:ext cx="0" cy="182880"/>
          </a:xfrm>
          <a:prstGeom prst="line">
            <a:avLst/>
          </a:prstGeom>
          <a:noFill/>
          <a:ln w="12700">
            <a:solidFill>
              <a:srgbClr val="00245D"/>
            </a:solidFill>
            <a:prstDash val="solid"/>
          </a:ln>
        </p:spPr>
        <p:txBody>
          <a:bodyPr/>
          <a:lstStyle/>
          <a:p>
            <a:endParaRPr lang="ko-KR" altLang="en-US"/>
          </a:p>
        </p:txBody>
      </p:sp>
      <p:sp>
        <p:nvSpPr>
          <p:cNvPr id="41" name="Text 38"/>
          <p:cNvSpPr/>
          <p:nvPr/>
        </p:nvSpPr>
        <p:spPr>
          <a:xfrm>
            <a:off x="4368546" y="4590288"/>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4</a:t>
            </a:r>
            <a:endParaRPr lang="en-US" sz="800" dirty="0"/>
          </a:p>
        </p:txBody>
      </p:sp>
      <p:sp>
        <p:nvSpPr>
          <p:cNvPr id="42" name="Shape 39"/>
          <p:cNvSpPr/>
          <p:nvPr/>
        </p:nvSpPr>
        <p:spPr>
          <a:xfrm>
            <a:off x="5183505" y="4160520"/>
            <a:ext cx="0" cy="182880"/>
          </a:xfrm>
          <a:prstGeom prst="line">
            <a:avLst/>
          </a:prstGeom>
          <a:noFill/>
          <a:ln w="12700">
            <a:solidFill>
              <a:srgbClr val="00245D"/>
            </a:solidFill>
            <a:prstDash val="solid"/>
          </a:ln>
        </p:spPr>
        <p:txBody>
          <a:bodyPr/>
          <a:lstStyle/>
          <a:p>
            <a:endParaRPr lang="ko-KR" altLang="en-US"/>
          </a:p>
        </p:txBody>
      </p:sp>
      <p:sp>
        <p:nvSpPr>
          <p:cNvPr id="43" name="Text 40"/>
          <p:cNvSpPr/>
          <p:nvPr/>
        </p:nvSpPr>
        <p:spPr>
          <a:xfrm>
            <a:off x="4945761" y="4791456"/>
            <a:ext cx="475488" cy="146304"/>
          </a:xfrm>
          <a:prstGeom prst="rect">
            <a:avLst/>
          </a:prstGeom>
          <a:noFill/>
          <a:ln/>
        </p:spPr>
        <p:txBody>
          <a:bodyPr wrap="square" lIns="0" tIns="0" rIns="0" bIns="0" rtlCol="0" anchor="ctr">
            <a:normAutofit/>
          </a:bodyPr>
          <a:lstStyle/>
          <a:p>
            <a:pPr marL="0" indent="0" algn="ctr">
              <a:buNone/>
            </a:pPr>
            <a:r>
              <a:rPr lang="en-US" sz="800" dirty="0">
                <a:solidFill>
                  <a:srgbClr val="222222"/>
                </a:solidFill>
                <a:latin typeface="Arial" pitchFamily="34" charset="0"/>
                <a:ea typeface="Arial" pitchFamily="34" charset="-122"/>
                <a:cs typeface="Arial" pitchFamily="34" charset="-120"/>
              </a:rPr>
              <a:t>6</a:t>
            </a:r>
            <a:endParaRPr lang="en-US" sz="800" dirty="0"/>
          </a:p>
        </p:txBody>
      </p:sp>
      <p:sp>
        <p:nvSpPr>
          <p:cNvPr id="44" name="Shape 41"/>
          <p:cNvSpPr/>
          <p:nvPr/>
        </p:nvSpPr>
        <p:spPr>
          <a:xfrm>
            <a:off x="6446520" y="1417320"/>
            <a:ext cx="5074920" cy="4480560"/>
          </a:xfrm>
          <a:prstGeom prst="roundRect">
            <a:avLst>
              <a:gd name="adj" fmla="val 1224"/>
            </a:avLst>
          </a:prstGeom>
          <a:solidFill>
            <a:srgbClr val="FFFDF2"/>
          </a:solidFill>
          <a:ln w="13335">
            <a:solidFill>
              <a:srgbClr val="D6B656"/>
            </a:solidFill>
            <a:prstDash val="solid"/>
          </a:ln>
        </p:spPr>
        <p:txBody>
          <a:bodyPr/>
          <a:lstStyle/>
          <a:p>
            <a:endParaRPr lang="ko-KR" altLang="en-US"/>
          </a:p>
        </p:txBody>
      </p:sp>
      <p:sp>
        <p:nvSpPr>
          <p:cNvPr id="45" name="Text 42"/>
          <p:cNvSpPr/>
          <p:nvPr/>
        </p:nvSpPr>
        <p:spPr>
          <a:xfrm>
            <a:off x="6611112" y="1527048"/>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BitMoD FP4 Special Values</a:t>
            </a:r>
            <a:endParaRPr lang="en-US" sz="1200" dirty="0"/>
          </a:p>
        </p:txBody>
      </p:sp>
      <p:sp>
        <p:nvSpPr>
          <p:cNvPr id="46" name="Shape 43"/>
          <p:cNvSpPr/>
          <p:nvPr/>
        </p:nvSpPr>
        <p:spPr>
          <a:xfrm>
            <a:off x="6812280" y="1901952"/>
            <a:ext cx="1417320" cy="502920"/>
          </a:xfrm>
          <a:prstGeom prst="rect">
            <a:avLst/>
          </a:prstGeom>
          <a:solidFill>
            <a:srgbClr val="00245D"/>
          </a:solidFill>
          <a:ln w="6350">
            <a:solidFill>
              <a:srgbClr val="D9E2F3"/>
            </a:solidFill>
            <a:prstDash val="solid"/>
          </a:ln>
        </p:spPr>
        <p:txBody>
          <a:bodyPr/>
          <a:lstStyle/>
          <a:p>
            <a:endParaRPr lang="ko-KR" altLang="en-US"/>
          </a:p>
        </p:txBody>
      </p:sp>
      <p:sp>
        <p:nvSpPr>
          <p:cNvPr id="47" name="Text 44"/>
          <p:cNvSpPr/>
          <p:nvPr/>
        </p:nvSpPr>
        <p:spPr>
          <a:xfrm>
            <a:off x="6848856" y="2020824"/>
            <a:ext cx="1344168" cy="146304"/>
          </a:xfrm>
          <a:prstGeom prst="rect">
            <a:avLst/>
          </a:prstGeom>
          <a:noFill/>
          <a:ln/>
        </p:spPr>
        <p:txBody>
          <a:bodyPr wrap="square" lIns="0" tIns="0" rIns="0" bIns="0" rtlCol="0" anchor="ctr">
            <a:normAutofit lnSpcReduction="10000"/>
          </a:bodyPr>
          <a:lstStyle/>
          <a:p>
            <a:pPr marL="0" indent="0" algn="ctr">
              <a:buNone/>
            </a:pPr>
            <a:r>
              <a:rPr lang="en-US" sz="1020" b="1" dirty="0">
                <a:solidFill>
                  <a:srgbClr val="FFFFFF"/>
                </a:solidFill>
                <a:latin typeface="Arial" pitchFamily="34" charset="0"/>
                <a:ea typeface="Arial" pitchFamily="34" charset="-122"/>
                <a:cs typeface="Arial" pitchFamily="34" charset="-120"/>
              </a:rPr>
              <a:t>Extended Dtype</a:t>
            </a:r>
            <a:endParaRPr lang="en-US" sz="1020" dirty="0"/>
          </a:p>
        </p:txBody>
      </p:sp>
      <p:sp>
        <p:nvSpPr>
          <p:cNvPr id="48" name="Shape 45"/>
          <p:cNvSpPr/>
          <p:nvPr/>
        </p:nvSpPr>
        <p:spPr>
          <a:xfrm>
            <a:off x="8229600" y="1901952"/>
            <a:ext cx="1600200" cy="502920"/>
          </a:xfrm>
          <a:prstGeom prst="rect">
            <a:avLst/>
          </a:prstGeom>
          <a:solidFill>
            <a:srgbClr val="00245D"/>
          </a:solidFill>
          <a:ln w="6350">
            <a:solidFill>
              <a:srgbClr val="D9E2F3"/>
            </a:solidFill>
            <a:prstDash val="solid"/>
          </a:ln>
        </p:spPr>
        <p:txBody>
          <a:bodyPr/>
          <a:lstStyle/>
          <a:p>
            <a:endParaRPr lang="ko-KR" altLang="en-US"/>
          </a:p>
        </p:txBody>
      </p:sp>
      <p:sp>
        <p:nvSpPr>
          <p:cNvPr id="49" name="Text 46"/>
          <p:cNvSpPr/>
          <p:nvPr/>
        </p:nvSpPr>
        <p:spPr>
          <a:xfrm>
            <a:off x="8266176" y="2020824"/>
            <a:ext cx="1527048" cy="146304"/>
          </a:xfrm>
          <a:prstGeom prst="rect">
            <a:avLst/>
          </a:prstGeom>
          <a:noFill/>
          <a:ln/>
        </p:spPr>
        <p:txBody>
          <a:bodyPr wrap="square" lIns="0" tIns="0" rIns="0" bIns="0" rtlCol="0" anchor="ctr">
            <a:normAutofit lnSpcReduction="10000"/>
          </a:bodyPr>
          <a:lstStyle/>
          <a:p>
            <a:pPr marL="0" indent="0" algn="ctr">
              <a:buNone/>
            </a:pPr>
            <a:r>
              <a:rPr lang="en-US" sz="1020" b="1" dirty="0">
                <a:solidFill>
                  <a:srgbClr val="FFFFFF"/>
                </a:solidFill>
                <a:latin typeface="Arial" pitchFamily="34" charset="0"/>
                <a:ea typeface="Arial" pitchFamily="34" charset="-122"/>
                <a:cs typeface="Arial" pitchFamily="34" charset="-120"/>
              </a:rPr>
              <a:t>Special Value</a:t>
            </a:r>
            <a:endParaRPr lang="en-US" sz="1020" dirty="0"/>
          </a:p>
        </p:txBody>
      </p:sp>
      <p:sp>
        <p:nvSpPr>
          <p:cNvPr id="50" name="Shape 47"/>
          <p:cNvSpPr/>
          <p:nvPr/>
        </p:nvSpPr>
        <p:spPr>
          <a:xfrm>
            <a:off x="9829800" y="1901952"/>
            <a:ext cx="1600200" cy="502920"/>
          </a:xfrm>
          <a:prstGeom prst="rect">
            <a:avLst/>
          </a:prstGeom>
          <a:solidFill>
            <a:srgbClr val="00245D"/>
          </a:solidFill>
          <a:ln w="6350">
            <a:solidFill>
              <a:srgbClr val="D9E2F3"/>
            </a:solidFill>
            <a:prstDash val="solid"/>
          </a:ln>
        </p:spPr>
        <p:txBody>
          <a:bodyPr/>
          <a:lstStyle/>
          <a:p>
            <a:endParaRPr lang="ko-KR" altLang="en-US"/>
          </a:p>
        </p:txBody>
      </p:sp>
      <p:sp>
        <p:nvSpPr>
          <p:cNvPr id="51" name="Text 48"/>
          <p:cNvSpPr/>
          <p:nvPr/>
        </p:nvSpPr>
        <p:spPr>
          <a:xfrm>
            <a:off x="9866376" y="2020824"/>
            <a:ext cx="1527048" cy="146304"/>
          </a:xfrm>
          <a:prstGeom prst="rect">
            <a:avLst/>
          </a:prstGeom>
          <a:noFill/>
          <a:ln/>
        </p:spPr>
        <p:txBody>
          <a:bodyPr wrap="square" lIns="0" tIns="0" rIns="0" bIns="0" rtlCol="0" anchor="ctr">
            <a:normAutofit lnSpcReduction="10000"/>
          </a:bodyPr>
          <a:lstStyle/>
          <a:p>
            <a:pPr marL="0" indent="0" algn="ctr">
              <a:buNone/>
            </a:pPr>
            <a:r>
              <a:rPr lang="en-US" sz="1020" b="1" dirty="0">
                <a:solidFill>
                  <a:srgbClr val="FFFFFF"/>
                </a:solidFill>
                <a:latin typeface="Arial" pitchFamily="34" charset="0"/>
                <a:ea typeface="Arial" pitchFamily="34" charset="-122"/>
                <a:cs typeface="Arial" pitchFamily="34" charset="-120"/>
              </a:rPr>
              <a:t>Role</a:t>
            </a:r>
            <a:endParaRPr lang="en-US" sz="1020" dirty="0"/>
          </a:p>
        </p:txBody>
      </p:sp>
      <p:sp>
        <p:nvSpPr>
          <p:cNvPr id="52" name="Shape 49"/>
          <p:cNvSpPr/>
          <p:nvPr/>
        </p:nvSpPr>
        <p:spPr>
          <a:xfrm>
            <a:off x="6812280" y="2404872"/>
            <a:ext cx="1417320" cy="502920"/>
          </a:xfrm>
          <a:prstGeom prst="rect">
            <a:avLst/>
          </a:prstGeom>
          <a:solidFill>
            <a:srgbClr val="FFFFFF"/>
          </a:solidFill>
          <a:ln w="6350">
            <a:solidFill>
              <a:srgbClr val="D9E2F3"/>
            </a:solidFill>
            <a:prstDash val="solid"/>
          </a:ln>
        </p:spPr>
        <p:txBody>
          <a:bodyPr/>
          <a:lstStyle/>
          <a:p>
            <a:endParaRPr lang="ko-KR" altLang="en-US"/>
          </a:p>
        </p:txBody>
      </p:sp>
      <p:sp>
        <p:nvSpPr>
          <p:cNvPr id="53" name="Text 50"/>
          <p:cNvSpPr/>
          <p:nvPr/>
        </p:nvSpPr>
        <p:spPr>
          <a:xfrm>
            <a:off x="6858000" y="2523744"/>
            <a:ext cx="1325880" cy="146304"/>
          </a:xfrm>
          <a:prstGeom prst="rect">
            <a:avLst/>
          </a:prstGeom>
          <a:noFill/>
          <a:ln/>
        </p:spPr>
        <p:txBody>
          <a:bodyPr wrap="square" lIns="0" tIns="0" rIns="0" bIns="0" rtlCol="0" anchor="ctr">
            <a:normAutofit lnSpcReduction="10000"/>
          </a:bodyPr>
          <a:lstStyle/>
          <a:p>
            <a:pPr marL="0" indent="0" algn="ctr">
              <a:buNone/>
            </a:pPr>
            <a:r>
              <a:rPr lang="en-US" sz="1020" b="1" dirty="0">
                <a:solidFill>
                  <a:srgbClr val="222222"/>
                </a:solidFill>
                <a:latin typeface="Arial" pitchFamily="34" charset="0"/>
                <a:ea typeface="Arial" pitchFamily="34" charset="-122"/>
                <a:cs typeface="Arial" pitchFamily="34" charset="-120"/>
              </a:rPr>
              <a:t>FP4-ER</a:t>
            </a:r>
            <a:endParaRPr lang="en-US" sz="1020" dirty="0"/>
          </a:p>
        </p:txBody>
      </p:sp>
      <p:sp>
        <p:nvSpPr>
          <p:cNvPr id="54" name="Shape 51"/>
          <p:cNvSpPr/>
          <p:nvPr/>
        </p:nvSpPr>
        <p:spPr>
          <a:xfrm>
            <a:off x="8229600" y="2404872"/>
            <a:ext cx="1600200" cy="502920"/>
          </a:xfrm>
          <a:prstGeom prst="rect">
            <a:avLst/>
          </a:prstGeom>
          <a:solidFill>
            <a:srgbClr val="FFFFFF"/>
          </a:solidFill>
          <a:ln w="6350">
            <a:solidFill>
              <a:srgbClr val="D9E2F3"/>
            </a:solidFill>
            <a:prstDash val="solid"/>
          </a:ln>
        </p:spPr>
        <p:txBody>
          <a:bodyPr/>
          <a:lstStyle/>
          <a:p>
            <a:endParaRPr lang="ko-KR" altLang="en-US"/>
          </a:p>
        </p:txBody>
      </p:sp>
      <p:sp>
        <p:nvSpPr>
          <p:cNvPr id="55" name="Text 52"/>
          <p:cNvSpPr/>
          <p:nvPr/>
        </p:nvSpPr>
        <p:spPr>
          <a:xfrm>
            <a:off x="8275320" y="2523744"/>
            <a:ext cx="1508760" cy="146304"/>
          </a:xfrm>
          <a:prstGeom prst="rect">
            <a:avLst/>
          </a:prstGeom>
          <a:noFill/>
          <a:ln/>
        </p:spPr>
        <p:txBody>
          <a:bodyPr wrap="square" lIns="0" tIns="0" rIns="0" bIns="0" rtlCol="0" anchor="ctr">
            <a:normAutofit lnSpcReduction="10000"/>
          </a:bodyPr>
          <a:lstStyle/>
          <a:p>
            <a:pPr marL="0" indent="0" algn="ctr">
              <a:buNone/>
            </a:pPr>
            <a:r>
              <a:rPr lang="en-US" sz="1020" dirty="0">
                <a:solidFill>
                  <a:srgbClr val="222222"/>
                </a:solidFill>
                <a:latin typeface="Arial" pitchFamily="34" charset="0"/>
                <a:ea typeface="Arial" pitchFamily="34" charset="-122"/>
                <a:cs typeface="Arial" pitchFamily="34" charset="-120"/>
              </a:rPr>
              <a:t>−5 or +5</a:t>
            </a:r>
            <a:endParaRPr lang="en-US" sz="1020" dirty="0"/>
          </a:p>
        </p:txBody>
      </p:sp>
      <p:sp>
        <p:nvSpPr>
          <p:cNvPr id="56" name="Shape 53"/>
          <p:cNvSpPr/>
          <p:nvPr/>
        </p:nvSpPr>
        <p:spPr>
          <a:xfrm>
            <a:off x="9829800" y="2404872"/>
            <a:ext cx="1600200" cy="502920"/>
          </a:xfrm>
          <a:prstGeom prst="rect">
            <a:avLst/>
          </a:prstGeom>
          <a:solidFill>
            <a:srgbClr val="FFFFFF"/>
          </a:solidFill>
          <a:ln w="6350">
            <a:solidFill>
              <a:srgbClr val="D9E2F3"/>
            </a:solidFill>
            <a:prstDash val="solid"/>
          </a:ln>
        </p:spPr>
        <p:txBody>
          <a:bodyPr/>
          <a:lstStyle/>
          <a:p>
            <a:endParaRPr lang="ko-KR" altLang="en-US"/>
          </a:p>
        </p:txBody>
      </p:sp>
      <p:sp>
        <p:nvSpPr>
          <p:cNvPr id="57" name="Text 54"/>
          <p:cNvSpPr/>
          <p:nvPr/>
        </p:nvSpPr>
        <p:spPr>
          <a:xfrm>
            <a:off x="9875520" y="2523744"/>
            <a:ext cx="1508760" cy="146304"/>
          </a:xfrm>
          <a:prstGeom prst="rect">
            <a:avLst/>
          </a:prstGeom>
          <a:noFill/>
          <a:ln/>
        </p:spPr>
        <p:txBody>
          <a:bodyPr wrap="square" lIns="0" tIns="0" rIns="0" bIns="0" rtlCol="0" anchor="ctr">
            <a:normAutofit lnSpcReduction="10000"/>
          </a:bodyPr>
          <a:lstStyle/>
          <a:p>
            <a:pPr marL="0" indent="0" algn="ctr">
              <a:buNone/>
            </a:pPr>
            <a:r>
              <a:rPr lang="en-US" sz="1020" dirty="0">
                <a:solidFill>
                  <a:srgbClr val="222222"/>
                </a:solidFill>
                <a:latin typeface="Arial" pitchFamily="34" charset="0"/>
                <a:ea typeface="Arial" pitchFamily="34" charset="-122"/>
                <a:cs typeface="Arial" pitchFamily="34" charset="-120"/>
              </a:rPr>
              <a:t>Resolution Extend</a:t>
            </a:r>
            <a:endParaRPr lang="en-US" sz="1020" dirty="0"/>
          </a:p>
        </p:txBody>
      </p:sp>
      <p:sp>
        <p:nvSpPr>
          <p:cNvPr id="58" name="Shape 55"/>
          <p:cNvSpPr/>
          <p:nvPr/>
        </p:nvSpPr>
        <p:spPr>
          <a:xfrm>
            <a:off x="6812280" y="2907792"/>
            <a:ext cx="1417320" cy="502920"/>
          </a:xfrm>
          <a:prstGeom prst="rect">
            <a:avLst/>
          </a:prstGeom>
          <a:solidFill>
            <a:srgbClr val="F5F7FA"/>
          </a:solidFill>
          <a:ln w="6350">
            <a:solidFill>
              <a:srgbClr val="D9E2F3"/>
            </a:solidFill>
            <a:prstDash val="solid"/>
          </a:ln>
        </p:spPr>
        <p:txBody>
          <a:bodyPr/>
          <a:lstStyle/>
          <a:p>
            <a:endParaRPr lang="ko-KR" altLang="en-US"/>
          </a:p>
        </p:txBody>
      </p:sp>
      <p:sp>
        <p:nvSpPr>
          <p:cNvPr id="59" name="Text 56"/>
          <p:cNvSpPr/>
          <p:nvPr/>
        </p:nvSpPr>
        <p:spPr>
          <a:xfrm>
            <a:off x="6858000" y="3026664"/>
            <a:ext cx="1325880" cy="146304"/>
          </a:xfrm>
          <a:prstGeom prst="rect">
            <a:avLst/>
          </a:prstGeom>
          <a:noFill/>
          <a:ln/>
        </p:spPr>
        <p:txBody>
          <a:bodyPr wrap="square" lIns="0" tIns="0" rIns="0" bIns="0" rtlCol="0" anchor="ctr">
            <a:normAutofit lnSpcReduction="10000"/>
          </a:bodyPr>
          <a:lstStyle/>
          <a:p>
            <a:pPr marL="0" indent="0" algn="ctr">
              <a:buNone/>
            </a:pPr>
            <a:r>
              <a:rPr lang="en-US" sz="1020" b="1" dirty="0">
                <a:solidFill>
                  <a:srgbClr val="222222"/>
                </a:solidFill>
                <a:latin typeface="Arial" pitchFamily="34" charset="0"/>
                <a:ea typeface="Arial" pitchFamily="34" charset="-122"/>
                <a:cs typeface="Arial" pitchFamily="34" charset="-120"/>
              </a:rPr>
              <a:t>FP4-EA</a:t>
            </a:r>
            <a:endParaRPr lang="en-US" sz="1020" dirty="0"/>
          </a:p>
        </p:txBody>
      </p:sp>
      <p:sp>
        <p:nvSpPr>
          <p:cNvPr id="60" name="Shape 57"/>
          <p:cNvSpPr/>
          <p:nvPr/>
        </p:nvSpPr>
        <p:spPr>
          <a:xfrm>
            <a:off x="8229600" y="2907792"/>
            <a:ext cx="1600200" cy="502920"/>
          </a:xfrm>
          <a:prstGeom prst="rect">
            <a:avLst/>
          </a:prstGeom>
          <a:solidFill>
            <a:srgbClr val="F5F7FA"/>
          </a:solidFill>
          <a:ln w="6350">
            <a:solidFill>
              <a:srgbClr val="D9E2F3"/>
            </a:solidFill>
            <a:prstDash val="solid"/>
          </a:ln>
        </p:spPr>
        <p:txBody>
          <a:bodyPr/>
          <a:lstStyle/>
          <a:p>
            <a:endParaRPr lang="ko-KR" altLang="en-US"/>
          </a:p>
        </p:txBody>
      </p:sp>
      <p:sp>
        <p:nvSpPr>
          <p:cNvPr id="61" name="Text 58"/>
          <p:cNvSpPr/>
          <p:nvPr/>
        </p:nvSpPr>
        <p:spPr>
          <a:xfrm>
            <a:off x="8275320" y="3026664"/>
            <a:ext cx="1508760" cy="146304"/>
          </a:xfrm>
          <a:prstGeom prst="rect">
            <a:avLst/>
          </a:prstGeom>
          <a:noFill/>
          <a:ln/>
        </p:spPr>
        <p:txBody>
          <a:bodyPr wrap="square" lIns="0" tIns="0" rIns="0" bIns="0" rtlCol="0" anchor="ctr">
            <a:normAutofit lnSpcReduction="10000"/>
          </a:bodyPr>
          <a:lstStyle/>
          <a:p>
            <a:pPr marL="0" indent="0" algn="ctr">
              <a:buNone/>
            </a:pPr>
            <a:r>
              <a:rPr lang="en-US" sz="1020" dirty="0">
                <a:solidFill>
                  <a:srgbClr val="222222"/>
                </a:solidFill>
                <a:latin typeface="Arial" pitchFamily="34" charset="0"/>
                <a:ea typeface="Arial" pitchFamily="34" charset="-122"/>
                <a:cs typeface="Arial" pitchFamily="34" charset="-120"/>
              </a:rPr>
              <a:t>−8 or +8</a:t>
            </a:r>
            <a:endParaRPr lang="en-US" sz="1020" dirty="0"/>
          </a:p>
        </p:txBody>
      </p:sp>
      <p:sp>
        <p:nvSpPr>
          <p:cNvPr id="62" name="Shape 59"/>
          <p:cNvSpPr/>
          <p:nvPr/>
        </p:nvSpPr>
        <p:spPr>
          <a:xfrm>
            <a:off x="9829800" y="2907792"/>
            <a:ext cx="1600200" cy="502920"/>
          </a:xfrm>
          <a:prstGeom prst="rect">
            <a:avLst/>
          </a:prstGeom>
          <a:solidFill>
            <a:srgbClr val="F5F7FA"/>
          </a:solidFill>
          <a:ln w="6350">
            <a:solidFill>
              <a:srgbClr val="D9E2F3"/>
            </a:solidFill>
            <a:prstDash val="solid"/>
          </a:ln>
        </p:spPr>
        <p:txBody>
          <a:bodyPr/>
          <a:lstStyle/>
          <a:p>
            <a:endParaRPr lang="ko-KR" altLang="en-US"/>
          </a:p>
        </p:txBody>
      </p:sp>
      <p:sp>
        <p:nvSpPr>
          <p:cNvPr id="63" name="Text 60"/>
          <p:cNvSpPr/>
          <p:nvPr/>
        </p:nvSpPr>
        <p:spPr>
          <a:xfrm>
            <a:off x="9875520" y="3026664"/>
            <a:ext cx="1508760" cy="146304"/>
          </a:xfrm>
          <a:prstGeom prst="rect">
            <a:avLst/>
          </a:prstGeom>
          <a:noFill/>
          <a:ln/>
        </p:spPr>
        <p:txBody>
          <a:bodyPr wrap="square" lIns="0" tIns="0" rIns="0" bIns="0" rtlCol="0" anchor="ctr">
            <a:normAutofit lnSpcReduction="10000"/>
          </a:bodyPr>
          <a:lstStyle/>
          <a:p>
            <a:pPr marL="0" indent="0" algn="ctr">
              <a:buNone/>
            </a:pPr>
            <a:r>
              <a:rPr lang="en-US" sz="1020" dirty="0">
                <a:solidFill>
                  <a:srgbClr val="222222"/>
                </a:solidFill>
                <a:latin typeface="Arial" pitchFamily="34" charset="0"/>
                <a:ea typeface="Arial" pitchFamily="34" charset="-122"/>
                <a:cs typeface="Arial" pitchFamily="34" charset="-120"/>
              </a:rPr>
              <a:t>Asymmetry Extend</a:t>
            </a:r>
            <a:endParaRPr lang="en-US" sz="1020" dirty="0"/>
          </a:p>
        </p:txBody>
      </p:sp>
      <p:sp>
        <p:nvSpPr>
          <p:cNvPr id="64" name="Shape 61"/>
          <p:cNvSpPr/>
          <p:nvPr/>
        </p:nvSpPr>
        <p:spPr>
          <a:xfrm>
            <a:off x="6858000" y="3755057"/>
            <a:ext cx="4069080" cy="566928"/>
          </a:xfrm>
          <a:prstGeom prst="roundRect">
            <a:avLst>
              <a:gd name="adj" fmla="val 9677"/>
            </a:avLst>
          </a:prstGeom>
          <a:solidFill>
            <a:srgbClr val="E2F0D9"/>
          </a:solidFill>
          <a:ln w="12700">
            <a:solidFill>
              <a:srgbClr val="548235"/>
            </a:solidFill>
            <a:prstDash val="solid"/>
          </a:ln>
        </p:spPr>
        <p:txBody>
          <a:bodyPr/>
          <a:lstStyle/>
          <a:p>
            <a:endParaRPr lang="ko-KR" altLang="en-US"/>
          </a:p>
        </p:txBody>
      </p:sp>
      <p:sp>
        <p:nvSpPr>
          <p:cNvPr id="65" name="Text 62"/>
          <p:cNvSpPr/>
          <p:nvPr/>
        </p:nvSpPr>
        <p:spPr>
          <a:xfrm>
            <a:off x="7040880" y="3919649"/>
            <a:ext cx="3703320"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548235"/>
                </a:solidFill>
                <a:latin typeface="Arial" pitchFamily="34" charset="0"/>
                <a:ea typeface="Arial" pitchFamily="34" charset="-122"/>
                <a:cs typeface="Arial" pitchFamily="34" charset="-120"/>
              </a:rPr>
              <a:t>±5 fills the gap between ±4 and ±6.</a:t>
            </a:r>
            <a:endParaRPr lang="en-US" sz="1080" dirty="0"/>
          </a:p>
        </p:txBody>
      </p:sp>
      <p:sp>
        <p:nvSpPr>
          <p:cNvPr id="66" name="Shape 63"/>
          <p:cNvSpPr/>
          <p:nvPr/>
        </p:nvSpPr>
        <p:spPr>
          <a:xfrm>
            <a:off x="6858000" y="4526280"/>
            <a:ext cx="4069080" cy="566928"/>
          </a:xfrm>
          <a:prstGeom prst="roundRect">
            <a:avLst>
              <a:gd name="adj" fmla="val 9677"/>
            </a:avLst>
          </a:prstGeom>
          <a:solidFill>
            <a:srgbClr val="FDECEC"/>
          </a:solidFill>
          <a:ln w="12700">
            <a:solidFill>
              <a:srgbClr val="E6B8B7"/>
            </a:solidFill>
            <a:prstDash val="solid"/>
          </a:ln>
        </p:spPr>
        <p:txBody>
          <a:bodyPr/>
          <a:lstStyle/>
          <a:p>
            <a:endParaRPr lang="ko-KR" altLang="en-US"/>
          </a:p>
        </p:txBody>
      </p:sp>
      <p:sp>
        <p:nvSpPr>
          <p:cNvPr id="67" name="Text 64"/>
          <p:cNvSpPr/>
          <p:nvPr/>
        </p:nvSpPr>
        <p:spPr>
          <a:xfrm>
            <a:off x="7040880" y="4690872"/>
            <a:ext cx="3703320"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C00000"/>
                </a:solidFill>
                <a:latin typeface="Arial" pitchFamily="34" charset="0"/>
                <a:ea typeface="Arial" pitchFamily="34" charset="-122"/>
                <a:cs typeface="Arial" pitchFamily="34" charset="-120"/>
              </a:rPr>
              <a:t>±8 extends the dynamic range beyond ±6.</a:t>
            </a:r>
            <a:endParaRPr lang="en-US" sz="10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Final Candidate Data Types Used by BitMoD</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40</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At this point, BitMoD has defined four Special Value candidates for each precision. The next section chooses one per group.</a:t>
            </a:r>
            <a:endParaRPr lang="en-US" sz="1300" dirty="0"/>
          </a:p>
        </p:txBody>
      </p:sp>
      <p:sp>
        <p:nvSpPr>
          <p:cNvPr id="9" name="Shape 6"/>
          <p:cNvSpPr/>
          <p:nvPr/>
        </p:nvSpPr>
        <p:spPr>
          <a:xfrm>
            <a:off x="868680" y="1508760"/>
            <a:ext cx="1508760" cy="502920"/>
          </a:xfrm>
          <a:prstGeom prst="rect">
            <a:avLst/>
          </a:prstGeom>
          <a:solidFill>
            <a:srgbClr val="00245D"/>
          </a:solidFill>
          <a:ln w="6350">
            <a:solidFill>
              <a:srgbClr val="D9E2F3"/>
            </a:solidFill>
            <a:prstDash val="solid"/>
          </a:ln>
        </p:spPr>
        <p:txBody>
          <a:bodyPr/>
          <a:lstStyle/>
          <a:p>
            <a:endParaRPr lang="ko-KR" altLang="en-US"/>
          </a:p>
        </p:txBody>
      </p:sp>
      <p:sp>
        <p:nvSpPr>
          <p:cNvPr id="10" name="Text 7"/>
          <p:cNvSpPr/>
          <p:nvPr/>
        </p:nvSpPr>
        <p:spPr>
          <a:xfrm>
            <a:off x="905256" y="1627632"/>
            <a:ext cx="143560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Basic Dtype</a:t>
            </a:r>
            <a:endParaRPr lang="en-US" sz="1100" dirty="0"/>
          </a:p>
        </p:txBody>
      </p:sp>
      <p:sp>
        <p:nvSpPr>
          <p:cNvPr id="11" name="Shape 8"/>
          <p:cNvSpPr/>
          <p:nvPr/>
        </p:nvSpPr>
        <p:spPr>
          <a:xfrm>
            <a:off x="2377440" y="1508760"/>
            <a:ext cx="2011680" cy="502920"/>
          </a:xfrm>
          <a:prstGeom prst="rect">
            <a:avLst/>
          </a:prstGeom>
          <a:solidFill>
            <a:srgbClr val="00245D"/>
          </a:solidFill>
          <a:ln w="6350">
            <a:solidFill>
              <a:srgbClr val="D9E2F3"/>
            </a:solidFill>
            <a:prstDash val="solid"/>
          </a:ln>
        </p:spPr>
        <p:txBody>
          <a:bodyPr/>
          <a:lstStyle/>
          <a:p>
            <a:endParaRPr lang="ko-KR" altLang="en-US"/>
          </a:p>
        </p:txBody>
      </p:sp>
      <p:sp>
        <p:nvSpPr>
          <p:cNvPr id="12" name="Text 9"/>
          <p:cNvSpPr/>
          <p:nvPr/>
        </p:nvSpPr>
        <p:spPr>
          <a:xfrm>
            <a:off x="2414016" y="1627632"/>
            <a:ext cx="193852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Extended Dtype</a:t>
            </a:r>
            <a:endParaRPr lang="en-US" sz="1100" dirty="0"/>
          </a:p>
        </p:txBody>
      </p:sp>
      <p:sp>
        <p:nvSpPr>
          <p:cNvPr id="13" name="Shape 10"/>
          <p:cNvSpPr/>
          <p:nvPr/>
        </p:nvSpPr>
        <p:spPr>
          <a:xfrm>
            <a:off x="4389120" y="1508760"/>
            <a:ext cx="2011680" cy="502920"/>
          </a:xfrm>
          <a:prstGeom prst="rect">
            <a:avLst/>
          </a:prstGeom>
          <a:solidFill>
            <a:srgbClr val="00245D"/>
          </a:solidFill>
          <a:ln w="6350">
            <a:solidFill>
              <a:srgbClr val="D9E2F3"/>
            </a:solidFill>
            <a:prstDash val="solid"/>
          </a:ln>
        </p:spPr>
        <p:txBody>
          <a:bodyPr/>
          <a:lstStyle/>
          <a:p>
            <a:endParaRPr lang="ko-KR" altLang="en-US"/>
          </a:p>
        </p:txBody>
      </p:sp>
      <p:sp>
        <p:nvSpPr>
          <p:cNvPr id="14" name="Text 11"/>
          <p:cNvSpPr/>
          <p:nvPr/>
        </p:nvSpPr>
        <p:spPr>
          <a:xfrm>
            <a:off x="4425696" y="1627632"/>
            <a:ext cx="193852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Special Value</a:t>
            </a:r>
            <a:endParaRPr lang="en-US" sz="1100" dirty="0"/>
          </a:p>
        </p:txBody>
      </p:sp>
      <p:sp>
        <p:nvSpPr>
          <p:cNvPr id="15" name="Shape 12"/>
          <p:cNvSpPr/>
          <p:nvPr/>
        </p:nvSpPr>
        <p:spPr>
          <a:xfrm>
            <a:off x="6400800" y="1508760"/>
            <a:ext cx="4617720" cy="502920"/>
          </a:xfrm>
          <a:prstGeom prst="rect">
            <a:avLst/>
          </a:prstGeom>
          <a:solidFill>
            <a:srgbClr val="00245D"/>
          </a:solidFill>
          <a:ln w="6350">
            <a:solidFill>
              <a:srgbClr val="D9E2F3"/>
            </a:solidFill>
            <a:prstDash val="solid"/>
          </a:ln>
        </p:spPr>
        <p:txBody>
          <a:bodyPr/>
          <a:lstStyle/>
          <a:p>
            <a:endParaRPr lang="ko-KR" altLang="en-US"/>
          </a:p>
        </p:txBody>
      </p:sp>
      <p:sp>
        <p:nvSpPr>
          <p:cNvPr id="16" name="Text 13"/>
          <p:cNvSpPr/>
          <p:nvPr/>
        </p:nvSpPr>
        <p:spPr>
          <a:xfrm>
            <a:off x="6437376" y="1627632"/>
            <a:ext cx="454456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Purpose</a:t>
            </a:r>
            <a:endParaRPr lang="en-US" sz="1100" dirty="0"/>
          </a:p>
        </p:txBody>
      </p:sp>
      <p:sp>
        <p:nvSpPr>
          <p:cNvPr id="17" name="Shape 14"/>
          <p:cNvSpPr/>
          <p:nvPr/>
        </p:nvSpPr>
        <p:spPr>
          <a:xfrm>
            <a:off x="868680" y="2011680"/>
            <a:ext cx="1508760" cy="502920"/>
          </a:xfrm>
          <a:prstGeom prst="rect">
            <a:avLst/>
          </a:prstGeom>
          <a:solidFill>
            <a:srgbClr val="FFFFFF"/>
          </a:solidFill>
          <a:ln w="6350">
            <a:solidFill>
              <a:srgbClr val="D9E2F3"/>
            </a:solidFill>
            <a:prstDash val="solid"/>
          </a:ln>
        </p:spPr>
        <p:txBody>
          <a:bodyPr/>
          <a:lstStyle/>
          <a:p>
            <a:endParaRPr lang="ko-KR" altLang="en-US"/>
          </a:p>
        </p:txBody>
      </p:sp>
      <p:sp>
        <p:nvSpPr>
          <p:cNvPr id="18" name="Text 15"/>
          <p:cNvSpPr/>
          <p:nvPr/>
        </p:nvSpPr>
        <p:spPr>
          <a:xfrm>
            <a:off x="914400" y="2130552"/>
            <a:ext cx="1417320"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222222"/>
                </a:solidFill>
                <a:latin typeface="Arial" pitchFamily="34" charset="0"/>
                <a:ea typeface="Arial" pitchFamily="34" charset="-122"/>
                <a:cs typeface="Arial" pitchFamily="34" charset="-120"/>
              </a:rPr>
              <a:t>FP3</a:t>
            </a:r>
            <a:endParaRPr lang="en-US" sz="1100" dirty="0"/>
          </a:p>
        </p:txBody>
      </p:sp>
      <p:sp>
        <p:nvSpPr>
          <p:cNvPr id="19" name="Shape 16"/>
          <p:cNvSpPr/>
          <p:nvPr/>
        </p:nvSpPr>
        <p:spPr>
          <a:xfrm>
            <a:off x="2377440" y="2011680"/>
            <a:ext cx="2011680" cy="502920"/>
          </a:xfrm>
          <a:prstGeom prst="rect">
            <a:avLst/>
          </a:prstGeom>
          <a:solidFill>
            <a:srgbClr val="FFFFFF"/>
          </a:solidFill>
          <a:ln w="6350">
            <a:solidFill>
              <a:srgbClr val="D9E2F3"/>
            </a:solidFill>
            <a:prstDash val="solid"/>
          </a:ln>
        </p:spPr>
        <p:txBody>
          <a:bodyPr/>
          <a:lstStyle/>
          <a:p>
            <a:endParaRPr lang="ko-KR" altLang="en-US"/>
          </a:p>
        </p:txBody>
      </p:sp>
      <p:sp>
        <p:nvSpPr>
          <p:cNvPr id="20" name="Text 17"/>
          <p:cNvSpPr/>
          <p:nvPr/>
        </p:nvSpPr>
        <p:spPr>
          <a:xfrm>
            <a:off x="2423160" y="2130552"/>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FP3-ER</a:t>
            </a:r>
            <a:endParaRPr lang="en-US" sz="1100" dirty="0"/>
          </a:p>
        </p:txBody>
      </p:sp>
      <p:sp>
        <p:nvSpPr>
          <p:cNvPr id="21" name="Shape 18"/>
          <p:cNvSpPr/>
          <p:nvPr/>
        </p:nvSpPr>
        <p:spPr>
          <a:xfrm>
            <a:off x="4389120" y="2011680"/>
            <a:ext cx="2011680" cy="502920"/>
          </a:xfrm>
          <a:prstGeom prst="rect">
            <a:avLst/>
          </a:prstGeom>
          <a:solidFill>
            <a:srgbClr val="FFFFFF"/>
          </a:solidFill>
          <a:ln w="6350">
            <a:solidFill>
              <a:srgbClr val="D9E2F3"/>
            </a:solidFill>
            <a:prstDash val="solid"/>
          </a:ln>
        </p:spPr>
        <p:txBody>
          <a:bodyPr/>
          <a:lstStyle/>
          <a:p>
            <a:endParaRPr lang="ko-KR" altLang="en-US"/>
          </a:p>
        </p:txBody>
      </p:sp>
      <p:sp>
        <p:nvSpPr>
          <p:cNvPr id="22" name="Text 19"/>
          <p:cNvSpPr/>
          <p:nvPr/>
        </p:nvSpPr>
        <p:spPr>
          <a:xfrm>
            <a:off x="4434840" y="2130552"/>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−3 or +3</a:t>
            </a:r>
            <a:endParaRPr lang="en-US" sz="1100" dirty="0"/>
          </a:p>
        </p:txBody>
      </p:sp>
      <p:sp>
        <p:nvSpPr>
          <p:cNvPr id="23" name="Shape 20"/>
          <p:cNvSpPr/>
          <p:nvPr/>
        </p:nvSpPr>
        <p:spPr>
          <a:xfrm>
            <a:off x="6400800" y="2011680"/>
            <a:ext cx="4617720" cy="502920"/>
          </a:xfrm>
          <a:prstGeom prst="rect">
            <a:avLst/>
          </a:prstGeom>
          <a:solidFill>
            <a:srgbClr val="FFFFFF"/>
          </a:solidFill>
          <a:ln w="6350">
            <a:solidFill>
              <a:srgbClr val="D9E2F3"/>
            </a:solidFill>
            <a:prstDash val="solid"/>
          </a:ln>
        </p:spPr>
        <p:txBody>
          <a:bodyPr/>
          <a:lstStyle/>
          <a:p>
            <a:endParaRPr lang="ko-KR" altLang="en-US"/>
          </a:p>
        </p:txBody>
      </p:sp>
      <p:sp>
        <p:nvSpPr>
          <p:cNvPr id="24" name="Text 21"/>
          <p:cNvSpPr/>
          <p:nvPr/>
        </p:nvSpPr>
        <p:spPr>
          <a:xfrm>
            <a:off x="6446520" y="2130552"/>
            <a:ext cx="452628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Resolution Extend</a:t>
            </a:r>
            <a:endParaRPr lang="en-US" sz="1100" dirty="0"/>
          </a:p>
        </p:txBody>
      </p:sp>
      <p:sp>
        <p:nvSpPr>
          <p:cNvPr id="25" name="Shape 22"/>
          <p:cNvSpPr/>
          <p:nvPr/>
        </p:nvSpPr>
        <p:spPr>
          <a:xfrm>
            <a:off x="868680" y="2514600"/>
            <a:ext cx="1508760" cy="502920"/>
          </a:xfrm>
          <a:prstGeom prst="rect">
            <a:avLst/>
          </a:prstGeom>
          <a:solidFill>
            <a:srgbClr val="F5F7FA"/>
          </a:solidFill>
          <a:ln w="6350">
            <a:solidFill>
              <a:srgbClr val="D9E2F3"/>
            </a:solidFill>
            <a:prstDash val="solid"/>
          </a:ln>
        </p:spPr>
        <p:txBody>
          <a:bodyPr/>
          <a:lstStyle/>
          <a:p>
            <a:endParaRPr lang="ko-KR" altLang="en-US"/>
          </a:p>
        </p:txBody>
      </p:sp>
      <p:sp>
        <p:nvSpPr>
          <p:cNvPr id="26" name="Text 23"/>
          <p:cNvSpPr/>
          <p:nvPr/>
        </p:nvSpPr>
        <p:spPr>
          <a:xfrm>
            <a:off x="914400" y="2633472"/>
            <a:ext cx="1417320"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222222"/>
                </a:solidFill>
                <a:latin typeface="Arial" pitchFamily="34" charset="0"/>
                <a:ea typeface="Arial" pitchFamily="34" charset="-122"/>
                <a:cs typeface="Arial" pitchFamily="34" charset="-120"/>
              </a:rPr>
              <a:t>FP3</a:t>
            </a:r>
            <a:endParaRPr lang="en-US" sz="1100" dirty="0"/>
          </a:p>
        </p:txBody>
      </p:sp>
      <p:sp>
        <p:nvSpPr>
          <p:cNvPr id="27" name="Shape 24"/>
          <p:cNvSpPr/>
          <p:nvPr/>
        </p:nvSpPr>
        <p:spPr>
          <a:xfrm>
            <a:off x="2377440" y="2514600"/>
            <a:ext cx="2011680" cy="502920"/>
          </a:xfrm>
          <a:prstGeom prst="rect">
            <a:avLst/>
          </a:prstGeom>
          <a:solidFill>
            <a:srgbClr val="F5F7FA"/>
          </a:solidFill>
          <a:ln w="6350">
            <a:solidFill>
              <a:srgbClr val="D9E2F3"/>
            </a:solidFill>
            <a:prstDash val="solid"/>
          </a:ln>
        </p:spPr>
        <p:txBody>
          <a:bodyPr/>
          <a:lstStyle/>
          <a:p>
            <a:endParaRPr lang="ko-KR" altLang="en-US"/>
          </a:p>
        </p:txBody>
      </p:sp>
      <p:sp>
        <p:nvSpPr>
          <p:cNvPr id="28" name="Text 25"/>
          <p:cNvSpPr/>
          <p:nvPr/>
        </p:nvSpPr>
        <p:spPr>
          <a:xfrm>
            <a:off x="2423160" y="2633472"/>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FP3-EA</a:t>
            </a:r>
            <a:endParaRPr lang="en-US" sz="1100" dirty="0"/>
          </a:p>
        </p:txBody>
      </p:sp>
      <p:sp>
        <p:nvSpPr>
          <p:cNvPr id="29" name="Shape 26"/>
          <p:cNvSpPr/>
          <p:nvPr/>
        </p:nvSpPr>
        <p:spPr>
          <a:xfrm>
            <a:off x="4389120" y="2514600"/>
            <a:ext cx="2011680" cy="502920"/>
          </a:xfrm>
          <a:prstGeom prst="rect">
            <a:avLst/>
          </a:prstGeom>
          <a:solidFill>
            <a:srgbClr val="F5F7FA"/>
          </a:solidFill>
          <a:ln w="6350">
            <a:solidFill>
              <a:srgbClr val="D9E2F3"/>
            </a:solidFill>
            <a:prstDash val="solid"/>
          </a:ln>
        </p:spPr>
        <p:txBody>
          <a:bodyPr/>
          <a:lstStyle/>
          <a:p>
            <a:endParaRPr lang="ko-KR" altLang="en-US"/>
          </a:p>
        </p:txBody>
      </p:sp>
      <p:sp>
        <p:nvSpPr>
          <p:cNvPr id="30" name="Text 27"/>
          <p:cNvSpPr/>
          <p:nvPr/>
        </p:nvSpPr>
        <p:spPr>
          <a:xfrm>
            <a:off x="4434840" y="2633472"/>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−6 or +6</a:t>
            </a:r>
            <a:endParaRPr lang="en-US" sz="1100" dirty="0"/>
          </a:p>
        </p:txBody>
      </p:sp>
      <p:sp>
        <p:nvSpPr>
          <p:cNvPr id="31" name="Shape 28"/>
          <p:cNvSpPr/>
          <p:nvPr/>
        </p:nvSpPr>
        <p:spPr>
          <a:xfrm>
            <a:off x="6400800" y="2514600"/>
            <a:ext cx="4617720" cy="502920"/>
          </a:xfrm>
          <a:prstGeom prst="rect">
            <a:avLst/>
          </a:prstGeom>
          <a:solidFill>
            <a:srgbClr val="F5F7FA"/>
          </a:solidFill>
          <a:ln w="6350">
            <a:solidFill>
              <a:srgbClr val="D9E2F3"/>
            </a:solidFill>
            <a:prstDash val="solid"/>
          </a:ln>
        </p:spPr>
        <p:txBody>
          <a:bodyPr/>
          <a:lstStyle/>
          <a:p>
            <a:endParaRPr lang="ko-KR" altLang="en-US"/>
          </a:p>
        </p:txBody>
      </p:sp>
      <p:sp>
        <p:nvSpPr>
          <p:cNvPr id="32" name="Text 29"/>
          <p:cNvSpPr/>
          <p:nvPr/>
        </p:nvSpPr>
        <p:spPr>
          <a:xfrm>
            <a:off x="6446520" y="2633472"/>
            <a:ext cx="4526280" cy="146304"/>
          </a:xfrm>
          <a:prstGeom prst="rect">
            <a:avLst/>
          </a:prstGeom>
          <a:noFill/>
          <a:ln/>
        </p:spPr>
        <p:txBody>
          <a:bodyPr wrap="square" lIns="0" tIns="0" rIns="0" bIns="0" rtlCol="0" anchor="ctr">
            <a:normAutofit fontScale="92500" lnSpcReduction="10000"/>
          </a:bodyPr>
          <a:lstStyle/>
          <a:p>
            <a:pPr algn="ctr"/>
            <a:r>
              <a:rPr lang="en-US" sz="1100" dirty="0">
                <a:solidFill>
                  <a:srgbClr val="222222"/>
                </a:solidFill>
                <a:latin typeface="Arial" pitchFamily="34" charset="0"/>
                <a:ea typeface="Arial" pitchFamily="34" charset="-122"/>
                <a:cs typeface="Arial" pitchFamily="34" charset="-120"/>
              </a:rPr>
              <a:t>Asymmetry </a:t>
            </a:r>
            <a:r>
              <a:rPr lang="en-US" altLang="ko-KR" sz="1100" dirty="0">
                <a:solidFill>
                  <a:srgbClr val="222222"/>
                </a:solidFill>
                <a:latin typeface="Arial" pitchFamily="34" charset="0"/>
                <a:ea typeface="Arial" pitchFamily="34" charset="-122"/>
                <a:cs typeface="Arial" pitchFamily="34" charset="-120"/>
              </a:rPr>
              <a:t>Extend</a:t>
            </a:r>
            <a:endParaRPr lang="en-US" sz="1100" dirty="0"/>
          </a:p>
        </p:txBody>
      </p:sp>
      <p:sp>
        <p:nvSpPr>
          <p:cNvPr id="33" name="Shape 30"/>
          <p:cNvSpPr/>
          <p:nvPr/>
        </p:nvSpPr>
        <p:spPr>
          <a:xfrm>
            <a:off x="868680" y="3017520"/>
            <a:ext cx="1508760" cy="502920"/>
          </a:xfrm>
          <a:prstGeom prst="rect">
            <a:avLst/>
          </a:prstGeom>
          <a:solidFill>
            <a:srgbClr val="FFFFFF"/>
          </a:solidFill>
          <a:ln w="6350">
            <a:solidFill>
              <a:srgbClr val="D9E2F3"/>
            </a:solidFill>
            <a:prstDash val="solid"/>
          </a:ln>
        </p:spPr>
        <p:txBody>
          <a:bodyPr/>
          <a:lstStyle/>
          <a:p>
            <a:endParaRPr lang="ko-KR" altLang="en-US"/>
          </a:p>
        </p:txBody>
      </p:sp>
      <p:sp>
        <p:nvSpPr>
          <p:cNvPr id="34" name="Text 31"/>
          <p:cNvSpPr/>
          <p:nvPr/>
        </p:nvSpPr>
        <p:spPr>
          <a:xfrm>
            <a:off x="914400" y="3136392"/>
            <a:ext cx="1417320"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222222"/>
                </a:solidFill>
                <a:latin typeface="Arial" pitchFamily="34" charset="0"/>
                <a:ea typeface="Arial" pitchFamily="34" charset="-122"/>
                <a:cs typeface="Arial" pitchFamily="34" charset="-120"/>
              </a:rPr>
              <a:t>FP4</a:t>
            </a:r>
            <a:endParaRPr lang="en-US" sz="1100" dirty="0"/>
          </a:p>
        </p:txBody>
      </p:sp>
      <p:sp>
        <p:nvSpPr>
          <p:cNvPr id="35" name="Shape 32"/>
          <p:cNvSpPr/>
          <p:nvPr/>
        </p:nvSpPr>
        <p:spPr>
          <a:xfrm>
            <a:off x="2377440" y="3017520"/>
            <a:ext cx="2011680" cy="502920"/>
          </a:xfrm>
          <a:prstGeom prst="rect">
            <a:avLst/>
          </a:prstGeom>
          <a:solidFill>
            <a:srgbClr val="FFFFFF"/>
          </a:solidFill>
          <a:ln w="6350">
            <a:solidFill>
              <a:srgbClr val="D9E2F3"/>
            </a:solidFill>
            <a:prstDash val="solid"/>
          </a:ln>
        </p:spPr>
        <p:txBody>
          <a:bodyPr/>
          <a:lstStyle/>
          <a:p>
            <a:endParaRPr lang="ko-KR" altLang="en-US"/>
          </a:p>
        </p:txBody>
      </p:sp>
      <p:sp>
        <p:nvSpPr>
          <p:cNvPr id="36" name="Text 33"/>
          <p:cNvSpPr/>
          <p:nvPr/>
        </p:nvSpPr>
        <p:spPr>
          <a:xfrm>
            <a:off x="2423160" y="3136392"/>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FP4-ER</a:t>
            </a:r>
            <a:endParaRPr lang="en-US" sz="1100" dirty="0"/>
          </a:p>
        </p:txBody>
      </p:sp>
      <p:sp>
        <p:nvSpPr>
          <p:cNvPr id="37" name="Shape 34"/>
          <p:cNvSpPr/>
          <p:nvPr/>
        </p:nvSpPr>
        <p:spPr>
          <a:xfrm>
            <a:off x="4389120" y="3017520"/>
            <a:ext cx="2011680" cy="502920"/>
          </a:xfrm>
          <a:prstGeom prst="rect">
            <a:avLst/>
          </a:prstGeom>
          <a:solidFill>
            <a:srgbClr val="FFFFFF"/>
          </a:solidFill>
          <a:ln w="6350">
            <a:solidFill>
              <a:srgbClr val="D9E2F3"/>
            </a:solidFill>
            <a:prstDash val="solid"/>
          </a:ln>
        </p:spPr>
        <p:txBody>
          <a:bodyPr/>
          <a:lstStyle/>
          <a:p>
            <a:endParaRPr lang="ko-KR" altLang="en-US"/>
          </a:p>
        </p:txBody>
      </p:sp>
      <p:sp>
        <p:nvSpPr>
          <p:cNvPr id="38" name="Text 35"/>
          <p:cNvSpPr/>
          <p:nvPr/>
        </p:nvSpPr>
        <p:spPr>
          <a:xfrm>
            <a:off x="4434840" y="3136392"/>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−5 or +5</a:t>
            </a:r>
            <a:endParaRPr lang="en-US" sz="1100" dirty="0"/>
          </a:p>
        </p:txBody>
      </p:sp>
      <p:sp>
        <p:nvSpPr>
          <p:cNvPr id="39" name="Shape 36"/>
          <p:cNvSpPr/>
          <p:nvPr/>
        </p:nvSpPr>
        <p:spPr>
          <a:xfrm>
            <a:off x="6400800" y="3017520"/>
            <a:ext cx="4617720" cy="502920"/>
          </a:xfrm>
          <a:prstGeom prst="rect">
            <a:avLst/>
          </a:prstGeom>
          <a:solidFill>
            <a:srgbClr val="FFFFFF"/>
          </a:solidFill>
          <a:ln w="6350">
            <a:solidFill>
              <a:srgbClr val="D9E2F3"/>
            </a:solidFill>
            <a:prstDash val="solid"/>
          </a:ln>
        </p:spPr>
        <p:txBody>
          <a:bodyPr/>
          <a:lstStyle/>
          <a:p>
            <a:endParaRPr lang="ko-KR" altLang="en-US"/>
          </a:p>
        </p:txBody>
      </p:sp>
      <p:sp>
        <p:nvSpPr>
          <p:cNvPr id="40" name="Text 37"/>
          <p:cNvSpPr/>
          <p:nvPr/>
        </p:nvSpPr>
        <p:spPr>
          <a:xfrm>
            <a:off x="6446520" y="3136392"/>
            <a:ext cx="4526280" cy="146304"/>
          </a:xfrm>
          <a:prstGeom prst="rect">
            <a:avLst/>
          </a:prstGeom>
          <a:noFill/>
          <a:ln/>
        </p:spPr>
        <p:txBody>
          <a:bodyPr wrap="square" lIns="0" tIns="0" rIns="0" bIns="0" rtlCol="0" anchor="ctr">
            <a:normAutofit fontScale="92500" lnSpcReduction="10000"/>
          </a:bodyPr>
          <a:lstStyle/>
          <a:p>
            <a:pPr algn="ctr"/>
            <a:r>
              <a:rPr lang="en-US" sz="1100" dirty="0">
                <a:solidFill>
                  <a:srgbClr val="222222"/>
                </a:solidFill>
                <a:latin typeface="Arial" pitchFamily="34" charset="0"/>
                <a:ea typeface="Arial" pitchFamily="34" charset="-122"/>
                <a:cs typeface="Arial" pitchFamily="34" charset="-120"/>
              </a:rPr>
              <a:t>Resolution </a:t>
            </a:r>
            <a:r>
              <a:rPr lang="en-US" altLang="ko-KR" sz="1100" dirty="0">
                <a:solidFill>
                  <a:srgbClr val="222222"/>
                </a:solidFill>
                <a:latin typeface="Arial" pitchFamily="34" charset="0"/>
                <a:ea typeface="Arial" pitchFamily="34" charset="-122"/>
                <a:cs typeface="Arial" pitchFamily="34" charset="-120"/>
              </a:rPr>
              <a:t>Extend</a:t>
            </a:r>
            <a:endParaRPr lang="en-US" sz="1100" dirty="0"/>
          </a:p>
        </p:txBody>
      </p:sp>
      <p:sp>
        <p:nvSpPr>
          <p:cNvPr id="41" name="Shape 38"/>
          <p:cNvSpPr/>
          <p:nvPr/>
        </p:nvSpPr>
        <p:spPr>
          <a:xfrm>
            <a:off x="868680" y="3520440"/>
            <a:ext cx="1508760" cy="502920"/>
          </a:xfrm>
          <a:prstGeom prst="rect">
            <a:avLst/>
          </a:prstGeom>
          <a:solidFill>
            <a:srgbClr val="F5F7FA"/>
          </a:solidFill>
          <a:ln w="6350">
            <a:solidFill>
              <a:srgbClr val="D9E2F3"/>
            </a:solidFill>
            <a:prstDash val="solid"/>
          </a:ln>
        </p:spPr>
        <p:txBody>
          <a:bodyPr/>
          <a:lstStyle/>
          <a:p>
            <a:endParaRPr lang="ko-KR" altLang="en-US"/>
          </a:p>
        </p:txBody>
      </p:sp>
      <p:sp>
        <p:nvSpPr>
          <p:cNvPr id="42" name="Text 39"/>
          <p:cNvSpPr/>
          <p:nvPr/>
        </p:nvSpPr>
        <p:spPr>
          <a:xfrm>
            <a:off x="914400" y="3639312"/>
            <a:ext cx="1417320"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222222"/>
                </a:solidFill>
                <a:latin typeface="Arial" pitchFamily="34" charset="0"/>
                <a:ea typeface="Arial" pitchFamily="34" charset="-122"/>
                <a:cs typeface="Arial" pitchFamily="34" charset="-120"/>
              </a:rPr>
              <a:t>FP4</a:t>
            </a:r>
            <a:endParaRPr lang="en-US" sz="1100" dirty="0"/>
          </a:p>
        </p:txBody>
      </p:sp>
      <p:sp>
        <p:nvSpPr>
          <p:cNvPr id="43" name="Shape 40"/>
          <p:cNvSpPr/>
          <p:nvPr/>
        </p:nvSpPr>
        <p:spPr>
          <a:xfrm>
            <a:off x="2377440" y="3520440"/>
            <a:ext cx="2011680" cy="502920"/>
          </a:xfrm>
          <a:prstGeom prst="rect">
            <a:avLst/>
          </a:prstGeom>
          <a:solidFill>
            <a:srgbClr val="F5F7FA"/>
          </a:solidFill>
          <a:ln w="6350">
            <a:solidFill>
              <a:srgbClr val="D9E2F3"/>
            </a:solidFill>
            <a:prstDash val="solid"/>
          </a:ln>
        </p:spPr>
        <p:txBody>
          <a:bodyPr/>
          <a:lstStyle/>
          <a:p>
            <a:endParaRPr lang="ko-KR" altLang="en-US"/>
          </a:p>
        </p:txBody>
      </p:sp>
      <p:sp>
        <p:nvSpPr>
          <p:cNvPr id="44" name="Text 41"/>
          <p:cNvSpPr/>
          <p:nvPr/>
        </p:nvSpPr>
        <p:spPr>
          <a:xfrm>
            <a:off x="2423160" y="3639312"/>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FP4-EA</a:t>
            </a:r>
            <a:endParaRPr lang="en-US" sz="1100" dirty="0"/>
          </a:p>
        </p:txBody>
      </p:sp>
      <p:sp>
        <p:nvSpPr>
          <p:cNvPr id="45" name="Shape 42"/>
          <p:cNvSpPr/>
          <p:nvPr/>
        </p:nvSpPr>
        <p:spPr>
          <a:xfrm>
            <a:off x="4389120" y="3520440"/>
            <a:ext cx="2011680" cy="502920"/>
          </a:xfrm>
          <a:prstGeom prst="rect">
            <a:avLst/>
          </a:prstGeom>
          <a:solidFill>
            <a:srgbClr val="F5F7FA"/>
          </a:solidFill>
          <a:ln w="6350">
            <a:solidFill>
              <a:srgbClr val="D9E2F3"/>
            </a:solidFill>
            <a:prstDash val="solid"/>
          </a:ln>
        </p:spPr>
        <p:txBody>
          <a:bodyPr/>
          <a:lstStyle/>
          <a:p>
            <a:endParaRPr lang="ko-KR" altLang="en-US"/>
          </a:p>
        </p:txBody>
      </p:sp>
      <p:sp>
        <p:nvSpPr>
          <p:cNvPr id="46" name="Text 43"/>
          <p:cNvSpPr/>
          <p:nvPr/>
        </p:nvSpPr>
        <p:spPr>
          <a:xfrm>
            <a:off x="4434840" y="3639312"/>
            <a:ext cx="19202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−8 or +8</a:t>
            </a:r>
            <a:endParaRPr lang="en-US" sz="1100" dirty="0"/>
          </a:p>
        </p:txBody>
      </p:sp>
      <p:sp>
        <p:nvSpPr>
          <p:cNvPr id="47" name="Shape 44"/>
          <p:cNvSpPr/>
          <p:nvPr/>
        </p:nvSpPr>
        <p:spPr>
          <a:xfrm>
            <a:off x="6400800" y="3520440"/>
            <a:ext cx="4617720" cy="502920"/>
          </a:xfrm>
          <a:prstGeom prst="rect">
            <a:avLst/>
          </a:prstGeom>
          <a:solidFill>
            <a:srgbClr val="F5F7FA"/>
          </a:solidFill>
          <a:ln w="6350">
            <a:solidFill>
              <a:srgbClr val="D9E2F3"/>
            </a:solidFill>
            <a:prstDash val="solid"/>
          </a:ln>
        </p:spPr>
        <p:txBody>
          <a:bodyPr/>
          <a:lstStyle/>
          <a:p>
            <a:endParaRPr lang="ko-KR" altLang="en-US"/>
          </a:p>
        </p:txBody>
      </p:sp>
      <p:sp>
        <p:nvSpPr>
          <p:cNvPr id="48" name="Text 45"/>
          <p:cNvSpPr/>
          <p:nvPr/>
        </p:nvSpPr>
        <p:spPr>
          <a:xfrm>
            <a:off x="6446520" y="3639312"/>
            <a:ext cx="4526280" cy="146304"/>
          </a:xfrm>
          <a:prstGeom prst="rect">
            <a:avLst/>
          </a:prstGeom>
          <a:noFill/>
          <a:ln/>
        </p:spPr>
        <p:txBody>
          <a:bodyPr wrap="square" lIns="0" tIns="0" rIns="0" bIns="0" rtlCol="0" anchor="ctr">
            <a:normAutofit fontScale="92500" lnSpcReduction="10000"/>
          </a:bodyPr>
          <a:lstStyle/>
          <a:p>
            <a:pPr algn="ctr"/>
            <a:r>
              <a:rPr lang="en-US" sz="1100" dirty="0">
                <a:solidFill>
                  <a:srgbClr val="222222"/>
                </a:solidFill>
                <a:latin typeface="Arial" pitchFamily="34" charset="0"/>
                <a:ea typeface="Arial" pitchFamily="34" charset="-122"/>
                <a:cs typeface="Arial" pitchFamily="34" charset="-120"/>
              </a:rPr>
              <a:t>Asymmetry </a:t>
            </a:r>
            <a:r>
              <a:rPr lang="en-US" altLang="ko-KR" sz="1100" dirty="0">
                <a:solidFill>
                  <a:srgbClr val="222222"/>
                </a:solidFill>
                <a:latin typeface="Arial" pitchFamily="34" charset="0"/>
                <a:ea typeface="Arial" pitchFamily="34" charset="-122"/>
                <a:cs typeface="Arial" pitchFamily="34" charset="-120"/>
              </a:rPr>
              <a:t>Extend</a:t>
            </a:r>
            <a:endParaRPr lang="en-US" sz="1100" dirty="0"/>
          </a:p>
        </p:txBody>
      </p:sp>
      <p:sp>
        <p:nvSpPr>
          <p:cNvPr id="49" name="Shape 46"/>
          <p:cNvSpPr/>
          <p:nvPr/>
        </p:nvSpPr>
        <p:spPr>
          <a:xfrm>
            <a:off x="1097280" y="4297680"/>
            <a:ext cx="4663440" cy="960120"/>
          </a:xfrm>
          <a:prstGeom prst="roundRect">
            <a:avLst>
              <a:gd name="adj" fmla="val 5714"/>
            </a:avLst>
          </a:prstGeom>
          <a:solidFill>
            <a:srgbClr val="F3F8FF"/>
          </a:solidFill>
          <a:ln w="13335">
            <a:solidFill>
              <a:srgbClr val="9EADCC"/>
            </a:solidFill>
            <a:prstDash val="solid"/>
          </a:ln>
        </p:spPr>
        <p:txBody>
          <a:bodyPr/>
          <a:lstStyle/>
          <a:p>
            <a:endParaRPr lang="ko-KR" altLang="en-US"/>
          </a:p>
        </p:txBody>
      </p:sp>
      <p:sp>
        <p:nvSpPr>
          <p:cNvPr id="50" name="Text 47"/>
          <p:cNvSpPr/>
          <p:nvPr/>
        </p:nvSpPr>
        <p:spPr>
          <a:xfrm>
            <a:off x="1261872" y="4407408"/>
            <a:ext cx="43342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Important distinction</a:t>
            </a:r>
            <a:endParaRPr lang="en-US" sz="1200" dirty="0"/>
          </a:p>
        </p:txBody>
      </p:sp>
      <p:sp>
        <p:nvSpPr>
          <p:cNvPr id="51" name="Text 48"/>
          <p:cNvSpPr/>
          <p:nvPr/>
        </p:nvSpPr>
        <p:spPr>
          <a:xfrm>
            <a:off x="1371600" y="4681488"/>
            <a:ext cx="4114800" cy="320040"/>
          </a:xfrm>
          <a:prstGeom prst="rect">
            <a:avLst/>
          </a:prstGeom>
          <a:noFill/>
          <a:ln/>
        </p:spPr>
        <p:txBody>
          <a:bodyPr wrap="square" lIns="0" tIns="0" rIns="0" bIns="0" rtlCol="0" anchor="ctr">
            <a:normAutofit lnSpcReduction="10000"/>
          </a:bodyPr>
          <a:lstStyle/>
          <a:p>
            <a:pPr marL="0" indent="0" algn="ctr">
              <a:buNone/>
            </a:pPr>
            <a:r>
              <a:rPr lang="en-US" sz="1140" b="1" dirty="0">
                <a:solidFill>
                  <a:srgbClr val="00245D"/>
                </a:solidFill>
                <a:latin typeface="Arial" pitchFamily="34" charset="0"/>
                <a:ea typeface="Arial" pitchFamily="34" charset="-122"/>
                <a:cs typeface="Arial" pitchFamily="34" charset="-120"/>
              </a:rPr>
              <a:t>This section defines candidate data types.</a:t>
            </a:r>
            <a:endParaRPr lang="en-US" sz="1140" dirty="0"/>
          </a:p>
          <a:p>
            <a:pPr marL="0" indent="0" algn="ctr">
              <a:buNone/>
            </a:pPr>
            <a:r>
              <a:rPr lang="en-US" sz="1140" b="1" dirty="0">
                <a:solidFill>
                  <a:srgbClr val="00245D"/>
                </a:solidFill>
                <a:latin typeface="Arial" pitchFamily="34" charset="0"/>
                <a:ea typeface="Arial" pitchFamily="34" charset="-122"/>
                <a:cs typeface="Arial" pitchFamily="34" charset="-120"/>
              </a:rPr>
              <a:t>It does not yet decide which one a group uses.</a:t>
            </a:r>
            <a:endParaRPr lang="en-US" sz="1140" dirty="0"/>
          </a:p>
        </p:txBody>
      </p:sp>
      <p:sp>
        <p:nvSpPr>
          <p:cNvPr id="52" name="Shape 49"/>
          <p:cNvSpPr/>
          <p:nvPr/>
        </p:nvSpPr>
        <p:spPr>
          <a:xfrm>
            <a:off x="6446520" y="4297680"/>
            <a:ext cx="4663440" cy="960120"/>
          </a:xfrm>
          <a:prstGeom prst="roundRect">
            <a:avLst>
              <a:gd name="adj" fmla="val 5714"/>
            </a:avLst>
          </a:prstGeom>
          <a:solidFill>
            <a:srgbClr val="FFFDF2"/>
          </a:solidFill>
          <a:ln w="13335">
            <a:solidFill>
              <a:srgbClr val="D6B656"/>
            </a:solidFill>
            <a:prstDash val="solid"/>
          </a:ln>
        </p:spPr>
        <p:txBody>
          <a:bodyPr/>
          <a:lstStyle/>
          <a:p>
            <a:endParaRPr lang="ko-KR" altLang="en-US"/>
          </a:p>
        </p:txBody>
      </p:sp>
      <p:sp>
        <p:nvSpPr>
          <p:cNvPr id="53" name="Text 50"/>
          <p:cNvSpPr/>
          <p:nvPr/>
        </p:nvSpPr>
        <p:spPr>
          <a:xfrm>
            <a:off x="6611112" y="4407408"/>
            <a:ext cx="43342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Next: </a:t>
            </a:r>
            <a:r>
              <a:rPr lang="en-US" sz="1200" b="1" dirty="0">
                <a:solidFill>
                  <a:srgbClr val="FF0000"/>
                </a:solidFill>
                <a:latin typeface="Arial" pitchFamily="34" charset="0"/>
                <a:ea typeface="Arial" pitchFamily="34" charset="-122"/>
                <a:cs typeface="Arial" pitchFamily="34" charset="-120"/>
              </a:rPr>
              <a:t>Fine-grained Adaptation</a:t>
            </a:r>
            <a:endParaRPr lang="en-US" sz="1200" dirty="0">
              <a:solidFill>
                <a:srgbClr val="FF0000"/>
              </a:solidFill>
            </a:endParaRPr>
          </a:p>
        </p:txBody>
      </p:sp>
      <p:sp>
        <p:nvSpPr>
          <p:cNvPr id="54" name="Text 51"/>
          <p:cNvSpPr/>
          <p:nvPr/>
        </p:nvSpPr>
        <p:spPr>
          <a:xfrm>
            <a:off x="6720840" y="4699536"/>
            <a:ext cx="4114800" cy="320040"/>
          </a:xfrm>
          <a:prstGeom prst="rect">
            <a:avLst/>
          </a:prstGeom>
          <a:noFill/>
          <a:ln/>
        </p:spPr>
        <p:txBody>
          <a:bodyPr wrap="square" lIns="0" tIns="0" rIns="0" bIns="0" rtlCol="0" anchor="ctr">
            <a:normAutofit lnSpcReduction="10000"/>
          </a:bodyPr>
          <a:lstStyle/>
          <a:p>
            <a:pPr marL="0" indent="0" algn="ctr">
              <a:buNone/>
            </a:pPr>
            <a:r>
              <a:rPr lang="en-US" sz="1140" b="1" dirty="0">
                <a:solidFill>
                  <a:srgbClr val="00245D"/>
                </a:solidFill>
                <a:latin typeface="Arial" pitchFamily="34" charset="0"/>
                <a:ea typeface="Arial" pitchFamily="34" charset="-122"/>
                <a:cs typeface="Arial" pitchFamily="34" charset="-120"/>
              </a:rPr>
              <a:t>Algorithm 1 tests these candidates per group and selects the one with the lowest MSE.</a:t>
            </a:r>
            <a:endParaRPr lang="en-US" sz="1140" dirty="0"/>
          </a:p>
        </p:txBody>
      </p:sp>
      <p:sp>
        <p:nvSpPr>
          <p:cNvPr id="55" name="Shape 52"/>
          <p:cNvSpPr/>
          <p:nvPr/>
        </p:nvSpPr>
        <p:spPr>
          <a:xfrm>
            <a:off x="5897880" y="4809744"/>
            <a:ext cx="457200" cy="0"/>
          </a:xfrm>
          <a:prstGeom prst="line">
            <a:avLst/>
          </a:prstGeom>
          <a:noFill/>
          <a:ln w="19050">
            <a:solidFill>
              <a:srgbClr val="2F75B5"/>
            </a:solidFill>
            <a:prstDash val="solid"/>
            <a:tailEnd type="triangle"/>
          </a:ln>
        </p:spPr>
        <p:txBody>
          <a:bodyPr/>
          <a:lstStyle/>
          <a:p>
            <a:endParaRPr lang="ko-KR" altLang="en-US"/>
          </a:p>
        </p:txBody>
      </p:sp>
      <p:sp>
        <p:nvSpPr>
          <p:cNvPr id="56" name="Shape 53"/>
          <p:cNvSpPr/>
          <p:nvPr/>
        </p:nvSpPr>
        <p:spPr>
          <a:xfrm>
            <a:off x="1143000" y="5715000"/>
            <a:ext cx="9829800" cy="438912"/>
          </a:xfrm>
          <a:prstGeom prst="roundRect">
            <a:avLst>
              <a:gd name="adj" fmla="val 12500"/>
            </a:avLst>
          </a:prstGeom>
          <a:solidFill>
            <a:srgbClr val="EAF2FF"/>
          </a:solidFill>
          <a:ln w="12700">
            <a:solidFill>
              <a:srgbClr val="7EA6E0"/>
            </a:solidFill>
            <a:prstDash val="solid"/>
          </a:ln>
        </p:spPr>
        <p:txBody>
          <a:bodyPr/>
          <a:lstStyle/>
          <a:p>
            <a:endParaRPr lang="ko-KR" altLang="en-US"/>
          </a:p>
        </p:txBody>
      </p:sp>
      <p:sp>
        <p:nvSpPr>
          <p:cNvPr id="57" name="Text 54"/>
          <p:cNvSpPr/>
          <p:nvPr/>
        </p:nvSpPr>
        <p:spPr>
          <a:xfrm>
            <a:off x="1325880" y="5833872"/>
            <a:ext cx="9464040" cy="146304"/>
          </a:xfrm>
          <a:prstGeom prst="rect">
            <a:avLst/>
          </a:prstGeom>
          <a:noFill/>
          <a:ln/>
        </p:spPr>
        <p:txBody>
          <a:bodyPr wrap="square" lIns="0" tIns="0" rIns="0" bIns="0" rtlCol="0" anchor="ctr">
            <a:normAutofit lnSpcReduction="10000"/>
          </a:bodyPr>
          <a:lstStyle/>
          <a:p>
            <a:pPr marL="0" indent="0" algn="ctr">
              <a:buNone/>
            </a:pPr>
            <a:r>
              <a:rPr lang="en-US" sz="1060" b="1" dirty="0">
                <a:solidFill>
                  <a:srgbClr val="00245D"/>
                </a:solidFill>
                <a:latin typeface="Arial" pitchFamily="34" charset="0"/>
                <a:ea typeface="Arial" pitchFamily="34" charset="-122"/>
                <a:cs typeface="Arial" pitchFamily="34" charset="-120"/>
              </a:rPr>
              <a:t>Core message: BitMoD combines FP’s Gaussian-like representation with asymmetric special values using a hardware-friendly encoding.</a:t>
            </a:r>
            <a:endParaRPr lang="en-US" sz="106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B. Fine-grained Data Type Adaptation: Motivation</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41</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Asymmetric FP3/FP4 defines candidate Special Values. Fine-grained adaptation decides which one each weight group should use.</a:t>
            </a:r>
            <a:endParaRPr lang="en-US" sz="1300" dirty="0"/>
          </a:p>
        </p:txBody>
      </p:sp>
      <p:sp>
        <p:nvSpPr>
          <p:cNvPr id="9" name="Shape 6"/>
          <p:cNvSpPr/>
          <p:nvPr/>
        </p:nvSpPr>
        <p:spPr>
          <a:xfrm>
            <a:off x="685800" y="1508760"/>
            <a:ext cx="4983480" cy="4526280"/>
          </a:xfrm>
          <a:prstGeom prst="roundRect">
            <a:avLst>
              <a:gd name="adj" fmla="val 1212"/>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618488"/>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Previous section: candidate values</a:t>
            </a:r>
            <a:endParaRPr lang="en-US" sz="1200" dirty="0"/>
          </a:p>
        </p:txBody>
      </p:sp>
      <p:sp>
        <p:nvSpPr>
          <p:cNvPr id="11" name="Shape 8"/>
          <p:cNvSpPr/>
          <p:nvPr/>
        </p:nvSpPr>
        <p:spPr>
          <a:xfrm>
            <a:off x="807720" y="2354580"/>
            <a:ext cx="1005840" cy="585216"/>
          </a:xfrm>
          <a:prstGeom prst="rect">
            <a:avLst/>
          </a:prstGeom>
          <a:solidFill>
            <a:srgbClr val="00245D"/>
          </a:solidFill>
          <a:ln w="6350">
            <a:solidFill>
              <a:srgbClr val="D9E2F3"/>
            </a:solidFill>
            <a:prstDash val="solid"/>
          </a:ln>
        </p:spPr>
        <p:txBody>
          <a:bodyPr/>
          <a:lstStyle/>
          <a:p>
            <a:endParaRPr lang="ko-KR" altLang="en-US"/>
          </a:p>
        </p:txBody>
      </p:sp>
      <p:sp>
        <p:nvSpPr>
          <p:cNvPr id="12" name="Text 9"/>
          <p:cNvSpPr/>
          <p:nvPr/>
        </p:nvSpPr>
        <p:spPr>
          <a:xfrm>
            <a:off x="844296" y="2464308"/>
            <a:ext cx="932688" cy="16459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rial" pitchFamily="34" charset="0"/>
                <a:ea typeface="Arial" pitchFamily="34" charset="-122"/>
                <a:cs typeface="Arial" pitchFamily="34" charset="-120"/>
              </a:rPr>
              <a:t>Precision</a:t>
            </a:r>
            <a:endParaRPr lang="en-US" sz="900" dirty="0"/>
          </a:p>
        </p:txBody>
      </p:sp>
      <p:sp>
        <p:nvSpPr>
          <p:cNvPr id="13" name="Shape 10"/>
          <p:cNvSpPr/>
          <p:nvPr/>
        </p:nvSpPr>
        <p:spPr>
          <a:xfrm>
            <a:off x="1813560" y="2354580"/>
            <a:ext cx="2240280" cy="585216"/>
          </a:xfrm>
          <a:prstGeom prst="rect">
            <a:avLst/>
          </a:prstGeom>
          <a:solidFill>
            <a:srgbClr val="00245D"/>
          </a:solidFill>
          <a:ln w="6350">
            <a:solidFill>
              <a:srgbClr val="D9E2F3"/>
            </a:solidFill>
            <a:prstDash val="solid"/>
          </a:ln>
        </p:spPr>
        <p:txBody>
          <a:bodyPr/>
          <a:lstStyle/>
          <a:p>
            <a:endParaRPr lang="ko-KR" altLang="en-US"/>
          </a:p>
        </p:txBody>
      </p:sp>
      <p:sp>
        <p:nvSpPr>
          <p:cNvPr id="14" name="Text 11"/>
          <p:cNvSpPr/>
          <p:nvPr/>
        </p:nvSpPr>
        <p:spPr>
          <a:xfrm>
            <a:off x="1850136" y="2464308"/>
            <a:ext cx="2167128" cy="16459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rial" pitchFamily="34" charset="0"/>
                <a:ea typeface="Arial" pitchFamily="34" charset="-122"/>
                <a:cs typeface="Arial" pitchFamily="34" charset="-120"/>
              </a:rPr>
              <a:t>Basic Values</a:t>
            </a:r>
            <a:endParaRPr lang="en-US" sz="900" dirty="0"/>
          </a:p>
        </p:txBody>
      </p:sp>
      <p:sp>
        <p:nvSpPr>
          <p:cNvPr id="15" name="Shape 12"/>
          <p:cNvSpPr/>
          <p:nvPr/>
        </p:nvSpPr>
        <p:spPr>
          <a:xfrm>
            <a:off x="4053840" y="2354580"/>
            <a:ext cx="1417320" cy="585216"/>
          </a:xfrm>
          <a:prstGeom prst="rect">
            <a:avLst/>
          </a:prstGeom>
          <a:solidFill>
            <a:srgbClr val="00245D"/>
          </a:solidFill>
          <a:ln w="6350">
            <a:solidFill>
              <a:srgbClr val="D9E2F3"/>
            </a:solidFill>
            <a:prstDash val="solid"/>
          </a:ln>
        </p:spPr>
        <p:txBody>
          <a:bodyPr/>
          <a:lstStyle/>
          <a:p>
            <a:endParaRPr lang="ko-KR" altLang="en-US"/>
          </a:p>
        </p:txBody>
      </p:sp>
      <p:sp>
        <p:nvSpPr>
          <p:cNvPr id="16" name="Text 13"/>
          <p:cNvSpPr/>
          <p:nvPr/>
        </p:nvSpPr>
        <p:spPr>
          <a:xfrm>
            <a:off x="4090416" y="2464308"/>
            <a:ext cx="1344168" cy="16459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rial" pitchFamily="34" charset="0"/>
                <a:ea typeface="Arial" pitchFamily="34" charset="-122"/>
                <a:cs typeface="Arial" pitchFamily="34" charset="-120"/>
              </a:rPr>
              <a:t>Special Values</a:t>
            </a:r>
            <a:endParaRPr lang="en-US" sz="900" dirty="0"/>
          </a:p>
        </p:txBody>
      </p:sp>
      <p:sp>
        <p:nvSpPr>
          <p:cNvPr id="17" name="Shape 14"/>
          <p:cNvSpPr/>
          <p:nvPr/>
        </p:nvSpPr>
        <p:spPr>
          <a:xfrm>
            <a:off x="807720" y="2939796"/>
            <a:ext cx="1005840" cy="585216"/>
          </a:xfrm>
          <a:prstGeom prst="rect">
            <a:avLst/>
          </a:prstGeom>
          <a:solidFill>
            <a:srgbClr val="FFFFFF"/>
          </a:solidFill>
          <a:ln w="6350">
            <a:solidFill>
              <a:srgbClr val="D9E2F3"/>
            </a:solidFill>
            <a:prstDash val="solid"/>
          </a:ln>
        </p:spPr>
        <p:txBody>
          <a:bodyPr/>
          <a:lstStyle/>
          <a:p>
            <a:endParaRPr lang="ko-KR" altLang="en-US"/>
          </a:p>
        </p:txBody>
      </p:sp>
      <p:sp>
        <p:nvSpPr>
          <p:cNvPr id="18" name="Text 15"/>
          <p:cNvSpPr/>
          <p:nvPr/>
        </p:nvSpPr>
        <p:spPr>
          <a:xfrm>
            <a:off x="853440" y="3049524"/>
            <a:ext cx="914400" cy="438912"/>
          </a:xfrm>
          <a:prstGeom prst="rect">
            <a:avLst/>
          </a:prstGeom>
          <a:noFill/>
          <a:ln/>
        </p:spPr>
        <p:txBody>
          <a:bodyPr wrap="square" lIns="0" tIns="0" rIns="0" bIns="0" rtlCol="0" anchor="ctr">
            <a:normAutofit/>
          </a:bodyPr>
          <a:lstStyle/>
          <a:p>
            <a:pPr marL="0" indent="0" algn="ctr">
              <a:buNone/>
            </a:pPr>
            <a:r>
              <a:rPr lang="en-US" sz="900" b="1" dirty="0">
                <a:solidFill>
                  <a:srgbClr val="222222"/>
                </a:solidFill>
                <a:latin typeface="Arial" pitchFamily="34" charset="0"/>
                <a:ea typeface="Arial" pitchFamily="34" charset="-122"/>
                <a:cs typeface="Arial" pitchFamily="34" charset="-120"/>
              </a:rPr>
              <a:t>FP3</a:t>
            </a:r>
            <a:endParaRPr lang="en-US" sz="900" dirty="0"/>
          </a:p>
        </p:txBody>
      </p:sp>
      <p:sp>
        <p:nvSpPr>
          <p:cNvPr id="19" name="Shape 16"/>
          <p:cNvSpPr/>
          <p:nvPr/>
        </p:nvSpPr>
        <p:spPr>
          <a:xfrm>
            <a:off x="1813560" y="2939796"/>
            <a:ext cx="2240280" cy="585216"/>
          </a:xfrm>
          <a:prstGeom prst="rect">
            <a:avLst/>
          </a:prstGeom>
          <a:solidFill>
            <a:srgbClr val="FFFFFF"/>
          </a:solidFill>
          <a:ln w="6350">
            <a:solidFill>
              <a:srgbClr val="D9E2F3"/>
            </a:solidFill>
            <a:prstDash val="solid"/>
          </a:ln>
        </p:spPr>
        <p:txBody>
          <a:bodyPr/>
          <a:lstStyle/>
          <a:p>
            <a:endParaRPr lang="ko-KR" altLang="en-US"/>
          </a:p>
        </p:txBody>
      </p:sp>
      <p:sp>
        <p:nvSpPr>
          <p:cNvPr id="20" name="Text 17"/>
          <p:cNvSpPr/>
          <p:nvPr/>
        </p:nvSpPr>
        <p:spPr>
          <a:xfrm>
            <a:off x="1859280" y="3049524"/>
            <a:ext cx="2148840" cy="438912"/>
          </a:xfrm>
          <a:prstGeom prst="rect">
            <a:avLst/>
          </a:prstGeom>
          <a:noFill/>
          <a:ln/>
        </p:spPr>
        <p:txBody>
          <a:bodyPr wrap="square" lIns="0" tIns="0" rIns="0" bIns="0" rtlCol="0" anchor="ctr">
            <a:normAutofit/>
          </a:bodyPr>
          <a:lstStyle/>
          <a:p>
            <a:pPr marL="0" indent="0" algn="ctr">
              <a:buNone/>
            </a:pPr>
            <a:r>
              <a:rPr lang="en-US" sz="900" dirty="0">
                <a:solidFill>
                  <a:srgbClr val="222222"/>
                </a:solidFill>
                <a:latin typeface="Arial" pitchFamily="34" charset="0"/>
                <a:ea typeface="Arial" pitchFamily="34" charset="-122"/>
                <a:cs typeface="Arial" pitchFamily="34" charset="-120"/>
              </a:rPr>
              <a:t>{0, ±1, ±2, ±4}</a:t>
            </a:r>
            <a:endParaRPr lang="en-US" sz="900" dirty="0"/>
          </a:p>
        </p:txBody>
      </p:sp>
      <p:sp>
        <p:nvSpPr>
          <p:cNvPr id="21" name="Shape 18"/>
          <p:cNvSpPr/>
          <p:nvPr/>
        </p:nvSpPr>
        <p:spPr>
          <a:xfrm>
            <a:off x="4053840" y="2939796"/>
            <a:ext cx="1417320" cy="585216"/>
          </a:xfrm>
          <a:prstGeom prst="rect">
            <a:avLst/>
          </a:prstGeom>
          <a:solidFill>
            <a:srgbClr val="FFFFFF"/>
          </a:solidFill>
          <a:ln w="6350">
            <a:solidFill>
              <a:srgbClr val="D9E2F3"/>
            </a:solidFill>
            <a:prstDash val="solid"/>
          </a:ln>
        </p:spPr>
        <p:txBody>
          <a:bodyPr/>
          <a:lstStyle/>
          <a:p>
            <a:endParaRPr lang="ko-KR" altLang="en-US"/>
          </a:p>
        </p:txBody>
      </p:sp>
      <p:sp>
        <p:nvSpPr>
          <p:cNvPr id="22" name="Text 19"/>
          <p:cNvSpPr/>
          <p:nvPr/>
        </p:nvSpPr>
        <p:spPr>
          <a:xfrm>
            <a:off x="4099560" y="3049524"/>
            <a:ext cx="1325880" cy="438912"/>
          </a:xfrm>
          <a:prstGeom prst="rect">
            <a:avLst/>
          </a:prstGeom>
          <a:noFill/>
          <a:ln/>
        </p:spPr>
        <p:txBody>
          <a:bodyPr wrap="square" lIns="0" tIns="0" rIns="0" bIns="0" rtlCol="0" anchor="ctr">
            <a:normAutofit/>
          </a:bodyPr>
          <a:lstStyle/>
          <a:p>
            <a:pPr marL="0" indent="0" algn="ctr">
              <a:buNone/>
            </a:pPr>
            <a:r>
              <a:rPr lang="en-US" sz="900" dirty="0">
                <a:solidFill>
                  <a:srgbClr val="222222"/>
                </a:solidFill>
                <a:latin typeface="Arial" pitchFamily="34" charset="0"/>
                <a:ea typeface="Arial" pitchFamily="34" charset="-122"/>
                <a:cs typeface="Arial" pitchFamily="34" charset="-120"/>
              </a:rPr>
              <a:t>{-3, +3, -6, +6}</a:t>
            </a:r>
            <a:endParaRPr lang="en-US" sz="900" dirty="0"/>
          </a:p>
        </p:txBody>
      </p:sp>
      <p:sp>
        <p:nvSpPr>
          <p:cNvPr id="23" name="Shape 20"/>
          <p:cNvSpPr/>
          <p:nvPr/>
        </p:nvSpPr>
        <p:spPr>
          <a:xfrm>
            <a:off x="807720" y="3525012"/>
            <a:ext cx="1005840" cy="585216"/>
          </a:xfrm>
          <a:prstGeom prst="rect">
            <a:avLst/>
          </a:prstGeom>
          <a:solidFill>
            <a:srgbClr val="F5F7FA"/>
          </a:solidFill>
          <a:ln w="6350">
            <a:solidFill>
              <a:srgbClr val="D9E2F3"/>
            </a:solidFill>
            <a:prstDash val="solid"/>
          </a:ln>
        </p:spPr>
        <p:txBody>
          <a:bodyPr/>
          <a:lstStyle/>
          <a:p>
            <a:endParaRPr lang="ko-KR" altLang="en-US"/>
          </a:p>
        </p:txBody>
      </p:sp>
      <p:sp>
        <p:nvSpPr>
          <p:cNvPr id="24" name="Text 21"/>
          <p:cNvSpPr/>
          <p:nvPr/>
        </p:nvSpPr>
        <p:spPr>
          <a:xfrm>
            <a:off x="853440" y="3634740"/>
            <a:ext cx="914400" cy="438912"/>
          </a:xfrm>
          <a:prstGeom prst="rect">
            <a:avLst/>
          </a:prstGeom>
          <a:noFill/>
          <a:ln/>
        </p:spPr>
        <p:txBody>
          <a:bodyPr wrap="square" lIns="0" tIns="0" rIns="0" bIns="0" rtlCol="0" anchor="ctr">
            <a:normAutofit/>
          </a:bodyPr>
          <a:lstStyle/>
          <a:p>
            <a:pPr marL="0" indent="0" algn="ctr">
              <a:buNone/>
            </a:pPr>
            <a:r>
              <a:rPr lang="en-US" sz="900" b="1" dirty="0">
                <a:solidFill>
                  <a:srgbClr val="222222"/>
                </a:solidFill>
                <a:latin typeface="Arial" pitchFamily="34" charset="0"/>
                <a:ea typeface="Arial" pitchFamily="34" charset="-122"/>
                <a:cs typeface="Arial" pitchFamily="34" charset="-120"/>
              </a:rPr>
              <a:t>FP4</a:t>
            </a:r>
            <a:endParaRPr lang="en-US" sz="900" dirty="0"/>
          </a:p>
        </p:txBody>
      </p:sp>
      <p:sp>
        <p:nvSpPr>
          <p:cNvPr id="25" name="Shape 22"/>
          <p:cNvSpPr/>
          <p:nvPr/>
        </p:nvSpPr>
        <p:spPr>
          <a:xfrm>
            <a:off x="1813560" y="3525012"/>
            <a:ext cx="2240280" cy="585216"/>
          </a:xfrm>
          <a:prstGeom prst="rect">
            <a:avLst/>
          </a:prstGeom>
          <a:solidFill>
            <a:srgbClr val="F5F7FA"/>
          </a:solidFill>
          <a:ln w="6350">
            <a:solidFill>
              <a:srgbClr val="D9E2F3"/>
            </a:solidFill>
            <a:prstDash val="solid"/>
          </a:ln>
        </p:spPr>
        <p:txBody>
          <a:bodyPr/>
          <a:lstStyle/>
          <a:p>
            <a:endParaRPr lang="ko-KR" altLang="en-US"/>
          </a:p>
        </p:txBody>
      </p:sp>
      <p:sp>
        <p:nvSpPr>
          <p:cNvPr id="26" name="Text 23"/>
          <p:cNvSpPr/>
          <p:nvPr/>
        </p:nvSpPr>
        <p:spPr>
          <a:xfrm>
            <a:off x="1859280" y="3634740"/>
            <a:ext cx="2148840" cy="438912"/>
          </a:xfrm>
          <a:prstGeom prst="rect">
            <a:avLst/>
          </a:prstGeom>
          <a:noFill/>
          <a:ln/>
        </p:spPr>
        <p:txBody>
          <a:bodyPr wrap="square" lIns="0" tIns="0" rIns="0" bIns="0" rtlCol="0" anchor="ctr">
            <a:normAutofit/>
          </a:bodyPr>
          <a:lstStyle/>
          <a:p>
            <a:pPr marL="0" indent="0" algn="ctr">
              <a:buNone/>
            </a:pPr>
            <a:r>
              <a:rPr lang="en-US" sz="900" dirty="0">
                <a:solidFill>
                  <a:srgbClr val="222222"/>
                </a:solidFill>
                <a:latin typeface="Arial" pitchFamily="34" charset="0"/>
                <a:ea typeface="Arial" pitchFamily="34" charset="-122"/>
                <a:cs typeface="Arial" pitchFamily="34" charset="-120"/>
              </a:rPr>
              <a:t>{0, ±0.5, ±1, ±1.5, ±2, ±3, ±4, ±6}</a:t>
            </a:r>
            <a:endParaRPr lang="en-US" sz="900" dirty="0"/>
          </a:p>
        </p:txBody>
      </p:sp>
      <p:sp>
        <p:nvSpPr>
          <p:cNvPr id="27" name="Shape 24"/>
          <p:cNvSpPr/>
          <p:nvPr/>
        </p:nvSpPr>
        <p:spPr>
          <a:xfrm>
            <a:off x="4053840" y="3525012"/>
            <a:ext cx="1417320" cy="585216"/>
          </a:xfrm>
          <a:prstGeom prst="rect">
            <a:avLst/>
          </a:prstGeom>
          <a:solidFill>
            <a:srgbClr val="F5F7FA"/>
          </a:solidFill>
          <a:ln w="6350">
            <a:solidFill>
              <a:srgbClr val="D9E2F3"/>
            </a:solidFill>
            <a:prstDash val="solid"/>
          </a:ln>
        </p:spPr>
        <p:txBody>
          <a:bodyPr/>
          <a:lstStyle/>
          <a:p>
            <a:endParaRPr lang="ko-KR" altLang="en-US"/>
          </a:p>
        </p:txBody>
      </p:sp>
      <p:sp>
        <p:nvSpPr>
          <p:cNvPr id="28" name="Text 25"/>
          <p:cNvSpPr/>
          <p:nvPr/>
        </p:nvSpPr>
        <p:spPr>
          <a:xfrm>
            <a:off x="4099560" y="3634740"/>
            <a:ext cx="1325880" cy="438912"/>
          </a:xfrm>
          <a:prstGeom prst="rect">
            <a:avLst/>
          </a:prstGeom>
          <a:noFill/>
          <a:ln/>
        </p:spPr>
        <p:txBody>
          <a:bodyPr wrap="square" lIns="0" tIns="0" rIns="0" bIns="0" rtlCol="0" anchor="ctr">
            <a:normAutofit/>
          </a:bodyPr>
          <a:lstStyle/>
          <a:p>
            <a:pPr marL="0" indent="0" algn="ctr">
              <a:buNone/>
            </a:pPr>
            <a:r>
              <a:rPr lang="en-US" sz="900" dirty="0">
                <a:solidFill>
                  <a:srgbClr val="222222"/>
                </a:solidFill>
                <a:latin typeface="Arial" pitchFamily="34" charset="0"/>
                <a:ea typeface="Arial" pitchFamily="34" charset="-122"/>
                <a:cs typeface="Arial" pitchFamily="34" charset="-120"/>
              </a:rPr>
              <a:t>{-5, +5, -8, +8}</a:t>
            </a:r>
            <a:endParaRPr lang="en-US" sz="900" dirty="0"/>
          </a:p>
        </p:txBody>
      </p:sp>
      <p:sp>
        <p:nvSpPr>
          <p:cNvPr id="29" name="Shape 26"/>
          <p:cNvSpPr/>
          <p:nvPr/>
        </p:nvSpPr>
        <p:spPr>
          <a:xfrm>
            <a:off x="944880" y="4402836"/>
            <a:ext cx="4434840" cy="749808"/>
          </a:xfrm>
          <a:prstGeom prst="roundRect">
            <a:avLst>
              <a:gd name="adj" fmla="val 7317"/>
            </a:avLst>
          </a:prstGeom>
          <a:solidFill>
            <a:srgbClr val="EAF2FF"/>
          </a:solidFill>
          <a:ln w="12700">
            <a:solidFill>
              <a:srgbClr val="7EA6E0"/>
            </a:solidFill>
            <a:prstDash val="solid"/>
          </a:ln>
        </p:spPr>
        <p:txBody>
          <a:bodyPr/>
          <a:lstStyle/>
          <a:p>
            <a:endParaRPr lang="ko-KR" altLang="en-US"/>
          </a:p>
        </p:txBody>
      </p:sp>
      <p:sp>
        <p:nvSpPr>
          <p:cNvPr id="30" name="Text 27"/>
          <p:cNvSpPr/>
          <p:nvPr/>
        </p:nvSpPr>
        <p:spPr>
          <a:xfrm>
            <a:off x="1127760" y="4613148"/>
            <a:ext cx="4069080" cy="310896"/>
          </a:xfrm>
          <a:prstGeom prst="rect">
            <a:avLst/>
          </a:prstGeom>
          <a:noFill/>
          <a:ln/>
        </p:spPr>
        <p:txBody>
          <a:bodyPr wrap="square" lIns="0" tIns="0" rIns="0" bIns="0" rtlCol="0" anchor="ctr">
            <a:normAutofit lnSpcReduction="10000"/>
          </a:bodyPr>
          <a:lstStyle/>
          <a:p>
            <a:pPr marL="0" indent="0" algn="ctr">
              <a:buNone/>
            </a:pPr>
            <a:r>
              <a:rPr lang="en-US" sz="1120" b="1" dirty="0">
                <a:solidFill>
                  <a:srgbClr val="00245D"/>
                </a:solidFill>
                <a:latin typeface="Arial" pitchFamily="34" charset="0"/>
                <a:ea typeface="Arial" pitchFamily="34" charset="-122"/>
                <a:cs typeface="Arial" pitchFamily="34" charset="-120"/>
              </a:rPr>
              <a:t>However, one group does not use all four Special Values.</a:t>
            </a:r>
            <a:endParaRPr lang="en-US" sz="1120" dirty="0"/>
          </a:p>
          <a:p>
            <a:pPr marL="0" indent="0" algn="ctr">
              <a:buNone/>
            </a:pPr>
            <a:r>
              <a:rPr lang="en-US" sz="1120" b="1" dirty="0">
                <a:solidFill>
                  <a:srgbClr val="00245D"/>
                </a:solidFill>
                <a:latin typeface="Arial" pitchFamily="34" charset="0"/>
                <a:ea typeface="Arial" pitchFamily="34" charset="-122"/>
                <a:cs typeface="Arial" pitchFamily="34" charset="-120"/>
              </a:rPr>
              <a:t>It </a:t>
            </a:r>
            <a:r>
              <a:rPr lang="en-US" sz="1120" b="1" dirty="0">
                <a:solidFill>
                  <a:srgbClr val="FF0000"/>
                </a:solidFill>
                <a:latin typeface="Arial" pitchFamily="34" charset="0"/>
                <a:ea typeface="Arial" pitchFamily="34" charset="-122"/>
                <a:cs typeface="Arial" pitchFamily="34" charset="-120"/>
              </a:rPr>
              <a:t>selects only one</a:t>
            </a:r>
            <a:r>
              <a:rPr lang="en-US" sz="1120" b="1" dirty="0">
                <a:solidFill>
                  <a:srgbClr val="00245D"/>
                </a:solidFill>
                <a:latin typeface="Arial" pitchFamily="34" charset="0"/>
                <a:ea typeface="Arial" pitchFamily="34" charset="-122"/>
                <a:cs typeface="Arial" pitchFamily="34" charset="-120"/>
              </a:rPr>
              <a:t>.</a:t>
            </a:r>
            <a:endParaRPr lang="en-US" sz="1120" dirty="0"/>
          </a:p>
        </p:txBody>
      </p:sp>
      <p:sp>
        <p:nvSpPr>
          <p:cNvPr id="31" name="Shape 28"/>
          <p:cNvSpPr/>
          <p:nvPr/>
        </p:nvSpPr>
        <p:spPr>
          <a:xfrm>
            <a:off x="6446520" y="1508760"/>
            <a:ext cx="5074920" cy="4526280"/>
          </a:xfrm>
          <a:prstGeom prst="roundRect">
            <a:avLst>
              <a:gd name="adj" fmla="val 1212"/>
            </a:avLst>
          </a:prstGeom>
          <a:solidFill>
            <a:srgbClr val="FFFDF2"/>
          </a:solidFill>
          <a:ln w="13335">
            <a:solidFill>
              <a:srgbClr val="D6B656"/>
            </a:solidFill>
            <a:prstDash val="solid"/>
          </a:ln>
        </p:spPr>
        <p:txBody>
          <a:bodyPr/>
          <a:lstStyle/>
          <a:p>
            <a:endParaRPr lang="ko-KR" altLang="en-US"/>
          </a:p>
        </p:txBody>
      </p:sp>
      <p:sp>
        <p:nvSpPr>
          <p:cNvPr id="32" name="Text 29"/>
          <p:cNvSpPr/>
          <p:nvPr/>
        </p:nvSpPr>
        <p:spPr>
          <a:xfrm>
            <a:off x="6611112" y="1618488"/>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Fine-grained adaptation</a:t>
            </a:r>
            <a:endParaRPr lang="en-US" sz="1200" dirty="0"/>
          </a:p>
        </p:txBody>
      </p:sp>
      <p:sp>
        <p:nvSpPr>
          <p:cNvPr id="33" name="Text 30"/>
          <p:cNvSpPr/>
          <p:nvPr/>
        </p:nvSpPr>
        <p:spPr>
          <a:xfrm>
            <a:off x="6766560" y="2032253"/>
            <a:ext cx="4434840" cy="219456"/>
          </a:xfrm>
          <a:prstGeom prst="rect">
            <a:avLst/>
          </a:prstGeom>
          <a:noFill/>
          <a:ln/>
        </p:spPr>
        <p:txBody>
          <a:bodyPr wrap="square" lIns="0" tIns="0" rIns="0" bIns="0" rtlCol="0" anchor="ctr"/>
          <a:lstStyle/>
          <a:p>
            <a:pPr marL="0" indent="0" algn="ctr">
              <a:buNone/>
            </a:pPr>
            <a:r>
              <a:rPr lang="en-US" sz="1200" b="1" dirty="0">
                <a:solidFill>
                  <a:srgbClr val="222222"/>
                </a:solidFill>
                <a:latin typeface="Arial" pitchFamily="34" charset="0"/>
                <a:ea typeface="Arial" pitchFamily="34" charset="-122"/>
                <a:cs typeface="Arial" pitchFamily="34" charset="-120"/>
              </a:rPr>
              <a:t>Same tensor, different local distributions</a:t>
            </a:r>
            <a:endParaRPr lang="en-US" sz="1200" dirty="0"/>
          </a:p>
        </p:txBody>
      </p:sp>
      <p:sp>
        <p:nvSpPr>
          <p:cNvPr id="34" name="Shape 31"/>
          <p:cNvSpPr/>
          <p:nvPr/>
        </p:nvSpPr>
        <p:spPr>
          <a:xfrm>
            <a:off x="6937408" y="2638044"/>
            <a:ext cx="1005840" cy="329184"/>
          </a:xfrm>
          <a:prstGeom prst="roundRect">
            <a:avLst>
              <a:gd name="adj" fmla="val 25000"/>
            </a:avLst>
          </a:prstGeom>
          <a:solidFill>
            <a:srgbClr val="EAF2FF"/>
          </a:solidFill>
          <a:ln w="13970">
            <a:solidFill>
              <a:srgbClr val="00245D"/>
            </a:solidFill>
            <a:prstDash val="solid"/>
          </a:ln>
        </p:spPr>
        <p:txBody>
          <a:bodyPr/>
          <a:lstStyle/>
          <a:p>
            <a:endParaRPr lang="ko-KR" altLang="en-US"/>
          </a:p>
        </p:txBody>
      </p:sp>
      <p:sp>
        <p:nvSpPr>
          <p:cNvPr id="35" name="Text 32"/>
          <p:cNvSpPr/>
          <p:nvPr/>
        </p:nvSpPr>
        <p:spPr>
          <a:xfrm>
            <a:off x="6992272" y="2692908"/>
            <a:ext cx="896112" cy="237744"/>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Group A</a:t>
            </a:r>
            <a:endParaRPr lang="en-US" sz="1050" dirty="0"/>
          </a:p>
        </p:txBody>
      </p:sp>
      <p:sp>
        <p:nvSpPr>
          <p:cNvPr id="36" name="Text 33"/>
          <p:cNvSpPr/>
          <p:nvPr/>
        </p:nvSpPr>
        <p:spPr>
          <a:xfrm>
            <a:off x="8126128" y="2702052"/>
            <a:ext cx="1508760"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balanced</a:t>
            </a:r>
            <a:endParaRPr lang="en-US" sz="950" dirty="0"/>
          </a:p>
        </p:txBody>
      </p:sp>
      <p:sp>
        <p:nvSpPr>
          <p:cNvPr id="37" name="Shape 34"/>
          <p:cNvSpPr/>
          <p:nvPr/>
        </p:nvSpPr>
        <p:spPr>
          <a:xfrm>
            <a:off x="9497728" y="2802636"/>
            <a:ext cx="457200" cy="0"/>
          </a:xfrm>
          <a:prstGeom prst="line">
            <a:avLst/>
          </a:prstGeom>
          <a:noFill/>
          <a:ln w="13970">
            <a:solidFill>
              <a:srgbClr val="2F75B5"/>
            </a:solidFill>
            <a:prstDash val="solid"/>
            <a:tailEnd type="triangle"/>
          </a:ln>
        </p:spPr>
        <p:txBody>
          <a:bodyPr/>
          <a:lstStyle/>
          <a:p>
            <a:endParaRPr lang="ko-KR" altLang="en-US"/>
          </a:p>
        </p:txBody>
      </p:sp>
      <p:sp>
        <p:nvSpPr>
          <p:cNvPr id="38" name="Shape 35"/>
          <p:cNvSpPr/>
          <p:nvPr/>
        </p:nvSpPr>
        <p:spPr>
          <a:xfrm>
            <a:off x="10073800" y="2638044"/>
            <a:ext cx="1051560" cy="329184"/>
          </a:xfrm>
          <a:prstGeom prst="roundRect">
            <a:avLst>
              <a:gd name="adj" fmla="val 25000"/>
            </a:avLst>
          </a:prstGeom>
          <a:solidFill>
            <a:srgbClr val="FFFFFF"/>
          </a:solidFill>
          <a:ln w="13970">
            <a:solidFill>
              <a:srgbClr val="548235"/>
            </a:solidFill>
            <a:prstDash val="solid"/>
          </a:ln>
        </p:spPr>
        <p:txBody>
          <a:bodyPr/>
          <a:lstStyle/>
          <a:p>
            <a:endParaRPr lang="ko-KR" altLang="en-US"/>
          </a:p>
        </p:txBody>
      </p:sp>
      <p:sp>
        <p:nvSpPr>
          <p:cNvPr id="39" name="Text 36"/>
          <p:cNvSpPr/>
          <p:nvPr/>
        </p:nvSpPr>
        <p:spPr>
          <a:xfrm>
            <a:off x="10128664" y="2692908"/>
            <a:ext cx="941832" cy="237744"/>
          </a:xfrm>
          <a:prstGeom prst="rect">
            <a:avLst/>
          </a:prstGeom>
          <a:noFill/>
          <a:ln/>
        </p:spPr>
        <p:txBody>
          <a:bodyPr wrap="square" lIns="0" tIns="0" rIns="0" bIns="0" rtlCol="0" anchor="ctr">
            <a:normAutofit/>
          </a:bodyPr>
          <a:lstStyle/>
          <a:p>
            <a:pPr marL="0" indent="0" algn="ctr">
              <a:buNone/>
            </a:pPr>
            <a:r>
              <a:rPr lang="en-US" sz="1050" b="1" dirty="0">
                <a:solidFill>
                  <a:srgbClr val="548235"/>
                </a:solidFill>
                <a:latin typeface="Arial" pitchFamily="34" charset="0"/>
                <a:ea typeface="Arial" pitchFamily="34" charset="-122"/>
                <a:cs typeface="Arial" pitchFamily="34" charset="-120"/>
              </a:rPr>
              <a:t>SV ±3</a:t>
            </a:r>
            <a:endParaRPr lang="en-US" sz="1050" dirty="0"/>
          </a:p>
        </p:txBody>
      </p:sp>
      <p:sp>
        <p:nvSpPr>
          <p:cNvPr id="40" name="Shape 37"/>
          <p:cNvSpPr/>
          <p:nvPr/>
        </p:nvSpPr>
        <p:spPr>
          <a:xfrm>
            <a:off x="6937408" y="3296412"/>
            <a:ext cx="1005840" cy="329184"/>
          </a:xfrm>
          <a:prstGeom prst="roundRect">
            <a:avLst>
              <a:gd name="adj" fmla="val 25000"/>
            </a:avLst>
          </a:prstGeom>
          <a:solidFill>
            <a:srgbClr val="EAF2FF"/>
          </a:solidFill>
          <a:ln w="13970">
            <a:solidFill>
              <a:srgbClr val="00245D"/>
            </a:solidFill>
            <a:prstDash val="solid"/>
          </a:ln>
        </p:spPr>
        <p:txBody>
          <a:bodyPr/>
          <a:lstStyle/>
          <a:p>
            <a:endParaRPr lang="ko-KR" altLang="en-US"/>
          </a:p>
        </p:txBody>
      </p:sp>
      <p:sp>
        <p:nvSpPr>
          <p:cNvPr id="41" name="Text 38"/>
          <p:cNvSpPr/>
          <p:nvPr/>
        </p:nvSpPr>
        <p:spPr>
          <a:xfrm>
            <a:off x="6992272" y="3351276"/>
            <a:ext cx="896112" cy="237744"/>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Group B</a:t>
            </a:r>
            <a:endParaRPr lang="en-US" sz="1050" dirty="0"/>
          </a:p>
        </p:txBody>
      </p:sp>
      <p:sp>
        <p:nvSpPr>
          <p:cNvPr id="42" name="Text 39"/>
          <p:cNvSpPr/>
          <p:nvPr/>
        </p:nvSpPr>
        <p:spPr>
          <a:xfrm>
            <a:off x="8126128" y="3360420"/>
            <a:ext cx="1508760"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positive outlier</a:t>
            </a:r>
            <a:endParaRPr lang="en-US" sz="950" dirty="0"/>
          </a:p>
        </p:txBody>
      </p:sp>
      <p:sp>
        <p:nvSpPr>
          <p:cNvPr id="43" name="Shape 40"/>
          <p:cNvSpPr/>
          <p:nvPr/>
        </p:nvSpPr>
        <p:spPr>
          <a:xfrm>
            <a:off x="9497728" y="3461004"/>
            <a:ext cx="457200" cy="0"/>
          </a:xfrm>
          <a:prstGeom prst="line">
            <a:avLst/>
          </a:prstGeom>
          <a:noFill/>
          <a:ln w="13970">
            <a:solidFill>
              <a:srgbClr val="2F75B5"/>
            </a:solidFill>
            <a:prstDash val="solid"/>
            <a:tailEnd type="triangle"/>
          </a:ln>
        </p:spPr>
        <p:txBody>
          <a:bodyPr/>
          <a:lstStyle/>
          <a:p>
            <a:endParaRPr lang="ko-KR" altLang="en-US"/>
          </a:p>
        </p:txBody>
      </p:sp>
      <p:sp>
        <p:nvSpPr>
          <p:cNvPr id="44" name="Shape 41"/>
          <p:cNvSpPr/>
          <p:nvPr/>
        </p:nvSpPr>
        <p:spPr>
          <a:xfrm>
            <a:off x="10073800" y="3296412"/>
            <a:ext cx="1051560" cy="329184"/>
          </a:xfrm>
          <a:prstGeom prst="roundRect">
            <a:avLst>
              <a:gd name="adj" fmla="val 25000"/>
            </a:avLst>
          </a:prstGeom>
          <a:solidFill>
            <a:srgbClr val="FFFFFF"/>
          </a:solidFill>
          <a:ln w="13970">
            <a:solidFill>
              <a:srgbClr val="C00000"/>
            </a:solidFill>
            <a:prstDash val="solid"/>
          </a:ln>
        </p:spPr>
        <p:txBody>
          <a:bodyPr/>
          <a:lstStyle/>
          <a:p>
            <a:endParaRPr lang="ko-KR" altLang="en-US"/>
          </a:p>
        </p:txBody>
      </p:sp>
      <p:sp>
        <p:nvSpPr>
          <p:cNvPr id="45" name="Text 42"/>
          <p:cNvSpPr/>
          <p:nvPr/>
        </p:nvSpPr>
        <p:spPr>
          <a:xfrm>
            <a:off x="10128664" y="3351276"/>
            <a:ext cx="941832" cy="237744"/>
          </a:xfrm>
          <a:prstGeom prst="rect">
            <a:avLst/>
          </a:prstGeom>
          <a:noFill/>
          <a:ln/>
        </p:spPr>
        <p:txBody>
          <a:bodyPr wrap="square" lIns="0" tIns="0" rIns="0" bIns="0" rtlCol="0" anchor="ctr">
            <a:normAutofit/>
          </a:bodyPr>
          <a:lstStyle/>
          <a:p>
            <a:pPr marL="0" indent="0" algn="ctr">
              <a:buNone/>
            </a:pPr>
            <a:r>
              <a:rPr lang="en-US" sz="1050" b="1" dirty="0">
                <a:solidFill>
                  <a:srgbClr val="C00000"/>
                </a:solidFill>
                <a:latin typeface="Arial" pitchFamily="34" charset="0"/>
                <a:ea typeface="Arial" pitchFamily="34" charset="-122"/>
                <a:cs typeface="Arial" pitchFamily="34" charset="-120"/>
              </a:rPr>
              <a:t>SV +6</a:t>
            </a:r>
            <a:endParaRPr lang="en-US" sz="1050" dirty="0"/>
          </a:p>
        </p:txBody>
      </p:sp>
      <p:sp>
        <p:nvSpPr>
          <p:cNvPr id="46" name="Shape 43"/>
          <p:cNvSpPr/>
          <p:nvPr/>
        </p:nvSpPr>
        <p:spPr>
          <a:xfrm>
            <a:off x="6937408" y="3954780"/>
            <a:ext cx="1005840" cy="329184"/>
          </a:xfrm>
          <a:prstGeom prst="roundRect">
            <a:avLst>
              <a:gd name="adj" fmla="val 25000"/>
            </a:avLst>
          </a:prstGeom>
          <a:solidFill>
            <a:srgbClr val="EAF2FF"/>
          </a:solidFill>
          <a:ln w="13970">
            <a:solidFill>
              <a:srgbClr val="00245D"/>
            </a:solidFill>
            <a:prstDash val="solid"/>
          </a:ln>
        </p:spPr>
        <p:txBody>
          <a:bodyPr/>
          <a:lstStyle/>
          <a:p>
            <a:endParaRPr lang="ko-KR" altLang="en-US"/>
          </a:p>
        </p:txBody>
      </p:sp>
      <p:sp>
        <p:nvSpPr>
          <p:cNvPr id="47" name="Text 44"/>
          <p:cNvSpPr/>
          <p:nvPr/>
        </p:nvSpPr>
        <p:spPr>
          <a:xfrm>
            <a:off x="6992272" y="4009644"/>
            <a:ext cx="896112" cy="237744"/>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Group C</a:t>
            </a:r>
            <a:endParaRPr lang="en-US" sz="1050" dirty="0"/>
          </a:p>
        </p:txBody>
      </p:sp>
      <p:sp>
        <p:nvSpPr>
          <p:cNvPr id="48" name="Text 45"/>
          <p:cNvSpPr/>
          <p:nvPr/>
        </p:nvSpPr>
        <p:spPr>
          <a:xfrm>
            <a:off x="8126128" y="4018788"/>
            <a:ext cx="1508760" cy="146304"/>
          </a:xfrm>
          <a:prstGeom prst="rect">
            <a:avLst/>
          </a:prstGeom>
          <a:noFill/>
          <a:ln/>
        </p:spPr>
        <p:txBody>
          <a:bodyPr wrap="square" lIns="0" tIns="0" rIns="0" bIns="0" rtlCol="0" anchor="ctr"/>
          <a:lstStyle/>
          <a:p>
            <a:pPr marL="0" indent="0" algn="ctr">
              <a:buNone/>
            </a:pPr>
            <a:r>
              <a:rPr lang="en-US" sz="950" dirty="0">
                <a:solidFill>
                  <a:srgbClr val="222222"/>
                </a:solidFill>
                <a:latin typeface="Arial" pitchFamily="34" charset="0"/>
                <a:ea typeface="Arial" pitchFamily="34" charset="-122"/>
                <a:cs typeface="Arial" pitchFamily="34" charset="-120"/>
              </a:rPr>
              <a:t>negative outlier</a:t>
            </a:r>
            <a:endParaRPr lang="en-US" sz="950" dirty="0"/>
          </a:p>
        </p:txBody>
      </p:sp>
      <p:sp>
        <p:nvSpPr>
          <p:cNvPr id="49" name="Shape 46"/>
          <p:cNvSpPr/>
          <p:nvPr/>
        </p:nvSpPr>
        <p:spPr>
          <a:xfrm>
            <a:off x="9497728" y="4119372"/>
            <a:ext cx="457200" cy="0"/>
          </a:xfrm>
          <a:prstGeom prst="line">
            <a:avLst/>
          </a:prstGeom>
          <a:noFill/>
          <a:ln w="13970">
            <a:solidFill>
              <a:srgbClr val="2F75B5"/>
            </a:solidFill>
            <a:prstDash val="solid"/>
            <a:tailEnd type="triangle"/>
          </a:ln>
        </p:spPr>
        <p:txBody>
          <a:bodyPr/>
          <a:lstStyle/>
          <a:p>
            <a:endParaRPr lang="ko-KR" altLang="en-US"/>
          </a:p>
        </p:txBody>
      </p:sp>
      <p:sp>
        <p:nvSpPr>
          <p:cNvPr id="50" name="Shape 47"/>
          <p:cNvSpPr/>
          <p:nvPr/>
        </p:nvSpPr>
        <p:spPr>
          <a:xfrm>
            <a:off x="10073800" y="3954780"/>
            <a:ext cx="1051560" cy="329184"/>
          </a:xfrm>
          <a:prstGeom prst="roundRect">
            <a:avLst>
              <a:gd name="adj" fmla="val 25000"/>
            </a:avLst>
          </a:prstGeom>
          <a:solidFill>
            <a:srgbClr val="FFFFFF"/>
          </a:solidFill>
          <a:ln w="13970">
            <a:solidFill>
              <a:srgbClr val="C00000"/>
            </a:solidFill>
            <a:prstDash val="solid"/>
          </a:ln>
        </p:spPr>
        <p:txBody>
          <a:bodyPr/>
          <a:lstStyle/>
          <a:p>
            <a:endParaRPr lang="ko-KR" altLang="en-US"/>
          </a:p>
        </p:txBody>
      </p:sp>
      <p:sp>
        <p:nvSpPr>
          <p:cNvPr id="51" name="Text 48"/>
          <p:cNvSpPr/>
          <p:nvPr/>
        </p:nvSpPr>
        <p:spPr>
          <a:xfrm>
            <a:off x="10128664" y="4009644"/>
            <a:ext cx="941832" cy="237744"/>
          </a:xfrm>
          <a:prstGeom prst="rect">
            <a:avLst/>
          </a:prstGeom>
          <a:noFill/>
          <a:ln/>
        </p:spPr>
        <p:txBody>
          <a:bodyPr wrap="square" lIns="0" tIns="0" rIns="0" bIns="0" rtlCol="0" anchor="ctr">
            <a:normAutofit/>
          </a:bodyPr>
          <a:lstStyle/>
          <a:p>
            <a:pPr marL="0" indent="0" algn="ctr">
              <a:buNone/>
            </a:pPr>
            <a:r>
              <a:rPr lang="en-US" sz="1050" b="1" dirty="0">
                <a:solidFill>
                  <a:srgbClr val="C00000"/>
                </a:solidFill>
                <a:latin typeface="Arial" pitchFamily="34" charset="0"/>
                <a:ea typeface="Arial" pitchFamily="34" charset="-122"/>
                <a:cs typeface="Arial" pitchFamily="34" charset="-120"/>
              </a:rPr>
              <a:t>SV −6</a:t>
            </a:r>
            <a:endParaRPr lang="en-US" sz="1050" dirty="0"/>
          </a:p>
        </p:txBody>
      </p:sp>
      <p:sp>
        <p:nvSpPr>
          <p:cNvPr id="52" name="Shape 49"/>
          <p:cNvSpPr/>
          <p:nvPr/>
        </p:nvSpPr>
        <p:spPr>
          <a:xfrm>
            <a:off x="6812280" y="4709160"/>
            <a:ext cx="4434840" cy="512064"/>
          </a:xfrm>
          <a:prstGeom prst="roundRect">
            <a:avLst>
              <a:gd name="adj" fmla="val 10714"/>
            </a:avLst>
          </a:prstGeom>
          <a:solidFill>
            <a:srgbClr val="FFFFFF"/>
          </a:solidFill>
          <a:ln w="12700">
            <a:solidFill>
              <a:srgbClr val="D6B656"/>
            </a:solidFill>
            <a:prstDash val="solid"/>
          </a:ln>
        </p:spPr>
        <p:txBody>
          <a:bodyPr/>
          <a:lstStyle/>
          <a:p>
            <a:endParaRPr lang="ko-KR" altLang="en-US"/>
          </a:p>
        </p:txBody>
      </p:sp>
      <p:sp>
        <p:nvSpPr>
          <p:cNvPr id="53" name="Text 50"/>
          <p:cNvSpPr/>
          <p:nvPr/>
        </p:nvSpPr>
        <p:spPr>
          <a:xfrm>
            <a:off x="7059168" y="4846320"/>
            <a:ext cx="3950208" cy="146304"/>
          </a:xfrm>
          <a:prstGeom prst="rect">
            <a:avLst/>
          </a:prstGeom>
          <a:noFill/>
          <a:ln/>
        </p:spPr>
        <p:txBody>
          <a:bodyPr wrap="square" lIns="0" tIns="0" rIns="0" bIns="0" rtlCol="0" anchor="ctr">
            <a:normAutofit fontScale="85000" lnSpcReduction="10000"/>
          </a:bodyPr>
          <a:lstStyle/>
          <a:p>
            <a:pPr marL="0" indent="0" algn="ctr">
              <a:buNone/>
            </a:pPr>
            <a:r>
              <a:rPr lang="en-US" sz="1060" b="1" dirty="0">
                <a:solidFill>
                  <a:srgbClr val="00245D"/>
                </a:solidFill>
                <a:latin typeface="Arial" pitchFamily="34" charset="0"/>
                <a:ea typeface="Arial" pitchFamily="34" charset="-122"/>
                <a:cs typeface="Arial" pitchFamily="34" charset="-120"/>
              </a:rPr>
              <a:t>Not only the scaling factor, but also the data type is adapted per group.</a:t>
            </a:r>
            <a:endParaRPr lang="en-US" sz="106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Algorithm 1: Search the Best Special Value</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42</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For each weight group, BitMoD tries every candidate Special Value and chooses the one with the </a:t>
            </a:r>
            <a:r>
              <a:rPr lang="en-US" sz="1300" dirty="0">
                <a:solidFill>
                  <a:srgbClr val="FF0000"/>
                </a:solidFill>
                <a:latin typeface="Arial" pitchFamily="34" charset="0"/>
                <a:ea typeface="Arial" pitchFamily="34" charset="-122"/>
                <a:cs typeface="Arial" pitchFamily="34" charset="-120"/>
              </a:rPr>
              <a:t>smallest MSE.</a:t>
            </a:r>
            <a:endParaRPr lang="en-US" sz="1300" dirty="0">
              <a:solidFill>
                <a:srgbClr val="FF0000"/>
              </a:solidFill>
            </a:endParaRPr>
          </a:p>
        </p:txBody>
      </p:sp>
      <p:sp>
        <p:nvSpPr>
          <p:cNvPr id="9" name="Shape 6"/>
          <p:cNvSpPr/>
          <p:nvPr/>
        </p:nvSpPr>
        <p:spPr>
          <a:xfrm>
            <a:off x="2948940" y="2542032"/>
            <a:ext cx="429768" cy="0"/>
          </a:xfrm>
          <a:prstGeom prst="line">
            <a:avLst/>
          </a:prstGeom>
          <a:noFill/>
          <a:ln w="14605">
            <a:solidFill>
              <a:srgbClr val="2F75B5"/>
            </a:solidFill>
            <a:prstDash val="solid"/>
            <a:tailEnd type="triangle"/>
          </a:ln>
        </p:spPr>
        <p:txBody>
          <a:bodyPr/>
          <a:lstStyle/>
          <a:p>
            <a:endParaRPr lang="ko-KR" altLang="en-US"/>
          </a:p>
        </p:txBody>
      </p:sp>
      <p:sp>
        <p:nvSpPr>
          <p:cNvPr id="10" name="Shape 7"/>
          <p:cNvSpPr/>
          <p:nvPr/>
        </p:nvSpPr>
        <p:spPr>
          <a:xfrm>
            <a:off x="4960620" y="2542032"/>
            <a:ext cx="429768" cy="0"/>
          </a:xfrm>
          <a:prstGeom prst="line">
            <a:avLst/>
          </a:prstGeom>
          <a:noFill/>
          <a:ln w="14605">
            <a:solidFill>
              <a:srgbClr val="2F75B5"/>
            </a:solidFill>
            <a:prstDash val="solid"/>
            <a:tailEnd type="triangle"/>
          </a:ln>
        </p:spPr>
        <p:txBody>
          <a:bodyPr/>
          <a:lstStyle/>
          <a:p>
            <a:endParaRPr lang="ko-KR" altLang="en-US"/>
          </a:p>
        </p:txBody>
      </p:sp>
      <p:sp>
        <p:nvSpPr>
          <p:cNvPr id="11" name="Shape 8"/>
          <p:cNvSpPr/>
          <p:nvPr/>
        </p:nvSpPr>
        <p:spPr>
          <a:xfrm>
            <a:off x="6972300" y="2542032"/>
            <a:ext cx="429768" cy="0"/>
          </a:xfrm>
          <a:prstGeom prst="line">
            <a:avLst/>
          </a:prstGeom>
          <a:noFill/>
          <a:ln w="14605">
            <a:solidFill>
              <a:srgbClr val="2F75B5"/>
            </a:solidFill>
            <a:prstDash val="solid"/>
            <a:tailEnd type="triangle"/>
          </a:ln>
        </p:spPr>
        <p:txBody>
          <a:bodyPr/>
          <a:lstStyle/>
          <a:p>
            <a:endParaRPr lang="ko-KR" altLang="en-US"/>
          </a:p>
        </p:txBody>
      </p:sp>
      <p:sp>
        <p:nvSpPr>
          <p:cNvPr id="12" name="Shape 9"/>
          <p:cNvSpPr/>
          <p:nvPr/>
        </p:nvSpPr>
        <p:spPr>
          <a:xfrm>
            <a:off x="8983980" y="2542032"/>
            <a:ext cx="429768" cy="0"/>
          </a:xfrm>
          <a:prstGeom prst="line">
            <a:avLst/>
          </a:prstGeom>
          <a:noFill/>
          <a:ln w="14605">
            <a:solidFill>
              <a:srgbClr val="2F75B5"/>
            </a:solidFill>
            <a:prstDash val="solid"/>
            <a:tailEnd type="triangle"/>
          </a:ln>
        </p:spPr>
        <p:txBody>
          <a:bodyPr/>
          <a:lstStyle/>
          <a:p>
            <a:endParaRPr lang="ko-KR" altLang="en-US"/>
          </a:p>
        </p:txBody>
      </p:sp>
      <p:sp>
        <p:nvSpPr>
          <p:cNvPr id="13" name="Shape 10"/>
          <p:cNvSpPr/>
          <p:nvPr/>
        </p:nvSpPr>
        <p:spPr>
          <a:xfrm>
            <a:off x="1440180" y="2194560"/>
            <a:ext cx="1508760" cy="694944"/>
          </a:xfrm>
          <a:prstGeom prst="roundRect">
            <a:avLst>
              <a:gd name="adj" fmla="val 6579"/>
            </a:avLst>
          </a:prstGeom>
          <a:solidFill>
            <a:srgbClr val="EAF2FF"/>
          </a:solidFill>
          <a:ln w="12700">
            <a:solidFill>
              <a:srgbClr val="9EADCC"/>
            </a:solidFill>
            <a:prstDash val="solid"/>
          </a:ln>
        </p:spPr>
        <p:txBody>
          <a:bodyPr/>
          <a:lstStyle/>
          <a:p>
            <a:endParaRPr lang="ko-KR" altLang="en-US"/>
          </a:p>
        </p:txBody>
      </p:sp>
      <p:sp>
        <p:nvSpPr>
          <p:cNvPr id="14" name="Text 11"/>
          <p:cNvSpPr/>
          <p:nvPr/>
        </p:nvSpPr>
        <p:spPr>
          <a:xfrm>
            <a:off x="1513332" y="2249424"/>
            <a:ext cx="1362456" cy="603504"/>
          </a:xfrm>
          <a:prstGeom prst="rect">
            <a:avLst/>
          </a:prstGeom>
          <a:noFill/>
          <a:ln/>
        </p:spPr>
        <p:txBody>
          <a:bodyPr wrap="square" lIns="254" tIns="254" rIns="254" bIns="254" rtlCol="0" anchor="ctr">
            <a:normAutofit/>
          </a:bodyPr>
          <a:lstStyle/>
          <a:p>
            <a:pPr marL="0" indent="0" algn="ctr">
              <a:buNone/>
            </a:pPr>
            <a:r>
              <a:rPr lang="en-US" sz="1060" b="1" dirty="0">
                <a:solidFill>
                  <a:srgbClr val="00245D"/>
                </a:solidFill>
                <a:latin typeface="Arial" pitchFamily="34" charset="0"/>
                <a:ea typeface="Arial" pitchFamily="34" charset="-122"/>
                <a:cs typeface="Arial" pitchFamily="34" charset="-120"/>
              </a:rPr>
              <a:t>Input</a:t>
            </a:r>
            <a:endParaRPr lang="en-US" sz="1060" dirty="0"/>
          </a:p>
          <a:p>
            <a:pPr marL="0" indent="0" algn="ctr">
              <a:buNone/>
            </a:pPr>
            <a:r>
              <a:rPr lang="en-US" sz="1060" b="1" dirty="0">
                <a:solidFill>
                  <a:srgbClr val="00245D"/>
                </a:solidFill>
                <a:latin typeface="Arial" pitchFamily="34" charset="0"/>
                <a:ea typeface="Arial" pitchFamily="34" charset="-122"/>
                <a:cs typeface="Arial" pitchFamily="34" charset="-120"/>
              </a:rPr>
              <a:t>W, p</a:t>
            </a:r>
            <a:endParaRPr lang="en-US" sz="1060" dirty="0"/>
          </a:p>
        </p:txBody>
      </p:sp>
      <p:sp>
        <p:nvSpPr>
          <p:cNvPr id="15" name="Shape 12"/>
          <p:cNvSpPr/>
          <p:nvPr/>
        </p:nvSpPr>
        <p:spPr>
          <a:xfrm>
            <a:off x="3451860" y="2194560"/>
            <a:ext cx="1508760" cy="694944"/>
          </a:xfrm>
          <a:prstGeom prst="roundRect">
            <a:avLst>
              <a:gd name="adj" fmla="val 6579"/>
            </a:avLst>
          </a:prstGeom>
          <a:solidFill>
            <a:srgbClr val="FFF2CC"/>
          </a:solidFill>
          <a:ln w="12700">
            <a:solidFill>
              <a:srgbClr val="D6B656"/>
            </a:solidFill>
            <a:prstDash val="solid"/>
          </a:ln>
        </p:spPr>
        <p:txBody>
          <a:bodyPr/>
          <a:lstStyle/>
          <a:p>
            <a:endParaRPr lang="ko-KR" altLang="en-US"/>
          </a:p>
        </p:txBody>
      </p:sp>
      <p:sp>
        <p:nvSpPr>
          <p:cNvPr id="16" name="Text 13"/>
          <p:cNvSpPr/>
          <p:nvPr/>
        </p:nvSpPr>
        <p:spPr>
          <a:xfrm>
            <a:off x="3525012" y="2249424"/>
            <a:ext cx="1362456" cy="603504"/>
          </a:xfrm>
          <a:prstGeom prst="rect">
            <a:avLst/>
          </a:prstGeom>
          <a:noFill/>
          <a:ln/>
        </p:spPr>
        <p:txBody>
          <a:bodyPr wrap="square" lIns="254" tIns="254" rIns="254" bIns="254" rtlCol="0" anchor="ctr">
            <a:normAutofit/>
          </a:bodyPr>
          <a:lstStyle/>
          <a:p>
            <a:pPr marL="0" indent="0" algn="ctr">
              <a:buNone/>
            </a:pPr>
            <a:r>
              <a:rPr lang="en-US" sz="1060" b="1" dirty="0">
                <a:solidFill>
                  <a:srgbClr val="00245D"/>
                </a:solidFill>
                <a:latin typeface="Arial" pitchFamily="34" charset="0"/>
                <a:ea typeface="Arial" pitchFamily="34" charset="-122"/>
                <a:cs typeface="Arial" pitchFamily="34" charset="-120"/>
              </a:rPr>
              <a:t>Get candidate</a:t>
            </a:r>
            <a:endParaRPr lang="en-US" sz="1060" dirty="0"/>
          </a:p>
          <a:p>
            <a:pPr marL="0" indent="0" algn="ctr">
              <a:buNone/>
            </a:pPr>
            <a:r>
              <a:rPr lang="en-US" sz="1060" b="1" dirty="0">
                <a:solidFill>
                  <a:srgbClr val="00245D"/>
                </a:solidFill>
                <a:latin typeface="Arial" pitchFamily="34" charset="0"/>
                <a:ea typeface="Arial" pitchFamily="34" charset="-122"/>
                <a:cs typeface="Arial" pitchFamily="34" charset="-120"/>
              </a:rPr>
              <a:t>SVs</a:t>
            </a:r>
            <a:endParaRPr lang="en-US" sz="1060" dirty="0"/>
          </a:p>
        </p:txBody>
      </p:sp>
      <p:sp>
        <p:nvSpPr>
          <p:cNvPr id="17" name="Shape 14"/>
          <p:cNvSpPr/>
          <p:nvPr/>
        </p:nvSpPr>
        <p:spPr>
          <a:xfrm>
            <a:off x="5463540" y="2194560"/>
            <a:ext cx="1508760" cy="694944"/>
          </a:xfrm>
          <a:prstGeom prst="roundRect">
            <a:avLst>
              <a:gd name="adj" fmla="val 6579"/>
            </a:avLst>
          </a:prstGeom>
          <a:solidFill>
            <a:srgbClr val="F3F8FF"/>
          </a:solidFill>
          <a:ln w="12700">
            <a:solidFill>
              <a:srgbClr val="9EADCC"/>
            </a:solidFill>
            <a:prstDash val="solid"/>
          </a:ln>
        </p:spPr>
        <p:txBody>
          <a:bodyPr/>
          <a:lstStyle/>
          <a:p>
            <a:endParaRPr lang="ko-KR" altLang="en-US"/>
          </a:p>
        </p:txBody>
      </p:sp>
      <p:sp>
        <p:nvSpPr>
          <p:cNvPr id="18" name="Text 15"/>
          <p:cNvSpPr/>
          <p:nvPr/>
        </p:nvSpPr>
        <p:spPr>
          <a:xfrm>
            <a:off x="5536692" y="2249424"/>
            <a:ext cx="1362456" cy="603504"/>
          </a:xfrm>
          <a:prstGeom prst="rect">
            <a:avLst/>
          </a:prstGeom>
          <a:noFill/>
          <a:ln/>
        </p:spPr>
        <p:txBody>
          <a:bodyPr wrap="square" lIns="254" tIns="254" rIns="254" bIns="254" rtlCol="0" anchor="ctr">
            <a:normAutofit/>
          </a:bodyPr>
          <a:lstStyle/>
          <a:p>
            <a:pPr marL="0" indent="0" algn="ctr">
              <a:buNone/>
            </a:pPr>
            <a:r>
              <a:rPr lang="en-US" sz="1060" b="1" dirty="0">
                <a:solidFill>
                  <a:srgbClr val="00245D"/>
                </a:solidFill>
                <a:latin typeface="Arial" pitchFamily="34" charset="0"/>
                <a:ea typeface="Arial" pitchFamily="34" charset="-122"/>
                <a:cs typeface="Arial" pitchFamily="34" charset="-120"/>
              </a:rPr>
              <a:t>Quantize</a:t>
            </a:r>
            <a:endParaRPr lang="en-US" sz="1060" dirty="0"/>
          </a:p>
          <a:p>
            <a:pPr marL="0" indent="0" algn="ctr">
              <a:buNone/>
            </a:pPr>
            <a:r>
              <a:rPr lang="en-US" sz="1060" b="1" dirty="0">
                <a:solidFill>
                  <a:srgbClr val="00245D"/>
                </a:solidFill>
                <a:latin typeface="Arial" pitchFamily="34" charset="0"/>
                <a:ea typeface="Arial" pitchFamily="34" charset="-122"/>
                <a:cs typeface="Arial" pitchFamily="34" charset="-120"/>
              </a:rPr>
              <a:t>with each SV</a:t>
            </a:r>
            <a:endParaRPr lang="en-US" sz="1060" dirty="0"/>
          </a:p>
        </p:txBody>
      </p:sp>
      <p:sp>
        <p:nvSpPr>
          <p:cNvPr id="19" name="Shape 16"/>
          <p:cNvSpPr/>
          <p:nvPr/>
        </p:nvSpPr>
        <p:spPr>
          <a:xfrm>
            <a:off x="7475220" y="2194560"/>
            <a:ext cx="1508760" cy="694944"/>
          </a:xfrm>
          <a:prstGeom prst="roundRect">
            <a:avLst>
              <a:gd name="adj" fmla="val 6579"/>
            </a:avLst>
          </a:prstGeom>
          <a:solidFill>
            <a:srgbClr val="FDECEC"/>
          </a:solidFill>
          <a:ln w="12700">
            <a:solidFill>
              <a:srgbClr val="E6B8B7"/>
            </a:solidFill>
            <a:prstDash val="solid"/>
          </a:ln>
        </p:spPr>
        <p:txBody>
          <a:bodyPr/>
          <a:lstStyle/>
          <a:p>
            <a:endParaRPr lang="ko-KR" altLang="en-US"/>
          </a:p>
        </p:txBody>
      </p:sp>
      <p:sp>
        <p:nvSpPr>
          <p:cNvPr id="20" name="Text 17"/>
          <p:cNvSpPr/>
          <p:nvPr/>
        </p:nvSpPr>
        <p:spPr>
          <a:xfrm>
            <a:off x="7548372" y="2249424"/>
            <a:ext cx="1362456" cy="603504"/>
          </a:xfrm>
          <a:prstGeom prst="rect">
            <a:avLst/>
          </a:prstGeom>
          <a:noFill/>
          <a:ln/>
        </p:spPr>
        <p:txBody>
          <a:bodyPr wrap="square" lIns="254" tIns="254" rIns="254" bIns="254" rtlCol="0" anchor="ctr">
            <a:normAutofit/>
          </a:bodyPr>
          <a:lstStyle/>
          <a:p>
            <a:pPr marL="0" indent="0" algn="ctr">
              <a:buNone/>
            </a:pPr>
            <a:r>
              <a:rPr lang="en-US" sz="1060" b="1" dirty="0">
                <a:solidFill>
                  <a:srgbClr val="C00000"/>
                </a:solidFill>
                <a:latin typeface="Arial" pitchFamily="34" charset="0"/>
                <a:ea typeface="Arial" pitchFamily="34" charset="-122"/>
                <a:cs typeface="Arial" pitchFamily="34" charset="-120"/>
              </a:rPr>
              <a:t>Compute</a:t>
            </a:r>
            <a:endParaRPr lang="en-US" sz="1060" dirty="0"/>
          </a:p>
          <a:p>
            <a:pPr marL="0" indent="0" algn="ctr">
              <a:buNone/>
            </a:pPr>
            <a:r>
              <a:rPr lang="en-US" sz="1060" b="1" dirty="0">
                <a:solidFill>
                  <a:srgbClr val="C00000"/>
                </a:solidFill>
                <a:latin typeface="Arial" pitchFamily="34" charset="0"/>
                <a:ea typeface="Arial" pitchFamily="34" charset="-122"/>
                <a:cs typeface="Arial" pitchFamily="34" charset="-120"/>
              </a:rPr>
              <a:t>MSE</a:t>
            </a:r>
            <a:endParaRPr lang="en-US" sz="1060" dirty="0"/>
          </a:p>
        </p:txBody>
      </p:sp>
      <p:sp>
        <p:nvSpPr>
          <p:cNvPr id="21" name="Shape 18"/>
          <p:cNvSpPr/>
          <p:nvPr/>
        </p:nvSpPr>
        <p:spPr>
          <a:xfrm>
            <a:off x="9486900" y="2194560"/>
            <a:ext cx="1508760" cy="694944"/>
          </a:xfrm>
          <a:prstGeom prst="roundRect">
            <a:avLst>
              <a:gd name="adj" fmla="val 6579"/>
            </a:avLst>
          </a:prstGeom>
          <a:solidFill>
            <a:srgbClr val="E2F0D9"/>
          </a:solidFill>
          <a:ln w="12700">
            <a:solidFill>
              <a:srgbClr val="548235"/>
            </a:solidFill>
            <a:prstDash val="solid"/>
          </a:ln>
        </p:spPr>
        <p:txBody>
          <a:bodyPr/>
          <a:lstStyle/>
          <a:p>
            <a:endParaRPr lang="ko-KR" altLang="en-US"/>
          </a:p>
        </p:txBody>
      </p:sp>
      <p:sp>
        <p:nvSpPr>
          <p:cNvPr id="22" name="Text 19"/>
          <p:cNvSpPr/>
          <p:nvPr/>
        </p:nvSpPr>
        <p:spPr>
          <a:xfrm>
            <a:off x="9560052" y="2249424"/>
            <a:ext cx="1362456" cy="603504"/>
          </a:xfrm>
          <a:prstGeom prst="rect">
            <a:avLst/>
          </a:prstGeom>
          <a:noFill/>
          <a:ln/>
        </p:spPr>
        <p:txBody>
          <a:bodyPr wrap="square" lIns="254" tIns="254" rIns="254" bIns="254" rtlCol="0" anchor="ctr">
            <a:normAutofit/>
          </a:bodyPr>
          <a:lstStyle/>
          <a:p>
            <a:pPr marL="0" indent="0" algn="ctr">
              <a:buNone/>
            </a:pPr>
            <a:r>
              <a:rPr lang="en-US" sz="1060" b="1" dirty="0">
                <a:solidFill>
                  <a:srgbClr val="548235"/>
                </a:solidFill>
                <a:latin typeface="Arial" pitchFamily="34" charset="0"/>
                <a:ea typeface="Arial" pitchFamily="34" charset="-122"/>
                <a:cs typeface="Arial" pitchFamily="34" charset="-120"/>
              </a:rPr>
              <a:t>Choose</a:t>
            </a:r>
            <a:endParaRPr lang="en-US" sz="1060" dirty="0"/>
          </a:p>
          <a:p>
            <a:pPr marL="0" indent="0" algn="ctr">
              <a:buNone/>
            </a:pPr>
            <a:r>
              <a:rPr lang="en-US" sz="1060" b="1" dirty="0">
                <a:solidFill>
                  <a:srgbClr val="548235"/>
                </a:solidFill>
                <a:latin typeface="Arial" pitchFamily="34" charset="0"/>
                <a:ea typeface="Arial" pitchFamily="34" charset="-122"/>
                <a:cs typeface="Arial" pitchFamily="34" charset="-120"/>
              </a:rPr>
              <a:t>min MSE</a:t>
            </a:r>
            <a:endParaRPr lang="en-US" sz="1060" dirty="0"/>
          </a:p>
        </p:txBody>
      </p:sp>
      <p:sp>
        <p:nvSpPr>
          <p:cNvPr id="23" name="Shape 20"/>
          <p:cNvSpPr/>
          <p:nvPr/>
        </p:nvSpPr>
        <p:spPr>
          <a:xfrm>
            <a:off x="2537460" y="3694176"/>
            <a:ext cx="3383280" cy="1234440"/>
          </a:xfrm>
          <a:prstGeom prst="roundRect">
            <a:avLst>
              <a:gd name="adj" fmla="val 4444"/>
            </a:avLst>
          </a:prstGeom>
          <a:solidFill>
            <a:srgbClr val="F3F8FF"/>
          </a:solidFill>
          <a:ln w="13335">
            <a:solidFill>
              <a:srgbClr val="9EADCC"/>
            </a:solidFill>
            <a:prstDash val="solid"/>
          </a:ln>
        </p:spPr>
        <p:txBody>
          <a:bodyPr/>
          <a:lstStyle/>
          <a:p>
            <a:endParaRPr lang="ko-KR" altLang="en-US"/>
          </a:p>
        </p:txBody>
      </p:sp>
      <p:sp>
        <p:nvSpPr>
          <p:cNvPr id="24" name="Text 21"/>
          <p:cNvSpPr/>
          <p:nvPr/>
        </p:nvSpPr>
        <p:spPr>
          <a:xfrm>
            <a:off x="2702052" y="3803904"/>
            <a:ext cx="30540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Input / Output</a:t>
            </a:r>
            <a:endParaRPr lang="en-US" sz="1200" dirty="0"/>
          </a:p>
        </p:txBody>
      </p:sp>
      <mc:AlternateContent xmlns:mc="http://schemas.openxmlformats.org/markup-compatibility/2006" xmlns:a14="http://schemas.microsoft.com/office/drawing/2010/main">
        <mc:Choice Requires="a14">
          <p:sp>
            <p:nvSpPr>
              <p:cNvPr id="25" name="Text 22"/>
              <p:cNvSpPr/>
              <p:nvPr/>
            </p:nvSpPr>
            <p:spPr>
              <a:xfrm>
                <a:off x="2720340" y="4087368"/>
                <a:ext cx="2999232"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𝑊</m:t>
                      </m:r>
                      <m:r>
                        <a:rPr lang="ko-KR" altLang="en-US" sz="1200" smtClean="0">
                          <a:latin typeface="Cambria Math"/>
                        </a:rPr>
                        <m:t>,</m:t>
                      </m:r>
                      <m:r>
                        <a:rPr lang="ko-KR" altLang="en-US" sz="1200" smtClean="0">
                          <a:latin typeface="Cambria Math"/>
                        </a:rPr>
                        <m:t>𝑝</m:t>
                      </m:r>
                      <m:r>
                        <a:rPr lang="ko-KR" altLang="en-US" sz="1200" smtClean="0">
                          <a:latin typeface="Cambria Math"/>
                        </a:rPr>
                        <m:t>→</m:t>
                      </m:r>
                      <m:d>
                        <m:dPr>
                          <m:ctrlPr>
                            <a:rPr lang="ko-KR" altLang="en-US" sz="1200" i="1" smtClean="0">
                              <a:latin typeface="Cambria Math" panose="02040503050406030204" pitchFamily="18" charset="0"/>
                            </a:rPr>
                          </m:ctrlPr>
                        </m:dPr>
                        <m:e>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𝑞𝑜𝑢𝑡</m:t>
                              </m:r>
                            </m:sub>
                          </m:sSub>
                          <m:r>
                            <a:rPr lang="ko-KR" altLang="en-US" sz="1200" smtClean="0">
                              <a:latin typeface="Cambria Math"/>
                            </a:rPr>
                            <m:t>,</m:t>
                          </m:r>
                          <m:sSub>
                            <m:sSubPr>
                              <m:ctrlPr>
                                <a:rPr lang="ko-KR" altLang="en-US" sz="1200" smtClean="0">
                                  <a:latin typeface="Cambria Math"/>
                                </a:rPr>
                              </m:ctrlPr>
                            </m:sSubPr>
                            <m:e>
                              <m:r>
                                <a:rPr lang="ko-KR" altLang="en-US" sz="1200" smtClean="0">
                                  <a:latin typeface="Cambria Math"/>
                                </a:rPr>
                                <m:t>𝑣</m:t>
                              </m:r>
                            </m:e>
                            <m:sub>
                              <m:r>
                                <a:rPr lang="ko-KR" altLang="en-US" sz="1200" smtClean="0">
                                  <a:latin typeface="Cambria Math"/>
                                </a:rPr>
                                <m:t>𝑜𝑢𝑡</m:t>
                              </m:r>
                            </m:sub>
                          </m:sSub>
                        </m:e>
                      </m:d>
                    </m:oMath>
                  </m:oMathPara>
                </a14:m>
                <a:endParaRPr/>
              </a:p>
            </p:txBody>
          </p:sp>
        </mc:Choice>
        <mc:Fallback xmlns="">
          <p:sp>
            <p:nvSpPr>
              <p:cNvPr id="25" name="Text 22"/>
              <p:cNvSpPr>
                <a:spLocks noRot="1" noChangeAspect="1" noMove="1" noResize="1" noEditPoints="1" noAdjustHandles="1" noChangeArrowheads="1" noChangeShapeType="1" noTextEdit="1"/>
              </p:cNvSpPr>
              <p:nvPr/>
            </p:nvSpPr>
            <p:spPr>
              <a:xfrm>
                <a:off x="2720340" y="4087368"/>
                <a:ext cx="2999232" cy="457200"/>
              </a:xfrm>
              <a:prstGeom prst="rect">
                <a:avLst/>
              </a:prstGeom>
              <a:blipFill>
                <a:blip r:embed="rId4"/>
                <a:stretch>
                  <a:fillRect/>
                </a:stretch>
              </a:blipFill>
              <a:ln/>
            </p:spPr>
            <p:txBody>
              <a:bodyPr/>
              <a:lstStyle/>
              <a:p>
                <a:r>
                  <a:rPr lang="ko-KR" altLang="en-US">
                    <a:noFill/>
                  </a:rPr>
                  <a:t> </a:t>
                </a:r>
              </a:p>
            </p:txBody>
          </p:sp>
        </mc:Fallback>
      </mc:AlternateContent>
      <p:sp>
        <p:nvSpPr>
          <p:cNvPr id="26" name="Text 23"/>
          <p:cNvSpPr/>
          <p:nvPr/>
        </p:nvSpPr>
        <p:spPr>
          <a:xfrm>
            <a:off x="2756916" y="4626864"/>
            <a:ext cx="2926080" cy="219456"/>
          </a:xfrm>
          <a:prstGeom prst="rect">
            <a:avLst/>
          </a:prstGeom>
          <a:noFill/>
          <a:ln/>
        </p:spPr>
        <p:txBody>
          <a:bodyPr wrap="square" lIns="0" tIns="0" rIns="0" bIns="0" rtlCol="0" anchor="ctr">
            <a:normAutofit fontScale="92500" lnSpcReduction="20000"/>
          </a:bodyPr>
          <a:lstStyle/>
          <a:p>
            <a:pPr marL="0" indent="0" algn="ctr">
              <a:buNone/>
            </a:pPr>
            <a:r>
              <a:rPr lang="en-US" sz="1020" dirty="0">
                <a:solidFill>
                  <a:srgbClr val="222222"/>
                </a:solidFill>
                <a:latin typeface="Arial" pitchFamily="34" charset="0"/>
                <a:ea typeface="Arial" pitchFamily="34" charset="-122"/>
                <a:cs typeface="Arial" pitchFamily="34" charset="-120"/>
              </a:rPr>
              <a:t>Output contains both quantized weights and the selected SV.</a:t>
            </a:r>
            <a:endParaRPr lang="en-US" sz="1020" dirty="0"/>
          </a:p>
        </p:txBody>
      </p:sp>
      <p:sp>
        <p:nvSpPr>
          <p:cNvPr id="27" name="Shape 24"/>
          <p:cNvSpPr/>
          <p:nvPr/>
        </p:nvSpPr>
        <p:spPr>
          <a:xfrm>
            <a:off x="6259068" y="3694176"/>
            <a:ext cx="3383280" cy="1234440"/>
          </a:xfrm>
          <a:prstGeom prst="roundRect">
            <a:avLst>
              <a:gd name="adj" fmla="val 4444"/>
            </a:avLst>
          </a:prstGeom>
          <a:solidFill>
            <a:srgbClr val="FFFDF2"/>
          </a:solidFill>
          <a:ln w="13335">
            <a:solidFill>
              <a:srgbClr val="D6B656"/>
            </a:solidFill>
            <a:prstDash val="solid"/>
          </a:ln>
        </p:spPr>
        <p:txBody>
          <a:bodyPr/>
          <a:lstStyle/>
          <a:p>
            <a:endParaRPr lang="ko-KR" altLang="en-US"/>
          </a:p>
        </p:txBody>
      </p:sp>
      <p:sp>
        <p:nvSpPr>
          <p:cNvPr id="28" name="Text 25"/>
          <p:cNvSpPr/>
          <p:nvPr/>
        </p:nvSpPr>
        <p:spPr>
          <a:xfrm>
            <a:off x="6423660" y="3803904"/>
            <a:ext cx="30540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Core objective</a:t>
            </a:r>
            <a:endParaRPr lang="en-US" sz="1200" dirty="0"/>
          </a:p>
        </p:txBody>
      </p:sp>
      <mc:AlternateContent xmlns:mc="http://schemas.openxmlformats.org/markup-compatibility/2006" xmlns:a14="http://schemas.microsoft.com/office/drawing/2010/main">
        <mc:Choice Requires="a14">
          <p:sp>
            <p:nvSpPr>
              <p:cNvPr id="29" name="Text 26"/>
              <p:cNvSpPr/>
              <p:nvPr/>
            </p:nvSpPr>
            <p:spPr>
              <a:xfrm>
                <a:off x="6423660" y="4078224"/>
                <a:ext cx="3063240" cy="512064"/>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𝑣</m:t>
                          </m:r>
                        </m:e>
                        <m:sub>
                          <m:r>
                            <a:rPr lang="ko-KR" altLang="en-US" sz="1200" smtClean="0">
                              <a:latin typeface="Cambria Math"/>
                            </a:rPr>
                            <m:t>𝑜𝑢𝑡</m:t>
                          </m:r>
                        </m:sub>
                      </m:sSub>
                      <m:r>
                        <a:rPr lang="ko-KR" altLang="en-US" sz="1200" smtClean="0">
                          <a:latin typeface="Cambria Math"/>
                        </a:rPr>
                        <m:t>=</m:t>
                      </m:r>
                      <m:r>
                        <m:rPr>
                          <m:sty m:val="p"/>
                        </m:rPr>
                        <a:rPr lang="ko-KR" altLang="en-US" sz="1200" smtClean="0">
                          <a:latin typeface="Cambria Math"/>
                        </a:rPr>
                        <m:t>arg</m:t>
                      </m:r>
                      <m:limLow>
                        <m:limLowPr>
                          <m:ctrlPr>
                            <a:rPr lang="ko-KR" altLang="en-US" sz="1200" smtClean="0">
                              <a:latin typeface="Cambria Math"/>
                            </a:rPr>
                          </m:ctrlPr>
                        </m:limLowPr>
                        <m:e>
                          <m:r>
                            <m:rPr>
                              <m:sty m:val="p"/>
                            </m:rPr>
                            <a:rPr lang="ko-KR" altLang="en-US" sz="1200" smtClean="0">
                              <a:latin typeface="Cambria Math"/>
                            </a:rPr>
                            <m:t>min</m:t>
                          </m:r>
                        </m:e>
                        <m:lim>
                          <m:r>
                            <a:rPr lang="ko-KR" altLang="en-US" sz="1200" smtClean="0">
                              <a:latin typeface="Cambria Math"/>
                            </a:rPr>
                            <m:t>𝑣</m:t>
                          </m:r>
                          <m:r>
                            <a:rPr lang="ko-KR" altLang="en-US" sz="1200" smtClean="0">
                              <a:latin typeface="Cambria Math"/>
                            </a:rPr>
                            <m:t>∈</m:t>
                          </m:r>
                          <m:sSub>
                            <m:sSubPr>
                              <m:ctrlPr>
                                <a:rPr lang="ko-KR" altLang="en-US" sz="1200" smtClean="0">
                                  <a:latin typeface="Cambria Math"/>
                                </a:rPr>
                              </m:ctrlPr>
                            </m:sSubPr>
                            <m:e>
                              <m:r>
                                <a:rPr lang="ko-KR" altLang="en-US" sz="1200" smtClean="0">
                                  <a:latin typeface="Cambria Math"/>
                                </a:rPr>
                                <m:t>𝒱</m:t>
                              </m:r>
                            </m:e>
                            <m:sub>
                              <m:r>
                                <a:rPr lang="ko-KR" altLang="en-US" sz="1200" smtClean="0">
                                  <a:latin typeface="Cambria Math"/>
                                </a:rPr>
                                <m:t>𝑆𝑉</m:t>
                              </m:r>
                            </m:sub>
                          </m:sSub>
                        </m:lim>
                      </m:limLow>
                      <m:r>
                        <m:rPr>
                          <m:sty m:val="p"/>
                        </m:rPr>
                        <a:rPr lang="ko-KR" altLang="en-US" sz="1200" smtClean="0">
                          <a:latin typeface="Cambria Math"/>
                        </a:rPr>
                        <m:t>MSE</m:t>
                      </m:r>
                      <m:d>
                        <m:dPr>
                          <m:ctrlPr>
                            <a:rPr lang="ko-KR" altLang="en-US" sz="1200" smtClean="0">
                              <a:latin typeface="Cambria Math"/>
                            </a:rPr>
                          </m:ctrlPr>
                        </m:dPr>
                        <m:e>
                          <m:r>
                            <a:rPr lang="ko-KR" altLang="en-US" sz="1200" smtClean="0">
                              <a:latin typeface="Cambria Math"/>
                            </a:rPr>
                            <m:t>𝑊</m:t>
                          </m:r>
                          <m:r>
                            <a:rPr lang="ko-KR" altLang="en-US" sz="1200" smtClean="0">
                              <a:latin typeface="Cambria Math"/>
                            </a:rPr>
                            <m:t>,</m:t>
                          </m:r>
                          <m:sSubSup>
                            <m:sSubSupPr>
                              <m:ctrlPr>
                                <a:rPr lang="ko-KR" altLang="en-US" sz="1200" smtClean="0">
                                  <a:latin typeface="Cambria Math"/>
                                </a:rPr>
                              </m:ctrlPr>
                            </m:sSubSupPr>
                            <m:e>
                              <m:r>
                                <a:rPr lang="ko-KR" altLang="en-US" sz="1200" smtClean="0">
                                  <a:latin typeface="Cambria Math"/>
                                </a:rPr>
                                <m:t>𝑊</m:t>
                              </m:r>
                            </m:e>
                            <m:sub>
                              <m:r>
                                <a:rPr lang="ko-KR" altLang="en-US" sz="1200" smtClean="0">
                                  <a:latin typeface="Cambria Math"/>
                                </a:rPr>
                                <m:t>𝑞</m:t>
                              </m:r>
                            </m:sub>
                            <m:sup>
                              <m:d>
                                <m:dPr>
                                  <m:ctrlPr>
                                    <a:rPr lang="ko-KR" altLang="en-US" sz="1200" smtClean="0">
                                      <a:latin typeface="Cambria Math"/>
                                    </a:rPr>
                                  </m:ctrlPr>
                                </m:dPr>
                                <m:e>
                                  <m:r>
                                    <a:rPr lang="ko-KR" altLang="en-US" sz="1200" smtClean="0">
                                      <a:latin typeface="Cambria Math"/>
                                    </a:rPr>
                                    <m:t>𝑣</m:t>
                                  </m:r>
                                </m:e>
                              </m:d>
                            </m:sup>
                          </m:sSubSup>
                        </m:e>
                      </m:d>
                    </m:oMath>
                  </m:oMathPara>
                </a14:m>
                <a:endParaRPr/>
              </a:p>
            </p:txBody>
          </p:sp>
        </mc:Choice>
        <mc:Fallback xmlns="">
          <p:sp>
            <p:nvSpPr>
              <p:cNvPr id="29" name="Text 26"/>
              <p:cNvSpPr>
                <a:spLocks noRot="1" noChangeAspect="1" noMove="1" noResize="1" noEditPoints="1" noAdjustHandles="1" noChangeArrowheads="1" noChangeShapeType="1" noTextEdit="1"/>
              </p:cNvSpPr>
              <p:nvPr/>
            </p:nvSpPr>
            <p:spPr>
              <a:xfrm>
                <a:off x="6423660" y="4078224"/>
                <a:ext cx="3063240" cy="512064"/>
              </a:xfrm>
              <a:prstGeom prst="rect">
                <a:avLst/>
              </a:prstGeom>
              <a:blipFill>
                <a:blip r:embed="rId5"/>
                <a:stretch>
                  <a:fillRect/>
                </a:stretch>
              </a:blipFill>
              <a:ln/>
            </p:spPr>
            <p:txBody>
              <a:bodyPr/>
              <a:lstStyle/>
              <a:p>
                <a:r>
                  <a:rPr lang="ko-KR" altLang="en-US">
                    <a:noFill/>
                  </a:rPr>
                  <a:t> </a:t>
                </a:r>
              </a:p>
            </p:txBody>
          </p:sp>
        </mc:Fallback>
      </mc:AlternateContent>
      <p:sp>
        <p:nvSpPr>
          <p:cNvPr id="30" name="Text 27"/>
          <p:cNvSpPr/>
          <p:nvPr/>
        </p:nvSpPr>
        <p:spPr>
          <a:xfrm>
            <a:off x="6505956" y="4626864"/>
            <a:ext cx="2880360" cy="219456"/>
          </a:xfrm>
          <a:prstGeom prst="rect">
            <a:avLst/>
          </a:prstGeom>
          <a:noFill/>
          <a:ln/>
        </p:spPr>
        <p:txBody>
          <a:bodyPr wrap="square" lIns="0" tIns="0" rIns="0" bIns="0" rtlCol="0" anchor="ctr">
            <a:normAutofit fontScale="92500" lnSpcReduction="20000"/>
          </a:bodyPr>
          <a:lstStyle/>
          <a:p>
            <a:pPr marL="0" indent="0" algn="ctr">
              <a:buNone/>
            </a:pPr>
            <a:r>
              <a:rPr lang="en-US" sz="1020" dirty="0">
                <a:solidFill>
                  <a:srgbClr val="222222"/>
                </a:solidFill>
                <a:latin typeface="Arial" pitchFamily="34" charset="0"/>
                <a:ea typeface="Arial" pitchFamily="34" charset="-122"/>
                <a:cs typeface="Arial" pitchFamily="34" charset="-120"/>
              </a:rPr>
              <a:t>Choose the Special Value that minimizes quantization error.</a:t>
            </a:r>
            <a:endParaRPr lang="en-US" sz="1020" dirty="0"/>
          </a:p>
        </p:txBody>
      </p:sp>
      <p:sp>
        <p:nvSpPr>
          <p:cNvPr id="34" name="Shape 31"/>
          <p:cNvSpPr/>
          <p:nvPr/>
        </p:nvSpPr>
        <p:spPr>
          <a:xfrm>
            <a:off x="1143000" y="5760720"/>
            <a:ext cx="9829800" cy="420624"/>
          </a:xfrm>
          <a:prstGeom prst="roundRect">
            <a:avLst>
              <a:gd name="adj" fmla="val 13043"/>
            </a:avLst>
          </a:prstGeom>
          <a:solidFill>
            <a:srgbClr val="EAF2FF"/>
          </a:solidFill>
          <a:ln w="12700">
            <a:solidFill>
              <a:srgbClr val="7EA6E0"/>
            </a:solidFill>
            <a:prstDash val="solid"/>
          </a:ln>
        </p:spPr>
        <p:txBody>
          <a:bodyPr/>
          <a:lstStyle/>
          <a:p>
            <a:endParaRPr lang="ko-KR" altLang="en-US"/>
          </a:p>
        </p:txBody>
      </p:sp>
      <p:sp>
        <p:nvSpPr>
          <p:cNvPr id="35" name="Text 32"/>
          <p:cNvSpPr/>
          <p:nvPr/>
        </p:nvSpPr>
        <p:spPr>
          <a:xfrm>
            <a:off x="1325880" y="5879592"/>
            <a:ext cx="9464040" cy="146304"/>
          </a:xfrm>
          <a:prstGeom prst="rect">
            <a:avLst/>
          </a:prstGeom>
          <a:noFill/>
          <a:ln/>
        </p:spPr>
        <p:txBody>
          <a:bodyPr wrap="square" lIns="0" tIns="0" rIns="0" bIns="0" rtlCol="0" anchor="ctr">
            <a:normAutofit lnSpcReduction="10000"/>
          </a:bodyPr>
          <a:lstStyle/>
          <a:p>
            <a:pPr marL="0" indent="0" algn="ctr">
              <a:buNone/>
            </a:pPr>
            <a:r>
              <a:rPr lang="en-US" sz="1060" b="1" dirty="0">
                <a:solidFill>
                  <a:srgbClr val="00245D"/>
                </a:solidFill>
                <a:latin typeface="Arial" pitchFamily="34" charset="0"/>
                <a:ea typeface="Arial" pitchFamily="34" charset="-122"/>
                <a:cs typeface="Arial" pitchFamily="34" charset="-120"/>
              </a:rPr>
              <a:t>Key idea: exhaustive candidate search is simple because there are only 4 Special Values per precision.</a:t>
            </a:r>
            <a:endParaRPr lang="en-US" sz="106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Non-linear Quantization and Error Measurement</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43</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Because FP3/FP4 levels are not equally spaced like integers, BitMoD uses non-linear quantization and evaluates MSE.</a:t>
            </a:r>
            <a:endParaRPr lang="en-US" sz="1300" dirty="0"/>
          </a:p>
        </p:txBody>
      </p:sp>
      <p:sp>
        <p:nvSpPr>
          <p:cNvPr id="9" name="Shape 6"/>
          <p:cNvSpPr/>
          <p:nvPr/>
        </p:nvSpPr>
        <p:spPr>
          <a:xfrm>
            <a:off x="685800" y="1444752"/>
            <a:ext cx="5257800" cy="4434840"/>
          </a:xfrm>
          <a:prstGeom prst="roundRect">
            <a:avLst>
              <a:gd name="adj" fmla="val 1237"/>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54480"/>
            <a:ext cx="49286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Non-linear levels</a:t>
            </a:r>
            <a:endParaRPr lang="en-US" sz="1200" dirty="0"/>
          </a:p>
        </p:txBody>
      </p:sp>
      <p:sp>
        <p:nvSpPr>
          <p:cNvPr id="11" name="Text 8"/>
          <p:cNvSpPr/>
          <p:nvPr/>
        </p:nvSpPr>
        <p:spPr>
          <a:xfrm>
            <a:off x="1005840" y="2082666"/>
            <a:ext cx="4617720" cy="219456"/>
          </a:xfrm>
          <a:prstGeom prst="rect">
            <a:avLst/>
          </a:prstGeom>
          <a:noFill/>
          <a:ln/>
        </p:spPr>
        <p:txBody>
          <a:bodyPr wrap="square" lIns="0" tIns="0" rIns="0" bIns="0" rtlCol="0" anchor="ctr"/>
          <a:lstStyle/>
          <a:p>
            <a:pPr marL="0" indent="0" algn="ctr">
              <a:buNone/>
            </a:pPr>
            <a:r>
              <a:rPr lang="en-US" sz="1200" b="1" dirty="0">
                <a:solidFill>
                  <a:srgbClr val="00245D"/>
                </a:solidFill>
                <a:latin typeface="Arial" pitchFamily="34" charset="0"/>
                <a:ea typeface="Arial" pitchFamily="34" charset="-122"/>
                <a:cs typeface="Arial" pitchFamily="34" charset="-120"/>
              </a:rPr>
              <a:t>FP3-EA(+6) example</a:t>
            </a:r>
            <a:endParaRPr lang="en-US" sz="1200" dirty="0"/>
          </a:p>
        </p:txBody>
      </p:sp>
      <p:sp>
        <p:nvSpPr>
          <p:cNvPr id="12" name="Shape 9"/>
          <p:cNvSpPr/>
          <p:nvPr/>
        </p:nvSpPr>
        <p:spPr>
          <a:xfrm>
            <a:off x="1143000" y="3024498"/>
            <a:ext cx="4343400" cy="0"/>
          </a:xfrm>
          <a:prstGeom prst="line">
            <a:avLst/>
          </a:prstGeom>
          <a:noFill/>
          <a:ln w="15240">
            <a:solidFill>
              <a:srgbClr val="444444"/>
            </a:solidFill>
            <a:prstDash val="solid"/>
            <a:headEnd type="triangle"/>
            <a:tailEnd type="triangle"/>
          </a:ln>
        </p:spPr>
        <p:txBody>
          <a:bodyPr/>
          <a:lstStyle/>
          <a:p>
            <a:endParaRPr lang="ko-KR" altLang="en-US"/>
          </a:p>
        </p:txBody>
      </p:sp>
      <p:sp>
        <p:nvSpPr>
          <p:cNvPr id="13" name="Shape 10"/>
          <p:cNvSpPr/>
          <p:nvPr/>
        </p:nvSpPr>
        <p:spPr>
          <a:xfrm>
            <a:off x="1866900" y="2942202"/>
            <a:ext cx="0" cy="164592"/>
          </a:xfrm>
          <a:prstGeom prst="line">
            <a:avLst/>
          </a:prstGeom>
          <a:noFill/>
          <a:ln w="12700">
            <a:solidFill>
              <a:srgbClr val="00245D"/>
            </a:solidFill>
            <a:prstDash val="solid"/>
          </a:ln>
        </p:spPr>
        <p:txBody>
          <a:bodyPr/>
          <a:lstStyle/>
          <a:p>
            <a:endParaRPr lang="ko-KR" altLang="en-US"/>
          </a:p>
        </p:txBody>
      </p:sp>
      <p:sp>
        <p:nvSpPr>
          <p:cNvPr id="14" name="Shape 11"/>
          <p:cNvSpPr/>
          <p:nvPr/>
        </p:nvSpPr>
        <p:spPr>
          <a:xfrm>
            <a:off x="2590800" y="2942202"/>
            <a:ext cx="0" cy="164592"/>
          </a:xfrm>
          <a:prstGeom prst="line">
            <a:avLst/>
          </a:prstGeom>
          <a:noFill/>
          <a:ln w="12700">
            <a:solidFill>
              <a:srgbClr val="00245D"/>
            </a:solidFill>
            <a:prstDash val="solid"/>
          </a:ln>
        </p:spPr>
        <p:txBody>
          <a:bodyPr/>
          <a:lstStyle/>
          <a:p>
            <a:endParaRPr lang="ko-KR" altLang="en-US"/>
          </a:p>
        </p:txBody>
      </p:sp>
      <p:sp>
        <p:nvSpPr>
          <p:cNvPr id="15" name="Shape 12"/>
          <p:cNvSpPr/>
          <p:nvPr/>
        </p:nvSpPr>
        <p:spPr>
          <a:xfrm>
            <a:off x="2952750" y="2942202"/>
            <a:ext cx="0" cy="164592"/>
          </a:xfrm>
          <a:prstGeom prst="line">
            <a:avLst/>
          </a:prstGeom>
          <a:noFill/>
          <a:ln w="12700">
            <a:solidFill>
              <a:srgbClr val="00245D"/>
            </a:solidFill>
            <a:prstDash val="solid"/>
          </a:ln>
        </p:spPr>
        <p:txBody>
          <a:bodyPr/>
          <a:lstStyle/>
          <a:p>
            <a:endParaRPr lang="ko-KR" altLang="en-US"/>
          </a:p>
        </p:txBody>
      </p:sp>
      <p:sp>
        <p:nvSpPr>
          <p:cNvPr id="16" name="Shape 13"/>
          <p:cNvSpPr/>
          <p:nvPr/>
        </p:nvSpPr>
        <p:spPr>
          <a:xfrm>
            <a:off x="3314700" y="2942202"/>
            <a:ext cx="0" cy="164592"/>
          </a:xfrm>
          <a:prstGeom prst="line">
            <a:avLst/>
          </a:prstGeom>
          <a:noFill/>
          <a:ln w="12700">
            <a:solidFill>
              <a:srgbClr val="00245D"/>
            </a:solidFill>
            <a:prstDash val="solid"/>
          </a:ln>
        </p:spPr>
        <p:txBody>
          <a:bodyPr/>
          <a:lstStyle/>
          <a:p>
            <a:endParaRPr lang="ko-KR" altLang="en-US"/>
          </a:p>
        </p:txBody>
      </p:sp>
      <p:sp>
        <p:nvSpPr>
          <p:cNvPr id="17" name="Text 14"/>
          <p:cNvSpPr/>
          <p:nvPr/>
        </p:nvSpPr>
        <p:spPr>
          <a:xfrm>
            <a:off x="3113532" y="3134226"/>
            <a:ext cx="402336" cy="146304"/>
          </a:xfrm>
          <a:prstGeom prst="rect">
            <a:avLst/>
          </a:prstGeom>
          <a:noFill/>
          <a:ln/>
        </p:spPr>
        <p:txBody>
          <a:bodyPr wrap="square" lIns="0" tIns="0" rIns="0" bIns="0" rtlCol="0" anchor="ctr">
            <a:normAutofit/>
          </a:bodyPr>
          <a:lstStyle/>
          <a:p>
            <a:pPr marL="0" indent="0" algn="ctr">
              <a:buNone/>
            </a:pPr>
            <a:r>
              <a:rPr lang="en-US" sz="780" dirty="0">
                <a:solidFill>
                  <a:srgbClr val="222222"/>
                </a:solidFill>
                <a:latin typeface="Arial" pitchFamily="34" charset="0"/>
                <a:ea typeface="Arial" pitchFamily="34" charset="-122"/>
                <a:cs typeface="Arial" pitchFamily="34" charset="-120"/>
              </a:rPr>
              <a:t>0</a:t>
            </a:r>
            <a:endParaRPr lang="en-US" sz="780" dirty="0"/>
          </a:p>
        </p:txBody>
      </p:sp>
      <p:sp>
        <p:nvSpPr>
          <p:cNvPr id="18" name="Shape 15"/>
          <p:cNvSpPr/>
          <p:nvPr/>
        </p:nvSpPr>
        <p:spPr>
          <a:xfrm>
            <a:off x="3676650" y="2942202"/>
            <a:ext cx="0" cy="164592"/>
          </a:xfrm>
          <a:prstGeom prst="line">
            <a:avLst/>
          </a:prstGeom>
          <a:noFill/>
          <a:ln w="12700">
            <a:solidFill>
              <a:srgbClr val="00245D"/>
            </a:solidFill>
            <a:prstDash val="solid"/>
          </a:ln>
        </p:spPr>
        <p:txBody>
          <a:bodyPr/>
          <a:lstStyle/>
          <a:p>
            <a:endParaRPr lang="ko-KR" altLang="en-US"/>
          </a:p>
        </p:txBody>
      </p:sp>
      <p:sp>
        <p:nvSpPr>
          <p:cNvPr id="19" name="Shape 16"/>
          <p:cNvSpPr/>
          <p:nvPr/>
        </p:nvSpPr>
        <p:spPr>
          <a:xfrm>
            <a:off x="4038600" y="2942202"/>
            <a:ext cx="0" cy="164592"/>
          </a:xfrm>
          <a:prstGeom prst="line">
            <a:avLst/>
          </a:prstGeom>
          <a:noFill/>
          <a:ln w="12700">
            <a:solidFill>
              <a:srgbClr val="00245D"/>
            </a:solidFill>
            <a:prstDash val="solid"/>
          </a:ln>
        </p:spPr>
        <p:txBody>
          <a:bodyPr/>
          <a:lstStyle/>
          <a:p>
            <a:endParaRPr lang="ko-KR" altLang="en-US"/>
          </a:p>
        </p:txBody>
      </p:sp>
      <p:sp>
        <p:nvSpPr>
          <p:cNvPr id="20" name="Shape 17"/>
          <p:cNvSpPr/>
          <p:nvPr/>
        </p:nvSpPr>
        <p:spPr>
          <a:xfrm>
            <a:off x="4762500" y="2942202"/>
            <a:ext cx="0" cy="164592"/>
          </a:xfrm>
          <a:prstGeom prst="line">
            <a:avLst/>
          </a:prstGeom>
          <a:noFill/>
          <a:ln w="12700">
            <a:solidFill>
              <a:srgbClr val="00245D"/>
            </a:solidFill>
            <a:prstDash val="solid"/>
          </a:ln>
        </p:spPr>
        <p:txBody>
          <a:bodyPr/>
          <a:lstStyle/>
          <a:p>
            <a:endParaRPr lang="ko-KR" altLang="en-US"/>
          </a:p>
        </p:txBody>
      </p:sp>
      <p:sp>
        <p:nvSpPr>
          <p:cNvPr id="21" name="Shape 18"/>
          <p:cNvSpPr/>
          <p:nvPr/>
        </p:nvSpPr>
        <p:spPr>
          <a:xfrm>
            <a:off x="5486400" y="2942202"/>
            <a:ext cx="0" cy="164592"/>
          </a:xfrm>
          <a:prstGeom prst="line">
            <a:avLst/>
          </a:prstGeom>
          <a:noFill/>
          <a:ln w="25400">
            <a:solidFill>
              <a:srgbClr val="C00000"/>
            </a:solidFill>
            <a:prstDash val="solid"/>
          </a:ln>
        </p:spPr>
        <p:txBody>
          <a:bodyPr/>
          <a:lstStyle/>
          <a:p>
            <a:endParaRPr lang="ko-KR" altLang="en-US"/>
          </a:p>
        </p:txBody>
      </p:sp>
      <p:sp>
        <p:nvSpPr>
          <p:cNvPr id="22" name="Text 19"/>
          <p:cNvSpPr/>
          <p:nvPr/>
        </p:nvSpPr>
        <p:spPr>
          <a:xfrm>
            <a:off x="5285232" y="3134226"/>
            <a:ext cx="402336" cy="146304"/>
          </a:xfrm>
          <a:prstGeom prst="rect">
            <a:avLst/>
          </a:prstGeom>
          <a:noFill/>
          <a:ln/>
        </p:spPr>
        <p:txBody>
          <a:bodyPr wrap="square" lIns="0" tIns="0" rIns="0" bIns="0" rtlCol="0" anchor="ctr">
            <a:normAutofit/>
          </a:bodyPr>
          <a:lstStyle/>
          <a:p>
            <a:pPr marL="0" indent="0" algn="ctr">
              <a:buNone/>
            </a:pPr>
            <a:r>
              <a:rPr lang="en-US" sz="780" b="1" dirty="0">
                <a:solidFill>
                  <a:srgbClr val="C00000"/>
                </a:solidFill>
                <a:latin typeface="Arial" pitchFamily="34" charset="0"/>
                <a:ea typeface="Arial" pitchFamily="34" charset="-122"/>
                <a:cs typeface="Arial" pitchFamily="34" charset="-120"/>
              </a:rPr>
              <a:t>+6</a:t>
            </a:r>
            <a:endParaRPr lang="en-US" sz="780" dirty="0"/>
          </a:p>
        </p:txBody>
      </p:sp>
      <p:sp>
        <p:nvSpPr>
          <p:cNvPr id="23" name="Shape 20"/>
          <p:cNvSpPr/>
          <p:nvPr/>
        </p:nvSpPr>
        <p:spPr>
          <a:xfrm rot="10800000">
            <a:off x="5413248" y="2704458"/>
            <a:ext cx="146304" cy="128016"/>
          </a:xfrm>
          <a:prstGeom prst="triangle">
            <a:avLst/>
          </a:prstGeom>
          <a:solidFill>
            <a:srgbClr val="C00000"/>
          </a:solidFill>
          <a:ln w="8890">
            <a:solidFill>
              <a:srgbClr val="C00000"/>
            </a:solidFill>
            <a:prstDash val="solid"/>
          </a:ln>
        </p:spPr>
        <p:txBody>
          <a:bodyPr/>
          <a:lstStyle/>
          <a:p>
            <a:endParaRPr lang="ko-KR" altLang="en-US"/>
          </a:p>
        </p:txBody>
      </p:sp>
      <p:sp>
        <p:nvSpPr>
          <p:cNvPr id="24" name="Text 21"/>
          <p:cNvSpPr/>
          <p:nvPr/>
        </p:nvSpPr>
        <p:spPr>
          <a:xfrm>
            <a:off x="5340096" y="2494146"/>
            <a:ext cx="292608" cy="128016"/>
          </a:xfrm>
          <a:prstGeom prst="rect">
            <a:avLst/>
          </a:prstGeom>
          <a:noFill/>
          <a:ln/>
        </p:spPr>
        <p:txBody>
          <a:bodyPr wrap="square" lIns="0" tIns="0" rIns="0" bIns="0" rtlCol="0" anchor="ctr">
            <a:normAutofit/>
          </a:bodyPr>
          <a:lstStyle/>
          <a:p>
            <a:pPr marL="0" indent="0" algn="ctr">
              <a:buNone/>
            </a:pPr>
            <a:r>
              <a:rPr lang="en-US" sz="760" b="1" dirty="0">
                <a:solidFill>
                  <a:srgbClr val="C00000"/>
                </a:solidFill>
                <a:latin typeface="Arial" pitchFamily="34" charset="0"/>
                <a:ea typeface="Arial" pitchFamily="34" charset="-122"/>
                <a:cs typeface="Arial" pitchFamily="34" charset="-120"/>
              </a:rPr>
              <a:t>SV</a:t>
            </a:r>
            <a:endParaRPr lang="en-US" sz="760" dirty="0"/>
          </a:p>
        </p:txBody>
      </p:sp>
      <p:sp>
        <p:nvSpPr>
          <p:cNvPr id="25" name="Text 22"/>
          <p:cNvSpPr/>
          <p:nvPr/>
        </p:nvSpPr>
        <p:spPr>
          <a:xfrm>
            <a:off x="1143000" y="3712464"/>
            <a:ext cx="4343400" cy="237744"/>
          </a:xfrm>
          <a:prstGeom prst="rect">
            <a:avLst/>
          </a:prstGeom>
          <a:noFill/>
          <a:ln/>
        </p:spPr>
        <p:txBody>
          <a:bodyPr wrap="square" lIns="0" tIns="0" rIns="0" bIns="0" rtlCol="0" anchor="ctr">
            <a:normAutofit/>
          </a:bodyPr>
          <a:lstStyle/>
          <a:p>
            <a:pPr marL="0" indent="0" algn="ctr">
              <a:buNone/>
            </a:pPr>
            <a:r>
              <a:rPr lang="en-US" sz="1040" dirty="0">
                <a:solidFill>
                  <a:srgbClr val="222222"/>
                </a:solidFill>
                <a:latin typeface="Arial" pitchFamily="34" charset="0"/>
                <a:ea typeface="Arial" pitchFamily="34" charset="-122"/>
                <a:cs typeface="Arial" pitchFamily="34" charset="-120"/>
              </a:rPr>
              <a:t>Spacing is uneven: −4, −2, −1, 0, +1, +2, +4, +6</a:t>
            </a:r>
            <a:endParaRPr lang="en-US" sz="1040" dirty="0"/>
          </a:p>
        </p:txBody>
      </p:sp>
      <mc:AlternateContent xmlns:mc="http://schemas.openxmlformats.org/markup-compatibility/2006" xmlns:a14="http://schemas.microsoft.com/office/drawing/2010/main">
        <mc:Choice Requires="a14">
          <p:sp>
            <p:nvSpPr>
              <p:cNvPr id="26" name="Text 23"/>
              <p:cNvSpPr/>
              <p:nvPr/>
            </p:nvSpPr>
            <p:spPr>
              <a:xfrm>
                <a:off x="960120" y="4389120"/>
                <a:ext cx="4754880" cy="56692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r>
                        <a:rPr lang="ko-KR" altLang="en-US" sz="1200" smtClean="0">
                          <a:latin typeface="Cambria Math"/>
                        </a:rPr>
                        <m:t>=</m:t>
                      </m:r>
                      <m:r>
                        <m:rPr>
                          <m:sty m:val="p"/>
                        </m:rPr>
                        <a:rPr lang="ko-KR" altLang="en-US" sz="1200" smtClean="0">
                          <a:latin typeface="Cambria Math"/>
                        </a:rPr>
                        <m:t>NonLinearQuantize</m:t>
                      </m:r>
                      <m:d>
                        <m:dPr>
                          <m:ctrlPr>
                            <a:rPr lang="ko-KR" altLang="en-US" sz="1200" smtClean="0">
                              <a:latin typeface="Cambria Math"/>
                            </a:rPr>
                          </m:ctrlPr>
                        </m:dPr>
                        <m:e>
                          <m:r>
                            <a:rPr lang="ko-KR" altLang="en-US" sz="1200" smtClean="0">
                              <a:latin typeface="Cambria Math"/>
                            </a:rPr>
                            <m:t>𝑊</m:t>
                          </m:r>
                          <m:r>
                            <a:rPr lang="ko-KR" altLang="en-US" sz="1200" smtClean="0">
                              <a:latin typeface="Cambria Math"/>
                            </a:rPr>
                            <m:t>,</m:t>
                          </m:r>
                          <m:sSub>
                            <m:sSubPr>
                              <m:ctrlPr>
                                <a:rPr lang="ko-KR" altLang="en-US" sz="1200" smtClean="0">
                                  <a:latin typeface="Cambria Math"/>
                                </a:rPr>
                              </m:ctrlPr>
                            </m:sSubPr>
                            <m:e>
                              <m:r>
                                <a:rPr lang="ko-KR" altLang="en-US" sz="1200" smtClean="0">
                                  <a:latin typeface="Cambria Math"/>
                                </a:rPr>
                                <m:t>𝒬</m:t>
                              </m:r>
                            </m:e>
                            <m:sub>
                              <m:r>
                                <a:rPr lang="ko-KR" altLang="en-US" sz="1200" smtClean="0">
                                  <a:latin typeface="Cambria Math"/>
                                </a:rPr>
                                <m:t>𝑣</m:t>
                              </m:r>
                            </m:sub>
                          </m:sSub>
                        </m:e>
                      </m:d>
                    </m:oMath>
                  </m:oMathPara>
                </a14:m>
                <a:endParaRPr/>
              </a:p>
            </p:txBody>
          </p:sp>
        </mc:Choice>
        <mc:Fallback xmlns="">
          <p:sp>
            <p:nvSpPr>
              <p:cNvPr id="26" name="Text 23"/>
              <p:cNvSpPr>
                <a:spLocks noRot="1" noChangeAspect="1" noMove="1" noResize="1" noEditPoints="1" noAdjustHandles="1" noChangeArrowheads="1" noChangeShapeType="1" noTextEdit="1"/>
              </p:cNvSpPr>
              <p:nvPr/>
            </p:nvSpPr>
            <p:spPr>
              <a:xfrm>
                <a:off x="960120" y="4389120"/>
                <a:ext cx="4754880" cy="566928"/>
              </a:xfrm>
              <a:prstGeom prst="rect">
                <a:avLst/>
              </a:prstGeom>
              <a:blipFill>
                <a:blip r:embed="rId4"/>
                <a:stretch>
                  <a:fillRect/>
                </a:stretch>
              </a:blipFill>
              <a:ln/>
            </p:spPr>
            <p:txBody>
              <a:bodyPr/>
              <a:lstStyle/>
              <a:p>
                <a:r>
                  <a:rPr lang="ko-KR" altLang="en-US">
                    <a:noFill/>
                  </a:rPr>
                  <a:t> </a:t>
                </a:r>
              </a:p>
            </p:txBody>
          </p:sp>
        </mc:Fallback>
      </mc:AlternateContent>
      <p:sp>
        <p:nvSpPr>
          <p:cNvPr id="27" name="Shape 24"/>
          <p:cNvSpPr/>
          <p:nvPr/>
        </p:nvSpPr>
        <p:spPr>
          <a:xfrm>
            <a:off x="6400800" y="1444752"/>
            <a:ext cx="5074920" cy="4434840"/>
          </a:xfrm>
          <a:prstGeom prst="roundRect">
            <a:avLst>
              <a:gd name="adj" fmla="val 1237"/>
            </a:avLst>
          </a:prstGeom>
          <a:solidFill>
            <a:srgbClr val="FFFDF2"/>
          </a:solidFill>
          <a:ln w="13335">
            <a:solidFill>
              <a:srgbClr val="D6B656"/>
            </a:solidFill>
            <a:prstDash val="solid"/>
          </a:ln>
        </p:spPr>
        <p:txBody>
          <a:bodyPr/>
          <a:lstStyle/>
          <a:p>
            <a:endParaRPr lang="ko-KR" altLang="en-US"/>
          </a:p>
        </p:txBody>
      </p:sp>
      <p:sp>
        <p:nvSpPr>
          <p:cNvPr id="28" name="Text 25"/>
          <p:cNvSpPr/>
          <p:nvPr/>
        </p:nvSpPr>
        <p:spPr>
          <a:xfrm>
            <a:off x="6565392" y="1554480"/>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Error criterion</a:t>
            </a:r>
            <a:endParaRPr lang="en-US" sz="1200" dirty="0"/>
          </a:p>
        </p:txBody>
      </p:sp>
      <p:sp>
        <p:nvSpPr>
          <p:cNvPr id="29" name="Text 26"/>
          <p:cNvSpPr/>
          <p:nvPr/>
        </p:nvSpPr>
        <p:spPr>
          <a:xfrm>
            <a:off x="6720840" y="1901952"/>
            <a:ext cx="4434840" cy="384048"/>
          </a:xfrm>
          <a:prstGeom prst="rect">
            <a:avLst/>
          </a:prstGeom>
          <a:noFill/>
          <a:ln/>
        </p:spPr>
        <p:txBody>
          <a:bodyPr wrap="square" lIns="254" tIns="254" rIns="254" bIns="254" rtlCol="0" anchor="ctr">
            <a:normAutofit/>
          </a:bodyPr>
          <a:lstStyle/>
          <a:p>
            <a:pPr marL="0" indent="0" algn="ctr">
              <a:buNone/>
            </a:pPr>
            <a:r>
              <a:rPr lang="en-US" sz="1150" dirty="0">
                <a:solidFill>
                  <a:srgbClr val="222222"/>
                </a:solidFill>
                <a:latin typeface="Arial" pitchFamily="34" charset="0"/>
                <a:ea typeface="Arial" pitchFamily="34" charset="-122"/>
                <a:cs typeface="Arial" pitchFamily="34" charset="-120"/>
              </a:rPr>
              <a:t>For each candidate, compare the original group W and the quantized group Wq.</a:t>
            </a:r>
            <a:endParaRPr lang="en-US" sz="1150" dirty="0"/>
          </a:p>
        </p:txBody>
      </p:sp>
      <mc:AlternateContent xmlns:mc="http://schemas.openxmlformats.org/markup-compatibility/2006" xmlns:a14="http://schemas.microsoft.com/office/drawing/2010/main">
        <mc:Choice Requires="a14">
          <p:sp>
            <p:nvSpPr>
              <p:cNvPr id="30" name="Text 27"/>
              <p:cNvSpPr/>
              <p:nvPr/>
            </p:nvSpPr>
            <p:spPr>
              <a:xfrm>
                <a:off x="6583680" y="2761488"/>
                <a:ext cx="4663440" cy="8686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m:rPr>
                          <m:sty m:val="p"/>
                        </m:rPr>
                        <a:rPr lang="ko-KR" altLang="en-US" sz="1200" smtClean="0">
                          <a:latin typeface="Cambria Math"/>
                        </a:rPr>
                        <m:t>MSE</m:t>
                      </m:r>
                      <m:d>
                        <m:dPr>
                          <m:ctrlPr>
                            <a:rPr lang="ko-KR" altLang="en-US" sz="1200" smtClean="0">
                              <a:latin typeface="Cambria Math"/>
                            </a:rPr>
                          </m:ctrlPr>
                        </m:dPr>
                        <m:e>
                          <m:r>
                            <a:rPr lang="ko-KR" altLang="en-US" sz="1200" smtClean="0">
                              <a:latin typeface="Cambria Math"/>
                            </a:rPr>
                            <m:t>𝑊</m:t>
                          </m:r>
                          <m:r>
                            <a:rPr lang="ko-KR" altLang="en-US" sz="1200" smtClean="0">
                              <a:latin typeface="Cambria Math"/>
                            </a:rPr>
                            <m:t>,</m:t>
                          </m:r>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sub>
                          </m:sSub>
                        </m:e>
                      </m:d>
                      <m:r>
                        <a:rPr lang="ko-KR" altLang="en-US" sz="1200" smtClean="0">
                          <a:latin typeface="Cambria Math"/>
                        </a:rPr>
                        <m:t>=</m:t>
                      </m:r>
                      <m:f>
                        <m:fPr>
                          <m:ctrlPr>
                            <a:rPr lang="ko-KR" altLang="en-US" sz="1200" smtClean="0">
                              <a:latin typeface="Cambria Math"/>
                            </a:rPr>
                          </m:ctrlPr>
                        </m:fPr>
                        <m:num>
                          <m:r>
                            <a:rPr lang="ko-KR" altLang="en-US" sz="1200" smtClean="0">
                              <a:latin typeface="Cambria Math"/>
                            </a:rPr>
                            <m:t>1</m:t>
                          </m:r>
                        </m:num>
                        <m:den>
                          <m:r>
                            <a:rPr lang="ko-KR" altLang="en-US" sz="1200" smtClean="0">
                              <a:latin typeface="Cambria Math"/>
                            </a:rPr>
                            <m:t>𝑁</m:t>
                          </m:r>
                        </m:den>
                      </m:f>
                      <m:nary>
                        <m:naryPr>
                          <m:chr m:val="∑"/>
                          <m:limLoc m:val="undOvr"/>
                          <m:ctrlPr>
                            <a:rPr lang="ko-KR" altLang="en-US" sz="1200" smtClean="0">
                              <a:latin typeface="Cambria Math"/>
                            </a:rPr>
                          </m:ctrlPr>
                        </m:naryPr>
                        <m:sub>
                          <m:r>
                            <a:rPr lang="ko-KR" altLang="en-US" sz="1200" smtClean="0">
                              <a:latin typeface="Cambria Math"/>
                            </a:rPr>
                            <m:t>𝑖</m:t>
                          </m:r>
                          <m:r>
                            <a:rPr lang="ko-KR" altLang="en-US" sz="1200" smtClean="0">
                              <a:latin typeface="Cambria Math"/>
                            </a:rPr>
                            <m:t>=1</m:t>
                          </m:r>
                        </m:sub>
                        <m:sup>
                          <m:r>
                            <a:rPr lang="ko-KR" altLang="en-US" sz="1200" smtClean="0">
                              <a:latin typeface="Cambria Math"/>
                            </a:rPr>
                            <m:t>𝑁</m:t>
                          </m:r>
                        </m:sup>
                        <m:e>
                          <m:sSup>
                            <m:sSupPr>
                              <m:ctrlPr>
                                <a:rPr lang="ko-KR" altLang="en-US" sz="1200" i="1" smtClean="0">
                                  <a:latin typeface="Cambria Math" panose="02040503050406030204" pitchFamily="18" charset="0"/>
                                </a:rPr>
                              </m:ctrlPr>
                            </m:sSupPr>
                            <m:e>
                              <m:d>
                                <m:dPr>
                                  <m:ctrlPr>
                                    <a:rPr lang="ko-KR" altLang="en-US" sz="1200" i="1" smtClean="0">
                                      <a:latin typeface="Cambria Math" panose="02040503050406030204" pitchFamily="18" charset="0"/>
                                    </a:rPr>
                                  </m:ctrlPr>
                                </m:dPr>
                                <m:e>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𝑖</m:t>
                                      </m:r>
                                    </m:sub>
                                  </m:sSub>
                                  <m:r>
                                    <a:rPr lang="ko-KR" altLang="en-US" sz="1200" smtClean="0">
                                      <a:latin typeface="Cambria Math"/>
                                    </a:rPr>
                                    <m:t>−</m:t>
                                  </m:r>
                                  <m:sSub>
                                    <m:sSubPr>
                                      <m:ctrlPr>
                                        <a:rPr lang="ko-KR" altLang="en-US" sz="1200" smtClean="0">
                                          <a:latin typeface="Cambria Math"/>
                                        </a:rPr>
                                      </m:ctrlPr>
                                    </m:sSubPr>
                                    <m:e>
                                      <m:r>
                                        <a:rPr lang="ko-KR" altLang="en-US" sz="1200" smtClean="0">
                                          <a:latin typeface="Cambria Math"/>
                                        </a:rPr>
                                        <m:t>𝑊</m:t>
                                      </m:r>
                                    </m:e>
                                    <m:sub>
                                      <m:r>
                                        <a:rPr lang="ko-KR" altLang="en-US" sz="1200" smtClean="0">
                                          <a:latin typeface="Cambria Math"/>
                                        </a:rPr>
                                        <m:t>𝑞</m:t>
                                      </m:r>
                                      <m:r>
                                        <a:rPr lang="ko-KR" altLang="en-US" sz="1200" smtClean="0">
                                          <a:latin typeface="Cambria Math"/>
                                        </a:rPr>
                                        <m:t>,</m:t>
                                      </m:r>
                                      <m:r>
                                        <a:rPr lang="ko-KR" altLang="en-US" sz="1200" smtClean="0">
                                          <a:latin typeface="Cambria Math"/>
                                        </a:rPr>
                                        <m:t>𝑖</m:t>
                                      </m:r>
                                    </m:sub>
                                  </m:sSub>
                                </m:e>
                              </m:d>
                            </m:e>
                            <m:sup>
                              <m:r>
                                <a:rPr lang="ko-KR" altLang="en-US" sz="1200" smtClean="0">
                                  <a:latin typeface="Cambria Math"/>
                                </a:rPr>
                                <m:t>2</m:t>
                              </m:r>
                            </m:sup>
                          </m:sSup>
                        </m:e>
                      </m:nary>
                    </m:oMath>
                  </m:oMathPara>
                </a14:m>
                <a:endParaRPr/>
              </a:p>
            </p:txBody>
          </p:sp>
        </mc:Choice>
        <mc:Fallback xmlns="">
          <p:sp>
            <p:nvSpPr>
              <p:cNvPr id="30" name="Text 27"/>
              <p:cNvSpPr>
                <a:spLocks noRot="1" noChangeAspect="1" noMove="1" noResize="1" noEditPoints="1" noAdjustHandles="1" noChangeArrowheads="1" noChangeShapeType="1" noTextEdit="1"/>
              </p:cNvSpPr>
              <p:nvPr/>
            </p:nvSpPr>
            <p:spPr>
              <a:xfrm>
                <a:off x="6583680" y="2761488"/>
                <a:ext cx="4663440" cy="868680"/>
              </a:xfrm>
              <a:prstGeom prst="rect">
                <a:avLst/>
              </a:prstGeom>
              <a:blipFill>
                <a:blip r:embed="rId5"/>
                <a:stretch>
                  <a:fillRect/>
                </a:stretch>
              </a:blipFill>
              <a:ln/>
            </p:spPr>
            <p:txBody>
              <a:bodyPr/>
              <a:lstStyle/>
              <a:p>
                <a:r>
                  <a:rPr lang="ko-KR" altLang="en-US">
                    <a:noFill/>
                  </a:rPr>
                  <a:t> </a:t>
                </a:r>
              </a:p>
            </p:txBody>
          </p:sp>
        </mc:Fallback>
      </mc:AlternateContent>
      <p:sp>
        <p:nvSpPr>
          <p:cNvPr id="31" name="Text 28"/>
          <p:cNvSpPr/>
          <p:nvPr/>
        </p:nvSpPr>
        <p:spPr>
          <a:xfrm>
            <a:off x="6720840" y="3977640"/>
            <a:ext cx="4434840" cy="237744"/>
          </a:xfrm>
          <a:prstGeom prst="rect">
            <a:avLst/>
          </a:prstGeom>
          <a:noFill/>
          <a:ln/>
        </p:spPr>
        <p:txBody>
          <a:bodyPr wrap="square" lIns="0" tIns="0" rIns="0" bIns="0" rtlCol="0" anchor="ctr">
            <a:normAutofit fontScale="92500"/>
          </a:bodyPr>
          <a:lstStyle/>
          <a:p>
            <a:pPr marL="0" indent="0" algn="ctr">
              <a:buNone/>
            </a:pPr>
            <a:r>
              <a:rPr lang="en-US" sz="1140" b="1" dirty="0">
                <a:solidFill>
                  <a:srgbClr val="00245D"/>
                </a:solidFill>
                <a:latin typeface="Arial" pitchFamily="34" charset="0"/>
                <a:ea typeface="Arial" pitchFamily="34" charset="-122"/>
                <a:cs typeface="Arial" pitchFamily="34" charset="-120"/>
              </a:rPr>
              <a:t>Small MSE means the quantized levels fit the current group better.</a:t>
            </a:r>
            <a:endParaRPr lang="en-US" sz="1140" dirty="0"/>
          </a:p>
        </p:txBody>
      </p:sp>
      <p:sp>
        <p:nvSpPr>
          <p:cNvPr id="32" name="Shape 29"/>
          <p:cNvSpPr/>
          <p:nvPr/>
        </p:nvSpPr>
        <p:spPr>
          <a:xfrm>
            <a:off x="6903720" y="4773168"/>
            <a:ext cx="4041648" cy="512064"/>
          </a:xfrm>
          <a:prstGeom prst="roundRect">
            <a:avLst>
              <a:gd name="adj" fmla="val 10714"/>
            </a:avLst>
          </a:prstGeom>
          <a:solidFill>
            <a:srgbClr val="FFFFFF"/>
          </a:solidFill>
          <a:ln w="12700">
            <a:solidFill>
              <a:srgbClr val="D6B656"/>
            </a:solidFill>
            <a:prstDash val="solid"/>
          </a:ln>
        </p:spPr>
        <p:txBody>
          <a:bodyPr/>
          <a:lstStyle/>
          <a:p>
            <a:endParaRPr lang="ko-KR" altLang="en-US"/>
          </a:p>
        </p:txBody>
      </p:sp>
      <p:sp>
        <p:nvSpPr>
          <p:cNvPr id="33" name="Text 30"/>
          <p:cNvSpPr/>
          <p:nvPr/>
        </p:nvSpPr>
        <p:spPr>
          <a:xfrm>
            <a:off x="7086600" y="4919472"/>
            <a:ext cx="3675888"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C00000"/>
                </a:solidFill>
                <a:latin typeface="Arial" pitchFamily="34" charset="0"/>
                <a:ea typeface="Arial" pitchFamily="34" charset="-122"/>
                <a:cs typeface="Arial" pitchFamily="34" charset="-120"/>
              </a:rPr>
              <a:t>Algorithm 1 chooses the SV with the smallest MSE.</a:t>
            </a:r>
            <a:endParaRPr lang="en-US" sz="10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Numerical Example: Selecting +6 for a Positive Outlier Group</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44</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This group has a </a:t>
            </a:r>
            <a:r>
              <a:rPr lang="en-US" sz="1300" dirty="0">
                <a:solidFill>
                  <a:srgbClr val="FF0000"/>
                </a:solidFill>
                <a:latin typeface="Arial" pitchFamily="34" charset="0"/>
                <a:ea typeface="Arial" pitchFamily="34" charset="-122"/>
                <a:cs typeface="Arial" pitchFamily="34" charset="-120"/>
              </a:rPr>
              <a:t>large positive weight 5.7</a:t>
            </a:r>
            <a:r>
              <a:rPr lang="en-US" sz="1300" dirty="0">
                <a:solidFill>
                  <a:srgbClr val="222222"/>
                </a:solidFill>
                <a:latin typeface="Arial" pitchFamily="34" charset="0"/>
                <a:ea typeface="Arial" pitchFamily="34" charset="-122"/>
                <a:cs typeface="Arial" pitchFamily="34" charset="-120"/>
              </a:rPr>
              <a:t>, so the </a:t>
            </a:r>
            <a:r>
              <a:rPr lang="en-US" sz="1300" dirty="0">
                <a:solidFill>
                  <a:srgbClr val="FF0000"/>
                </a:solidFill>
                <a:latin typeface="Arial" pitchFamily="34" charset="0"/>
                <a:ea typeface="Arial" pitchFamily="34" charset="-122"/>
                <a:cs typeface="Arial" pitchFamily="34" charset="-120"/>
              </a:rPr>
              <a:t>+6</a:t>
            </a:r>
            <a:r>
              <a:rPr lang="en-US" sz="1300" dirty="0">
                <a:solidFill>
                  <a:srgbClr val="222222"/>
                </a:solidFill>
                <a:latin typeface="Arial" pitchFamily="34" charset="0"/>
                <a:ea typeface="Arial" pitchFamily="34" charset="-122"/>
                <a:cs typeface="Arial" pitchFamily="34" charset="-120"/>
              </a:rPr>
              <a:t> candidate fits </a:t>
            </a:r>
            <a:r>
              <a:rPr lang="en-US" sz="1300" dirty="0">
                <a:solidFill>
                  <a:srgbClr val="FF0000"/>
                </a:solidFill>
                <a:latin typeface="Arial" pitchFamily="34" charset="0"/>
                <a:ea typeface="Arial" pitchFamily="34" charset="-122"/>
                <a:cs typeface="Arial" pitchFamily="34" charset="-120"/>
              </a:rPr>
              <a:t>best</a:t>
            </a:r>
            <a:r>
              <a:rPr lang="en-US" sz="1300" dirty="0">
                <a:solidFill>
                  <a:srgbClr val="222222"/>
                </a:solidFill>
                <a:latin typeface="Arial" pitchFamily="34" charset="0"/>
                <a:ea typeface="Arial" pitchFamily="34" charset="-122"/>
                <a:cs typeface="Arial" pitchFamily="34" charset="-120"/>
              </a:rPr>
              <a:t>.</a:t>
            </a:r>
            <a:endParaRPr lang="en-US" sz="1300" dirty="0"/>
          </a:p>
        </p:txBody>
      </p:sp>
      <p:sp>
        <p:nvSpPr>
          <p:cNvPr id="9" name="Shape 6"/>
          <p:cNvSpPr/>
          <p:nvPr/>
        </p:nvSpPr>
        <p:spPr>
          <a:xfrm>
            <a:off x="685800" y="1426464"/>
            <a:ext cx="10835640" cy="987552"/>
          </a:xfrm>
          <a:prstGeom prst="roundRect">
            <a:avLst>
              <a:gd name="adj" fmla="val 5556"/>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36192"/>
            <a:ext cx="105064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Weight group</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14400" y="1847088"/>
                <a:ext cx="10378440" cy="347472"/>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𝑊</m:t>
                      </m:r>
                      <m:r>
                        <a:rPr lang="ko-KR" altLang="en-US" sz="1200" smtClean="0">
                          <a:latin typeface="Cambria Math"/>
                        </a:rPr>
                        <m:t>=</m:t>
                      </m:r>
                      <m:d>
                        <m:dPr>
                          <m:begChr m:val="["/>
                          <m:endChr m:val="]"/>
                          <m:ctrlPr>
                            <a:rPr lang="ko-KR" altLang="en-US" sz="1200" smtClean="0">
                              <a:latin typeface="Cambria Math"/>
                            </a:rPr>
                          </m:ctrlPr>
                        </m:dPr>
                        <m:e>
                          <m:r>
                            <a:rPr lang="ko-KR" altLang="en-US" sz="1200" smtClean="0">
                              <a:latin typeface="Cambria Math"/>
                            </a:rPr>
                            <m:t>−0.8, 0.3, 1.1, 2.2, 3.8, 5.7</m:t>
                          </m:r>
                        </m:e>
                      </m:d>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14400" y="1847088"/>
                <a:ext cx="10378440" cy="347472"/>
              </a:xfrm>
              <a:prstGeom prst="rect">
                <a:avLst/>
              </a:prstGeom>
              <a:blipFill>
                <a:blip r:embed="rId4"/>
                <a:stretch>
                  <a:fillRect/>
                </a:stretch>
              </a:blipFill>
              <a:ln/>
            </p:spPr>
            <p:txBody>
              <a:bodyPr/>
              <a:lstStyle/>
              <a:p>
                <a:r>
                  <a:rPr lang="ko-KR" altLang="en-US">
                    <a:noFill/>
                  </a:rPr>
                  <a:t> </a:t>
                </a:r>
              </a:p>
            </p:txBody>
          </p:sp>
        </mc:Fallback>
      </mc:AlternateContent>
      <p:sp>
        <p:nvSpPr>
          <p:cNvPr id="12" name="Shape 9"/>
          <p:cNvSpPr/>
          <p:nvPr/>
        </p:nvSpPr>
        <p:spPr>
          <a:xfrm>
            <a:off x="685800" y="2606040"/>
            <a:ext cx="5486400" cy="3337560"/>
          </a:xfrm>
          <a:prstGeom prst="roundRect">
            <a:avLst>
              <a:gd name="adj" fmla="val 1644"/>
            </a:avLst>
          </a:prstGeom>
          <a:solidFill>
            <a:srgbClr val="FFFDF2"/>
          </a:solidFill>
          <a:ln w="13335">
            <a:solidFill>
              <a:srgbClr val="D6B656"/>
            </a:solidFill>
            <a:prstDash val="solid"/>
          </a:ln>
        </p:spPr>
        <p:txBody>
          <a:bodyPr/>
          <a:lstStyle/>
          <a:p>
            <a:endParaRPr lang="ko-KR" altLang="en-US"/>
          </a:p>
        </p:txBody>
      </p:sp>
      <p:sp>
        <p:nvSpPr>
          <p:cNvPr id="13" name="Text 10"/>
          <p:cNvSpPr/>
          <p:nvPr/>
        </p:nvSpPr>
        <p:spPr>
          <a:xfrm>
            <a:off x="850392" y="2715768"/>
            <a:ext cx="51572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MSE comparison</a:t>
            </a:r>
            <a:endParaRPr lang="en-US" sz="1200" dirty="0"/>
          </a:p>
        </p:txBody>
      </p:sp>
      <p:sp>
        <p:nvSpPr>
          <p:cNvPr id="14" name="Shape 11"/>
          <p:cNvSpPr/>
          <p:nvPr/>
        </p:nvSpPr>
        <p:spPr>
          <a:xfrm>
            <a:off x="944880" y="3172969"/>
            <a:ext cx="1417320" cy="448056"/>
          </a:xfrm>
          <a:prstGeom prst="rect">
            <a:avLst/>
          </a:prstGeom>
          <a:solidFill>
            <a:srgbClr val="00245D"/>
          </a:solidFill>
          <a:ln w="6350">
            <a:solidFill>
              <a:srgbClr val="D9E2F3"/>
            </a:solidFill>
            <a:prstDash val="solid"/>
          </a:ln>
        </p:spPr>
        <p:txBody>
          <a:bodyPr/>
          <a:lstStyle/>
          <a:p>
            <a:endParaRPr lang="ko-KR" altLang="en-US"/>
          </a:p>
        </p:txBody>
      </p:sp>
      <p:sp>
        <p:nvSpPr>
          <p:cNvPr id="15" name="Text 12"/>
          <p:cNvSpPr/>
          <p:nvPr/>
        </p:nvSpPr>
        <p:spPr>
          <a:xfrm>
            <a:off x="981456" y="3282697"/>
            <a:ext cx="1344168" cy="164592"/>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rial" pitchFamily="34" charset="0"/>
                <a:ea typeface="Arial" pitchFamily="34" charset="-122"/>
                <a:cs typeface="Arial" pitchFamily="34" charset="-120"/>
              </a:rPr>
              <a:t>Special Value</a:t>
            </a:r>
            <a:endParaRPr lang="en-US" sz="1020" dirty="0"/>
          </a:p>
        </p:txBody>
      </p:sp>
      <p:sp>
        <p:nvSpPr>
          <p:cNvPr id="16" name="Shape 13"/>
          <p:cNvSpPr/>
          <p:nvPr/>
        </p:nvSpPr>
        <p:spPr>
          <a:xfrm>
            <a:off x="2362200" y="3172969"/>
            <a:ext cx="2606040" cy="448056"/>
          </a:xfrm>
          <a:prstGeom prst="rect">
            <a:avLst/>
          </a:prstGeom>
          <a:solidFill>
            <a:srgbClr val="00245D"/>
          </a:solidFill>
          <a:ln w="6350">
            <a:solidFill>
              <a:srgbClr val="D9E2F3"/>
            </a:solidFill>
            <a:prstDash val="solid"/>
          </a:ln>
        </p:spPr>
        <p:txBody>
          <a:bodyPr/>
          <a:lstStyle/>
          <a:p>
            <a:endParaRPr lang="ko-KR" altLang="en-US"/>
          </a:p>
        </p:txBody>
      </p:sp>
      <p:sp>
        <p:nvSpPr>
          <p:cNvPr id="17" name="Text 14"/>
          <p:cNvSpPr/>
          <p:nvPr/>
        </p:nvSpPr>
        <p:spPr>
          <a:xfrm>
            <a:off x="2398776" y="3282697"/>
            <a:ext cx="2532888" cy="164592"/>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rial" pitchFamily="34" charset="0"/>
                <a:ea typeface="Arial" pitchFamily="34" charset="-122"/>
                <a:cs typeface="Arial" pitchFamily="34" charset="-120"/>
              </a:rPr>
              <a:t>Data Type Meaning</a:t>
            </a:r>
            <a:endParaRPr lang="en-US" sz="1020" dirty="0"/>
          </a:p>
        </p:txBody>
      </p:sp>
      <p:sp>
        <p:nvSpPr>
          <p:cNvPr id="18" name="Shape 15"/>
          <p:cNvSpPr/>
          <p:nvPr/>
        </p:nvSpPr>
        <p:spPr>
          <a:xfrm>
            <a:off x="4968240" y="3172969"/>
            <a:ext cx="914400" cy="448056"/>
          </a:xfrm>
          <a:prstGeom prst="rect">
            <a:avLst/>
          </a:prstGeom>
          <a:solidFill>
            <a:srgbClr val="00245D"/>
          </a:solidFill>
          <a:ln w="6350">
            <a:solidFill>
              <a:srgbClr val="D9E2F3"/>
            </a:solidFill>
            <a:prstDash val="solid"/>
          </a:ln>
        </p:spPr>
        <p:txBody>
          <a:bodyPr/>
          <a:lstStyle/>
          <a:p>
            <a:endParaRPr lang="ko-KR" altLang="en-US"/>
          </a:p>
        </p:txBody>
      </p:sp>
      <p:sp>
        <p:nvSpPr>
          <p:cNvPr id="19" name="Text 16"/>
          <p:cNvSpPr/>
          <p:nvPr/>
        </p:nvSpPr>
        <p:spPr>
          <a:xfrm>
            <a:off x="5004816" y="3282697"/>
            <a:ext cx="841248" cy="164592"/>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rial" pitchFamily="34" charset="0"/>
                <a:ea typeface="Arial" pitchFamily="34" charset="-122"/>
                <a:cs typeface="Arial" pitchFamily="34" charset="-120"/>
              </a:rPr>
              <a:t>MSE</a:t>
            </a:r>
            <a:endParaRPr lang="en-US" sz="1020" dirty="0"/>
          </a:p>
        </p:txBody>
      </p:sp>
      <p:sp>
        <p:nvSpPr>
          <p:cNvPr id="20" name="Shape 17"/>
          <p:cNvSpPr/>
          <p:nvPr/>
        </p:nvSpPr>
        <p:spPr>
          <a:xfrm>
            <a:off x="944880" y="3621025"/>
            <a:ext cx="1417320" cy="448056"/>
          </a:xfrm>
          <a:prstGeom prst="rect">
            <a:avLst/>
          </a:prstGeom>
          <a:solidFill>
            <a:srgbClr val="FFFFFF"/>
          </a:solidFill>
          <a:ln w="6350">
            <a:solidFill>
              <a:srgbClr val="D9E2F3"/>
            </a:solidFill>
            <a:prstDash val="solid"/>
          </a:ln>
        </p:spPr>
        <p:txBody>
          <a:bodyPr/>
          <a:lstStyle/>
          <a:p>
            <a:endParaRPr lang="ko-KR" altLang="en-US"/>
          </a:p>
        </p:txBody>
      </p:sp>
      <p:sp>
        <p:nvSpPr>
          <p:cNvPr id="21" name="Text 18"/>
          <p:cNvSpPr/>
          <p:nvPr/>
        </p:nvSpPr>
        <p:spPr>
          <a:xfrm>
            <a:off x="990600" y="3730753"/>
            <a:ext cx="1325880" cy="301752"/>
          </a:xfrm>
          <a:prstGeom prst="rect">
            <a:avLst/>
          </a:prstGeom>
          <a:noFill/>
          <a:ln/>
        </p:spPr>
        <p:txBody>
          <a:bodyPr wrap="square" lIns="0" tIns="0" rIns="0" bIns="0" rtlCol="0" anchor="ctr">
            <a:normAutofit/>
          </a:bodyPr>
          <a:lstStyle/>
          <a:p>
            <a:pPr marL="0" indent="0" algn="ctr">
              <a:buNone/>
            </a:pPr>
            <a:r>
              <a:rPr lang="en-US" sz="1020" b="1" dirty="0">
                <a:solidFill>
                  <a:srgbClr val="222222"/>
                </a:solidFill>
                <a:latin typeface="Arial" pitchFamily="34" charset="0"/>
                <a:ea typeface="Arial" pitchFamily="34" charset="-122"/>
                <a:cs typeface="Arial" pitchFamily="34" charset="-120"/>
              </a:rPr>
              <a:t>−3</a:t>
            </a:r>
            <a:endParaRPr lang="en-US" sz="1020" dirty="0"/>
          </a:p>
        </p:txBody>
      </p:sp>
      <p:sp>
        <p:nvSpPr>
          <p:cNvPr id="22" name="Shape 19"/>
          <p:cNvSpPr/>
          <p:nvPr/>
        </p:nvSpPr>
        <p:spPr>
          <a:xfrm>
            <a:off x="2362200" y="3621025"/>
            <a:ext cx="2606040" cy="448056"/>
          </a:xfrm>
          <a:prstGeom prst="rect">
            <a:avLst/>
          </a:prstGeom>
          <a:solidFill>
            <a:srgbClr val="FFFFFF"/>
          </a:solidFill>
          <a:ln w="6350">
            <a:solidFill>
              <a:srgbClr val="D9E2F3"/>
            </a:solidFill>
            <a:prstDash val="solid"/>
          </a:ln>
        </p:spPr>
        <p:txBody>
          <a:bodyPr/>
          <a:lstStyle/>
          <a:p>
            <a:endParaRPr lang="ko-KR" altLang="en-US"/>
          </a:p>
        </p:txBody>
      </p:sp>
      <p:sp>
        <p:nvSpPr>
          <p:cNvPr id="23" name="Text 20"/>
          <p:cNvSpPr/>
          <p:nvPr/>
        </p:nvSpPr>
        <p:spPr>
          <a:xfrm>
            <a:off x="2407920" y="3730753"/>
            <a:ext cx="2514600" cy="301752"/>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Negative resolution</a:t>
            </a:r>
            <a:endParaRPr lang="en-US" sz="1020" dirty="0"/>
          </a:p>
        </p:txBody>
      </p:sp>
      <p:sp>
        <p:nvSpPr>
          <p:cNvPr id="24" name="Shape 21"/>
          <p:cNvSpPr/>
          <p:nvPr/>
        </p:nvSpPr>
        <p:spPr>
          <a:xfrm>
            <a:off x="4968240" y="3621025"/>
            <a:ext cx="914400" cy="448056"/>
          </a:xfrm>
          <a:prstGeom prst="rect">
            <a:avLst/>
          </a:prstGeom>
          <a:solidFill>
            <a:srgbClr val="FFFFFF"/>
          </a:solidFill>
          <a:ln w="6350">
            <a:solidFill>
              <a:srgbClr val="D9E2F3"/>
            </a:solidFill>
            <a:prstDash val="solid"/>
          </a:ln>
        </p:spPr>
        <p:txBody>
          <a:bodyPr/>
          <a:lstStyle/>
          <a:p>
            <a:endParaRPr lang="ko-KR" altLang="en-US"/>
          </a:p>
        </p:txBody>
      </p:sp>
      <p:sp>
        <p:nvSpPr>
          <p:cNvPr id="25" name="Text 22"/>
          <p:cNvSpPr/>
          <p:nvPr/>
        </p:nvSpPr>
        <p:spPr>
          <a:xfrm>
            <a:off x="5013960" y="3730753"/>
            <a:ext cx="822960" cy="301752"/>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0.42</a:t>
            </a:r>
            <a:endParaRPr lang="en-US" sz="1020" dirty="0"/>
          </a:p>
        </p:txBody>
      </p:sp>
      <p:sp>
        <p:nvSpPr>
          <p:cNvPr id="26" name="Shape 23"/>
          <p:cNvSpPr/>
          <p:nvPr/>
        </p:nvSpPr>
        <p:spPr>
          <a:xfrm>
            <a:off x="944880" y="4069081"/>
            <a:ext cx="1417320" cy="448056"/>
          </a:xfrm>
          <a:prstGeom prst="rect">
            <a:avLst/>
          </a:prstGeom>
          <a:solidFill>
            <a:srgbClr val="F5F7FA"/>
          </a:solidFill>
          <a:ln w="6350">
            <a:solidFill>
              <a:srgbClr val="D9E2F3"/>
            </a:solidFill>
            <a:prstDash val="solid"/>
          </a:ln>
        </p:spPr>
        <p:txBody>
          <a:bodyPr/>
          <a:lstStyle/>
          <a:p>
            <a:endParaRPr lang="ko-KR" altLang="en-US"/>
          </a:p>
        </p:txBody>
      </p:sp>
      <p:sp>
        <p:nvSpPr>
          <p:cNvPr id="27" name="Text 24"/>
          <p:cNvSpPr/>
          <p:nvPr/>
        </p:nvSpPr>
        <p:spPr>
          <a:xfrm>
            <a:off x="990600" y="4178809"/>
            <a:ext cx="1325880" cy="301752"/>
          </a:xfrm>
          <a:prstGeom prst="rect">
            <a:avLst/>
          </a:prstGeom>
          <a:noFill/>
          <a:ln/>
        </p:spPr>
        <p:txBody>
          <a:bodyPr wrap="square" lIns="0" tIns="0" rIns="0" bIns="0" rtlCol="0" anchor="ctr">
            <a:normAutofit/>
          </a:bodyPr>
          <a:lstStyle/>
          <a:p>
            <a:pPr marL="0" indent="0" algn="ctr">
              <a:buNone/>
            </a:pPr>
            <a:r>
              <a:rPr lang="en-US" sz="1020" b="1" dirty="0">
                <a:solidFill>
                  <a:srgbClr val="222222"/>
                </a:solidFill>
                <a:latin typeface="Arial" pitchFamily="34" charset="0"/>
                <a:ea typeface="Arial" pitchFamily="34" charset="-122"/>
                <a:cs typeface="Arial" pitchFamily="34" charset="-120"/>
              </a:rPr>
              <a:t>+3</a:t>
            </a:r>
            <a:endParaRPr lang="en-US" sz="1020" dirty="0"/>
          </a:p>
        </p:txBody>
      </p:sp>
      <p:sp>
        <p:nvSpPr>
          <p:cNvPr id="28" name="Shape 25"/>
          <p:cNvSpPr/>
          <p:nvPr/>
        </p:nvSpPr>
        <p:spPr>
          <a:xfrm>
            <a:off x="2362200" y="4069081"/>
            <a:ext cx="2606040" cy="448056"/>
          </a:xfrm>
          <a:prstGeom prst="rect">
            <a:avLst/>
          </a:prstGeom>
          <a:solidFill>
            <a:srgbClr val="F5F7FA"/>
          </a:solidFill>
          <a:ln w="6350">
            <a:solidFill>
              <a:srgbClr val="D9E2F3"/>
            </a:solidFill>
            <a:prstDash val="solid"/>
          </a:ln>
        </p:spPr>
        <p:txBody>
          <a:bodyPr/>
          <a:lstStyle/>
          <a:p>
            <a:endParaRPr lang="ko-KR" altLang="en-US"/>
          </a:p>
        </p:txBody>
      </p:sp>
      <p:sp>
        <p:nvSpPr>
          <p:cNvPr id="29" name="Text 26"/>
          <p:cNvSpPr/>
          <p:nvPr/>
        </p:nvSpPr>
        <p:spPr>
          <a:xfrm>
            <a:off x="2407920" y="4178809"/>
            <a:ext cx="2514600" cy="301752"/>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Positive resolution</a:t>
            </a:r>
            <a:endParaRPr lang="en-US" sz="1020" dirty="0"/>
          </a:p>
        </p:txBody>
      </p:sp>
      <p:sp>
        <p:nvSpPr>
          <p:cNvPr id="30" name="Shape 27"/>
          <p:cNvSpPr/>
          <p:nvPr/>
        </p:nvSpPr>
        <p:spPr>
          <a:xfrm>
            <a:off x="4968240" y="4069081"/>
            <a:ext cx="914400" cy="448056"/>
          </a:xfrm>
          <a:prstGeom prst="rect">
            <a:avLst/>
          </a:prstGeom>
          <a:solidFill>
            <a:srgbClr val="F5F7FA"/>
          </a:solidFill>
          <a:ln w="6350">
            <a:solidFill>
              <a:srgbClr val="D9E2F3"/>
            </a:solidFill>
            <a:prstDash val="solid"/>
          </a:ln>
        </p:spPr>
        <p:txBody>
          <a:bodyPr/>
          <a:lstStyle/>
          <a:p>
            <a:endParaRPr lang="ko-KR" altLang="en-US"/>
          </a:p>
        </p:txBody>
      </p:sp>
      <p:sp>
        <p:nvSpPr>
          <p:cNvPr id="31" name="Text 28"/>
          <p:cNvSpPr/>
          <p:nvPr/>
        </p:nvSpPr>
        <p:spPr>
          <a:xfrm>
            <a:off x="5013960" y="4178809"/>
            <a:ext cx="822960" cy="301752"/>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0.31</a:t>
            </a:r>
            <a:endParaRPr lang="en-US" sz="1020" dirty="0"/>
          </a:p>
        </p:txBody>
      </p:sp>
      <p:sp>
        <p:nvSpPr>
          <p:cNvPr id="32" name="Shape 29"/>
          <p:cNvSpPr/>
          <p:nvPr/>
        </p:nvSpPr>
        <p:spPr>
          <a:xfrm>
            <a:off x="944880" y="4517137"/>
            <a:ext cx="1417320" cy="448056"/>
          </a:xfrm>
          <a:prstGeom prst="rect">
            <a:avLst/>
          </a:prstGeom>
          <a:solidFill>
            <a:srgbClr val="FFFFFF"/>
          </a:solidFill>
          <a:ln w="6350">
            <a:solidFill>
              <a:srgbClr val="D9E2F3"/>
            </a:solidFill>
            <a:prstDash val="solid"/>
          </a:ln>
        </p:spPr>
        <p:txBody>
          <a:bodyPr/>
          <a:lstStyle/>
          <a:p>
            <a:endParaRPr lang="ko-KR" altLang="en-US"/>
          </a:p>
        </p:txBody>
      </p:sp>
      <p:sp>
        <p:nvSpPr>
          <p:cNvPr id="33" name="Text 30"/>
          <p:cNvSpPr/>
          <p:nvPr/>
        </p:nvSpPr>
        <p:spPr>
          <a:xfrm>
            <a:off x="990600" y="4626865"/>
            <a:ext cx="1325880" cy="301752"/>
          </a:xfrm>
          <a:prstGeom prst="rect">
            <a:avLst/>
          </a:prstGeom>
          <a:noFill/>
          <a:ln/>
        </p:spPr>
        <p:txBody>
          <a:bodyPr wrap="square" lIns="0" tIns="0" rIns="0" bIns="0" rtlCol="0" anchor="ctr">
            <a:normAutofit/>
          </a:bodyPr>
          <a:lstStyle/>
          <a:p>
            <a:pPr marL="0" indent="0" algn="ctr">
              <a:buNone/>
            </a:pPr>
            <a:r>
              <a:rPr lang="en-US" sz="1020" b="1" dirty="0">
                <a:solidFill>
                  <a:srgbClr val="222222"/>
                </a:solidFill>
                <a:latin typeface="Arial" pitchFamily="34" charset="0"/>
                <a:ea typeface="Arial" pitchFamily="34" charset="-122"/>
                <a:cs typeface="Arial" pitchFamily="34" charset="-120"/>
              </a:rPr>
              <a:t>−6</a:t>
            </a:r>
            <a:endParaRPr lang="en-US" sz="1020" dirty="0"/>
          </a:p>
        </p:txBody>
      </p:sp>
      <p:sp>
        <p:nvSpPr>
          <p:cNvPr id="34" name="Shape 31"/>
          <p:cNvSpPr/>
          <p:nvPr/>
        </p:nvSpPr>
        <p:spPr>
          <a:xfrm>
            <a:off x="2362200" y="4517137"/>
            <a:ext cx="2606040" cy="448056"/>
          </a:xfrm>
          <a:prstGeom prst="rect">
            <a:avLst/>
          </a:prstGeom>
          <a:solidFill>
            <a:srgbClr val="FFFFFF"/>
          </a:solidFill>
          <a:ln w="6350">
            <a:solidFill>
              <a:srgbClr val="D9E2F3"/>
            </a:solidFill>
            <a:prstDash val="solid"/>
          </a:ln>
        </p:spPr>
        <p:txBody>
          <a:bodyPr/>
          <a:lstStyle/>
          <a:p>
            <a:endParaRPr lang="ko-KR" altLang="en-US"/>
          </a:p>
        </p:txBody>
      </p:sp>
      <p:sp>
        <p:nvSpPr>
          <p:cNvPr id="35" name="Text 32"/>
          <p:cNvSpPr/>
          <p:nvPr/>
        </p:nvSpPr>
        <p:spPr>
          <a:xfrm>
            <a:off x="2407920" y="4626865"/>
            <a:ext cx="2514600" cy="301752"/>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Negative range expansion</a:t>
            </a:r>
            <a:endParaRPr lang="en-US" sz="1020" dirty="0"/>
          </a:p>
        </p:txBody>
      </p:sp>
      <p:sp>
        <p:nvSpPr>
          <p:cNvPr id="36" name="Shape 33"/>
          <p:cNvSpPr/>
          <p:nvPr/>
        </p:nvSpPr>
        <p:spPr>
          <a:xfrm>
            <a:off x="4968240" y="4517137"/>
            <a:ext cx="914400" cy="448056"/>
          </a:xfrm>
          <a:prstGeom prst="rect">
            <a:avLst/>
          </a:prstGeom>
          <a:solidFill>
            <a:srgbClr val="FFFFFF"/>
          </a:solidFill>
          <a:ln w="6350">
            <a:solidFill>
              <a:srgbClr val="D9E2F3"/>
            </a:solidFill>
            <a:prstDash val="solid"/>
          </a:ln>
        </p:spPr>
        <p:txBody>
          <a:bodyPr/>
          <a:lstStyle/>
          <a:p>
            <a:endParaRPr lang="ko-KR" altLang="en-US"/>
          </a:p>
        </p:txBody>
      </p:sp>
      <p:sp>
        <p:nvSpPr>
          <p:cNvPr id="37" name="Text 34"/>
          <p:cNvSpPr/>
          <p:nvPr/>
        </p:nvSpPr>
        <p:spPr>
          <a:xfrm>
            <a:off x="5013960" y="4626865"/>
            <a:ext cx="822960" cy="301752"/>
          </a:xfrm>
          <a:prstGeom prst="rect">
            <a:avLst/>
          </a:prstGeom>
          <a:noFill/>
          <a:ln/>
        </p:spPr>
        <p:txBody>
          <a:bodyPr wrap="square" lIns="0" tIns="0" rIns="0" bIns="0"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0.57</a:t>
            </a:r>
            <a:endParaRPr lang="en-US" sz="1020" dirty="0"/>
          </a:p>
        </p:txBody>
      </p:sp>
      <p:sp>
        <p:nvSpPr>
          <p:cNvPr id="38" name="Shape 35"/>
          <p:cNvSpPr/>
          <p:nvPr/>
        </p:nvSpPr>
        <p:spPr>
          <a:xfrm>
            <a:off x="944880" y="4965193"/>
            <a:ext cx="1417320" cy="448056"/>
          </a:xfrm>
          <a:prstGeom prst="rect">
            <a:avLst/>
          </a:prstGeom>
          <a:solidFill>
            <a:srgbClr val="F5F7FA"/>
          </a:solidFill>
          <a:ln w="6350">
            <a:solidFill>
              <a:srgbClr val="D9E2F3"/>
            </a:solidFill>
            <a:prstDash val="solid"/>
          </a:ln>
        </p:spPr>
        <p:txBody>
          <a:bodyPr/>
          <a:lstStyle/>
          <a:p>
            <a:endParaRPr lang="ko-KR" altLang="en-US"/>
          </a:p>
        </p:txBody>
      </p:sp>
      <p:sp>
        <p:nvSpPr>
          <p:cNvPr id="39" name="Text 36"/>
          <p:cNvSpPr/>
          <p:nvPr/>
        </p:nvSpPr>
        <p:spPr>
          <a:xfrm>
            <a:off x="990600" y="5074921"/>
            <a:ext cx="1325880" cy="301752"/>
          </a:xfrm>
          <a:prstGeom prst="rect">
            <a:avLst/>
          </a:prstGeom>
          <a:noFill/>
          <a:ln/>
        </p:spPr>
        <p:txBody>
          <a:bodyPr wrap="square" lIns="0" tIns="0" rIns="0" bIns="0" rtlCol="0" anchor="ctr">
            <a:normAutofit/>
          </a:bodyPr>
          <a:lstStyle/>
          <a:p>
            <a:pPr marL="0" indent="0" algn="ctr">
              <a:buNone/>
            </a:pPr>
            <a:r>
              <a:rPr lang="en-US" sz="1020" b="1" dirty="0">
                <a:solidFill>
                  <a:srgbClr val="00245D"/>
                </a:solidFill>
                <a:latin typeface="Arial" pitchFamily="34" charset="0"/>
                <a:ea typeface="Arial" pitchFamily="34" charset="-122"/>
                <a:cs typeface="Arial" pitchFamily="34" charset="-120"/>
              </a:rPr>
              <a:t>+6</a:t>
            </a:r>
            <a:endParaRPr lang="en-US" sz="1020" dirty="0"/>
          </a:p>
        </p:txBody>
      </p:sp>
      <p:sp>
        <p:nvSpPr>
          <p:cNvPr id="40" name="Shape 37"/>
          <p:cNvSpPr/>
          <p:nvPr/>
        </p:nvSpPr>
        <p:spPr>
          <a:xfrm>
            <a:off x="2362200" y="4965193"/>
            <a:ext cx="2606040" cy="448056"/>
          </a:xfrm>
          <a:prstGeom prst="rect">
            <a:avLst/>
          </a:prstGeom>
          <a:solidFill>
            <a:srgbClr val="F5F7FA"/>
          </a:solidFill>
          <a:ln w="6350">
            <a:solidFill>
              <a:srgbClr val="D9E2F3"/>
            </a:solidFill>
            <a:prstDash val="solid"/>
          </a:ln>
        </p:spPr>
        <p:txBody>
          <a:bodyPr/>
          <a:lstStyle/>
          <a:p>
            <a:endParaRPr lang="ko-KR" altLang="en-US"/>
          </a:p>
        </p:txBody>
      </p:sp>
      <p:sp>
        <p:nvSpPr>
          <p:cNvPr id="41" name="Text 38"/>
          <p:cNvSpPr/>
          <p:nvPr/>
        </p:nvSpPr>
        <p:spPr>
          <a:xfrm>
            <a:off x="2407920" y="5074921"/>
            <a:ext cx="2514600" cy="301752"/>
          </a:xfrm>
          <a:prstGeom prst="rect">
            <a:avLst/>
          </a:prstGeom>
          <a:noFill/>
          <a:ln/>
        </p:spPr>
        <p:txBody>
          <a:bodyPr wrap="square" lIns="0" tIns="0" rIns="0" bIns="0" rtlCol="0" anchor="ctr">
            <a:normAutofit/>
          </a:bodyPr>
          <a:lstStyle/>
          <a:p>
            <a:pPr marL="0" indent="0" algn="ctr">
              <a:buNone/>
            </a:pPr>
            <a:r>
              <a:rPr lang="en-US" sz="1020" b="1" dirty="0">
                <a:solidFill>
                  <a:srgbClr val="00245D"/>
                </a:solidFill>
                <a:latin typeface="Arial" pitchFamily="34" charset="0"/>
                <a:ea typeface="Arial" pitchFamily="34" charset="-122"/>
                <a:cs typeface="Arial" pitchFamily="34" charset="-120"/>
              </a:rPr>
              <a:t>Positive range expansion</a:t>
            </a:r>
            <a:endParaRPr lang="en-US" sz="1020" dirty="0"/>
          </a:p>
        </p:txBody>
      </p:sp>
      <p:sp>
        <p:nvSpPr>
          <p:cNvPr id="42" name="Shape 39"/>
          <p:cNvSpPr/>
          <p:nvPr/>
        </p:nvSpPr>
        <p:spPr>
          <a:xfrm>
            <a:off x="4968240" y="4965193"/>
            <a:ext cx="914400" cy="448056"/>
          </a:xfrm>
          <a:prstGeom prst="rect">
            <a:avLst/>
          </a:prstGeom>
          <a:solidFill>
            <a:srgbClr val="F5F7FA"/>
          </a:solidFill>
          <a:ln w="6350">
            <a:solidFill>
              <a:srgbClr val="D9E2F3"/>
            </a:solidFill>
            <a:prstDash val="solid"/>
          </a:ln>
        </p:spPr>
        <p:txBody>
          <a:bodyPr/>
          <a:lstStyle/>
          <a:p>
            <a:endParaRPr lang="ko-KR" altLang="en-US"/>
          </a:p>
        </p:txBody>
      </p:sp>
      <p:sp>
        <p:nvSpPr>
          <p:cNvPr id="43" name="Text 40"/>
          <p:cNvSpPr/>
          <p:nvPr/>
        </p:nvSpPr>
        <p:spPr>
          <a:xfrm>
            <a:off x="5013960" y="5074921"/>
            <a:ext cx="822960" cy="301752"/>
          </a:xfrm>
          <a:prstGeom prst="rect">
            <a:avLst/>
          </a:prstGeom>
          <a:noFill/>
          <a:ln/>
        </p:spPr>
        <p:txBody>
          <a:bodyPr wrap="square" lIns="0" tIns="0" rIns="0" bIns="0" rtlCol="0" anchor="ctr">
            <a:normAutofit/>
          </a:bodyPr>
          <a:lstStyle/>
          <a:p>
            <a:pPr marL="0" indent="0" algn="ctr">
              <a:buNone/>
            </a:pPr>
            <a:r>
              <a:rPr lang="en-US" sz="1020" b="1" dirty="0">
                <a:solidFill>
                  <a:srgbClr val="00245D"/>
                </a:solidFill>
                <a:latin typeface="Arial" pitchFamily="34" charset="0"/>
                <a:ea typeface="Arial" pitchFamily="34" charset="-122"/>
                <a:cs typeface="Arial" pitchFamily="34" charset="-120"/>
              </a:rPr>
              <a:t>0.08</a:t>
            </a:r>
            <a:endParaRPr lang="en-US" sz="1020" dirty="0"/>
          </a:p>
        </p:txBody>
      </p:sp>
      <p:sp>
        <p:nvSpPr>
          <p:cNvPr id="44" name="Shape 41"/>
          <p:cNvSpPr/>
          <p:nvPr/>
        </p:nvSpPr>
        <p:spPr>
          <a:xfrm>
            <a:off x="6583680" y="2606040"/>
            <a:ext cx="4937760" cy="3337560"/>
          </a:xfrm>
          <a:prstGeom prst="roundRect">
            <a:avLst>
              <a:gd name="adj" fmla="val 1644"/>
            </a:avLst>
          </a:prstGeom>
          <a:solidFill>
            <a:srgbClr val="E2F0D9"/>
          </a:solidFill>
          <a:ln w="13335">
            <a:solidFill>
              <a:srgbClr val="548235"/>
            </a:solidFill>
            <a:prstDash val="solid"/>
          </a:ln>
        </p:spPr>
        <p:txBody>
          <a:bodyPr/>
          <a:lstStyle/>
          <a:p>
            <a:endParaRPr lang="ko-KR" altLang="en-US"/>
          </a:p>
        </p:txBody>
      </p:sp>
      <p:sp>
        <p:nvSpPr>
          <p:cNvPr id="45" name="Text 42"/>
          <p:cNvSpPr/>
          <p:nvPr/>
        </p:nvSpPr>
        <p:spPr>
          <a:xfrm>
            <a:off x="6748272" y="2715768"/>
            <a:ext cx="46085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Decision</a:t>
            </a:r>
            <a:endParaRPr lang="en-US" sz="1200" dirty="0"/>
          </a:p>
        </p:txBody>
      </p:sp>
      <mc:AlternateContent xmlns:mc="http://schemas.openxmlformats.org/markup-compatibility/2006" xmlns:a14="http://schemas.microsoft.com/office/drawing/2010/main">
        <mc:Choice Requires="a14">
          <p:sp>
            <p:nvSpPr>
              <p:cNvPr id="46" name="Text 43"/>
              <p:cNvSpPr/>
              <p:nvPr/>
            </p:nvSpPr>
            <p:spPr>
              <a:xfrm>
                <a:off x="6949440" y="3127248"/>
                <a:ext cx="4251960" cy="56692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200" smtClean="0">
                              <a:latin typeface="Cambria Math"/>
                            </a:rPr>
                          </m:ctrlPr>
                        </m:sSubPr>
                        <m:e>
                          <m:r>
                            <a:rPr lang="ko-KR" altLang="en-US" sz="1200" smtClean="0">
                              <a:latin typeface="Cambria Math"/>
                            </a:rPr>
                            <m:t>𝑣</m:t>
                          </m:r>
                        </m:e>
                        <m:sub>
                          <m:r>
                            <a:rPr lang="ko-KR" altLang="en-US" sz="1200" smtClean="0">
                              <a:latin typeface="Cambria Math"/>
                            </a:rPr>
                            <m:t>𝑜𝑢𝑡</m:t>
                          </m:r>
                        </m:sub>
                      </m:sSub>
                      <m:r>
                        <a:rPr lang="ko-KR" altLang="en-US" sz="1200" smtClean="0">
                          <a:latin typeface="Cambria Math"/>
                        </a:rPr>
                        <m:t>=+6</m:t>
                      </m:r>
                    </m:oMath>
                  </m:oMathPara>
                </a14:m>
                <a:endParaRPr/>
              </a:p>
            </p:txBody>
          </p:sp>
        </mc:Choice>
        <mc:Fallback xmlns="">
          <p:sp>
            <p:nvSpPr>
              <p:cNvPr id="46" name="Text 43"/>
              <p:cNvSpPr>
                <a:spLocks noRot="1" noChangeAspect="1" noMove="1" noResize="1" noEditPoints="1" noAdjustHandles="1" noChangeArrowheads="1" noChangeShapeType="1" noTextEdit="1"/>
              </p:cNvSpPr>
              <p:nvPr/>
            </p:nvSpPr>
            <p:spPr>
              <a:xfrm>
                <a:off x="6949440" y="3127248"/>
                <a:ext cx="4251960" cy="566928"/>
              </a:xfrm>
              <a:prstGeom prst="rect">
                <a:avLst/>
              </a:prstGeom>
              <a:blipFill>
                <a:blip r:embed="rId5"/>
                <a:stretch>
                  <a:fillRect/>
                </a:stretch>
              </a:blipFill>
              <a:ln/>
            </p:spPr>
            <p:txBody>
              <a:bodyPr/>
              <a:lstStyle/>
              <a:p>
                <a:r>
                  <a:rPr lang="ko-KR" altLang="en-US">
                    <a:noFill/>
                  </a:rPr>
                  <a:t> </a:t>
                </a:r>
              </a:p>
            </p:txBody>
          </p:sp>
        </mc:Fallback>
      </mc:AlternateContent>
      <p:sp>
        <p:nvSpPr>
          <p:cNvPr id="47" name="Text 44"/>
          <p:cNvSpPr/>
          <p:nvPr/>
        </p:nvSpPr>
        <p:spPr>
          <a:xfrm>
            <a:off x="6903720" y="3858768"/>
            <a:ext cx="4343400" cy="219456"/>
          </a:xfrm>
          <a:prstGeom prst="rect">
            <a:avLst/>
          </a:prstGeom>
          <a:noFill/>
          <a:ln/>
        </p:spPr>
        <p:txBody>
          <a:bodyPr wrap="square" lIns="0" tIns="0" rIns="0" bIns="0" rtlCol="0" anchor="ctr"/>
          <a:lstStyle/>
          <a:p>
            <a:pPr marL="0" indent="0" algn="ctr">
              <a:buNone/>
            </a:pPr>
            <a:r>
              <a:rPr lang="en-US" sz="1150" b="1" dirty="0">
                <a:solidFill>
                  <a:srgbClr val="222222"/>
                </a:solidFill>
                <a:latin typeface="Arial" pitchFamily="34" charset="0"/>
                <a:ea typeface="Arial" pitchFamily="34" charset="-122"/>
                <a:cs typeface="Arial" pitchFamily="34" charset="-120"/>
              </a:rPr>
              <a:t>Final quantization level set for this group:</a:t>
            </a:r>
            <a:endParaRPr lang="en-US" sz="1150" dirty="0"/>
          </a:p>
        </p:txBody>
      </p:sp>
      <mc:AlternateContent xmlns:mc="http://schemas.openxmlformats.org/markup-compatibility/2006" xmlns:a14="http://schemas.microsoft.com/office/drawing/2010/main">
        <mc:Choice Requires="a14">
          <p:sp>
            <p:nvSpPr>
              <p:cNvPr id="48" name="Text 45"/>
              <p:cNvSpPr/>
              <p:nvPr/>
            </p:nvSpPr>
            <p:spPr>
              <a:xfrm>
                <a:off x="6830568" y="4187952"/>
                <a:ext cx="4480560" cy="530352"/>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200" smtClean="0">
                          <a:latin typeface="Cambria Math"/>
                        </a:rPr>
                        <m:t>{0,±1,±2,±4,+6}</m:t>
                      </m:r>
                    </m:oMath>
                  </m:oMathPara>
                </a14:m>
                <a:endParaRPr/>
              </a:p>
            </p:txBody>
          </p:sp>
        </mc:Choice>
        <mc:Fallback xmlns="">
          <p:sp>
            <p:nvSpPr>
              <p:cNvPr id="48" name="Text 45"/>
              <p:cNvSpPr>
                <a:spLocks noRot="1" noChangeAspect="1" noMove="1" noResize="1" noEditPoints="1" noAdjustHandles="1" noChangeArrowheads="1" noChangeShapeType="1" noTextEdit="1"/>
              </p:cNvSpPr>
              <p:nvPr/>
            </p:nvSpPr>
            <p:spPr>
              <a:xfrm>
                <a:off x="6830568" y="4187952"/>
                <a:ext cx="4480560" cy="530352"/>
              </a:xfrm>
              <a:prstGeom prst="rect">
                <a:avLst/>
              </a:prstGeom>
              <a:blipFill>
                <a:blip r:embed="rId6"/>
                <a:stretch>
                  <a:fillRect/>
                </a:stretch>
              </a:blipFill>
              <a:ln/>
            </p:spPr>
            <p:txBody>
              <a:bodyPr/>
              <a:lstStyle/>
              <a:p>
                <a:r>
                  <a:rPr lang="ko-KR" altLang="en-US">
                    <a:noFill/>
                  </a:rPr>
                  <a:t> </a:t>
                </a:r>
              </a:p>
            </p:txBody>
          </p:sp>
        </mc:Fallback>
      </mc:AlternateContent>
      <p:sp>
        <p:nvSpPr>
          <p:cNvPr id="49" name="Text 46"/>
          <p:cNvSpPr/>
          <p:nvPr/>
        </p:nvSpPr>
        <p:spPr>
          <a:xfrm>
            <a:off x="6903720" y="4873752"/>
            <a:ext cx="4343400" cy="347472"/>
          </a:xfrm>
          <a:prstGeom prst="rect">
            <a:avLst/>
          </a:prstGeom>
          <a:noFill/>
          <a:ln/>
        </p:spPr>
        <p:txBody>
          <a:bodyPr wrap="square" lIns="254" tIns="254" rIns="254" bIns="254" rtlCol="0" anchor="ctr">
            <a:normAutofit/>
          </a:bodyPr>
          <a:lstStyle/>
          <a:p>
            <a:pPr marL="0" indent="0" algn="ctr">
              <a:buNone/>
            </a:pPr>
            <a:r>
              <a:rPr lang="en-US" sz="1120" b="1" dirty="0">
                <a:solidFill>
                  <a:srgbClr val="548235"/>
                </a:solidFill>
                <a:latin typeface="Arial" pitchFamily="34" charset="0"/>
                <a:ea typeface="Arial" pitchFamily="34" charset="-122"/>
                <a:cs typeface="Arial" pitchFamily="34" charset="-120"/>
              </a:rPr>
              <a:t>This is FP3-EA(+6), which expands the positive side to represent the outlier.</a:t>
            </a:r>
            <a:endParaRPr lang="en-US" sz="1120" dirty="0"/>
          </a:p>
        </p:txBody>
      </p:sp>
      <p:sp>
        <p:nvSpPr>
          <p:cNvPr id="50" name="Shape 47"/>
          <p:cNvSpPr/>
          <p:nvPr/>
        </p:nvSpPr>
        <p:spPr>
          <a:xfrm>
            <a:off x="1143000" y="6031432"/>
            <a:ext cx="9829800" cy="310896"/>
          </a:xfrm>
          <a:prstGeom prst="roundRect">
            <a:avLst>
              <a:gd name="adj" fmla="val 17647"/>
            </a:avLst>
          </a:prstGeom>
          <a:solidFill>
            <a:srgbClr val="EAF2FF"/>
          </a:solidFill>
          <a:ln w="12700">
            <a:solidFill>
              <a:srgbClr val="7EA6E0"/>
            </a:solidFill>
            <a:prstDash val="solid"/>
          </a:ln>
        </p:spPr>
        <p:txBody>
          <a:bodyPr/>
          <a:lstStyle/>
          <a:p>
            <a:endParaRPr lang="ko-KR" altLang="en-US"/>
          </a:p>
        </p:txBody>
      </p:sp>
      <p:sp>
        <p:nvSpPr>
          <p:cNvPr id="51" name="Text 48"/>
          <p:cNvSpPr/>
          <p:nvPr/>
        </p:nvSpPr>
        <p:spPr>
          <a:xfrm>
            <a:off x="1325880" y="6141159"/>
            <a:ext cx="9464040" cy="109728"/>
          </a:xfrm>
          <a:prstGeom prst="rect">
            <a:avLst/>
          </a:prstGeom>
          <a:noFill/>
          <a:ln/>
        </p:spPr>
        <p:txBody>
          <a:bodyPr wrap="square" lIns="0" tIns="0" rIns="0" bIns="0" rtlCol="0" anchor="ctr">
            <a:normAutofit fontScale="92500" lnSpcReduction="20000"/>
          </a:bodyPr>
          <a:lstStyle/>
          <a:p>
            <a:pPr marL="0" indent="0" algn="ctr">
              <a:buNone/>
            </a:pPr>
            <a:r>
              <a:rPr lang="en-US" sz="970" b="1" dirty="0">
                <a:solidFill>
                  <a:srgbClr val="00245D"/>
                </a:solidFill>
                <a:latin typeface="Arial" pitchFamily="34" charset="0"/>
                <a:ea typeface="Arial" pitchFamily="34" charset="-122"/>
                <a:cs typeface="Arial" pitchFamily="34" charset="-120"/>
              </a:rPr>
              <a:t>If the outlier were negative, −6 could be selected instead; if the group were balanced, ±3 may be better.</a:t>
            </a:r>
            <a:endParaRPr lang="en-US" sz="97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C. Quantized weights need dequantization</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45</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Quantized weight values are integer / low-bit codes, </a:t>
            </a:r>
            <a:r>
              <a:rPr lang="en-US" sz="1300" dirty="0">
                <a:solidFill>
                  <a:srgbClr val="FF0000"/>
                </a:solidFill>
                <a:latin typeface="Arial" pitchFamily="34" charset="0"/>
                <a:ea typeface="Arial" pitchFamily="34" charset="-122"/>
                <a:cs typeface="Arial" pitchFamily="34" charset="-120"/>
              </a:rPr>
              <a:t>not</a:t>
            </a:r>
            <a:r>
              <a:rPr lang="en-US" sz="1300" dirty="0">
                <a:solidFill>
                  <a:srgbClr val="222222"/>
                </a:solidFill>
                <a:latin typeface="Arial" pitchFamily="34" charset="0"/>
                <a:ea typeface="Arial" pitchFamily="34" charset="-122"/>
                <a:cs typeface="Arial" pitchFamily="34" charset="-120"/>
              </a:rPr>
              <a:t> the final real-valued weights </a:t>
            </a:r>
            <a:r>
              <a:rPr lang="en-US" sz="1300" dirty="0">
                <a:solidFill>
                  <a:srgbClr val="FF0000"/>
                </a:solidFill>
                <a:latin typeface="Arial" pitchFamily="34" charset="0"/>
                <a:ea typeface="Arial" pitchFamily="34" charset="-122"/>
                <a:cs typeface="Arial" pitchFamily="34" charset="-120"/>
              </a:rPr>
              <a:t>used in computation</a:t>
            </a:r>
            <a:r>
              <a:rPr lang="en-US" sz="1300" dirty="0">
                <a:solidFill>
                  <a:srgbClr val="222222"/>
                </a:solidFill>
                <a:latin typeface="Arial" pitchFamily="34" charset="0"/>
                <a:ea typeface="Arial" pitchFamily="34" charset="-122"/>
                <a:cs typeface="Arial" pitchFamily="34" charset="-120"/>
              </a:rPr>
              <a:t>.</a:t>
            </a:r>
            <a:endParaRPr lang="en-US" sz="1300" dirty="0"/>
          </a:p>
        </p:txBody>
      </p:sp>
      <p:sp>
        <p:nvSpPr>
          <p:cNvPr id="9" name="Shape 6"/>
          <p:cNvSpPr/>
          <p:nvPr/>
        </p:nvSpPr>
        <p:spPr>
          <a:xfrm>
            <a:off x="685800" y="1874520"/>
            <a:ext cx="2011680" cy="841248"/>
          </a:xfrm>
          <a:prstGeom prst="roundRect">
            <a:avLst>
              <a:gd name="adj" fmla="val 5435"/>
            </a:avLst>
          </a:prstGeom>
          <a:solidFill>
            <a:srgbClr val="EAF2FF"/>
          </a:solidFill>
          <a:ln w="12700">
            <a:solidFill>
              <a:srgbClr val="9EADCC"/>
            </a:solidFill>
            <a:prstDash val="solid"/>
          </a:ln>
        </p:spPr>
        <p:txBody>
          <a:bodyPr/>
          <a:lstStyle/>
          <a:p>
            <a:endParaRPr lang="ko-KR" altLang="en-US"/>
          </a:p>
        </p:txBody>
      </p:sp>
      <p:sp>
        <p:nvSpPr>
          <p:cNvPr id="10" name="Text 7"/>
          <p:cNvSpPr/>
          <p:nvPr/>
        </p:nvSpPr>
        <p:spPr>
          <a:xfrm>
            <a:off x="758952" y="1947672"/>
            <a:ext cx="186537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Quantized Weight</a:t>
            </a:r>
            <a:endParaRPr lang="en-US" sz="1050" dirty="0"/>
          </a:p>
        </p:txBody>
      </p:sp>
      <p:sp>
        <p:nvSpPr>
          <p:cNvPr id="11" name="Text 8"/>
          <p:cNvSpPr/>
          <p:nvPr/>
        </p:nvSpPr>
        <p:spPr>
          <a:xfrm>
            <a:off x="758952" y="2231136"/>
            <a:ext cx="1865376" cy="429768"/>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Wq = 3</a:t>
            </a:r>
            <a:endParaRPr lang="en-US" sz="900" dirty="0"/>
          </a:p>
        </p:txBody>
      </p:sp>
      <p:sp>
        <p:nvSpPr>
          <p:cNvPr id="12" name="Shape 9"/>
          <p:cNvSpPr/>
          <p:nvPr/>
        </p:nvSpPr>
        <p:spPr>
          <a:xfrm>
            <a:off x="3703320" y="1874520"/>
            <a:ext cx="2011680" cy="841248"/>
          </a:xfrm>
          <a:prstGeom prst="roundRect">
            <a:avLst>
              <a:gd name="adj" fmla="val 5435"/>
            </a:avLst>
          </a:prstGeom>
          <a:solidFill>
            <a:srgbClr val="FFF2CC"/>
          </a:solidFill>
          <a:ln w="12700">
            <a:solidFill>
              <a:srgbClr val="D6B656"/>
            </a:solidFill>
            <a:prstDash val="solid"/>
          </a:ln>
        </p:spPr>
        <p:txBody>
          <a:bodyPr/>
          <a:lstStyle/>
          <a:p>
            <a:endParaRPr lang="ko-KR" altLang="en-US"/>
          </a:p>
        </p:txBody>
      </p:sp>
      <p:sp>
        <p:nvSpPr>
          <p:cNvPr id="13" name="Text 10"/>
          <p:cNvSpPr/>
          <p:nvPr/>
        </p:nvSpPr>
        <p:spPr>
          <a:xfrm>
            <a:off x="3776472" y="1947672"/>
            <a:ext cx="186537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Scaling Factor</a:t>
            </a:r>
            <a:endParaRPr lang="en-US" sz="1050" dirty="0"/>
          </a:p>
        </p:txBody>
      </p:sp>
      <p:sp>
        <p:nvSpPr>
          <p:cNvPr id="14" name="Text 11"/>
          <p:cNvSpPr/>
          <p:nvPr/>
        </p:nvSpPr>
        <p:spPr>
          <a:xfrm>
            <a:off x="3776472" y="2231136"/>
            <a:ext cx="1865376" cy="429768"/>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Δ = 0.2</a:t>
            </a:r>
            <a:endParaRPr lang="en-US" sz="900" dirty="0"/>
          </a:p>
        </p:txBody>
      </p:sp>
      <p:sp>
        <p:nvSpPr>
          <p:cNvPr id="15" name="Shape 12"/>
          <p:cNvSpPr/>
          <p:nvPr/>
        </p:nvSpPr>
        <p:spPr>
          <a:xfrm>
            <a:off x="6720840" y="1874520"/>
            <a:ext cx="2011680" cy="841248"/>
          </a:xfrm>
          <a:prstGeom prst="roundRect">
            <a:avLst>
              <a:gd name="adj" fmla="val 5435"/>
            </a:avLst>
          </a:prstGeom>
          <a:solidFill>
            <a:srgbClr val="F3F8FF"/>
          </a:solidFill>
          <a:ln w="12700">
            <a:solidFill>
              <a:srgbClr val="9EADCC"/>
            </a:solidFill>
            <a:prstDash val="solid"/>
          </a:ln>
        </p:spPr>
        <p:txBody>
          <a:bodyPr/>
          <a:lstStyle/>
          <a:p>
            <a:endParaRPr lang="ko-KR" altLang="en-US"/>
          </a:p>
        </p:txBody>
      </p:sp>
      <p:sp>
        <p:nvSpPr>
          <p:cNvPr id="16" name="Text 13"/>
          <p:cNvSpPr/>
          <p:nvPr/>
        </p:nvSpPr>
        <p:spPr>
          <a:xfrm>
            <a:off x="6793992" y="1947672"/>
            <a:ext cx="186537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Dequantization</a:t>
            </a:r>
            <a:endParaRPr lang="en-US" sz="1050" dirty="0"/>
          </a:p>
        </p:txBody>
      </p:sp>
      <p:sp>
        <p:nvSpPr>
          <p:cNvPr id="17" name="Text 14"/>
          <p:cNvSpPr/>
          <p:nvPr/>
        </p:nvSpPr>
        <p:spPr>
          <a:xfrm>
            <a:off x="6793992" y="2231136"/>
            <a:ext cx="1865376" cy="429768"/>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Wq × Δ</a:t>
            </a:r>
            <a:endParaRPr lang="en-US" sz="900" dirty="0"/>
          </a:p>
        </p:txBody>
      </p:sp>
      <p:sp>
        <p:nvSpPr>
          <p:cNvPr id="18" name="Shape 15"/>
          <p:cNvSpPr/>
          <p:nvPr/>
        </p:nvSpPr>
        <p:spPr>
          <a:xfrm>
            <a:off x="9738360" y="1874520"/>
            <a:ext cx="1645920" cy="841248"/>
          </a:xfrm>
          <a:prstGeom prst="roundRect">
            <a:avLst>
              <a:gd name="adj" fmla="val 5435"/>
            </a:avLst>
          </a:prstGeom>
          <a:solidFill>
            <a:srgbClr val="E2F0D9"/>
          </a:solidFill>
          <a:ln w="12700">
            <a:solidFill>
              <a:srgbClr val="548235"/>
            </a:solidFill>
            <a:prstDash val="solid"/>
          </a:ln>
        </p:spPr>
        <p:txBody>
          <a:bodyPr/>
          <a:lstStyle/>
          <a:p>
            <a:endParaRPr lang="ko-KR" altLang="en-US"/>
          </a:p>
        </p:txBody>
      </p:sp>
      <p:sp>
        <p:nvSpPr>
          <p:cNvPr id="19" name="Text 16"/>
          <p:cNvSpPr/>
          <p:nvPr/>
        </p:nvSpPr>
        <p:spPr>
          <a:xfrm>
            <a:off x="9811512" y="1947672"/>
            <a:ext cx="149961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Recovered</a:t>
            </a:r>
            <a:endParaRPr lang="en-US" sz="1050" dirty="0"/>
          </a:p>
        </p:txBody>
      </p:sp>
      <p:sp>
        <p:nvSpPr>
          <p:cNvPr id="20" name="Text 17"/>
          <p:cNvSpPr/>
          <p:nvPr/>
        </p:nvSpPr>
        <p:spPr>
          <a:xfrm>
            <a:off x="9811512" y="2231136"/>
            <a:ext cx="1499616" cy="429768"/>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0.6</a:t>
            </a:r>
            <a:endParaRPr lang="en-US" sz="900" dirty="0"/>
          </a:p>
        </p:txBody>
      </p:sp>
      <p:sp>
        <p:nvSpPr>
          <p:cNvPr id="21" name="Shape 18"/>
          <p:cNvSpPr/>
          <p:nvPr/>
        </p:nvSpPr>
        <p:spPr>
          <a:xfrm>
            <a:off x="2697480" y="2295144"/>
            <a:ext cx="1005840" cy="0"/>
          </a:xfrm>
          <a:prstGeom prst="line">
            <a:avLst/>
          </a:prstGeom>
          <a:noFill/>
          <a:ln w="15240">
            <a:solidFill>
              <a:srgbClr val="2F75B5"/>
            </a:solidFill>
            <a:prstDash val="solid"/>
            <a:tailEnd type="triangle"/>
          </a:ln>
        </p:spPr>
        <p:txBody>
          <a:bodyPr/>
          <a:lstStyle/>
          <a:p>
            <a:endParaRPr lang="ko-KR" altLang="en-US"/>
          </a:p>
        </p:txBody>
      </p:sp>
      <p:sp>
        <p:nvSpPr>
          <p:cNvPr id="22" name="Shape 19"/>
          <p:cNvSpPr/>
          <p:nvPr/>
        </p:nvSpPr>
        <p:spPr>
          <a:xfrm>
            <a:off x="5715000" y="2295144"/>
            <a:ext cx="1005840" cy="0"/>
          </a:xfrm>
          <a:prstGeom prst="line">
            <a:avLst/>
          </a:prstGeom>
          <a:noFill/>
          <a:ln w="15240">
            <a:solidFill>
              <a:srgbClr val="2F75B5"/>
            </a:solidFill>
            <a:prstDash val="solid"/>
            <a:tailEnd type="triangle"/>
          </a:ln>
        </p:spPr>
        <p:txBody>
          <a:bodyPr/>
          <a:lstStyle/>
          <a:p>
            <a:endParaRPr lang="ko-KR" altLang="en-US"/>
          </a:p>
        </p:txBody>
      </p:sp>
      <p:sp>
        <p:nvSpPr>
          <p:cNvPr id="23" name="Shape 20"/>
          <p:cNvSpPr/>
          <p:nvPr/>
        </p:nvSpPr>
        <p:spPr>
          <a:xfrm>
            <a:off x="8732520" y="2295144"/>
            <a:ext cx="1005840" cy="0"/>
          </a:xfrm>
          <a:prstGeom prst="line">
            <a:avLst/>
          </a:prstGeom>
          <a:noFill/>
          <a:ln w="15240">
            <a:solidFill>
              <a:srgbClr val="2F75B5"/>
            </a:solidFill>
            <a:prstDash val="solid"/>
            <a:tailEnd type="triangle"/>
          </a:ln>
        </p:spPr>
        <p:txBody>
          <a:bodyPr/>
          <a:lstStyle/>
          <a:p>
            <a:endParaRPr lang="ko-KR" altLang="en-US"/>
          </a:p>
        </p:txBody>
      </p:sp>
      <p:sp>
        <p:nvSpPr>
          <p:cNvPr id="24" name="Shape 21"/>
          <p:cNvSpPr/>
          <p:nvPr/>
        </p:nvSpPr>
        <p:spPr>
          <a:xfrm>
            <a:off x="1097280" y="3383280"/>
            <a:ext cx="4251960" cy="1508760"/>
          </a:xfrm>
          <a:prstGeom prst="roundRect">
            <a:avLst>
              <a:gd name="adj" fmla="val 3636"/>
            </a:avLst>
          </a:prstGeom>
          <a:solidFill>
            <a:srgbClr val="F3F8FF"/>
          </a:solidFill>
          <a:ln w="13335">
            <a:solidFill>
              <a:srgbClr val="9EADCC"/>
            </a:solidFill>
            <a:prstDash val="solid"/>
          </a:ln>
        </p:spPr>
        <p:txBody>
          <a:bodyPr/>
          <a:lstStyle/>
          <a:p>
            <a:endParaRPr lang="ko-KR" altLang="en-US"/>
          </a:p>
        </p:txBody>
      </p:sp>
      <p:sp>
        <p:nvSpPr>
          <p:cNvPr id="25" name="Text 22"/>
          <p:cNvSpPr/>
          <p:nvPr/>
        </p:nvSpPr>
        <p:spPr>
          <a:xfrm>
            <a:off x="1261872" y="3493008"/>
            <a:ext cx="39227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General formula</a:t>
            </a:r>
            <a:endParaRPr lang="en-US" sz="1200" dirty="0"/>
          </a:p>
        </p:txBody>
      </p:sp>
      <mc:AlternateContent xmlns:mc="http://schemas.openxmlformats.org/markup-compatibility/2006" xmlns:a14="http://schemas.microsoft.com/office/drawing/2010/main">
        <mc:Choice Requires="a14">
          <p:sp>
            <p:nvSpPr>
              <p:cNvPr id="26" name="Text 23"/>
              <p:cNvSpPr/>
              <p:nvPr/>
            </p:nvSpPr>
            <p:spPr>
              <a:xfrm>
                <a:off x="1280160" y="3840480"/>
                <a:ext cx="3886200" cy="438912"/>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𝑊</m:t>
                          </m:r>
                        </m:e>
                        <m:sub>
                          <m:r>
                            <a:rPr lang="ko-KR" altLang="en-US" sz="1180" smtClean="0">
                              <a:latin typeface="Cambria Math"/>
                            </a:rPr>
                            <m:t>𝑞𝑓</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𝑊</m:t>
                          </m:r>
                        </m:e>
                        <m:sub>
                          <m:r>
                            <a:rPr lang="ko-KR" altLang="en-US" sz="1180" smtClean="0">
                              <a:latin typeface="Cambria Math"/>
                            </a:rPr>
                            <m:t>𝑞</m:t>
                          </m:r>
                        </m:sub>
                      </m:sSub>
                      <m:r>
                        <a:rPr lang="ko-KR" altLang="en-US" sz="1180" smtClean="0">
                          <a:latin typeface="Cambria Math"/>
                        </a:rPr>
                        <m:t>𝛥</m:t>
                      </m:r>
                    </m:oMath>
                  </m:oMathPara>
                </a14:m>
                <a:endParaRPr/>
              </a:p>
            </p:txBody>
          </p:sp>
        </mc:Choice>
        <mc:Fallback xmlns="">
          <p:sp>
            <p:nvSpPr>
              <p:cNvPr id="26" name="Text 23"/>
              <p:cNvSpPr>
                <a:spLocks noRot="1" noChangeAspect="1" noMove="1" noResize="1" noEditPoints="1" noAdjustHandles="1" noChangeArrowheads="1" noChangeShapeType="1" noTextEdit="1"/>
              </p:cNvSpPr>
              <p:nvPr/>
            </p:nvSpPr>
            <p:spPr>
              <a:xfrm>
                <a:off x="1280160" y="3840480"/>
                <a:ext cx="3886200" cy="438912"/>
              </a:xfrm>
              <a:prstGeom prst="rect">
                <a:avLst/>
              </a:prstGeom>
              <a:blipFill>
                <a:blip r:embed="rId4"/>
                <a:stretch>
                  <a:fillRect/>
                </a:stretch>
              </a:blipFill>
              <a:ln/>
            </p:spPr>
            <p:txBody>
              <a:bodyPr/>
              <a:lstStyle/>
              <a:p>
                <a:r>
                  <a:rPr lang="ko-KR" altLang="en-US">
                    <a:noFill/>
                  </a:rPr>
                  <a:t> </a:t>
                </a:r>
              </a:p>
            </p:txBody>
          </p:sp>
        </mc:Fallback>
      </mc:AlternateContent>
      <p:sp>
        <p:nvSpPr>
          <p:cNvPr id="27" name="Text 24"/>
          <p:cNvSpPr/>
          <p:nvPr/>
        </p:nvSpPr>
        <p:spPr>
          <a:xfrm>
            <a:off x="1353312" y="4672584"/>
            <a:ext cx="3739896" cy="128016"/>
          </a:xfrm>
          <a:prstGeom prst="rect">
            <a:avLst/>
          </a:prstGeom>
          <a:noFill/>
          <a:ln/>
        </p:spPr>
        <p:txBody>
          <a:bodyPr wrap="square" lIns="0" tIns="0" rIns="0" bIns="0" rtlCol="0" anchor="ctr">
            <a:normAutofit lnSpcReduction="10000"/>
          </a:bodyPr>
          <a:lstStyle/>
          <a:p>
            <a:pPr marL="0" indent="0" algn="ctr">
              <a:buNone/>
            </a:pPr>
            <a:r>
              <a:rPr lang="en-US" sz="860" b="1" dirty="0">
                <a:solidFill>
                  <a:srgbClr val="00245D"/>
                </a:solidFill>
                <a:latin typeface="Arial" pitchFamily="34" charset="0"/>
                <a:ea typeface="Arial" pitchFamily="34" charset="-122"/>
                <a:cs typeface="Arial" pitchFamily="34" charset="-120"/>
              </a:rPr>
              <a:t>scale must be applied after quantization</a:t>
            </a:r>
            <a:endParaRPr lang="en-US" sz="860" dirty="0"/>
          </a:p>
        </p:txBody>
      </p:sp>
      <p:sp>
        <p:nvSpPr>
          <p:cNvPr id="28" name="Shape 25"/>
          <p:cNvSpPr/>
          <p:nvPr/>
        </p:nvSpPr>
        <p:spPr>
          <a:xfrm>
            <a:off x="6629400" y="3383280"/>
            <a:ext cx="4251960" cy="1508760"/>
          </a:xfrm>
          <a:prstGeom prst="roundRect">
            <a:avLst>
              <a:gd name="adj" fmla="val 3636"/>
            </a:avLst>
          </a:prstGeom>
          <a:solidFill>
            <a:srgbClr val="FFFDF2"/>
          </a:solidFill>
          <a:ln w="13335">
            <a:solidFill>
              <a:srgbClr val="D6B656"/>
            </a:solidFill>
            <a:prstDash val="solid"/>
          </a:ln>
        </p:spPr>
        <p:txBody>
          <a:bodyPr/>
          <a:lstStyle/>
          <a:p>
            <a:endParaRPr lang="ko-KR" altLang="en-US"/>
          </a:p>
        </p:txBody>
      </p:sp>
      <p:sp>
        <p:nvSpPr>
          <p:cNvPr id="29" name="Text 26"/>
          <p:cNvSpPr/>
          <p:nvPr/>
        </p:nvSpPr>
        <p:spPr>
          <a:xfrm>
            <a:off x="6793992" y="3493008"/>
            <a:ext cx="39227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Small numeric example</a:t>
            </a:r>
            <a:endParaRPr lang="en-US" sz="1200" dirty="0"/>
          </a:p>
        </p:txBody>
      </p:sp>
      <mc:AlternateContent xmlns:mc="http://schemas.openxmlformats.org/markup-compatibility/2006" xmlns:a14="http://schemas.microsoft.com/office/drawing/2010/main">
        <mc:Choice Requires="a14">
          <p:sp>
            <p:nvSpPr>
              <p:cNvPr id="30" name="Text 27"/>
              <p:cNvSpPr/>
              <p:nvPr/>
            </p:nvSpPr>
            <p:spPr>
              <a:xfrm>
                <a:off x="6812280" y="3840480"/>
                <a:ext cx="3886200" cy="438912"/>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𝑊</m:t>
                          </m:r>
                        </m:e>
                        <m:sub>
                          <m:r>
                            <a:rPr lang="ko-KR" altLang="en-US" sz="1180" smtClean="0">
                              <a:latin typeface="Cambria Math"/>
                            </a:rPr>
                            <m:t>𝑞</m:t>
                          </m:r>
                        </m:sub>
                      </m:sSub>
                      <m:r>
                        <a:rPr lang="ko-KR" altLang="en-US" sz="1180" smtClean="0">
                          <a:latin typeface="Cambria Math"/>
                        </a:rPr>
                        <m:t>=3, </m:t>
                      </m:r>
                      <m:r>
                        <a:rPr lang="ko-KR" altLang="en-US" sz="1180" smtClean="0">
                          <a:latin typeface="Cambria Math"/>
                        </a:rPr>
                        <m:t>𝛥</m:t>
                      </m:r>
                      <m:r>
                        <a:rPr lang="ko-KR" altLang="en-US" sz="1180" smtClean="0">
                          <a:latin typeface="Cambria Math"/>
                        </a:rPr>
                        <m:t>=0.2 ⇒ </m:t>
                      </m:r>
                      <m:sSub>
                        <m:sSubPr>
                          <m:ctrlPr>
                            <a:rPr lang="ko-KR" altLang="en-US" sz="1180" smtClean="0">
                              <a:latin typeface="Cambria Math"/>
                            </a:rPr>
                          </m:ctrlPr>
                        </m:sSubPr>
                        <m:e>
                          <m:r>
                            <a:rPr lang="ko-KR" altLang="en-US" sz="1180" smtClean="0">
                              <a:latin typeface="Cambria Math"/>
                            </a:rPr>
                            <m:t>𝑊</m:t>
                          </m:r>
                        </m:e>
                        <m:sub>
                          <m:r>
                            <a:rPr lang="ko-KR" altLang="en-US" sz="1180" smtClean="0">
                              <a:latin typeface="Cambria Math"/>
                            </a:rPr>
                            <m:t>𝑞𝑓</m:t>
                          </m:r>
                        </m:sub>
                      </m:sSub>
                      <m:r>
                        <a:rPr lang="ko-KR" altLang="en-US" sz="1180" smtClean="0">
                          <a:latin typeface="Cambria Math"/>
                        </a:rPr>
                        <m:t>=3×0.2=0.6</m:t>
                      </m:r>
                    </m:oMath>
                  </m:oMathPara>
                </a14:m>
                <a:endParaRPr/>
              </a:p>
            </p:txBody>
          </p:sp>
        </mc:Choice>
        <mc:Fallback xmlns="">
          <p:sp>
            <p:nvSpPr>
              <p:cNvPr id="30" name="Text 27"/>
              <p:cNvSpPr>
                <a:spLocks noRot="1" noChangeAspect="1" noMove="1" noResize="1" noEditPoints="1" noAdjustHandles="1" noChangeArrowheads="1" noChangeShapeType="1" noTextEdit="1"/>
              </p:cNvSpPr>
              <p:nvPr/>
            </p:nvSpPr>
            <p:spPr>
              <a:xfrm>
                <a:off x="6812280" y="3840480"/>
                <a:ext cx="3886200" cy="438912"/>
              </a:xfrm>
              <a:prstGeom prst="rect">
                <a:avLst/>
              </a:prstGeom>
              <a:blipFill>
                <a:blip r:embed="rId5"/>
                <a:stretch>
                  <a:fillRect/>
                </a:stretch>
              </a:blipFill>
              <a:ln/>
            </p:spPr>
            <p:txBody>
              <a:bodyPr/>
              <a:lstStyle/>
              <a:p>
                <a:r>
                  <a:rPr lang="ko-KR" altLang="en-US">
                    <a:noFill/>
                  </a:rPr>
                  <a:t> </a:t>
                </a:r>
              </a:p>
            </p:txBody>
          </p:sp>
        </mc:Fallback>
      </mc:AlternateContent>
      <p:sp>
        <p:nvSpPr>
          <p:cNvPr id="31" name="Text 28"/>
          <p:cNvSpPr/>
          <p:nvPr/>
        </p:nvSpPr>
        <p:spPr>
          <a:xfrm>
            <a:off x="6885432" y="4672584"/>
            <a:ext cx="3739896" cy="128016"/>
          </a:xfrm>
          <a:prstGeom prst="rect">
            <a:avLst/>
          </a:prstGeom>
          <a:noFill/>
          <a:ln/>
        </p:spPr>
        <p:txBody>
          <a:bodyPr wrap="square" lIns="0" tIns="0" rIns="0" bIns="0" rtlCol="0" anchor="ctr">
            <a:normAutofit lnSpcReduction="10000"/>
          </a:bodyPr>
          <a:lstStyle/>
          <a:p>
            <a:pPr marL="0" indent="0" algn="ctr">
              <a:buNone/>
            </a:pPr>
            <a:r>
              <a:rPr lang="en-US" sz="860" b="1" dirty="0">
                <a:solidFill>
                  <a:srgbClr val="00245D"/>
                </a:solidFill>
                <a:latin typeface="Arial" pitchFamily="34" charset="0"/>
                <a:ea typeface="Arial" pitchFamily="34" charset="-122"/>
                <a:cs typeface="Arial" pitchFamily="34" charset="-120"/>
              </a:rPr>
              <a:t>same idea used for group partial sums</a:t>
            </a:r>
            <a:endParaRPr lang="en-US" sz="860" dirty="0"/>
          </a:p>
        </p:txBody>
      </p:sp>
      <p:sp>
        <p:nvSpPr>
          <p:cNvPr id="32" name="Shape 29"/>
          <p:cNvSpPr/>
          <p:nvPr/>
        </p:nvSpPr>
        <p:spPr>
          <a:xfrm>
            <a:off x="1874520" y="5349240"/>
            <a:ext cx="8458200" cy="658368"/>
          </a:xfrm>
          <a:prstGeom prst="roundRect">
            <a:avLst>
              <a:gd name="adj" fmla="val 8333"/>
            </a:avLst>
          </a:prstGeom>
          <a:solidFill>
            <a:srgbClr val="FDECEC"/>
          </a:solidFill>
          <a:ln w="13335">
            <a:solidFill>
              <a:srgbClr val="E6B8B7"/>
            </a:solidFill>
            <a:prstDash val="solid"/>
          </a:ln>
        </p:spPr>
        <p:txBody>
          <a:bodyPr/>
          <a:lstStyle/>
          <a:p>
            <a:endParaRPr lang="ko-KR" altLang="en-US"/>
          </a:p>
        </p:txBody>
      </p:sp>
      <p:sp>
        <p:nvSpPr>
          <p:cNvPr id="33" name="Text 30"/>
          <p:cNvSpPr/>
          <p:nvPr/>
        </p:nvSpPr>
        <p:spPr>
          <a:xfrm>
            <a:off x="2039112" y="5458968"/>
            <a:ext cx="81290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Core intuition</a:t>
            </a:r>
            <a:endParaRPr lang="en-US" sz="1200" dirty="0"/>
          </a:p>
        </p:txBody>
      </p:sp>
      <p:sp>
        <p:nvSpPr>
          <p:cNvPr id="34" name="Text 31"/>
          <p:cNvSpPr/>
          <p:nvPr/>
        </p:nvSpPr>
        <p:spPr>
          <a:xfrm>
            <a:off x="2194560" y="5641848"/>
            <a:ext cx="7818120" cy="164592"/>
          </a:xfrm>
          <a:prstGeom prst="rect">
            <a:avLst/>
          </a:prstGeom>
          <a:noFill/>
          <a:ln/>
        </p:spPr>
        <p:txBody>
          <a:bodyPr wrap="square" lIns="0" tIns="0" rIns="0" bIns="0" rtlCol="0" anchor="ctr">
            <a:normAutofit/>
          </a:bodyPr>
          <a:lstStyle/>
          <a:p>
            <a:pPr marL="0" indent="0" algn="ctr">
              <a:buNone/>
            </a:pPr>
            <a:r>
              <a:rPr lang="en-US" sz="1080" b="1" dirty="0">
                <a:solidFill>
                  <a:srgbClr val="C00000"/>
                </a:solidFill>
                <a:latin typeface="Arial" pitchFamily="34" charset="0"/>
                <a:ea typeface="Arial" pitchFamily="34" charset="-122"/>
                <a:cs typeface="Arial" pitchFamily="34" charset="-120"/>
              </a:rPr>
              <a:t>Quantization saves memory, but dequantization is still needed somewhere in the hardware datapath.</a:t>
            </a:r>
            <a:endParaRPr lang="en-US" sz="10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Per-channel dequantization is simple</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46</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In </a:t>
            </a:r>
            <a:r>
              <a:rPr lang="en-US" sz="1300" dirty="0">
                <a:solidFill>
                  <a:srgbClr val="FF0000"/>
                </a:solidFill>
                <a:latin typeface="Arial" pitchFamily="34" charset="0"/>
                <a:ea typeface="Arial" pitchFamily="34" charset="-122"/>
                <a:cs typeface="Arial" pitchFamily="34" charset="-120"/>
              </a:rPr>
              <a:t>per-channel quantization</a:t>
            </a:r>
            <a:r>
              <a:rPr lang="en-US" sz="1300" dirty="0">
                <a:solidFill>
                  <a:srgbClr val="222222"/>
                </a:solidFill>
                <a:latin typeface="Arial" pitchFamily="34" charset="0"/>
                <a:ea typeface="Arial" pitchFamily="34" charset="-122"/>
                <a:cs typeface="Arial" pitchFamily="34" charset="-120"/>
              </a:rPr>
              <a:t>, every weight in the same channel shares </a:t>
            </a:r>
            <a:r>
              <a:rPr lang="en-US" sz="1300" dirty="0">
                <a:solidFill>
                  <a:srgbClr val="FF0000"/>
                </a:solidFill>
                <a:latin typeface="Arial" pitchFamily="34" charset="0"/>
                <a:ea typeface="Arial" pitchFamily="34" charset="-122"/>
                <a:cs typeface="Arial" pitchFamily="34" charset="-120"/>
              </a:rPr>
              <a:t>one scaling factor</a:t>
            </a:r>
            <a:r>
              <a:rPr lang="en-US" sz="1300" dirty="0">
                <a:solidFill>
                  <a:srgbClr val="222222"/>
                </a:solidFill>
                <a:latin typeface="Arial" pitchFamily="34" charset="0"/>
                <a:ea typeface="Arial" pitchFamily="34" charset="-122"/>
                <a:cs typeface="Arial" pitchFamily="34" charset="-120"/>
              </a:rPr>
              <a:t>.</a:t>
            </a:r>
            <a:endParaRPr lang="en-US" sz="1300" dirty="0"/>
          </a:p>
        </p:txBody>
      </p:sp>
      <p:sp>
        <p:nvSpPr>
          <p:cNvPr id="9" name="Shape 6"/>
          <p:cNvSpPr/>
          <p:nvPr/>
        </p:nvSpPr>
        <p:spPr>
          <a:xfrm>
            <a:off x="685800" y="1389888"/>
            <a:ext cx="5349240" cy="4526280"/>
          </a:xfrm>
          <a:prstGeom prst="roundRect">
            <a:avLst>
              <a:gd name="adj" fmla="val 1212"/>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499616"/>
            <a:ext cx="50200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60120" y="1874520"/>
                <a:ext cx="4800600" cy="585216"/>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𝑊</m:t>
                          </m:r>
                        </m:e>
                        <m:sub>
                          <m:r>
                            <a:rPr lang="ko-KR" altLang="en-US" sz="1180" smtClean="0">
                              <a:latin typeface="Cambria Math"/>
                            </a:rPr>
                            <m:t>𝑞</m:t>
                          </m:r>
                        </m:sub>
                      </m:sSub>
                      <m:r>
                        <a:rPr lang="ko-KR" altLang="en-US" sz="1180" smtClean="0">
                          <a:latin typeface="Cambria Math"/>
                        </a:rPr>
                        <m:t>=</m:t>
                      </m:r>
                      <m:d>
                        <m:dPr>
                          <m:begChr m:val="["/>
                          <m:endChr m:val="]"/>
                          <m:ctrlPr>
                            <a:rPr lang="ko-KR" altLang="en-US" sz="1180" smtClean="0">
                              <a:latin typeface="Cambria Math"/>
                            </a:rPr>
                          </m:ctrlPr>
                        </m:dPr>
                        <m:e>
                          <m:r>
                            <a:rPr lang="ko-KR" altLang="en-US" sz="1180" smtClean="0">
                              <a:latin typeface="Cambria Math"/>
                            </a:rPr>
                            <m:t>2,−1,3,1</m:t>
                          </m:r>
                        </m:e>
                      </m:d>
                      <m:r>
                        <a:rPr lang="ko-KR" altLang="en-US" sz="1180" smtClean="0">
                          <a:latin typeface="Cambria Math"/>
                        </a:rPr>
                        <m:t>, </m:t>
                      </m:r>
                      <m:r>
                        <a:rPr lang="ko-KR" altLang="en-US" sz="1180" smtClean="0">
                          <a:latin typeface="Cambria Math"/>
                        </a:rPr>
                        <m:t>𝐴</m:t>
                      </m:r>
                      <m:r>
                        <a:rPr lang="ko-KR" altLang="en-US" sz="1180" smtClean="0">
                          <a:latin typeface="Cambria Math"/>
                        </a:rPr>
                        <m:t>=</m:t>
                      </m:r>
                      <m:d>
                        <m:dPr>
                          <m:begChr m:val="["/>
                          <m:endChr m:val="]"/>
                          <m:ctrlPr>
                            <a:rPr lang="ko-KR" altLang="en-US" sz="1180" smtClean="0">
                              <a:latin typeface="Cambria Math"/>
                            </a:rPr>
                          </m:ctrlPr>
                        </m:dPr>
                        <m:e>
                          <m:r>
                            <a:rPr lang="ko-KR" altLang="en-US" sz="1180" smtClean="0">
                              <a:latin typeface="Cambria Math"/>
                            </a:rPr>
                            <m:t>1.0,2.0,0.5,1.5</m:t>
                          </m:r>
                        </m:e>
                      </m:d>
                      <m:r>
                        <a:rPr lang="ko-KR" altLang="en-US" sz="1180" smtClean="0">
                          <a:latin typeface="Cambria Math"/>
                        </a:rPr>
                        <m:t>, </m:t>
                      </m:r>
                      <m:r>
                        <a:rPr lang="ko-KR" altLang="en-US" sz="1180" smtClean="0">
                          <a:latin typeface="Cambria Math"/>
                        </a:rPr>
                        <m:t>𝛥</m:t>
                      </m:r>
                      <m:r>
                        <a:rPr lang="ko-KR" altLang="en-US" sz="1180" smtClean="0">
                          <a:latin typeface="Cambria Math"/>
                        </a:rPr>
                        <m:t>=0.2</m:t>
                      </m:r>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60120" y="1874520"/>
                <a:ext cx="4800600" cy="585216"/>
              </a:xfrm>
              <a:prstGeom prst="rect">
                <a:avLst/>
              </a:prstGeom>
              <a:blipFill>
                <a:blip r:embed="rId4"/>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 9"/>
              <p:cNvSpPr/>
              <p:nvPr/>
            </p:nvSpPr>
            <p:spPr>
              <a:xfrm>
                <a:off x="960120" y="2852928"/>
                <a:ext cx="4800600" cy="585216"/>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180" smtClean="0">
                          <a:latin typeface="Cambria Math"/>
                        </a:rPr>
                        <m:t>𝑃</m:t>
                      </m:r>
                      <m:r>
                        <a:rPr lang="ko-KR" altLang="en-US" sz="1180" smtClean="0">
                          <a:latin typeface="Cambria Math"/>
                        </a:rPr>
                        <m:t>=2</m:t>
                      </m:r>
                      <m:d>
                        <m:dPr>
                          <m:ctrlPr>
                            <a:rPr lang="ko-KR" altLang="en-US" sz="1180" smtClean="0">
                              <a:latin typeface="Cambria Math"/>
                            </a:rPr>
                          </m:ctrlPr>
                        </m:dPr>
                        <m:e>
                          <m:r>
                            <a:rPr lang="ko-KR" altLang="en-US" sz="1180" smtClean="0">
                              <a:latin typeface="Cambria Math"/>
                            </a:rPr>
                            <m:t>1.0</m:t>
                          </m:r>
                        </m:e>
                      </m:d>
                      <m:r>
                        <a:rPr lang="ko-KR" altLang="en-US" sz="1180" smtClean="0">
                          <a:latin typeface="Cambria Math"/>
                        </a:rPr>
                        <m:t>+</m:t>
                      </m:r>
                      <m:d>
                        <m:dPr>
                          <m:ctrlPr>
                            <a:rPr lang="ko-KR" altLang="en-US" sz="1180" smtClean="0">
                              <a:latin typeface="Cambria Math"/>
                            </a:rPr>
                          </m:ctrlPr>
                        </m:dPr>
                        <m:e>
                          <m:r>
                            <a:rPr lang="ko-KR" altLang="en-US" sz="1180" smtClean="0">
                              <a:latin typeface="Cambria Math"/>
                            </a:rPr>
                            <m:t>−1</m:t>
                          </m:r>
                        </m:e>
                      </m:d>
                      <m:d>
                        <m:dPr>
                          <m:ctrlPr>
                            <a:rPr lang="ko-KR" altLang="en-US" sz="1180" smtClean="0">
                              <a:latin typeface="Cambria Math"/>
                            </a:rPr>
                          </m:ctrlPr>
                        </m:dPr>
                        <m:e>
                          <m:r>
                            <a:rPr lang="ko-KR" altLang="en-US" sz="1180" smtClean="0">
                              <a:latin typeface="Cambria Math"/>
                            </a:rPr>
                            <m:t>2.0</m:t>
                          </m:r>
                        </m:e>
                      </m:d>
                      <m:r>
                        <a:rPr lang="ko-KR" altLang="en-US" sz="1180" smtClean="0">
                          <a:latin typeface="Cambria Math"/>
                        </a:rPr>
                        <m:t>+3</m:t>
                      </m:r>
                      <m:d>
                        <m:dPr>
                          <m:ctrlPr>
                            <a:rPr lang="ko-KR" altLang="en-US" sz="1180" smtClean="0">
                              <a:latin typeface="Cambria Math"/>
                            </a:rPr>
                          </m:ctrlPr>
                        </m:dPr>
                        <m:e>
                          <m:r>
                            <a:rPr lang="ko-KR" altLang="en-US" sz="1180" smtClean="0">
                              <a:latin typeface="Cambria Math"/>
                            </a:rPr>
                            <m:t>0.5</m:t>
                          </m:r>
                        </m:e>
                      </m:d>
                      <m:r>
                        <a:rPr lang="ko-KR" altLang="en-US" sz="1180" smtClean="0">
                          <a:latin typeface="Cambria Math"/>
                        </a:rPr>
                        <m:t>+1</m:t>
                      </m:r>
                      <m:d>
                        <m:dPr>
                          <m:ctrlPr>
                            <a:rPr lang="ko-KR" altLang="en-US" sz="1180" smtClean="0">
                              <a:latin typeface="Cambria Math"/>
                            </a:rPr>
                          </m:ctrlPr>
                        </m:dPr>
                        <m:e>
                          <m:r>
                            <a:rPr lang="ko-KR" altLang="en-US" sz="1180" smtClean="0">
                              <a:latin typeface="Cambria Math"/>
                            </a:rPr>
                            <m:t>1.5</m:t>
                          </m:r>
                        </m:e>
                      </m:d>
                      <m:r>
                        <a:rPr lang="ko-KR" altLang="en-US" sz="1180" smtClean="0">
                          <a:latin typeface="Cambria Math"/>
                        </a:rPr>
                        <m:t>=3</m:t>
                      </m:r>
                    </m:oMath>
                  </m:oMathPara>
                </a14:m>
                <a:endParaRPr/>
              </a:p>
            </p:txBody>
          </p:sp>
        </mc:Choice>
        <mc:Fallback xmlns="">
          <p:sp>
            <p:nvSpPr>
              <p:cNvPr id="12" name="Text 9"/>
              <p:cNvSpPr>
                <a:spLocks noRot="1" noChangeAspect="1" noMove="1" noResize="1" noEditPoints="1" noAdjustHandles="1" noChangeArrowheads="1" noChangeShapeType="1" noTextEdit="1"/>
              </p:cNvSpPr>
              <p:nvPr/>
            </p:nvSpPr>
            <p:spPr>
              <a:xfrm>
                <a:off x="960120" y="2852928"/>
                <a:ext cx="4800600" cy="585216"/>
              </a:xfrm>
              <a:prstGeom prst="rect">
                <a:avLst/>
              </a:prstGeom>
              <a:blipFill>
                <a:blip r:embed="rId5"/>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 10"/>
              <p:cNvSpPr/>
              <p:nvPr/>
            </p:nvSpPr>
            <p:spPr>
              <a:xfrm>
                <a:off x="960120" y="3794760"/>
                <a:ext cx="4800600" cy="530352"/>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180" smtClean="0">
                          <a:latin typeface="Cambria Math"/>
                        </a:rPr>
                        <m:t>𝑌</m:t>
                      </m:r>
                      <m:r>
                        <a:rPr lang="ko-KR" altLang="en-US" sz="1180" smtClean="0">
                          <a:latin typeface="Cambria Math"/>
                        </a:rPr>
                        <m:t>=</m:t>
                      </m:r>
                      <m:r>
                        <a:rPr lang="ko-KR" altLang="en-US" sz="1180" smtClean="0">
                          <a:latin typeface="Cambria Math"/>
                        </a:rPr>
                        <m:t>𝑃</m:t>
                      </m:r>
                      <m:r>
                        <a:rPr lang="ko-KR" altLang="en-US" sz="1180" smtClean="0">
                          <a:latin typeface="Cambria Math"/>
                        </a:rPr>
                        <m:t>𝛥</m:t>
                      </m:r>
                      <m:r>
                        <a:rPr lang="ko-KR" altLang="en-US" sz="1180" smtClean="0">
                          <a:latin typeface="Cambria Math"/>
                        </a:rPr>
                        <m:t>=3×0.2=0.6</m:t>
                      </m:r>
                    </m:oMath>
                  </m:oMathPara>
                </a14:m>
                <a:endParaRPr/>
              </a:p>
            </p:txBody>
          </p:sp>
        </mc:Choice>
        <mc:Fallback xmlns="">
          <p:sp>
            <p:nvSpPr>
              <p:cNvPr id="13" name="Text 10"/>
              <p:cNvSpPr>
                <a:spLocks noRot="1" noChangeAspect="1" noMove="1" noResize="1" noEditPoints="1" noAdjustHandles="1" noChangeArrowheads="1" noChangeShapeType="1" noTextEdit="1"/>
              </p:cNvSpPr>
              <p:nvPr/>
            </p:nvSpPr>
            <p:spPr>
              <a:xfrm>
                <a:off x="960120" y="3794760"/>
                <a:ext cx="4800600" cy="530352"/>
              </a:xfrm>
              <a:prstGeom prst="rect">
                <a:avLst/>
              </a:prstGeom>
              <a:blipFill>
                <a:blip r:embed="rId6"/>
                <a:stretch>
                  <a:fillRect/>
                </a:stretch>
              </a:blipFill>
              <a:ln/>
            </p:spPr>
            <p:txBody>
              <a:bodyPr/>
              <a:lstStyle/>
              <a:p>
                <a:r>
                  <a:rPr lang="ko-KR" altLang="en-US">
                    <a:noFill/>
                  </a:rPr>
                  <a:t> </a:t>
                </a:r>
              </a:p>
            </p:txBody>
          </p:sp>
        </mc:Fallback>
      </mc:AlternateContent>
      <p:sp>
        <p:nvSpPr>
          <p:cNvPr id="14" name="Shape 11"/>
          <p:cNvSpPr/>
          <p:nvPr/>
        </p:nvSpPr>
        <p:spPr>
          <a:xfrm>
            <a:off x="1115568" y="4828032"/>
            <a:ext cx="4480560" cy="457200"/>
          </a:xfrm>
          <a:prstGeom prst="roundRect">
            <a:avLst>
              <a:gd name="adj" fmla="val 12000"/>
            </a:avLst>
          </a:prstGeom>
          <a:solidFill>
            <a:srgbClr val="FFFFFF"/>
          </a:solidFill>
          <a:ln w="12700">
            <a:solidFill>
              <a:srgbClr val="9EADCC"/>
            </a:solidFill>
            <a:prstDash val="solid"/>
          </a:ln>
        </p:spPr>
        <p:txBody>
          <a:bodyPr/>
          <a:lstStyle/>
          <a:p>
            <a:endParaRPr lang="ko-KR" altLang="en-US"/>
          </a:p>
        </p:txBody>
      </p:sp>
      <p:sp>
        <p:nvSpPr>
          <p:cNvPr id="15" name="Text 12"/>
          <p:cNvSpPr/>
          <p:nvPr/>
        </p:nvSpPr>
        <p:spPr>
          <a:xfrm>
            <a:off x="1338152" y="4977224"/>
            <a:ext cx="4023360" cy="137160"/>
          </a:xfrm>
          <a:prstGeom prst="rect">
            <a:avLst/>
          </a:prstGeom>
          <a:noFill/>
          <a:ln/>
        </p:spPr>
        <p:txBody>
          <a:bodyPr wrap="square" lIns="0" tIns="0" rIns="0" bIns="0" rtlCol="0" anchor="ctr">
            <a:normAutofit fontScale="92500"/>
          </a:bodyPr>
          <a:lstStyle/>
          <a:p>
            <a:pPr marL="0" indent="0" algn="ctr">
              <a:buNone/>
            </a:pPr>
            <a:r>
              <a:rPr lang="en-US" sz="1020" b="1" dirty="0">
                <a:solidFill>
                  <a:srgbClr val="00245D"/>
                </a:solidFill>
                <a:latin typeface="Arial" pitchFamily="34" charset="0"/>
                <a:ea typeface="Arial" pitchFamily="34" charset="-122"/>
                <a:cs typeface="Arial" pitchFamily="34" charset="-120"/>
              </a:rPr>
              <a:t>Compute dot-product first → apply one scale once.</a:t>
            </a:r>
            <a:endParaRPr lang="en-US" sz="1020" dirty="0"/>
          </a:p>
        </p:txBody>
      </p:sp>
      <p:sp>
        <p:nvSpPr>
          <p:cNvPr id="16" name="Shape 13"/>
          <p:cNvSpPr/>
          <p:nvPr/>
        </p:nvSpPr>
        <p:spPr>
          <a:xfrm>
            <a:off x="6400800" y="1391331"/>
            <a:ext cx="5074920" cy="4526280"/>
          </a:xfrm>
          <a:prstGeom prst="roundRect">
            <a:avLst>
              <a:gd name="adj" fmla="val 1212"/>
            </a:avLst>
          </a:prstGeom>
          <a:solidFill>
            <a:srgbClr val="FFFDF2"/>
          </a:solidFill>
          <a:ln w="13335">
            <a:solidFill>
              <a:srgbClr val="D6B656"/>
            </a:solidFill>
            <a:prstDash val="solid"/>
          </a:ln>
        </p:spPr>
        <p:txBody>
          <a:bodyPr/>
          <a:lstStyle/>
          <a:p>
            <a:endParaRPr lang="ko-KR" altLang="en-US"/>
          </a:p>
        </p:txBody>
      </p:sp>
      <p:sp>
        <p:nvSpPr>
          <p:cNvPr id="17" name="Text 14"/>
          <p:cNvSpPr/>
          <p:nvPr/>
        </p:nvSpPr>
        <p:spPr>
          <a:xfrm>
            <a:off x="6565392" y="1499616"/>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Why this is hardware-friendly</a:t>
            </a:r>
            <a:endParaRPr lang="en-US" sz="1200" dirty="0"/>
          </a:p>
        </p:txBody>
      </p:sp>
      <p:sp>
        <p:nvSpPr>
          <p:cNvPr id="18" name="Shape 15"/>
          <p:cNvSpPr/>
          <p:nvPr/>
        </p:nvSpPr>
        <p:spPr>
          <a:xfrm>
            <a:off x="6565392" y="2112264"/>
            <a:ext cx="1508760" cy="640080"/>
          </a:xfrm>
          <a:prstGeom prst="roundRect">
            <a:avLst>
              <a:gd name="adj" fmla="val 7143"/>
            </a:avLst>
          </a:prstGeom>
          <a:solidFill>
            <a:srgbClr val="FFFFFF"/>
          </a:solidFill>
          <a:ln w="12700">
            <a:solidFill>
              <a:srgbClr val="D6B656"/>
            </a:solidFill>
            <a:prstDash val="solid"/>
          </a:ln>
        </p:spPr>
        <p:txBody>
          <a:bodyPr/>
          <a:lstStyle/>
          <a:p>
            <a:endParaRPr lang="ko-KR" altLang="en-US"/>
          </a:p>
        </p:txBody>
      </p:sp>
      <p:sp>
        <p:nvSpPr>
          <p:cNvPr id="19" name="Text 16"/>
          <p:cNvSpPr/>
          <p:nvPr/>
        </p:nvSpPr>
        <p:spPr>
          <a:xfrm>
            <a:off x="6638544" y="2185416"/>
            <a:ext cx="136245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Wq · A</a:t>
            </a:r>
            <a:endParaRPr lang="en-US" sz="1050" dirty="0"/>
          </a:p>
        </p:txBody>
      </p:sp>
      <p:sp>
        <p:nvSpPr>
          <p:cNvPr id="20" name="Text 17"/>
          <p:cNvSpPr/>
          <p:nvPr/>
        </p:nvSpPr>
        <p:spPr>
          <a:xfrm>
            <a:off x="6638544" y="2468880"/>
            <a:ext cx="1362456" cy="228600"/>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partial products</a:t>
            </a:r>
            <a:endParaRPr lang="en-US" sz="900" dirty="0"/>
          </a:p>
        </p:txBody>
      </p:sp>
      <p:sp>
        <p:nvSpPr>
          <p:cNvPr id="21" name="Shape 18"/>
          <p:cNvSpPr/>
          <p:nvPr/>
        </p:nvSpPr>
        <p:spPr>
          <a:xfrm>
            <a:off x="8074152" y="2432304"/>
            <a:ext cx="467066" cy="0"/>
          </a:xfrm>
          <a:prstGeom prst="line">
            <a:avLst/>
          </a:prstGeom>
          <a:noFill/>
          <a:ln w="13970">
            <a:solidFill>
              <a:srgbClr val="2F75B5"/>
            </a:solidFill>
            <a:prstDash val="solid"/>
            <a:tailEnd type="triangle"/>
          </a:ln>
        </p:spPr>
        <p:txBody>
          <a:bodyPr/>
          <a:lstStyle/>
          <a:p>
            <a:endParaRPr lang="ko-KR" altLang="en-US"/>
          </a:p>
        </p:txBody>
      </p:sp>
      <p:sp>
        <p:nvSpPr>
          <p:cNvPr id="22" name="Shape 19"/>
          <p:cNvSpPr/>
          <p:nvPr/>
        </p:nvSpPr>
        <p:spPr>
          <a:xfrm>
            <a:off x="8536163" y="2112264"/>
            <a:ext cx="1508760" cy="640080"/>
          </a:xfrm>
          <a:prstGeom prst="roundRect">
            <a:avLst>
              <a:gd name="adj" fmla="val 7143"/>
            </a:avLst>
          </a:prstGeom>
          <a:solidFill>
            <a:srgbClr val="FFFFFF"/>
          </a:solidFill>
          <a:ln w="12700">
            <a:solidFill>
              <a:srgbClr val="D6B656"/>
            </a:solidFill>
            <a:prstDash val="solid"/>
          </a:ln>
        </p:spPr>
        <p:txBody>
          <a:bodyPr/>
          <a:lstStyle/>
          <a:p>
            <a:endParaRPr lang="ko-KR" altLang="en-US"/>
          </a:p>
        </p:txBody>
      </p:sp>
      <p:sp>
        <p:nvSpPr>
          <p:cNvPr id="23" name="Text 20"/>
          <p:cNvSpPr/>
          <p:nvPr/>
        </p:nvSpPr>
        <p:spPr>
          <a:xfrm>
            <a:off x="8609315" y="2185416"/>
            <a:ext cx="136245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Sum</a:t>
            </a:r>
            <a:endParaRPr lang="en-US" sz="1050" dirty="0"/>
          </a:p>
        </p:txBody>
      </p:sp>
      <p:sp>
        <p:nvSpPr>
          <p:cNvPr id="24" name="Text 21"/>
          <p:cNvSpPr/>
          <p:nvPr/>
        </p:nvSpPr>
        <p:spPr>
          <a:xfrm>
            <a:off x="8609315" y="2468880"/>
            <a:ext cx="1362456" cy="228600"/>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P = 3</a:t>
            </a:r>
            <a:endParaRPr lang="en-US" sz="900" dirty="0"/>
          </a:p>
        </p:txBody>
      </p:sp>
      <p:sp>
        <p:nvSpPr>
          <p:cNvPr id="25" name="Shape 22"/>
          <p:cNvSpPr/>
          <p:nvPr/>
        </p:nvSpPr>
        <p:spPr>
          <a:xfrm>
            <a:off x="10044924" y="2432304"/>
            <a:ext cx="361190" cy="0"/>
          </a:xfrm>
          <a:prstGeom prst="line">
            <a:avLst/>
          </a:prstGeom>
          <a:noFill/>
          <a:ln w="13970">
            <a:solidFill>
              <a:srgbClr val="2F75B5"/>
            </a:solidFill>
            <a:prstDash val="solid"/>
            <a:tailEnd type="triangle"/>
          </a:ln>
        </p:spPr>
        <p:txBody>
          <a:bodyPr/>
          <a:lstStyle/>
          <a:p>
            <a:endParaRPr lang="ko-KR" altLang="en-US"/>
          </a:p>
        </p:txBody>
      </p:sp>
      <p:sp>
        <p:nvSpPr>
          <p:cNvPr id="26" name="Shape 23"/>
          <p:cNvSpPr/>
          <p:nvPr/>
        </p:nvSpPr>
        <p:spPr>
          <a:xfrm>
            <a:off x="10385416" y="2112264"/>
            <a:ext cx="960120" cy="640080"/>
          </a:xfrm>
          <a:prstGeom prst="roundRect">
            <a:avLst>
              <a:gd name="adj" fmla="val 7143"/>
            </a:avLst>
          </a:prstGeom>
          <a:solidFill>
            <a:srgbClr val="FFFFFF"/>
          </a:solidFill>
          <a:ln w="12700">
            <a:solidFill>
              <a:srgbClr val="D6B656"/>
            </a:solidFill>
            <a:prstDash val="solid"/>
          </a:ln>
        </p:spPr>
        <p:txBody>
          <a:bodyPr/>
          <a:lstStyle/>
          <a:p>
            <a:endParaRPr lang="ko-KR" altLang="en-US"/>
          </a:p>
        </p:txBody>
      </p:sp>
      <p:sp>
        <p:nvSpPr>
          <p:cNvPr id="27" name="Text 24"/>
          <p:cNvSpPr/>
          <p:nvPr/>
        </p:nvSpPr>
        <p:spPr>
          <a:xfrm>
            <a:off x="10458568" y="2185416"/>
            <a:ext cx="81381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Scale</a:t>
            </a:r>
            <a:endParaRPr lang="en-US" sz="1050" dirty="0"/>
          </a:p>
        </p:txBody>
      </p:sp>
      <p:sp>
        <p:nvSpPr>
          <p:cNvPr id="28" name="Text 25"/>
          <p:cNvSpPr/>
          <p:nvPr/>
        </p:nvSpPr>
        <p:spPr>
          <a:xfrm>
            <a:off x="10458568" y="2468880"/>
            <a:ext cx="813816" cy="228600"/>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 Δ</a:t>
            </a:r>
            <a:endParaRPr lang="en-US" sz="900" dirty="0"/>
          </a:p>
        </p:txBody>
      </p:sp>
      <p:sp>
        <p:nvSpPr>
          <p:cNvPr id="29" name="Text 26"/>
          <p:cNvSpPr/>
          <p:nvPr/>
        </p:nvSpPr>
        <p:spPr>
          <a:xfrm>
            <a:off x="6720840" y="3166471"/>
            <a:ext cx="4526280" cy="512064"/>
          </a:xfrm>
          <a:prstGeom prst="rect">
            <a:avLst/>
          </a:prstGeom>
          <a:noFill/>
          <a:ln/>
        </p:spPr>
        <p:txBody>
          <a:bodyPr wrap="square" lIns="254" tIns="254" rIns="254" bIns="254" rtlCol="0" anchor="ctr">
            <a:normAutofit/>
          </a:bodyPr>
          <a:lstStyle/>
          <a:p>
            <a:pPr marL="0" indent="0" algn="ctr">
              <a:buNone/>
            </a:pPr>
            <a:r>
              <a:rPr lang="en-US" sz="1200" b="1" dirty="0">
                <a:solidFill>
                  <a:srgbClr val="00245D"/>
                </a:solidFill>
                <a:latin typeface="Arial" pitchFamily="34" charset="0"/>
                <a:ea typeface="Arial" pitchFamily="34" charset="-122"/>
                <a:cs typeface="Arial" pitchFamily="34" charset="-120"/>
              </a:rPr>
              <a:t>Only one scaling factor exists for the entire channel, so the re-scaling can be delayed until after accumulation.</a:t>
            </a:r>
            <a:endParaRPr lang="en-US" sz="1200" dirty="0"/>
          </a:p>
        </p:txBody>
      </p:sp>
      <p:sp>
        <p:nvSpPr>
          <p:cNvPr id="30" name="Text 27"/>
          <p:cNvSpPr/>
          <p:nvPr/>
        </p:nvSpPr>
        <p:spPr>
          <a:xfrm>
            <a:off x="6903720" y="4023360"/>
            <a:ext cx="4160520" cy="1005840"/>
          </a:xfrm>
          <a:prstGeom prst="rect">
            <a:avLst/>
          </a:prstGeom>
          <a:noFill/>
          <a:ln/>
        </p:spPr>
        <p:txBody>
          <a:bodyPr wrap="square" lIns="381" tIns="381" rIns="381" bIns="381" rtlCol="0" anchor="ctr">
            <a:normAutofit/>
          </a:bodyPr>
          <a:lstStyle/>
          <a:p>
            <a:r>
              <a:rPr lang="en-US" sz="1100" dirty="0">
                <a:solidFill>
                  <a:srgbClr val="222222"/>
                </a:solidFill>
                <a:latin typeface="Arial" pitchFamily="34" charset="0"/>
                <a:ea typeface="Arial" pitchFamily="34" charset="-122"/>
                <a:cs typeface="Arial" pitchFamily="34" charset="-120"/>
              </a:rPr>
              <a:t>No per-group scale switching</a:t>
            </a:r>
            <a:endParaRPr lang="en-US" sz="1100" dirty="0"/>
          </a:p>
          <a:p>
            <a:r>
              <a:rPr lang="en-US" sz="1100" dirty="0">
                <a:solidFill>
                  <a:srgbClr val="222222"/>
                </a:solidFill>
                <a:latin typeface="Arial" pitchFamily="34" charset="0"/>
                <a:ea typeface="Arial" pitchFamily="34" charset="-122"/>
                <a:cs typeface="Arial" pitchFamily="34" charset="-120"/>
              </a:rPr>
              <a:t>No repeated floating-point re-scaling</a:t>
            </a:r>
            <a:endParaRPr lang="en-US" sz="1100" dirty="0"/>
          </a:p>
          <a:p>
            <a:r>
              <a:rPr lang="en-US" sz="1100" dirty="0">
                <a:solidFill>
                  <a:srgbClr val="222222"/>
                </a:solidFill>
                <a:latin typeface="Arial" pitchFamily="34" charset="0"/>
                <a:ea typeface="Arial" pitchFamily="34" charset="-122"/>
                <a:cs typeface="Arial" pitchFamily="34" charset="-120"/>
              </a:rPr>
              <a:t>Accumulator can work on one shared scale</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Per-group dequantization cannot be postponed</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47</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In </a:t>
            </a:r>
            <a:r>
              <a:rPr lang="en-US" sz="1300" dirty="0">
                <a:solidFill>
                  <a:srgbClr val="FF0000"/>
                </a:solidFill>
                <a:latin typeface="Arial" pitchFamily="34" charset="0"/>
                <a:ea typeface="Arial" pitchFamily="34" charset="-122"/>
                <a:cs typeface="Arial" pitchFamily="34" charset="-120"/>
              </a:rPr>
              <a:t>per-group quantization</a:t>
            </a:r>
            <a:r>
              <a:rPr lang="en-US" sz="1300" dirty="0">
                <a:solidFill>
                  <a:srgbClr val="222222"/>
                </a:solidFill>
                <a:latin typeface="Arial" pitchFamily="34" charset="0"/>
                <a:ea typeface="Arial" pitchFamily="34" charset="-122"/>
                <a:cs typeface="Arial" pitchFamily="34" charset="-120"/>
              </a:rPr>
              <a:t>, one channel is split into groups, and </a:t>
            </a:r>
            <a:r>
              <a:rPr lang="en-US" sz="1300" dirty="0">
                <a:solidFill>
                  <a:srgbClr val="FF0000"/>
                </a:solidFill>
                <a:latin typeface="Arial" pitchFamily="34" charset="0"/>
                <a:ea typeface="Arial" pitchFamily="34" charset="-122"/>
                <a:cs typeface="Arial" pitchFamily="34" charset="-120"/>
              </a:rPr>
              <a:t>each group has a different scaling factor</a:t>
            </a:r>
            <a:r>
              <a:rPr lang="en-US" sz="1300" dirty="0">
                <a:solidFill>
                  <a:srgbClr val="222222"/>
                </a:solidFill>
                <a:latin typeface="Arial" pitchFamily="34" charset="0"/>
                <a:ea typeface="Arial" pitchFamily="34" charset="-122"/>
                <a:cs typeface="Arial" pitchFamily="34" charset="-120"/>
              </a:rPr>
              <a:t>.</a:t>
            </a:r>
            <a:endParaRPr lang="en-US" sz="1300" dirty="0"/>
          </a:p>
        </p:txBody>
      </p:sp>
      <p:sp>
        <p:nvSpPr>
          <p:cNvPr id="9" name="Shape 6"/>
          <p:cNvSpPr/>
          <p:nvPr/>
        </p:nvSpPr>
        <p:spPr>
          <a:xfrm>
            <a:off x="685800" y="1463040"/>
            <a:ext cx="5074920" cy="2011680"/>
          </a:xfrm>
          <a:prstGeom prst="roundRect">
            <a:avLst>
              <a:gd name="adj" fmla="val 2727"/>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72768"/>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Group 1</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60120" y="1901952"/>
                <a:ext cx="452628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𝑊</m:t>
                          </m:r>
                        </m:e>
                        <m:sub>
                          <m:r>
                            <a:rPr lang="ko-KR" altLang="en-US" sz="1180" smtClean="0">
                              <a:latin typeface="Cambria Math"/>
                            </a:rPr>
                            <m:t>𝑞</m:t>
                          </m:r>
                        </m:sub>
                      </m:sSub>
                      <m:r>
                        <a:rPr lang="ko-KR" altLang="en-US" sz="1180" smtClean="0">
                          <a:latin typeface="Cambria Math"/>
                        </a:rPr>
                        <m:t>=</m:t>
                      </m:r>
                      <m:d>
                        <m:dPr>
                          <m:begChr m:val="["/>
                          <m:endChr m:val="]"/>
                          <m:ctrlPr>
                            <a:rPr lang="ko-KR" altLang="en-US" sz="1180" smtClean="0">
                              <a:latin typeface="Cambria Math"/>
                            </a:rPr>
                          </m:ctrlPr>
                        </m:dPr>
                        <m:e>
                          <m:r>
                            <a:rPr lang="ko-KR" altLang="en-US" sz="1180" smtClean="0">
                              <a:latin typeface="Cambria Math"/>
                            </a:rPr>
                            <m:t>2,−1</m:t>
                          </m:r>
                        </m:e>
                      </m:d>
                      <m:r>
                        <a:rPr lang="ko-KR" altLang="en-US" sz="1180" smtClean="0">
                          <a:latin typeface="Cambria Math"/>
                        </a:rPr>
                        <m:t>, </m:t>
                      </m:r>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1</m:t>
                          </m:r>
                        </m:sub>
                      </m:sSub>
                      <m:r>
                        <a:rPr lang="ko-KR" altLang="en-US" sz="1180" smtClean="0">
                          <a:latin typeface="Cambria Math"/>
                        </a:rPr>
                        <m:t>=0.1</m:t>
                      </m:r>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60120" y="1901952"/>
                <a:ext cx="4526280" cy="457200"/>
              </a:xfrm>
              <a:prstGeom prst="rect">
                <a:avLst/>
              </a:prstGeom>
              <a:blipFill>
                <a:blip r:embed="rId4"/>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 9"/>
              <p:cNvSpPr/>
              <p:nvPr/>
            </p:nvSpPr>
            <p:spPr>
              <a:xfrm>
                <a:off x="960120" y="2587752"/>
                <a:ext cx="452628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1</m:t>
                          </m:r>
                        </m:sub>
                      </m:sSub>
                      <m:r>
                        <a:rPr lang="ko-KR" altLang="en-US" sz="1180" smtClean="0">
                          <a:latin typeface="Cambria Math"/>
                        </a:rPr>
                        <m:t>=2</m:t>
                      </m:r>
                      <m:d>
                        <m:dPr>
                          <m:ctrlPr>
                            <a:rPr lang="ko-KR" altLang="en-US" sz="1180" smtClean="0">
                              <a:latin typeface="Cambria Math"/>
                            </a:rPr>
                          </m:ctrlPr>
                        </m:dPr>
                        <m:e>
                          <m:r>
                            <a:rPr lang="ko-KR" altLang="en-US" sz="1180" smtClean="0">
                              <a:latin typeface="Cambria Math"/>
                            </a:rPr>
                            <m:t>1.0</m:t>
                          </m:r>
                        </m:e>
                      </m:d>
                      <m:r>
                        <a:rPr lang="ko-KR" altLang="en-US" sz="1180" smtClean="0">
                          <a:latin typeface="Cambria Math"/>
                        </a:rPr>
                        <m:t>+</m:t>
                      </m:r>
                      <m:d>
                        <m:dPr>
                          <m:ctrlPr>
                            <a:rPr lang="ko-KR" altLang="en-US" sz="1180" smtClean="0">
                              <a:latin typeface="Cambria Math"/>
                            </a:rPr>
                          </m:ctrlPr>
                        </m:dPr>
                        <m:e>
                          <m:r>
                            <a:rPr lang="ko-KR" altLang="en-US" sz="1180" smtClean="0">
                              <a:latin typeface="Cambria Math"/>
                            </a:rPr>
                            <m:t>−1</m:t>
                          </m:r>
                        </m:e>
                      </m:d>
                      <m:d>
                        <m:dPr>
                          <m:ctrlPr>
                            <a:rPr lang="ko-KR" altLang="en-US" sz="1180" smtClean="0">
                              <a:latin typeface="Cambria Math"/>
                            </a:rPr>
                          </m:ctrlPr>
                        </m:dPr>
                        <m:e>
                          <m:r>
                            <a:rPr lang="ko-KR" altLang="en-US" sz="1180" smtClean="0">
                              <a:latin typeface="Cambria Math"/>
                            </a:rPr>
                            <m:t>2.0</m:t>
                          </m:r>
                        </m:e>
                      </m:d>
                      <m:r>
                        <a:rPr lang="ko-KR" altLang="en-US" sz="1180" smtClean="0">
                          <a:latin typeface="Cambria Math"/>
                        </a:rPr>
                        <m:t>=0, </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1</m:t>
                          </m:r>
                        </m:sub>
                      </m:sSub>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1</m:t>
                          </m:r>
                        </m:sub>
                      </m:sSub>
                      <m:r>
                        <a:rPr lang="ko-KR" altLang="en-US" sz="1180" smtClean="0">
                          <a:latin typeface="Cambria Math"/>
                        </a:rPr>
                        <m:t>=0</m:t>
                      </m:r>
                    </m:oMath>
                  </m:oMathPara>
                </a14:m>
                <a:endParaRPr/>
              </a:p>
            </p:txBody>
          </p:sp>
        </mc:Choice>
        <mc:Fallback xmlns="">
          <p:sp>
            <p:nvSpPr>
              <p:cNvPr id="12" name="Text 9"/>
              <p:cNvSpPr>
                <a:spLocks noRot="1" noChangeAspect="1" noMove="1" noResize="1" noEditPoints="1" noAdjustHandles="1" noChangeArrowheads="1" noChangeShapeType="1" noTextEdit="1"/>
              </p:cNvSpPr>
              <p:nvPr/>
            </p:nvSpPr>
            <p:spPr>
              <a:xfrm>
                <a:off x="960120" y="2587752"/>
                <a:ext cx="4526280" cy="457200"/>
              </a:xfrm>
              <a:prstGeom prst="rect">
                <a:avLst/>
              </a:prstGeom>
              <a:blipFill>
                <a:blip r:embed="rId5"/>
                <a:stretch>
                  <a:fillRect/>
                </a:stretch>
              </a:blipFill>
              <a:ln/>
            </p:spPr>
            <p:txBody>
              <a:bodyPr/>
              <a:lstStyle/>
              <a:p>
                <a:r>
                  <a:rPr lang="ko-KR" altLang="en-US">
                    <a:noFill/>
                  </a:rPr>
                  <a:t> </a:t>
                </a:r>
              </a:p>
            </p:txBody>
          </p:sp>
        </mc:Fallback>
      </mc:AlternateContent>
      <p:sp>
        <p:nvSpPr>
          <p:cNvPr id="13" name="Shape 10"/>
          <p:cNvSpPr/>
          <p:nvPr/>
        </p:nvSpPr>
        <p:spPr>
          <a:xfrm>
            <a:off x="685800" y="3703320"/>
            <a:ext cx="5074920" cy="2011680"/>
          </a:xfrm>
          <a:prstGeom prst="roundRect">
            <a:avLst>
              <a:gd name="adj" fmla="val 2727"/>
            </a:avLst>
          </a:prstGeom>
          <a:solidFill>
            <a:srgbClr val="FFFDF2"/>
          </a:solidFill>
          <a:ln w="13335">
            <a:solidFill>
              <a:srgbClr val="D6B656"/>
            </a:solidFill>
            <a:prstDash val="solid"/>
          </a:ln>
        </p:spPr>
        <p:txBody>
          <a:bodyPr/>
          <a:lstStyle/>
          <a:p>
            <a:endParaRPr lang="ko-KR" altLang="en-US"/>
          </a:p>
        </p:txBody>
      </p:sp>
      <p:sp>
        <p:nvSpPr>
          <p:cNvPr id="14" name="Text 11"/>
          <p:cNvSpPr/>
          <p:nvPr/>
        </p:nvSpPr>
        <p:spPr>
          <a:xfrm>
            <a:off x="850392" y="3813048"/>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Group 2</a:t>
            </a:r>
            <a:endParaRPr lang="en-US" sz="1200" dirty="0"/>
          </a:p>
        </p:txBody>
      </p:sp>
      <mc:AlternateContent xmlns:mc="http://schemas.openxmlformats.org/markup-compatibility/2006" xmlns:a14="http://schemas.microsoft.com/office/drawing/2010/main">
        <mc:Choice Requires="a14">
          <p:sp>
            <p:nvSpPr>
              <p:cNvPr id="15" name="Text 12"/>
              <p:cNvSpPr/>
              <p:nvPr/>
            </p:nvSpPr>
            <p:spPr>
              <a:xfrm>
                <a:off x="960120" y="4142232"/>
                <a:ext cx="452628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𝑊</m:t>
                          </m:r>
                        </m:e>
                        <m:sub>
                          <m:r>
                            <a:rPr lang="ko-KR" altLang="en-US" sz="1180" smtClean="0">
                              <a:latin typeface="Cambria Math"/>
                            </a:rPr>
                            <m:t>𝑞</m:t>
                          </m:r>
                        </m:sub>
                      </m:sSub>
                      <m:r>
                        <a:rPr lang="ko-KR" altLang="en-US" sz="1180" smtClean="0">
                          <a:latin typeface="Cambria Math"/>
                        </a:rPr>
                        <m:t>=</m:t>
                      </m:r>
                      <m:d>
                        <m:dPr>
                          <m:begChr m:val="["/>
                          <m:endChr m:val="]"/>
                          <m:ctrlPr>
                            <a:rPr lang="ko-KR" altLang="en-US" sz="1180" smtClean="0">
                              <a:latin typeface="Cambria Math"/>
                            </a:rPr>
                          </m:ctrlPr>
                        </m:dPr>
                        <m:e>
                          <m:r>
                            <a:rPr lang="ko-KR" altLang="en-US" sz="1180" smtClean="0">
                              <a:latin typeface="Cambria Math"/>
                            </a:rPr>
                            <m:t>3,1</m:t>
                          </m:r>
                        </m:e>
                      </m:d>
                      <m:r>
                        <a:rPr lang="ko-KR" altLang="en-US" sz="1180" smtClean="0">
                          <a:latin typeface="Cambria Math"/>
                        </a:rPr>
                        <m:t>, </m:t>
                      </m:r>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2</m:t>
                          </m:r>
                        </m:sub>
                      </m:sSub>
                      <m:r>
                        <a:rPr lang="ko-KR" altLang="en-US" sz="1180" smtClean="0">
                          <a:latin typeface="Cambria Math"/>
                        </a:rPr>
                        <m:t>=0.4</m:t>
                      </m:r>
                    </m:oMath>
                  </m:oMathPara>
                </a14:m>
                <a:endParaRPr/>
              </a:p>
            </p:txBody>
          </p:sp>
        </mc:Choice>
        <mc:Fallback xmlns="">
          <p:sp>
            <p:nvSpPr>
              <p:cNvPr id="15" name="Text 12"/>
              <p:cNvSpPr>
                <a:spLocks noRot="1" noChangeAspect="1" noMove="1" noResize="1" noEditPoints="1" noAdjustHandles="1" noChangeArrowheads="1" noChangeShapeType="1" noTextEdit="1"/>
              </p:cNvSpPr>
              <p:nvPr/>
            </p:nvSpPr>
            <p:spPr>
              <a:xfrm>
                <a:off x="960120" y="4142232"/>
                <a:ext cx="4526280" cy="457200"/>
              </a:xfrm>
              <a:prstGeom prst="rect">
                <a:avLst/>
              </a:prstGeom>
              <a:blipFill>
                <a:blip r:embed="rId6"/>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Text 13"/>
              <p:cNvSpPr/>
              <p:nvPr/>
            </p:nvSpPr>
            <p:spPr>
              <a:xfrm>
                <a:off x="960120" y="4828032"/>
                <a:ext cx="452628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2</m:t>
                          </m:r>
                        </m:sub>
                      </m:sSub>
                      <m:r>
                        <a:rPr lang="ko-KR" altLang="en-US" sz="1180" smtClean="0">
                          <a:latin typeface="Cambria Math"/>
                        </a:rPr>
                        <m:t>=3</m:t>
                      </m:r>
                      <m:d>
                        <m:dPr>
                          <m:ctrlPr>
                            <a:rPr lang="ko-KR" altLang="en-US" sz="1180" smtClean="0">
                              <a:latin typeface="Cambria Math"/>
                            </a:rPr>
                          </m:ctrlPr>
                        </m:dPr>
                        <m:e>
                          <m:r>
                            <a:rPr lang="ko-KR" altLang="en-US" sz="1180" smtClean="0">
                              <a:latin typeface="Cambria Math"/>
                            </a:rPr>
                            <m:t>0.5</m:t>
                          </m:r>
                        </m:e>
                      </m:d>
                      <m:r>
                        <a:rPr lang="ko-KR" altLang="en-US" sz="1180" smtClean="0">
                          <a:latin typeface="Cambria Math"/>
                        </a:rPr>
                        <m:t>+1</m:t>
                      </m:r>
                      <m:d>
                        <m:dPr>
                          <m:ctrlPr>
                            <a:rPr lang="ko-KR" altLang="en-US" sz="1180" smtClean="0">
                              <a:latin typeface="Cambria Math"/>
                            </a:rPr>
                          </m:ctrlPr>
                        </m:dPr>
                        <m:e>
                          <m:r>
                            <a:rPr lang="ko-KR" altLang="en-US" sz="1180" smtClean="0">
                              <a:latin typeface="Cambria Math"/>
                            </a:rPr>
                            <m:t>1.5</m:t>
                          </m:r>
                        </m:e>
                      </m:d>
                      <m:r>
                        <a:rPr lang="ko-KR" altLang="en-US" sz="1180" smtClean="0">
                          <a:latin typeface="Cambria Math"/>
                        </a:rPr>
                        <m:t>=3, </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2</m:t>
                          </m:r>
                        </m:sub>
                      </m:sSub>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2</m:t>
                          </m:r>
                        </m:sub>
                      </m:sSub>
                      <m:r>
                        <a:rPr lang="ko-KR" altLang="en-US" sz="1180" smtClean="0">
                          <a:latin typeface="Cambria Math"/>
                        </a:rPr>
                        <m:t>=1.2</m:t>
                      </m:r>
                    </m:oMath>
                  </m:oMathPara>
                </a14:m>
                <a:endParaRPr/>
              </a:p>
            </p:txBody>
          </p:sp>
        </mc:Choice>
        <mc:Fallback xmlns="">
          <p:sp>
            <p:nvSpPr>
              <p:cNvPr id="16" name="Text 13"/>
              <p:cNvSpPr>
                <a:spLocks noRot="1" noChangeAspect="1" noMove="1" noResize="1" noEditPoints="1" noAdjustHandles="1" noChangeArrowheads="1" noChangeShapeType="1" noTextEdit="1"/>
              </p:cNvSpPr>
              <p:nvPr/>
            </p:nvSpPr>
            <p:spPr>
              <a:xfrm>
                <a:off x="960120" y="4828032"/>
                <a:ext cx="4526280" cy="457200"/>
              </a:xfrm>
              <a:prstGeom prst="rect">
                <a:avLst/>
              </a:prstGeom>
              <a:blipFill>
                <a:blip r:embed="rId7"/>
                <a:stretch>
                  <a:fillRect/>
                </a:stretch>
              </a:blipFill>
              <a:ln/>
            </p:spPr>
            <p:txBody>
              <a:bodyPr/>
              <a:lstStyle/>
              <a:p>
                <a:r>
                  <a:rPr lang="ko-KR" altLang="en-US">
                    <a:noFill/>
                  </a:rPr>
                  <a:t> </a:t>
                </a:r>
              </a:p>
            </p:txBody>
          </p:sp>
        </mc:Fallback>
      </mc:AlternateContent>
      <p:sp>
        <p:nvSpPr>
          <p:cNvPr id="17" name="Shape 14"/>
          <p:cNvSpPr/>
          <p:nvPr/>
        </p:nvSpPr>
        <p:spPr>
          <a:xfrm>
            <a:off x="6446520" y="1371600"/>
            <a:ext cx="4983480" cy="4343400"/>
          </a:xfrm>
          <a:prstGeom prst="roundRect">
            <a:avLst>
              <a:gd name="adj" fmla="val 1263"/>
            </a:avLst>
          </a:prstGeom>
          <a:solidFill>
            <a:srgbClr val="FDECEC"/>
          </a:solidFill>
          <a:ln w="13335">
            <a:solidFill>
              <a:srgbClr val="E6B8B7"/>
            </a:solidFill>
            <a:prstDash val="solid"/>
          </a:ln>
        </p:spPr>
        <p:txBody>
          <a:bodyPr/>
          <a:lstStyle/>
          <a:p>
            <a:endParaRPr lang="ko-KR" altLang="en-US"/>
          </a:p>
        </p:txBody>
      </p:sp>
      <p:sp>
        <p:nvSpPr>
          <p:cNvPr id="18" name="Text 15"/>
          <p:cNvSpPr/>
          <p:nvPr/>
        </p:nvSpPr>
        <p:spPr>
          <a:xfrm>
            <a:off x="6611112" y="1481328"/>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Final output</a:t>
            </a:r>
            <a:endParaRPr lang="en-US" sz="1200" dirty="0"/>
          </a:p>
        </p:txBody>
      </p:sp>
      <mc:AlternateContent xmlns:mc="http://schemas.openxmlformats.org/markup-compatibility/2006" xmlns:a14="http://schemas.microsoft.com/office/drawing/2010/main">
        <mc:Choice Requires="a14">
          <p:sp>
            <p:nvSpPr>
              <p:cNvPr id="19" name="Text 16"/>
              <p:cNvSpPr/>
              <p:nvPr/>
            </p:nvSpPr>
            <p:spPr>
              <a:xfrm>
                <a:off x="6720840" y="2029968"/>
                <a:ext cx="4434840" cy="56692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180" smtClean="0">
                          <a:latin typeface="Cambria Math"/>
                        </a:rPr>
                        <m:t>𝑌</m:t>
                      </m:r>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1</m:t>
                          </m:r>
                        </m:sub>
                      </m:sSub>
                      <m:sSub>
                        <m:sSubPr>
                          <m:ctrlPr>
                            <a:rPr lang="ko-KR" altLang="en-US" sz="1180" smtClean="0">
                              <a:solidFill>
                                <a:srgbClr val="FF0000"/>
                              </a:solidFill>
                              <a:latin typeface="Cambria Math"/>
                            </a:rPr>
                          </m:ctrlPr>
                        </m:sSubPr>
                        <m:e>
                          <m:r>
                            <a:rPr lang="ko-KR" altLang="en-US" sz="1180" smtClean="0">
                              <a:solidFill>
                                <a:srgbClr val="FF0000"/>
                              </a:solidFill>
                              <a:latin typeface="Cambria Math"/>
                            </a:rPr>
                            <m:t>𝛥</m:t>
                          </m:r>
                        </m:e>
                        <m:sub>
                          <m:r>
                            <a:rPr lang="ko-KR" altLang="en-US" sz="1180" smtClean="0">
                              <a:solidFill>
                                <a:srgbClr val="FF0000"/>
                              </a:solidFill>
                              <a:latin typeface="Cambria Math"/>
                            </a:rPr>
                            <m:t>1</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2</m:t>
                          </m:r>
                        </m:sub>
                      </m:sSub>
                      <m:sSub>
                        <m:sSubPr>
                          <m:ctrlPr>
                            <a:rPr lang="ko-KR" altLang="en-US" sz="1180" smtClean="0">
                              <a:solidFill>
                                <a:srgbClr val="FF0000"/>
                              </a:solidFill>
                              <a:latin typeface="Cambria Math"/>
                            </a:rPr>
                          </m:ctrlPr>
                        </m:sSubPr>
                        <m:e>
                          <m:r>
                            <a:rPr lang="ko-KR" altLang="en-US" sz="1180" smtClean="0">
                              <a:solidFill>
                                <a:srgbClr val="FF0000"/>
                              </a:solidFill>
                              <a:latin typeface="Cambria Math"/>
                            </a:rPr>
                            <m:t>𝛥</m:t>
                          </m:r>
                        </m:e>
                        <m:sub>
                          <m:r>
                            <a:rPr lang="ko-KR" altLang="en-US" sz="1180" smtClean="0">
                              <a:solidFill>
                                <a:srgbClr val="FF0000"/>
                              </a:solidFill>
                              <a:latin typeface="Cambria Math"/>
                            </a:rPr>
                            <m:t>2</m:t>
                          </m:r>
                        </m:sub>
                      </m:sSub>
                      <m:r>
                        <a:rPr lang="ko-KR" altLang="en-US" sz="1180" smtClean="0">
                          <a:latin typeface="Cambria Math"/>
                        </a:rPr>
                        <m:t>=0+1.2=1.2</m:t>
                      </m:r>
                    </m:oMath>
                  </m:oMathPara>
                </a14:m>
                <a:endParaRPr dirty="0"/>
              </a:p>
            </p:txBody>
          </p:sp>
        </mc:Choice>
        <mc:Fallback xmlns="">
          <p:sp>
            <p:nvSpPr>
              <p:cNvPr id="19" name="Text 16"/>
              <p:cNvSpPr>
                <a:spLocks noRot="1" noChangeAspect="1" noMove="1" noResize="1" noEditPoints="1" noAdjustHandles="1" noChangeArrowheads="1" noChangeShapeType="1" noTextEdit="1"/>
              </p:cNvSpPr>
              <p:nvPr/>
            </p:nvSpPr>
            <p:spPr>
              <a:xfrm>
                <a:off x="6720840" y="2029968"/>
                <a:ext cx="4434840" cy="566928"/>
              </a:xfrm>
              <a:prstGeom prst="rect">
                <a:avLst/>
              </a:prstGeom>
              <a:blipFill>
                <a:blip r:embed="rId8"/>
                <a:stretch>
                  <a:fillRect/>
                </a:stretch>
              </a:blipFill>
              <a:ln/>
            </p:spPr>
            <p:txBody>
              <a:bodyPr/>
              <a:lstStyle/>
              <a:p>
                <a:r>
                  <a:rPr lang="ko-KR" altLang="en-US">
                    <a:noFill/>
                  </a:rPr>
                  <a:t> </a:t>
                </a:r>
              </a:p>
            </p:txBody>
          </p:sp>
        </mc:Fallback>
      </mc:AlternateContent>
      <p:sp>
        <p:nvSpPr>
          <p:cNvPr id="20" name="Shape 17"/>
          <p:cNvSpPr/>
          <p:nvPr/>
        </p:nvSpPr>
        <p:spPr>
          <a:xfrm>
            <a:off x="6949440" y="2697480"/>
            <a:ext cx="3977640" cy="731520"/>
          </a:xfrm>
          <a:prstGeom prst="roundRect">
            <a:avLst>
              <a:gd name="adj" fmla="val 7500"/>
            </a:avLst>
          </a:prstGeom>
          <a:solidFill>
            <a:srgbClr val="FFFFFF"/>
          </a:solidFill>
          <a:ln w="12700">
            <a:solidFill>
              <a:srgbClr val="E6B8B7"/>
            </a:solidFill>
            <a:prstDash val="solid"/>
          </a:ln>
        </p:spPr>
        <p:txBody>
          <a:bodyPr/>
          <a:lstStyle/>
          <a:p>
            <a:endParaRPr lang="ko-KR" altLang="en-US"/>
          </a:p>
        </p:txBody>
      </p:sp>
      <p:sp>
        <p:nvSpPr>
          <p:cNvPr id="21" name="Text 18"/>
          <p:cNvSpPr/>
          <p:nvPr/>
        </p:nvSpPr>
        <p:spPr>
          <a:xfrm>
            <a:off x="7178040" y="2907792"/>
            <a:ext cx="3520440" cy="292608"/>
          </a:xfrm>
          <a:prstGeom prst="rect">
            <a:avLst/>
          </a:prstGeom>
          <a:noFill/>
          <a:ln/>
        </p:spPr>
        <p:txBody>
          <a:bodyPr wrap="square" lIns="254" tIns="254" rIns="254" bIns="254" rtlCol="0" anchor="ctr">
            <a:normAutofit lnSpcReduction="10000"/>
          </a:bodyPr>
          <a:lstStyle/>
          <a:p>
            <a:pPr marL="0" indent="0" algn="ctr">
              <a:buNone/>
            </a:pPr>
            <a:r>
              <a:rPr lang="en-US" sz="1040" b="1" dirty="0">
                <a:solidFill>
                  <a:srgbClr val="C00000"/>
                </a:solidFill>
                <a:latin typeface="Arial" pitchFamily="34" charset="0"/>
                <a:ea typeface="Arial" pitchFamily="34" charset="-122"/>
                <a:cs typeface="Arial" pitchFamily="34" charset="-120"/>
              </a:rPr>
              <a:t>Different groups use different scales, so P1 and P2 must be scaled separately.</a:t>
            </a:r>
            <a:endParaRPr lang="en-US" sz="1040" dirty="0"/>
          </a:p>
        </p:txBody>
      </p:sp>
      <p:sp>
        <p:nvSpPr>
          <p:cNvPr id="23" name="Text 20"/>
          <p:cNvSpPr/>
          <p:nvPr/>
        </p:nvSpPr>
        <p:spPr>
          <a:xfrm>
            <a:off x="7223760" y="3647493"/>
            <a:ext cx="3337560" cy="201168"/>
          </a:xfrm>
          <a:prstGeom prst="rect">
            <a:avLst/>
          </a:prstGeom>
          <a:noFill/>
          <a:ln/>
        </p:spPr>
        <p:txBody>
          <a:bodyPr wrap="square" lIns="0" tIns="0" rIns="0" bIns="0" rtlCol="0" anchor="ctr">
            <a:normAutofit fontScale="92500"/>
          </a:bodyPr>
          <a:lstStyle/>
          <a:p>
            <a:pPr marL="0" indent="0" algn="ctr">
              <a:buNone/>
            </a:pPr>
            <a:r>
              <a:rPr lang="en-US" sz="1100" b="1" dirty="0">
                <a:solidFill>
                  <a:srgbClr val="C00000"/>
                </a:solidFill>
                <a:latin typeface="Arial" pitchFamily="34" charset="0"/>
                <a:ea typeface="Arial" pitchFamily="34" charset="-122"/>
                <a:cs typeface="Arial" pitchFamily="34" charset="-120"/>
              </a:rPr>
              <a:t>Cannot use one final scale after merging all groups</a:t>
            </a:r>
            <a:endParaRPr lang="en-US" sz="1100" dirty="0"/>
          </a:p>
        </p:txBody>
      </p:sp>
      <p:sp>
        <p:nvSpPr>
          <p:cNvPr id="24" name="화살표: 아래쪽 23">
            <a:extLst>
              <a:ext uri="{FF2B5EF4-FFF2-40B4-BE49-F238E27FC236}">
                <a16:creationId xmlns:a16="http://schemas.microsoft.com/office/drawing/2014/main" id="{5201E443-9027-580A-F2B6-0BA66872113D}"/>
              </a:ext>
            </a:extLst>
          </p:cNvPr>
          <p:cNvSpPr/>
          <p:nvPr/>
        </p:nvSpPr>
        <p:spPr>
          <a:xfrm>
            <a:off x="8765004" y="3987265"/>
            <a:ext cx="481264" cy="529389"/>
          </a:xfrm>
          <a:prstGeom prst="downArrow">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6" name="Text 20">
            <a:extLst>
              <a:ext uri="{FF2B5EF4-FFF2-40B4-BE49-F238E27FC236}">
                <a16:creationId xmlns:a16="http://schemas.microsoft.com/office/drawing/2014/main" id="{C82C18D0-DD9B-8F4F-4193-893F14215C8F}"/>
              </a:ext>
            </a:extLst>
          </p:cNvPr>
          <p:cNvSpPr/>
          <p:nvPr/>
        </p:nvSpPr>
        <p:spPr>
          <a:xfrm>
            <a:off x="7084192" y="4306824"/>
            <a:ext cx="3928553" cy="932688"/>
          </a:xfrm>
          <a:prstGeom prst="rect">
            <a:avLst/>
          </a:prstGeom>
          <a:noFill/>
          <a:ln/>
        </p:spPr>
        <p:txBody>
          <a:bodyPr wrap="square" lIns="0" tIns="0" rIns="0" bIns="0" rtlCol="0" anchor="ctr">
            <a:noAutofit/>
          </a:bodyPr>
          <a:lstStyle/>
          <a:p>
            <a:pPr algn="ctr"/>
            <a:r>
              <a:rPr lang="en-US" altLang="ko-KR" sz="2400" b="1" dirty="0">
                <a:solidFill>
                  <a:srgbClr val="FF0000"/>
                </a:solidFill>
                <a:latin typeface="Arial" pitchFamily="34" charset="0"/>
                <a:ea typeface="Arial" pitchFamily="34" charset="-122"/>
                <a:cs typeface="Arial" pitchFamily="34" charset="-120"/>
              </a:rPr>
              <a:t>Scaling factor quantization</a:t>
            </a:r>
            <a:endParaRPr lang="en-US" sz="2400"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Scaling factor quantization: detailed example</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48</a:t>
            </a:r>
            <a:endParaRPr lang="en-US" sz="1000" dirty="0"/>
          </a:p>
        </p:txBody>
      </p:sp>
      <p:sp>
        <p:nvSpPr>
          <p:cNvPr id="9" name="Shape 6"/>
          <p:cNvSpPr/>
          <p:nvPr/>
        </p:nvSpPr>
        <p:spPr>
          <a:xfrm>
            <a:off x="685800" y="1417320"/>
            <a:ext cx="3657600" cy="4434840"/>
          </a:xfrm>
          <a:prstGeom prst="roundRect">
            <a:avLst>
              <a:gd name="adj" fmla="val 1500"/>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27048"/>
            <a:ext cx="33284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Step 1. Original group scales</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32688" y="2011680"/>
                <a:ext cx="3200400" cy="5029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d>
                        <m:dPr>
                          <m:begChr m:val="["/>
                          <m:endChr m:val="]"/>
                          <m:ctrlPr>
                            <a:rPr lang="ko-KR" altLang="en-US" sz="1180" i="1" smtClean="0">
                              <a:latin typeface="Cambria Math" panose="02040503050406030204" pitchFamily="18" charset="0"/>
                            </a:rPr>
                          </m:ctrlPr>
                        </m:dPr>
                        <m:e>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1</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2</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3</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4</m:t>
                              </m:r>
                            </m:sub>
                          </m:sSub>
                        </m:e>
                      </m:d>
                      <m:r>
                        <a:rPr lang="ko-KR" altLang="en-US" sz="1180" smtClean="0">
                          <a:latin typeface="Cambria Math"/>
                        </a:rPr>
                        <m:t>=</m:t>
                      </m:r>
                      <m:d>
                        <m:dPr>
                          <m:begChr m:val="["/>
                          <m:endChr m:val="]"/>
                          <m:ctrlPr>
                            <a:rPr lang="ko-KR" altLang="en-US" sz="1180" smtClean="0">
                              <a:latin typeface="Cambria Math"/>
                            </a:rPr>
                          </m:ctrlPr>
                        </m:dPr>
                        <m:e>
                          <m:r>
                            <a:rPr lang="ko-KR" altLang="en-US" sz="1180" smtClean="0">
                              <a:latin typeface="Cambria Math"/>
                            </a:rPr>
                            <m:t>0.10,0.21,0.32,0.40</m:t>
                          </m:r>
                        </m:e>
                      </m:d>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32688" y="2011680"/>
                <a:ext cx="3200400" cy="502920"/>
              </a:xfrm>
              <a:prstGeom prst="rect">
                <a:avLst/>
              </a:prstGeom>
              <a:blipFill>
                <a:blip r:embed="rId4"/>
                <a:stretch>
                  <a:fillRect/>
                </a:stretch>
              </a:blipFill>
              <a:ln/>
            </p:spPr>
            <p:txBody>
              <a:bodyPr/>
              <a:lstStyle/>
              <a:p>
                <a:r>
                  <a:rPr lang="ko-KR" altLang="en-US">
                    <a:noFill/>
                  </a:rPr>
                  <a:t> </a:t>
                </a:r>
              </a:p>
            </p:txBody>
          </p:sp>
        </mc:Fallback>
      </mc:AlternateContent>
      <p:sp>
        <p:nvSpPr>
          <p:cNvPr id="12" name="Text 9"/>
          <p:cNvSpPr/>
          <p:nvPr/>
        </p:nvSpPr>
        <p:spPr>
          <a:xfrm>
            <a:off x="1051560" y="2944368"/>
            <a:ext cx="2926080" cy="201168"/>
          </a:xfrm>
          <a:prstGeom prst="rect">
            <a:avLst/>
          </a:prstGeom>
          <a:noFill/>
          <a:ln/>
        </p:spPr>
        <p:txBody>
          <a:bodyPr wrap="square" lIns="0" tIns="0" rIns="0" bIns="0" rtlCol="0" anchor="ctr"/>
          <a:lstStyle/>
          <a:p>
            <a:pPr marL="0" indent="0" algn="ctr">
              <a:buNone/>
            </a:pPr>
            <a:r>
              <a:rPr lang="en-US" sz="1100" b="1" dirty="0">
                <a:solidFill>
                  <a:srgbClr val="00245D"/>
                </a:solidFill>
                <a:latin typeface="Arial" pitchFamily="34" charset="0"/>
                <a:ea typeface="Arial" pitchFamily="34" charset="-122"/>
                <a:cs typeface="Arial" pitchFamily="34" charset="-120"/>
              </a:rPr>
              <a:t>The largest scale is 0.40.</a:t>
            </a:r>
            <a:endParaRPr lang="en-US" sz="1100" dirty="0"/>
          </a:p>
        </p:txBody>
      </p:sp>
      <p:sp>
        <p:nvSpPr>
          <p:cNvPr id="13" name="Shape 10"/>
          <p:cNvSpPr/>
          <p:nvPr/>
        </p:nvSpPr>
        <p:spPr>
          <a:xfrm>
            <a:off x="4526280" y="1417320"/>
            <a:ext cx="3246120" cy="4434840"/>
          </a:xfrm>
          <a:prstGeom prst="roundRect">
            <a:avLst>
              <a:gd name="adj" fmla="val 1690"/>
            </a:avLst>
          </a:prstGeom>
          <a:solidFill>
            <a:srgbClr val="FFFDF2"/>
          </a:solidFill>
          <a:ln w="13335">
            <a:solidFill>
              <a:srgbClr val="D6B656"/>
            </a:solidFill>
            <a:prstDash val="solid"/>
          </a:ln>
        </p:spPr>
        <p:txBody>
          <a:bodyPr/>
          <a:lstStyle/>
          <a:p>
            <a:endParaRPr lang="ko-KR" altLang="en-US"/>
          </a:p>
        </p:txBody>
      </p:sp>
      <p:sp>
        <p:nvSpPr>
          <p:cNvPr id="14" name="Text 11"/>
          <p:cNvSpPr/>
          <p:nvPr/>
        </p:nvSpPr>
        <p:spPr>
          <a:xfrm>
            <a:off x="4690872" y="1527048"/>
            <a:ext cx="29169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Step 2. Build ΔSF</a:t>
            </a:r>
            <a:endParaRPr lang="en-US" sz="1200" dirty="0"/>
          </a:p>
        </p:txBody>
      </p:sp>
      <mc:AlternateContent xmlns:mc="http://schemas.openxmlformats.org/markup-compatibility/2006" xmlns:a14="http://schemas.microsoft.com/office/drawing/2010/main">
        <mc:Choice Requires="a14">
          <p:sp>
            <p:nvSpPr>
              <p:cNvPr id="15" name="Text 12"/>
              <p:cNvSpPr/>
              <p:nvPr/>
            </p:nvSpPr>
            <p:spPr>
              <a:xfrm>
                <a:off x="4709160" y="2084832"/>
                <a:ext cx="2880360" cy="65836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𝑆𝐹</m:t>
                          </m:r>
                        </m:sub>
                      </m:sSub>
                      <m:r>
                        <a:rPr lang="ko-KR" altLang="en-US" sz="1180" smtClean="0">
                          <a:latin typeface="Cambria Math"/>
                        </a:rPr>
                        <m:t>=</m:t>
                      </m:r>
                      <m:f>
                        <m:fPr>
                          <m:ctrlPr>
                            <a:rPr lang="ko-KR" altLang="en-US" sz="1180" smtClean="0">
                              <a:latin typeface="Cambria Math"/>
                            </a:rPr>
                          </m:ctrlPr>
                        </m:fPr>
                        <m:num>
                          <m:r>
                            <a:rPr lang="ko-KR" altLang="en-US" sz="1180" smtClean="0">
                              <a:latin typeface="Cambria Math"/>
                            </a:rPr>
                            <m:t>0.40</m:t>
                          </m:r>
                        </m:num>
                        <m:den>
                          <m:r>
                            <a:rPr lang="ko-KR" altLang="en-US" sz="1180" smtClean="0">
                              <a:latin typeface="Cambria Math"/>
                            </a:rPr>
                            <m:t>127</m:t>
                          </m:r>
                        </m:den>
                      </m:f>
                      <m:r>
                        <a:rPr lang="ko-KR" altLang="en-US" sz="1180" smtClean="0">
                          <a:latin typeface="Cambria Math"/>
                        </a:rPr>
                        <m:t>≈0.00315</m:t>
                      </m:r>
                    </m:oMath>
                  </m:oMathPara>
                </a14:m>
                <a:endParaRPr/>
              </a:p>
            </p:txBody>
          </p:sp>
        </mc:Choice>
        <mc:Fallback xmlns="">
          <p:sp>
            <p:nvSpPr>
              <p:cNvPr id="15" name="Text 12"/>
              <p:cNvSpPr>
                <a:spLocks noRot="1" noChangeAspect="1" noMove="1" noResize="1" noEditPoints="1" noAdjustHandles="1" noChangeArrowheads="1" noChangeShapeType="1" noTextEdit="1"/>
              </p:cNvSpPr>
              <p:nvPr/>
            </p:nvSpPr>
            <p:spPr>
              <a:xfrm>
                <a:off x="4709160" y="2084832"/>
                <a:ext cx="2880360" cy="658368"/>
              </a:xfrm>
              <a:prstGeom prst="rect">
                <a:avLst/>
              </a:prstGeom>
              <a:blipFill>
                <a:blip r:embed="rId5"/>
                <a:stretch>
                  <a:fillRect/>
                </a:stretch>
              </a:blipFill>
              <a:ln/>
            </p:spPr>
            <p:txBody>
              <a:bodyPr/>
              <a:lstStyle/>
              <a:p>
                <a:r>
                  <a:rPr lang="ko-KR" altLang="en-US">
                    <a:noFill/>
                  </a:rPr>
                  <a:t> </a:t>
                </a:r>
              </a:p>
            </p:txBody>
          </p:sp>
        </mc:Fallback>
      </mc:AlternateContent>
      <p:sp>
        <p:nvSpPr>
          <p:cNvPr id="16" name="Text 13"/>
          <p:cNvSpPr/>
          <p:nvPr/>
        </p:nvSpPr>
        <p:spPr>
          <a:xfrm>
            <a:off x="4846320" y="3182112"/>
            <a:ext cx="2606040" cy="493776"/>
          </a:xfrm>
          <a:prstGeom prst="rect">
            <a:avLst/>
          </a:prstGeom>
          <a:noFill/>
          <a:ln/>
        </p:spPr>
        <p:txBody>
          <a:bodyPr wrap="square" lIns="254" tIns="254" rIns="254" bIns="254" rtlCol="0" anchor="ctr">
            <a:normAutofit/>
          </a:bodyPr>
          <a:lstStyle/>
          <a:p>
            <a:pPr marL="0" indent="0" algn="ctr">
              <a:buNone/>
            </a:pPr>
            <a:r>
              <a:rPr lang="en-US" sz="1020" dirty="0">
                <a:solidFill>
                  <a:srgbClr val="222222"/>
                </a:solidFill>
                <a:latin typeface="Arial" pitchFamily="34" charset="0"/>
                <a:ea typeface="Arial" pitchFamily="34" charset="-122"/>
                <a:cs typeface="Arial" pitchFamily="34" charset="-120"/>
              </a:rPr>
              <a:t>127 is the positive maximum of signed INT8 symmetric quantization.</a:t>
            </a:r>
            <a:endParaRPr lang="en-US" sz="1020" dirty="0"/>
          </a:p>
        </p:txBody>
      </p:sp>
      <p:sp>
        <p:nvSpPr>
          <p:cNvPr id="17" name="Shape 14"/>
          <p:cNvSpPr/>
          <p:nvPr/>
        </p:nvSpPr>
        <p:spPr>
          <a:xfrm>
            <a:off x="7955280" y="1417320"/>
            <a:ext cx="3520440" cy="4434840"/>
          </a:xfrm>
          <a:prstGeom prst="roundRect">
            <a:avLst>
              <a:gd name="adj" fmla="val 1558"/>
            </a:avLst>
          </a:prstGeom>
          <a:solidFill>
            <a:srgbClr val="F3F8FF"/>
          </a:solidFill>
          <a:ln w="13335">
            <a:solidFill>
              <a:srgbClr val="9EADCC"/>
            </a:solidFill>
            <a:prstDash val="solid"/>
          </a:ln>
        </p:spPr>
        <p:txBody>
          <a:bodyPr/>
          <a:lstStyle/>
          <a:p>
            <a:endParaRPr lang="ko-KR" altLang="en-US"/>
          </a:p>
        </p:txBody>
      </p:sp>
      <p:sp>
        <p:nvSpPr>
          <p:cNvPr id="18" name="Text 15"/>
          <p:cNvSpPr/>
          <p:nvPr/>
        </p:nvSpPr>
        <p:spPr>
          <a:xfrm>
            <a:off x="8119872" y="1527048"/>
            <a:ext cx="31912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Step 3. Convert to INT8</a:t>
            </a:r>
            <a:endParaRPr lang="en-US" sz="1200" dirty="0"/>
          </a:p>
        </p:txBody>
      </p:sp>
      <mc:AlternateContent xmlns:mc="http://schemas.openxmlformats.org/markup-compatibility/2006" xmlns:a14="http://schemas.microsoft.com/office/drawing/2010/main">
        <mc:Choice Requires="a14">
          <p:sp>
            <p:nvSpPr>
              <p:cNvPr id="19" name="Text 16"/>
              <p:cNvSpPr/>
              <p:nvPr/>
            </p:nvSpPr>
            <p:spPr>
              <a:xfrm>
                <a:off x="8183880" y="1874520"/>
                <a:ext cx="3063240" cy="56692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,1</m:t>
                          </m:r>
                        </m:sub>
                      </m:sSub>
                      <m:r>
                        <a:rPr lang="ko-KR" altLang="en-US" sz="1180" smtClean="0">
                          <a:latin typeface="Cambria Math"/>
                        </a:rPr>
                        <m:t>=</m:t>
                      </m:r>
                      <m:r>
                        <m:rPr>
                          <m:sty m:val="p"/>
                        </m:rPr>
                        <a:rPr lang="ko-KR" altLang="en-US" sz="1180" smtClean="0">
                          <a:latin typeface="Cambria Math"/>
                        </a:rPr>
                        <m:t>Round</m:t>
                      </m:r>
                      <m:d>
                        <m:dPr>
                          <m:ctrlPr>
                            <a:rPr lang="ko-KR" altLang="en-US" sz="1180" i="1" smtClean="0">
                              <a:latin typeface="Cambria Math" panose="02040503050406030204" pitchFamily="18" charset="0"/>
                            </a:rPr>
                          </m:ctrlPr>
                        </m:dPr>
                        <m:e>
                          <m:f>
                            <m:fPr>
                              <m:ctrlPr>
                                <a:rPr lang="ko-KR" altLang="en-US" sz="1180" smtClean="0">
                                  <a:latin typeface="Cambria Math"/>
                                </a:rPr>
                              </m:ctrlPr>
                            </m:fPr>
                            <m:num>
                              <m:r>
                                <a:rPr lang="ko-KR" altLang="en-US" sz="1180" smtClean="0">
                                  <a:latin typeface="Cambria Math"/>
                                </a:rPr>
                                <m:t>0.10</m:t>
                              </m:r>
                            </m:num>
                            <m:den>
                              <m:r>
                                <a:rPr lang="ko-KR" altLang="en-US" sz="1180" smtClean="0">
                                  <a:latin typeface="Cambria Math"/>
                                </a:rPr>
                                <m:t>0.00315</m:t>
                              </m:r>
                            </m:den>
                          </m:f>
                        </m:e>
                      </m:d>
                      <m:r>
                        <a:rPr lang="ko-KR" altLang="en-US" sz="1180" smtClean="0">
                          <a:latin typeface="Cambria Math"/>
                        </a:rPr>
                        <m:t>≈32</m:t>
                      </m:r>
                    </m:oMath>
                  </m:oMathPara>
                </a14:m>
                <a:endParaRPr/>
              </a:p>
            </p:txBody>
          </p:sp>
        </mc:Choice>
        <mc:Fallback xmlns="">
          <p:sp>
            <p:nvSpPr>
              <p:cNvPr id="19" name="Text 16"/>
              <p:cNvSpPr>
                <a:spLocks noRot="1" noChangeAspect="1" noMove="1" noResize="1" noEditPoints="1" noAdjustHandles="1" noChangeArrowheads="1" noChangeShapeType="1" noTextEdit="1"/>
              </p:cNvSpPr>
              <p:nvPr/>
            </p:nvSpPr>
            <p:spPr>
              <a:xfrm>
                <a:off x="8183880" y="1874520"/>
                <a:ext cx="3063240" cy="566928"/>
              </a:xfrm>
              <a:prstGeom prst="rect">
                <a:avLst/>
              </a:prstGeom>
              <a:blipFill>
                <a:blip r:embed="rId6"/>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Text 17"/>
              <p:cNvSpPr/>
              <p:nvPr/>
            </p:nvSpPr>
            <p:spPr>
              <a:xfrm>
                <a:off x="8183880" y="2788920"/>
                <a:ext cx="3063240" cy="512064"/>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d>
                        <m:dPr>
                          <m:begChr m:val="["/>
                          <m:endChr m:val="]"/>
                          <m:ctrlPr>
                            <a:rPr lang="ko-KR" altLang="en-US" sz="1180" smtClean="0">
                              <a:latin typeface="Cambria Math"/>
                            </a:rPr>
                          </m:ctrlPr>
                        </m:dPr>
                        <m:e>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,1</m:t>
                              </m:r>
                            </m:sub>
                          </m:sSub>
                          <m:r>
                            <a:rPr lang="ko-KR" altLang="en-US" sz="1180" smtClean="0">
                              <a:latin typeface="Cambria Math"/>
                            </a:rPr>
                            <m:t>,</m:t>
                          </m:r>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,2</m:t>
                              </m:r>
                            </m:sub>
                          </m:sSub>
                          <m:r>
                            <a:rPr lang="ko-KR" altLang="en-US" sz="1180" smtClean="0">
                              <a:latin typeface="Cambria Math"/>
                            </a:rPr>
                            <m:t>,</m:t>
                          </m:r>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,3</m:t>
                              </m:r>
                            </m:sub>
                          </m:sSub>
                          <m:r>
                            <a:rPr lang="ko-KR" altLang="en-US" sz="1180" smtClean="0">
                              <a:latin typeface="Cambria Math"/>
                            </a:rPr>
                            <m:t>,</m:t>
                          </m:r>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,4</m:t>
                              </m:r>
                            </m:sub>
                          </m:sSub>
                        </m:e>
                      </m:d>
                      <m:r>
                        <a:rPr lang="ko-KR" altLang="en-US" sz="1180" smtClean="0">
                          <a:latin typeface="Cambria Math"/>
                        </a:rPr>
                        <m:t>=</m:t>
                      </m:r>
                      <m:d>
                        <m:dPr>
                          <m:begChr m:val="["/>
                          <m:endChr m:val="]"/>
                          <m:ctrlPr>
                            <a:rPr lang="ko-KR" altLang="en-US" sz="1180" smtClean="0">
                              <a:latin typeface="Cambria Math"/>
                            </a:rPr>
                          </m:ctrlPr>
                        </m:dPr>
                        <m:e>
                          <m:r>
                            <a:rPr lang="ko-KR" altLang="en-US" sz="1180" smtClean="0">
                              <a:latin typeface="Cambria Math"/>
                            </a:rPr>
                            <m:t>32,67,102,127</m:t>
                          </m:r>
                        </m:e>
                      </m:d>
                    </m:oMath>
                  </m:oMathPara>
                </a14:m>
                <a:endParaRPr/>
              </a:p>
            </p:txBody>
          </p:sp>
        </mc:Choice>
        <mc:Fallback xmlns="">
          <p:sp>
            <p:nvSpPr>
              <p:cNvPr id="20" name="Text 17"/>
              <p:cNvSpPr>
                <a:spLocks noRot="1" noChangeAspect="1" noMove="1" noResize="1" noEditPoints="1" noAdjustHandles="1" noChangeArrowheads="1" noChangeShapeType="1" noTextEdit="1"/>
              </p:cNvSpPr>
              <p:nvPr/>
            </p:nvSpPr>
            <p:spPr>
              <a:xfrm>
                <a:off x="8183880" y="2788920"/>
                <a:ext cx="3063240" cy="512064"/>
              </a:xfrm>
              <a:prstGeom prst="rect">
                <a:avLst/>
              </a:prstGeom>
              <a:blipFill>
                <a:blip r:embed="rId7"/>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Text 18"/>
              <p:cNvSpPr/>
              <p:nvPr/>
            </p:nvSpPr>
            <p:spPr>
              <a:xfrm>
                <a:off x="8183880" y="3703320"/>
                <a:ext cx="3063240" cy="47548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𝑔</m:t>
                          </m:r>
                        </m:sub>
                      </m:sSub>
                      <m:r>
                        <a:rPr lang="ko-KR" altLang="en-US" sz="1180" smtClean="0">
                          <a:latin typeface="Cambria Math"/>
                        </a:rPr>
                        <m:t>≈</m:t>
                      </m:r>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m:t>
                          </m:r>
                          <m:r>
                            <a:rPr lang="ko-KR" altLang="en-US" sz="1180" smtClean="0">
                              <a:latin typeface="Cambria Math"/>
                            </a:rPr>
                            <m:t>𝑔</m:t>
                          </m:r>
                        </m:sub>
                      </m:sSub>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𝑆𝐹</m:t>
                          </m:r>
                        </m:sub>
                      </m:sSub>
                    </m:oMath>
                  </m:oMathPara>
                </a14:m>
                <a:endParaRPr/>
              </a:p>
            </p:txBody>
          </p:sp>
        </mc:Choice>
        <mc:Fallback xmlns="">
          <p:sp>
            <p:nvSpPr>
              <p:cNvPr id="21" name="Text 18"/>
              <p:cNvSpPr>
                <a:spLocks noRot="1" noChangeAspect="1" noMove="1" noResize="1" noEditPoints="1" noAdjustHandles="1" noChangeArrowheads="1" noChangeShapeType="1" noTextEdit="1"/>
              </p:cNvSpPr>
              <p:nvPr/>
            </p:nvSpPr>
            <p:spPr>
              <a:xfrm>
                <a:off x="8183880" y="3703320"/>
                <a:ext cx="3063240" cy="475488"/>
              </a:xfrm>
              <a:prstGeom prst="rect">
                <a:avLst/>
              </a:prstGeom>
              <a:blipFill>
                <a:blip r:embed="rId8"/>
                <a:stretch>
                  <a:fillRect/>
                </a:stretch>
              </a:blipFill>
              <a:ln/>
            </p:spPr>
            <p:txBody>
              <a:bodyPr/>
              <a:lstStyle/>
              <a:p>
                <a:r>
                  <a:rPr lang="ko-KR" altLang="en-US">
                    <a:noFill/>
                  </a:rPr>
                  <a:t> </a:t>
                </a:r>
              </a:p>
            </p:txBody>
          </p:sp>
        </mc:Fallback>
      </mc:AlternateContent>
      <p:sp>
        <p:nvSpPr>
          <p:cNvPr id="22" name="Text 19"/>
          <p:cNvSpPr/>
          <p:nvPr/>
        </p:nvSpPr>
        <p:spPr>
          <a:xfrm>
            <a:off x="8275320" y="4681728"/>
            <a:ext cx="2880360" cy="201168"/>
          </a:xfrm>
          <a:prstGeom prst="rect">
            <a:avLst/>
          </a:prstGeom>
          <a:noFill/>
          <a:ln/>
        </p:spPr>
        <p:txBody>
          <a:bodyPr wrap="square" lIns="0" tIns="0" rIns="0" bIns="0" rtlCol="0" anchor="ctr">
            <a:normAutofit/>
          </a:bodyPr>
          <a:lstStyle/>
          <a:p>
            <a:pPr marL="0" indent="0" algn="ctr">
              <a:buNone/>
            </a:pPr>
            <a:r>
              <a:rPr lang="en-US" sz="940" b="1" dirty="0">
                <a:solidFill>
                  <a:srgbClr val="548235"/>
                </a:solidFill>
                <a:latin typeface="Arial" pitchFamily="34" charset="0"/>
                <a:ea typeface="Arial" pitchFamily="34" charset="-122"/>
                <a:cs typeface="Arial" pitchFamily="34" charset="-120"/>
              </a:rPr>
              <a:t>Example: 32 × 0.00315 ≈ 0.1008 ≈ 0.10</a:t>
            </a:r>
            <a:endParaRPr lang="en-US" sz="94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Rewriting dequantization for hardware</a:t>
            </a:r>
            <a:endParaRPr lang="en-US" sz="2000" dirty="0"/>
          </a:p>
        </p:txBody>
      </p:sp>
      <p:sp>
        <p:nvSpPr>
          <p:cNvPr id="3" name="Text 1"/>
          <p:cNvSpPr/>
          <p:nvPr/>
        </p:nvSpPr>
        <p:spPr>
          <a:xfrm>
            <a:off x="11475720" y="384048"/>
            <a:ext cx="411480" cy="228600"/>
          </a:xfrm>
          <a:prstGeom prst="rect">
            <a:avLst/>
          </a:prstGeom>
          <a:noFill/>
          <a:ln/>
        </p:spPr>
        <p:txBody>
          <a:bodyPr wrap="square" lIns="0" tIns="0" rIns="0" bIns="0" rtlCol="0" anchor="ctr"/>
          <a:lstStyle/>
          <a:p>
            <a:pPr marL="0" indent="0" algn="r">
              <a:buNone/>
            </a:pPr>
            <a:endParaRPr lang="en-US" sz="1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49</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Once Δg is approximated as SFq,g × ΔSF, the common factor can be moved outside the group summation.</a:t>
            </a:r>
            <a:endParaRPr lang="en-US" sz="1300" dirty="0"/>
          </a:p>
        </p:txBody>
      </p:sp>
      <p:sp>
        <p:nvSpPr>
          <p:cNvPr id="9" name="Shape 6"/>
          <p:cNvSpPr/>
          <p:nvPr/>
        </p:nvSpPr>
        <p:spPr>
          <a:xfrm>
            <a:off x="685800" y="1417320"/>
            <a:ext cx="5303520" cy="4526280"/>
          </a:xfrm>
          <a:prstGeom prst="roundRect">
            <a:avLst>
              <a:gd name="adj" fmla="val 1212"/>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27048"/>
            <a:ext cx="49743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Mathematical transformation</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1005840" y="1847088"/>
                <a:ext cx="466344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180" smtClean="0">
                          <a:latin typeface="Cambria Math"/>
                        </a:rPr>
                        <m:t>𝑌</m:t>
                      </m:r>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1</m:t>
                          </m:r>
                        </m:sub>
                      </m:sSub>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1</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2</m:t>
                          </m:r>
                        </m:sub>
                      </m:sSub>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2</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3</m:t>
                          </m:r>
                        </m:sub>
                      </m:sSub>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3</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4</m:t>
                          </m:r>
                        </m:sub>
                      </m:sSub>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4</m:t>
                          </m:r>
                        </m:sub>
                      </m:sSub>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1005840" y="1847088"/>
                <a:ext cx="4663440" cy="457200"/>
              </a:xfrm>
              <a:prstGeom prst="rect">
                <a:avLst/>
              </a:prstGeom>
              <a:blipFill>
                <a:blip r:embed="rId4"/>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 9"/>
              <p:cNvSpPr/>
              <p:nvPr/>
            </p:nvSpPr>
            <p:spPr>
              <a:xfrm>
                <a:off x="1005840" y="2651760"/>
                <a:ext cx="4663440" cy="38404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𝑔</m:t>
                          </m:r>
                        </m:sub>
                      </m:sSub>
                      <m:r>
                        <a:rPr lang="ko-KR" altLang="en-US" sz="1180" smtClean="0">
                          <a:latin typeface="Cambria Math"/>
                        </a:rPr>
                        <m:t>≈</m:t>
                      </m:r>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m:t>
                          </m:r>
                          <m:r>
                            <a:rPr lang="ko-KR" altLang="en-US" sz="1180" smtClean="0">
                              <a:latin typeface="Cambria Math"/>
                            </a:rPr>
                            <m:t>𝑔</m:t>
                          </m:r>
                        </m:sub>
                      </m:sSub>
                      <m:sSub>
                        <m:sSubPr>
                          <m:ctrlPr>
                            <a:rPr lang="ko-KR" altLang="en-US" sz="1180" smtClean="0">
                              <a:latin typeface="Cambria Math"/>
                            </a:rPr>
                          </m:ctrlPr>
                        </m:sSubPr>
                        <m:e>
                          <m:r>
                            <a:rPr lang="ko-KR" altLang="en-US" sz="1180" smtClean="0">
                              <a:latin typeface="Cambria Math"/>
                            </a:rPr>
                            <m:t>𝛥</m:t>
                          </m:r>
                        </m:e>
                        <m:sub>
                          <m:r>
                            <a:rPr lang="ko-KR" altLang="en-US" sz="1180" smtClean="0">
                              <a:latin typeface="Cambria Math"/>
                            </a:rPr>
                            <m:t>𝑆𝐹</m:t>
                          </m:r>
                        </m:sub>
                      </m:sSub>
                    </m:oMath>
                  </m:oMathPara>
                </a14:m>
                <a:endParaRPr/>
              </a:p>
            </p:txBody>
          </p:sp>
        </mc:Choice>
        <mc:Fallback xmlns="">
          <p:sp>
            <p:nvSpPr>
              <p:cNvPr id="12" name="Text 9"/>
              <p:cNvSpPr>
                <a:spLocks noRot="1" noChangeAspect="1" noMove="1" noResize="1" noEditPoints="1" noAdjustHandles="1" noChangeArrowheads="1" noChangeShapeType="1" noTextEdit="1"/>
              </p:cNvSpPr>
              <p:nvPr/>
            </p:nvSpPr>
            <p:spPr>
              <a:xfrm>
                <a:off x="1005840" y="2651760"/>
                <a:ext cx="4663440" cy="384048"/>
              </a:xfrm>
              <a:prstGeom prst="rect">
                <a:avLst/>
              </a:prstGeom>
              <a:blipFill>
                <a:blip r:embed="rId5"/>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 10"/>
              <p:cNvSpPr/>
              <p:nvPr/>
            </p:nvSpPr>
            <p:spPr>
              <a:xfrm>
                <a:off x="1005840" y="3401568"/>
                <a:ext cx="4663440" cy="64008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180" smtClean="0">
                          <a:latin typeface="Cambria Math"/>
                        </a:rPr>
                        <m:t>𝑌</m:t>
                      </m:r>
                      <m:r>
                        <a:rPr lang="ko-KR" altLang="en-US" sz="1180" smtClean="0">
                          <a:latin typeface="Cambria Math"/>
                        </a:rPr>
                        <m:t>≈</m:t>
                      </m:r>
                      <m:sSub>
                        <m:sSubPr>
                          <m:ctrlPr>
                            <a:rPr lang="ko-KR" altLang="en-US" sz="1180" smtClean="0">
                              <a:solidFill>
                                <a:srgbClr val="FF0000"/>
                              </a:solidFill>
                              <a:latin typeface="Cambria Math"/>
                            </a:rPr>
                          </m:ctrlPr>
                        </m:sSubPr>
                        <m:e>
                          <m:r>
                            <a:rPr lang="ko-KR" altLang="en-US" sz="1180" smtClean="0">
                              <a:solidFill>
                                <a:srgbClr val="FF0000"/>
                              </a:solidFill>
                              <a:latin typeface="Cambria Math"/>
                            </a:rPr>
                            <m:t>𝛥</m:t>
                          </m:r>
                        </m:e>
                        <m:sub>
                          <m:r>
                            <a:rPr lang="ko-KR" altLang="en-US" sz="1180" smtClean="0">
                              <a:solidFill>
                                <a:srgbClr val="FF0000"/>
                              </a:solidFill>
                              <a:latin typeface="Cambria Math"/>
                            </a:rPr>
                            <m:t>𝑆𝐹</m:t>
                          </m:r>
                        </m:sub>
                      </m:sSub>
                      <m:d>
                        <m:dPr>
                          <m:ctrlPr>
                            <a:rPr lang="ko-KR" altLang="en-US" sz="1180" i="1" smtClean="0">
                              <a:latin typeface="Cambria Math" panose="02040503050406030204" pitchFamily="18" charset="0"/>
                            </a:rPr>
                          </m:ctrlPr>
                        </m:dPr>
                        <m:e>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1</m:t>
                              </m:r>
                            </m:sub>
                          </m:sSub>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,1</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2</m:t>
                              </m:r>
                            </m:sub>
                          </m:sSub>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,2</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3</m:t>
                              </m:r>
                            </m:sub>
                          </m:sSub>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,3</m:t>
                              </m:r>
                            </m:sub>
                          </m:sSub>
                          <m:r>
                            <a:rPr lang="ko-KR" altLang="en-US" sz="1180" smtClean="0">
                              <a:latin typeface="Cambria Math"/>
                            </a:rPr>
                            <m:t>+</m:t>
                          </m:r>
                          <m:sSub>
                            <m:sSubPr>
                              <m:ctrlPr>
                                <a:rPr lang="ko-KR" altLang="en-US" sz="1180" smtClean="0">
                                  <a:latin typeface="Cambria Math"/>
                                </a:rPr>
                              </m:ctrlPr>
                            </m:sSubPr>
                            <m:e>
                              <m:r>
                                <a:rPr lang="ko-KR" altLang="en-US" sz="1180" smtClean="0">
                                  <a:latin typeface="Cambria Math"/>
                                </a:rPr>
                                <m:t>𝑃</m:t>
                              </m:r>
                            </m:e>
                            <m:sub>
                              <m:r>
                                <a:rPr lang="ko-KR" altLang="en-US" sz="1180" smtClean="0">
                                  <a:latin typeface="Cambria Math"/>
                                </a:rPr>
                                <m:t>4</m:t>
                              </m:r>
                            </m:sub>
                          </m:sSub>
                          <m:r>
                            <a:rPr lang="ko-KR" altLang="en-US" sz="1180" smtClean="0">
                              <a:latin typeface="Cambria Math"/>
                            </a:rPr>
                            <m:t>𝑆</m:t>
                          </m:r>
                          <m:sSub>
                            <m:sSubPr>
                              <m:ctrlPr>
                                <a:rPr lang="ko-KR" altLang="en-US" sz="1180" smtClean="0">
                                  <a:latin typeface="Cambria Math"/>
                                </a:rPr>
                              </m:ctrlPr>
                            </m:sSubPr>
                            <m:e>
                              <m:r>
                                <a:rPr lang="ko-KR" altLang="en-US" sz="1180" smtClean="0">
                                  <a:latin typeface="Cambria Math"/>
                                </a:rPr>
                                <m:t>𝐹</m:t>
                              </m:r>
                            </m:e>
                            <m:sub>
                              <m:r>
                                <a:rPr lang="ko-KR" altLang="en-US" sz="1180" smtClean="0">
                                  <a:latin typeface="Cambria Math"/>
                                </a:rPr>
                                <m:t>𝑞</m:t>
                              </m:r>
                              <m:r>
                                <a:rPr lang="ko-KR" altLang="en-US" sz="1180" smtClean="0">
                                  <a:latin typeface="Cambria Math"/>
                                </a:rPr>
                                <m:t>,4</m:t>
                              </m:r>
                            </m:sub>
                          </m:sSub>
                        </m:e>
                      </m:d>
                    </m:oMath>
                  </m:oMathPara>
                </a14:m>
                <a:endParaRPr dirty="0"/>
              </a:p>
            </p:txBody>
          </p:sp>
        </mc:Choice>
        <mc:Fallback xmlns="">
          <p:sp>
            <p:nvSpPr>
              <p:cNvPr id="13" name="Text 10"/>
              <p:cNvSpPr>
                <a:spLocks noRot="1" noChangeAspect="1" noMove="1" noResize="1" noEditPoints="1" noAdjustHandles="1" noChangeArrowheads="1" noChangeShapeType="1" noTextEdit="1"/>
              </p:cNvSpPr>
              <p:nvPr/>
            </p:nvSpPr>
            <p:spPr>
              <a:xfrm>
                <a:off x="1005840" y="3401568"/>
                <a:ext cx="4663440" cy="640080"/>
              </a:xfrm>
              <a:prstGeom prst="rect">
                <a:avLst/>
              </a:prstGeom>
              <a:blipFill>
                <a:blip r:embed="rId6"/>
                <a:stretch>
                  <a:fillRect/>
                </a:stretch>
              </a:blipFill>
              <a:ln/>
            </p:spPr>
            <p:txBody>
              <a:bodyPr/>
              <a:lstStyle/>
              <a:p>
                <a:r>
                  <a:rPr lang="ko-KR" altLang="en-US">
                    <a:noFill/>
                  </a:rPr>
                  <a:t> </a:t>
                </a:r>
              </a:p>
            </p:txBody>
          </p:sp>
        </mc:Fallback>
      </mc:AlternateContent>
      <p:sp>
        <p:nvSpPr>
          <p:cNvPr id="14" name="Shape 11"/>
          <p:cNvSpPr/>
          <p:nvPr/>
        </p:nvSpPr>
        <p:spPr>
          <a:xfrm>
            <a:off x="1143000" y="4663440"/>
            <a:ext cx="4572000" cy="512064"/>
          </a:xfrm>
          <a:prstGeom prst="roundRect">
            <a:avLst>
              <a:gd name="adj" fmla="val 10714"/>
            </a:avLst>
          </a:prstGeom>
          <a:solidFill>
            <a:srgbClr val="FFFFFF"/>
          </a:solidFill>
          <a:ln w="12700">
            <a:solidFill>
              <a:srgbClr val="9EADCC"/>
            </a:solidFill>
            <a:prstDash val="solid"/>
          </a:ln>
        </p:spPr>
        <p:txBody>
          <a:bodyPr/>
          <a:lstStyle/>
          <a:p>
            <a:endParaRPr lang="ko-KR" altLang="en-US"/>
          </a:p>
        </p:txBody>
      </p:sp>
      <p:sp>
        <p:nvSpPr>
          <p:cNvPr id="15" name="Text 12"/>
          <p:cNvSpPr/>
          <p:nvPr/>
        </p:nvSpPr>
        <p:spPr>
          <a:xfrm>
            <a:off x="1371600" y="4818888"/>
            <a:ext cx="4114800" cy="146304"/>
          </a:xfrm>
          <a:prstGeom prst="rect">
            <a:avLst/>
          </a:prstGeom>
          <a:noFill/>
          <a:ln/>
        </p:spPr>
        <p:txBody>
          <a:bodyPr wrap="square" lIns="0" tIns="0" rIns="0" bIns="0" rtlCol="0" anchor="ctr">
            <a:normAutofit lnSpcReduction="10000"/>
          </a:bodyPr>
          <a:lstStyle/>
          <a:p>
            <a:pPr marL="0" indent="0" algn="ctr">
              <a:buNone/>
            </a:pPr>
            <a:r>
              <a:rPr lang="en-US" sz="1020" b="1" dirty="0">
                <a:solidFill>
                  <a:srgbClr val="00245D"/>
                </a:solidFill>
                <a:latin typeface="Arial" pitchFamily="34" charset="0"/>
                <a:ea typeface="Arial" pitchFamily="34" charset="-122"/>
                <a:cs typeface="Arial" pitchFamily="34" charset="-120"/>
              </a:rPr>
              <a:t>Group-specific multiplication now uses INT8 SFq,g, not FP16 Δg.</a:t>
            </a:r>
            <a:endParaRPr lang="en-US" sz="1020" dirty="0"/>
          </a:p>
        </p:txBody>
      </p:sp>
      <p:sp>
        <p:nvSpPr>
          <p:cNvPr id="16" name="Shape 13"/>
          <p:cNvSpPr/>
          <p:nvPr/>
        </p:nvSpPr>
        <p:spPr>
          <a:xfrm>
            <a:off x="6446520" y="1417320"/>
            <a:ext cx="4983480" cy="4526280"/>
          </a:xfrm>
          <a:prstGeom prst="roundRect">
            <a:avLst>
              <a:gd name="adj" fmla="val 1212"/>
            </a:avLst>
          </a:prstGeom>
          <a:solidFill>
            <a:srgbClr val="FFFDF2"/>
          </a:solidFill>
          <a:ln w="13335">
            <a:solidFill>
              <a:srgbClr val="D6B656"/>
            </a:solidFill>
            <a:prstDash val="solid"/>
          </a:ln>
        </p:spPr>
        <p:txBody>
          <a:bodyPr/>
          <a:lstStyle/>
          <a:p>
            <a:endParaRPr lang="ko-KR" altLang="en-US"/>
          </a:p>
        </p:txBody>
      </p:sp>
      <p:sp>
        <p:nvSpPr>
          <p:cNvPr id="17" name="Text 14"/>
          <p:cNvSpPr/>
          <p:nvPr/>
        </p:nvSpPr>
        <p:spPr>
          <a:xfrm>
            <a:off x="6611112" y="1527048"/>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Hardware view</a:t>
            </a:r>
            <a:endParaRPr lang="en-US" sz="1200" dirty="0"/>
          </a:p>
        </p:txBody>
      </p:sp>
      <p:sp>
        <p:nvSpPr>
          <p:cNvPr id="18" name="Shape 15"/>
          <p:cNvSpPr/>
          <p:nvPr/>
        </p:nvSpPr>
        <p:spPr>
          <a:xfrm>
            <a:off x="6765356" y="2098548"/>
            <a:ext cx="1325880" cy="594360"/>
          </a:xfrm>
          <a:prstGeom prst="roundRect">
            <a:avLst>
              <a:gd name="adj" fmla="val 7692"/>
            </a:avLst>
          </a:prstGeom>
          <a:solidFill>
            <a:srgbClr val="FFFFFF"/>
          </a:solidFill>
          <a:ln w="12700">
            <a:solidFill>
              <a:srgbClr val="D6B656"/>
            </a:solidFill>
            <a:prstDash val="solid"/>
          </a:ln>
        </p:spPr>
        <p:txBody>
          <a:bodyPr/>
          <a:lstStyle/>
          <a:p>
            <a:endParaRPr lang="ko-KR" altLang="en-US"/>
          </a:p>
        </p:txBody>
      </p:sp>
      <p:sp>
        <p:nvSpPr>
          <p:cNvPr id="19" name="Text 16"/>
          <p:cNvSpPr/>
          <p:nvPr/>
        </p:nvSpPr>
        <p:spPr>
          <a:xfrm>
            <a:off x="6838508" y="2171700"/>
            <a:ext cx="117957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P1</a:t>
            </a:r>
            <a:endParaRPr lang="en-US" sz="1050" dirty="0"/>
          </a:p>
        </p:txBody>
      </p:sp>
      <p:sp>
        <p:nvSpPr>
          <p:cNvPr id="20" name="Text 17"/>
          <p:cNvSpPr/>
          <p:nvPr/>
        </p:nvSpPr>
        <p:spPr>
          <a:xfrm>
            <a:off x="6838508" y="2455164"/>
            <a:ext cx="1179576" cy="182880"/>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FP partial</a:t>
            </a:r>
            <a:endParaRPr lang="en-US" sz="900" dirty="0"/>
          </a:p>
        </p:txBody>
      </p:sp>
      <p:sp>
        <p:nvSpPr>
          <p:cNvPr id="21" name="Shape 18"/>
          <p:cNvSpPr/>
          <p:nvPr/>
        </p:nvSpPr>
        <p:spPr>
          <a:xfrm>
            <a:off x="8319836" y="2098548"/>
            <a:ext cx="1325880" cy="594360"/>
          </a:xfrm>
          <a:prstGeom prst="roundRect">
            <a:avLst>
              <a:gd name="adj" fmla="val 7692"/>
            </a:avLst>
          </a:prstGeom>
          <a:solidFill>
            <a:srgbClr val="E2F0D9"/>
          </a:solidFill>
          <a:ln w="12700">
            <a:solidFill>
              <a:srgbClr val="548235"/>
            </a:solidFill>
            <a:prstDash val="solid"/>
          </a:ln>
        </p:spPr>
        <p:txBody>
          <a:bodyPr/>
          <a:lstStyle/>
          <a:p>
            <a:endParaRPr lang="ko-KR" altLang="en-US"/>
          </a:p>
        </p:txBody>
      </p:sp>
      <p:sp>
        <p:nvSpPr>
          <p:cNvPr id="22" name="Text 19"/>
          <p:cNvSpPr/>
          <p:nvPr/>
        </p:nvSpPr>
        <p:spPr>
          <a:xfrm>
            <a:off x="8392988" y="2171700"/>
            <a:ext cx="117957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SF1</a:t>
            </a:r>
            <a:endParaRPr lang="en-US" sz="1050" dirty="0"/>
          </a:p>
        </p:txBody>
      </p:sp>
      <p:sp>
        <p:nvSpPr>
          <p:cNvPr id="23" name="Text 20"/>
          <p:cNvSpPr/>
          <p:nvPr/>
        </p:nvSpPr>
        <p:spPr>
          <a:xfrm>
            <a:off x="8392988" y="2455164"/>
            <a:ext cx="1179576" cy="182880"/>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INT8</a:t>
            </a:r>
            <a:endParaRPr lang="en-US" sz="900" dirty="0"/>
          </a:p>
        </p:txBody>
      </p:sp>
      <p:sp>
        <p:nvSpPr>
          <p:cNvPr id="24" name="Shape 21"/>
          <p:cNvSpPr/>
          <p:nvPr/>
        </p:nvSpPr>
        <p:spPr>
          <a:xfrm>
            <a:off x="8091236" y="2391156"/>
            <a:ext cx="228600" cy="0"/>
          </a:xfrm>
          <a:prstGeom prst="line">
            <a:avLst/>
          </a:prstGeom>
          <a:noFill/>
          <a:ln w="12700">
            <a:solidFill>
              <a:srgbClr val="2F75B5"/>
            </a:solidFill>
            <a:prstDash val="solid"/>
            <a:tailEnd type="triangle"/>
          </a:ln>
        </p:spPr>
        <p:txBody>
          <a:bodyPr/>
          <a:lstStyle/>
          <a:p>
            <a:endParaRPr lang="ko-KR" altLang="en-US"/>
          </a:p>
        </p:txBody>
      </p:sp>
      <p:sp>
        <p:nvSpPr>
          <p:cNvPr id="25" name="Shape 22"/>
          <p:cNvSpPr/>
          <p:nvPr/>
        </p:nvSpPr>
        <p:spPr>
          <a:xfrm>
            <a:off x="9874316" y="2098548"/>
            <a:ext cx="960120" cy="594360"/>
          </a:xfrm>
          <a:prstGeom prst="roundRect">
            <a:avLst>
              <a:gd name="adj" fmla="val 7692"/>
            </a:avLst>
          </a:prstGeom>
          <a:solidFill>
            <a:srgbClr val="FFFFFF"/>
          </a:solidFill>
          <a:ln w="12700">
            <a:solidFill>
              <a:srgbClr val="D6B656"/>
            </a:solidFill>
            <a:prstDash val="solid"/>
          </a:ln>
        </p:spPr>
        <p:txBody>
          <a:bodyPr/>
          <a:lstStyle/>
          <a:p>
            <a:endParaRPr lang="ko-KR" altLang="en-US"/>
          </a:p>
        </p:txBody>
      </p:sp>
      <p:sp>
        <p:nvSpPr>
          <p:cNvPr id="26" name="Text 23"/>
          <p:cNvSpPr/>
          <p:nvPr/>
        </p:nvSpPr>
        <p:spPr>
          <a:xfrm>
            <a:off x="9947468" y="2171700"/>
            <a:ext cx="81381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a:t>
            </a:r>
            <a:endParaRPr lang="en-US" sz="1050" dirty="0"/>
          </a:p>
        </p:txBody>
      </p:sp>
      <p:sp>
        <p:nvSpPr>
          <p:cNvPr id="27" name="Text 24"/>
          <p:cNvSpPr/>
          <p:nvPr/>
        </p:nvSpPr>
        <p:spPr>
          <a:xfrm>
            <a:off x="9947468" y="2455164"/>
            <a:ext cx="813816" cy="182880"/>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bit-serial</a:t>
            </a:r>
            <a:endParaRPr lang="en-US" sz="900" dirty="0"/>
          </a:p>
        </p:txBody>
      </p:sp>
      <p:sp>
        <p:nvSpPr>
          <p:cNvPr id="28" name="Shape 25"/>
          <p:cNvSpPr/>
          <p:nvPr/>
        </p:nvSpPr>
        <p:spPr>
          <a:xfrm>
            <a:off x="9645716" y="2391156"/>
            <a:ext cx="228600" cy="0"/>
          </a:xfrm>
          <a:prstGeom prst="line">
            <a:avLst/>
          </a:prstGeom>
          <a:noFill/>
          <a:ln w="12700">
            <a:solidFill>
              <a:srgbClr val="2F75B5"/>
            </a:solidFill>
            <a:prstDash val="solid"/>
            <a:tailEnd type="triangle"/>
          </a:ln>
        </p:spPr>
        <p:txBody>
          <a:bodyPr/>
          <a:lstStyle/>
          <a:p>
            <a:endParaRPr lang="ko-KR" altLang="en-US"/>
          </a:p>
        </p:txBody>
      </p:sp>
      <p:sp>
        <p:nvSpPr>
          <p:cNvPr id="29" name="Text 26"/>
          <p:cNvSpPr/>
          <p:nvPr/>
        </p:nvSpPr>
        <p:spPr>
          <a:xfrm>
            <a:off x="7222556" y="3012948"/>
            <a:ext cx="3611880" cy="201168"/>
          </a:xfrm>
          <a:prstGeom prst="rect">
            <a:avLst/>
          </a:prstGeom>
          <a:noFill/>
          <a:ln/>
        </p:spPr>
        <p:txBody>
          <a:bodyPr wrap="square" lIns="0" tIns="0" rIns="0" bIns="0" rtlCol="0" anchor="ctr"/>
          <a:lstStyle/>
          <a:p>
            <a:pPr marL="0" indent="0" algn="ctr">
              <a:buNone/>
            </a:pPr>
            <a:r>
              <a:rPr lang="en-US" sz="1100" dirty="0">
                <a:solidFill>
                  <a:srgbClr val="222222"/>
                </a:solidFill>
                <a:latin typeface="Arial" pitchFamily="34" charset="0"/>
                <a:ea typeface="Arial" pitchFamily="34" charset="-122"/>
                <a:cs typeface="Arial" pitchFamily="34" charset="-120"/>
              </a:rPr>
              <a:t>repeat for P2, P3, P4 ...</a:t>
            </a:r>
            <a:endParaRPr lang="en-US" sz="1100" dirty="0"/>
          </a:p>
        </p:txBody>
      </p:sp>
      <p:sp>
        <p:nvSpPr>
          <p:cNvPr id="30" name="Shape 27"/>
          <p:cNvSpPr/>
          <p:nvPr/>
        </p:nvSpPr>
        <p:spPr>
          <a:xfrm>
            <a:off x="8982776" y="3303390"/>
            <a:ext cx="0" cy="365760"/>
          </a:xfrm>
          <a:prstGeom prst="line">
            <a:avLst/>
          </a:prstGeom>
          <a:noFill/>
          <a:ln w="15240">
            <a:solidFill>
              <a:srgbClr val="2F75B5"/>
            </a:solidFill>
            <a:prstDash val="solid"/>
            <a:tailEnd type="triangle"/>
          </a:ln>
        </p:spPr>
        <p:txBody>
          <a:bodyPr/>
          <a:lstStyle/>
          <a:p>
            <a:endParaRPr lang="ko-KR" altLang="en-US"/>
          </a:p>
        </p:txBody>
      </p:sp>
      <p:sp>
        <p:nvSpPr>
          <p:cNvPr id="31" name="Shape 28"/>
          <p:cNvSpPr/>
          <p:nvPr/>
        </p:nvSpPr>
        <p:spPr>
          <a:xfrm>
            <a:off x="7702616" y="3669150"/>
            <a:ext cx="2560320" cy="640080"/>
          </a:xfrm>
          <a:prstGeom prst="roundRect">
            <a:avLst>
              <a:gd name="adj" fmla="val 7143"/>
            </a:avLst>
          </a:prstGeom>
          <a:solidFill>
            <a:srgbClr val="EAF2FF"/>
          </a:solidFill>
          <a:ln w="12700">
            <a:solidFill>
              <a:srgbClr val="9EADCC"/>
            </a:solidFill>
            <a:prstDash val="solid"/>
          </a:ln>
        </p:spPr>
        <p:txBody>
          <a:bodyPr/>
          <a:lstStyle/>
          <a:p>
            <a:endParaRPr lang="ko-KR" altLang="en-US"/>
          </a:p>
        </p:txBody>
      </p:sp>
      <p:sp>
        <p:nvSpPr>
          <p:cNvPr id="32" name="Text 29"/>
          <p:cNvSpPr/>
          <p:nvPr/>
        </p:nvSpPr>
        <p:spPr>
          <a:xfrm>
            <a:off x="7775768" y="3742302"/>
            <a:ext cx="2414016" cy="182880"/>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Sum and apply ΔSF </a:t>
            </a:r>
            <a:r>
              <a:rPr lang="en-US" sz="1050" b="1" dirty="0">
                <a:solidFill>
                  <a:srgbClr val="FF0000"/>
                </a:solidFill>
                <a:latin typeface="Arial" pitchFamily="34" charset="0"/>
                <a:ea typeface="Arial" pitchFamily="34" charset="-122"/>
                <a:cs typeface="Arial" pitchFamily="34" charset="-120"/>
              </a:rPr>
              <a:t>once</a:t>
            </a:r>
            <a:endParaRPr lang="en-US" sz="1050" dirty="0">
              <a:solidFill>
                <a:srgbClr val="FF0000"/>
              </a:solidFill>
            </a:endParaRPr>
          </a:p>
        </p:txBody>
      </p:sp>
      <p:sp>
        <p:nvSpPr>
          <p:cNvPr id="33" name="Text 30"/>
          <p:cNvSpPr/>
          <p:nvPr/>
        </p:nvSpPr>
        <p:spPr>
          <a:xfrm>
            <a:off x="7775768" y="4025766"/>
            <a:ext cx="2414016" cy="228600"/>
          </a:xfrm>
          <a:prstGeom prst="rect">
            <a:avLst/>
          </a:prstGeom>
          <a:noFill/>
          <a:ln/>
        </p:spPr>
        <p:txBody>
          <a:bodyPr wrap="square" lIns="0" tIns="0" rIns="0" bIns="0" rtlCol="0" anchor="ctr">
            <a:normAutofit/>
          </a:bodyPr>
          <a:lstStyle/>
          <a:p>
            <a:pPr marL="0" indent="0" algn="ctr">
              <a:buNone/>
            </a:pPr>
            <a:r>
              <a:rPr lang="en-US" sz="900" dirty="0">
                <a:solidFill>
                  <a:srgbClr val="555555"/>
                </a:solidFill>
                <a:latin typeface="Arial" pitchFamily="34" charset="0"/>
                <a:ea typeface="Arial" pitchFamily="34" charset="-122"/>
                <a:cs typeface="Arial" pitchFamily="34" charset="-120"/>
              </a:rPr>
              <a:t>common scale</a:t>
            </a:r>
            <a:endParaRPr lang="en-US" sz="900" dirty="0"/>
          </a:p>
        </p:txBody>
      </p:sp>
      <p:sp>
        <p:nvSpPr>
          <p:cNvPr id="34" name="Text 31"/>
          <p:cNvSpPr/>
          <p:nvPr/>
        </p:nvSpPr>
        <p:spPr>
          <a:xfrm>
            <a:off x="6903720" y="4983480"/>
            <a:ext cx="4069080" cy="237744"/>
          </a:xfrm>
          <a:prstGeom prst="rect">
            <a:avLst/>
          </a:prstGeom>
          <a:noFill/>
          <a:ln/>
        </p:spPr>
        <p:txBody>
          <a:bodyPr wrap="square" lIns="0" tIns="0" rIns="0" bIns="0" rtlCol="0" anchor="ctr">
            <a:normAutofit fontScale="85000" lnSpcReduction="20000"/>
          </a:bodyPr>
          <a:lstStyle/>
          <a:p>
            <a:pPr marL="0" indent="0" algn="ctr">
              <a:buNone/>
            </a:pPr>
            <a:r>
              <a:rPr lang="en-US" sz="1070" b="1" dirty="0">
                <a:solidFill>
                  <a:srgbClr val="00245D"/>
                </a:solidFill>
                <a:latin typeface="Arial" pitchFamily="34" charset="0"/>
                <a:ea typeface="Arial" pitchFamily="34" charset="-122"/>
                <a:cs typeface="Arial" pitchFamily="34" charset="-120"/>
              </a:rPr>
              <a:t>This is why scaling factor quantization is connected to the BitMoD hardware design.</a:t>
            </a:r>
            <a:endParaRPr lang="en-US" sz="107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Why INT8 scales are bit-serial friendly</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50</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An INT8 scale can be consumed one bit per cycle and implemented with shift-and-add rather than a full FP multiplier.</a:t>
            </a:r>
            <a:endParaRPr lang="en-US" sz="1300" dirty="0"/>
          </a:p>
        </p:txBody>
      </p:sp>
      <p:sp>
        <p:nvSpPr>
          <p:cNvPr id="9" name="Shape 6"/>
          <p:cNvSpPr/>
          <p:nvPr/>
        </p:nvSpPr>
        <p:spPr>
          <a:xfrm>
            <a:off x="685800" y="1417320"/>
            <a:ext cx="4983480" cy="4023360"/>
          </a:xfrm>
          <a:prstGeom prst="roundRect">
            <a:avLst>
              <a:gd name="adj" fmla="val 1364"/>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27048"/>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INT8 scale = 13</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60120" y="2029968"/>
                <a:ext cx="4434840" cy="530352"/>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180" smtClean="0">
                          <a:latin typeface="Cambria Math"/>
                        </a:rPr>
                        <m:t>13=</m:t>
                      </m:r>
                      <m:sSub>
                        <m:sSubPr>
                          <m:ctrlPr>
                            <a:rPr lang="ko-KR" altLang="en-US" sz="1180" smtClean="0">
                              <a:latin typeface="Cambria Math"/>
                            </a:rPr>
                          </m:ctrlPr>
                        </m:sSubPr>
                        <m:e>
                          <m:r>
                            <a:rPr lang="ko-KR" altLang="en-US" sz="1180" smtClean="0">
                              <a:latin typeface="Cambria Math"/>
                            </a:rPr>
                            <m:t>00001101</m:t>
                          </m:r>
                        </m:e>
                        <m:sub>
                          <m:r>
                            <a:rPr lang="ko-KR" altLang="en-US" sz="1180" smtClean="0">
                              <a:latin typeface="Cambria Math"/>
                            </a:rPr>
                            <m:t>2</m:t>
                          </m:r>
                        </m:sub>
                      </m:sSub>
                      <m:r>
                        <a:rPr lang="ko-KR" altLang="en-US" sz="1180" smtClean="0">
                          <a:latin typeface="Cambria Math"/>
                        </a:rPr>
                        <m:t>=8+4+1</m:t>
                      </m:r>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60120" y="2029968"/>
                <a:ext cx="4434840" cy="530352"/>
              </a:xfrm>
              <a:prstGeom prst="rect">
                <a:avLst/>
              </a:prstGeom>
              <a:blipFill>
                <a:blip r:embed="rId4"/>
                <a:stretch>
                  <a:fillRect/>
                </a:stretch>
              </a:blipFill>
              <a:ln/>
            </p:spPr>
            <p:txBody>
              <a:bodyPr/>
              <a:lstStyle/>
              <a:p>
                <a:r>
                  <a:rPr lang="ko-KR" altLang="en-US">
                    <a:noFill/>
                  </a:rPr>
                  <a:t> </a:t>
                </a:r>
              </a:p>
            </p:txBody>
          </p:sp>
        </mc:Fallback>
      </mc:AlternateContent>
      <p:sp>
        <p:nvSpPr>
          <p:cNvPr id="12" name="Text 9"/>
          <p:cNvSpPr/>
          <p:nvPr/>
        </p:nvSpPr>
        <p:spPr>
          <a:xfrm>
            <a:off x="1097280" y="2852928"/>
            <a:ext cx="4160520" cy="201168"/>
          </a:xfrm>
          <a:prstGeom prst="rect">
            <a:avLst/>
          </a:prstGeom>
          <a:noFill/>
          <a:ln/>
        </p:spPr>
        <p:txBody>
          <a:bodyPr wrap="square" lIns="0" tIns="0" rIns="0" bIns="0" rtlCol="0" anchor="ctr"/>
          <a:lstStyle/>
          <a:p>
            <a:pPr marL="0" indent="0" algn="ctr">
              <a:buNone/>
            </a:pPr>
            <a:r>
              <a:rPr lang="en-US" sz="1100" b="1" dirty="0">
                <a:solidFill>
                  <a:srgbClr val="00245D"/>
                </a:solidFill>
                <a:latin typeface="Arial" pitchFamily="34" charset="0"/>
                <a:ea typeface="Arial" pitchFamily="34" charset="-122"/>
                <a:cs typeface="Arial" pitchFamily="34" charset="-120"/>
              </a:rPr>
              <a:t>Active bits are 0, 2, and 3.</a:t>
            </a:r>
            <a:endParaRPr lang="en-US" sz="1100" dirty="0"/>
          </a:p>
        </p:txBody>
      </p:sp>
      <p:sp>
        <p:nvSpPr>
          <p:cNvPr id="13" name="Shape 10"/>
          <p:cNvSpPr/>
          <p:nvPr/>
        </p:nvSpPr>
        <p:spPr>
          <a:xfrm>
            <a:off x="1097280" y="3474720"/>
            <a:ext cx="384048" cy="384048"/>
          </a:xfrm>
          <a:prstGeom prst="rect">
            <a:avLst/>
          </a:prstGeom>
          <a:solidFill>
            <a:srgbClr val="FFFFFF"/>
          </a:solidFill>
          <a:ln w="12700">
            <a:solidFill>
              <a:srgbClr val="BFBFBF"/>
            </a:solidFill>
            <a:prstDash val="solid"/>
          </a:ln>
        </p:spPr>
        <p:txBody>
          <a:bodyPr/>
          <a:lstStyle/>
          <a:p>
            <a:endParaRPr lang="ko-KR" altLang="en-US"/>
          </a:p>
        </p:txBody>
      </p:sp>
      <p:sp>
        <p:nvSpPr>
          <p:cNvPr id="14" name="Text 11"/>
          <p:cNvSpPr/>
          <p:nvPr/>
        </p:nvSpPr>
        <p:spPr>
          <a:xfrm>
            <a:off x="1097280" y="3584448"/>
            <a:ext cx="384048" cy="91440"/>
          </a:xfrm>
          <a:prstGeom prst="rect">
            <a:avLst/>
          </a:prstGeom>
          <a:noFill/>
          <a:ln/>
        </p:spPr>
        <p:txBody>
          <a:bodyPr wrap="square" lIns="0" tIns="0" rIns="0" bIns="0" rtlCol="0" anchor="ctr"/>
          <a:lstStyle/>
          <a:p>
            <a:pPr marL="0" indent="0" algn="ctr">
              <a:buNone/>
            </a:pPr>
            <a:r>
              <a:rPr lang="en-US" sz="1000" b="1" dirty="0">
                <a:solidFill>
                  <a:srgbClr val="555555"/>
                </a:solidFill>
                <a:latin typeface="Arial" pitchFamily="34" charset="0"/>
                <a:ea typeface="Arial" pitchFamily="34" charset="-122"/>
                <a:cs typeface="Arial" pitchFamily="34" charset="-120"/>
              </a:rPr>
              <a:t>0</a:t>
            </a:r>
            <a:endParaRPr lang="en-US" sz="1000" dirty="0"/>
          </a:p>
        </p:txBody>
      </p:sp>
      <p:sp>
        <p:nvSpPr>
          <p:cNvPr id="15" name="Shape 12"/>
          <p:cNvSpPr/>
          <p:nvPr/>
        </p:nvSpPr>
        <p:spPr>
          <a:xfrm>
            <a:off x="1581912" y="3474720"/>
            <a:ext cx="384048" cy="384048"/>
          </a:xfrm>
          <a:prstGeom prst="rect">
            <a:avLst/>
          </a:prstGeom>
          <a:solidFill>
            <a:srgbClr val="FFFFFF"/>
          </a:solidFill>
          <a:ln w="12700">
            <a:solidFill>
              <a:srgbClr val="BFBFBF"/>
            </a:solidFill>
            <a:prstDash val="solid"/>
          </a:ln>
        </p:spPr>
        <p:txBody>
          <a:bodyPr/>
          <a:lstStyle/>
          <a:p>
            <a:endParaRPr lang="ko-KR" altLang="en-US"/>
          </a:p>
        </p:txBody>
      </p:sp>
      <p:sp>
        <p:nvSpPr>
          <p:cNvPr id="16" name="Text 13"/>
          <p:cNvSpPr/>
          <p:nvPr/>
        </p:nvSpPr>
        <p:spPr>
          <a:xfrm>
            <a:off x="1581912" y="3584448"/>
            <a:ext cx="384048" cy="91440"/>
          </a:xfrm>
          <a:prstGeom prst="rect">
            <a:avLst/>
          </a:prstGeom>
          <a:noFill/>
          <a:ln/>
        </p:spPr>
        <p:txBody>
          <a:bodyPr wrap="square" lIns="0" tIns="0" rIns="0" bIns="0" rtlCol="0" anchor="ctr"/>
          <a:lstStyle/>
          <a:p>
            <a:pPr marL="0" indent="0" algn="ctr">
              <a:buNone/>
            </a:pPr>
            <a:r>
              <a:rPr lang="en-US" sz="1000" b="1" dirty="0">
                <a:solidFill>
                  <a:srgbClr val="555555"/>
                </a:solidFill>
                <a:latin typeface="Arial" pitchFamily="34" charset="0"/>
                <a:ea typeface="Arial" pitchFamily="34" charset="-122"/>
                <a:cs typeface="Arial" pitchFamily="34" charset="-120"/>
              </a:rPr>
              <a:t>0</a:t>
            </a:r>
            <a:endParaRPr lang="en-US" sz="1000" dirty="0"/>
          </a:p>
        </p:txBody>
      </p:sp>
      <p:sp>
        <p:nvSpPr>
          <p:cNvPr id="17" name="Shape 14"/>
          <p:cNvSpPr/>
          <p:nvPr/>
        </p:nvSpPr>
        <p:spPr>
          <a:xfrm>
            <a:off x="2066544" y="3474720"/>
            <a:ext cx="384048" cy="384048"/>
          </a:xfrm>
          <a:prstGeom prst="rect">
            <a:avLst/>
          </a:prstGeom>
          <a:solidFill>
            <a:srgbClr val="FFFFFF"/>
          </a:solidFill>
          <a:ln w="12700">
            <a:solidFill>
              <a:srgbClr val="BFBFBF"/>
            </a:solidFill>
            <a:prstDash val="solid"/>
          </a:ln>
        </p:spPr>
        <p:txBody>
          <a:bodyPr/>
          <a:lstStyle/>
          <a:p>
            <a:endParaRPr lang="ko-KR" altLang="en-US"/>
          </a:p>
        </p:txBody>
      </p:sp>
      <p:sp>
        <p:nvSpPr>
          <p:cNvPr id="18" name="Text 15"/>
          <p:cNvSpPr/>
          <p:nvPr/>
        </p:nvSpPr>
        <p:spPr>
          <a:xfrm>
            <a:off x="2066544" y="3584448"/>
            <a:ext cx="384048" cy="91440"/>
          </a:xfrm>
          <a:prstGeom prst="rect">
            <a:avLst/>
          </a:prstGeom>
          <a:noFill/>
          <a:ln/>
        </p:spPr>
        <p:txBody>
          <a:bodyPr wrap="square" lIns="0" tIns="0" rIns="0" bIns="0" rtlCol="0" anchor="ctr"/>
          <a:lstStyle/>
          <a:p>
            <a:pPr marL="0" indent="0" algn="ctr">
              <a:buNone/>
            </a:pPr>
            <a:r>
              <a:rPr lang="en-US" sz="1000" b="1" dirty="0">
                <a:solidFill>
                  <a:srgbClr val="555555"/>
                </a:solidFill>
                <a:latin typeface="Arial" pitchFamily="34" charset="0"/>
                <a:ea typeface="Arial" pitchFamily="34" charset="-122"/>
                <a:cs typeface="Arial" pitchFamily="34" charset="-120"/>
              </a:rPr>
              <a:t>0</a:t>
            </a:r>
            <a:endParaRPr lang="en-US" sz="1000" dirty="0"/>
          </a:p>
        </p:txBody>
      </p:sp>
      <p:sp>
        <p:nvSpPr>
          <p:cNvPr id="19" name="Shape 16"/>
          <p:cNvSpPr/>
          <p:nvPr/>
        </p:nvSpPr>
        <p:spPr>
          <a:xfrm>
            <a:off x="2551176" y="3474720"/>
            <a:ext cx="384048" cy="384048"/>
          </a:xfrm>
          <a:prstGeom prst="rect">
            <a:avLst/>
          </a:prstGeom>
          <a:solidFill>
            <a:srgbClr val="FFFFFF"/>
          </a:solidFill>
          <a:ln w="12700">
            <a:solidFill>
              <a:srgbClr val="BFBFBF"/>
            </a:solidFill>
            <a:prstDash val="solid"/>
          </a:ln>
        </p:spPr>
        <p:txBody>
          <a:bodyPr/>
          <a:lstStyle/>
          <a:p>
            <a:endParaRPr lang="ko-KR" altLang="en-US"/>
          </a:p>
        </p:txBody>
      </p:sp>
      <p:sp>
        <p:nvSpPr>
          <p:cNvPr id="20" name="Text 17"/>
          <p:cNvSpPr/>
          <p:nvPr/>
        </p:nvSpPr>
        <p:spPr>
          <a:xfrm>
            <a:off x="2551176" y="3584448"/>
            <a:ext cx="384048" cy="91440"/>
          </a:xfrm>
          <a:prstGeom prst="rect">
            <a:avLst/>
          </a:prstGeom>
          <a:noFill/>
          <a:ln/>
        </p:spPr>
        <p:txBody>
          <a:bodyPr wrap="square" lIns="0" tIns="0" rIns="0" bIns="0" rtlCol="0" anchor="ctr"/>
          <a:lstStyle/>
          <a:p>
            <a:pPr marL="0" indent="0" algn="ctr">
              <a:buNone/>
            </a:pPr>
            <a:r>
              <a:rPr lang="en-US" sz="1000" b="1" dirty="0">
                <a:solidFill>
                  <a:srgbClr val="555555"/>
                </a:solidFill>
                <a:latin typeface="Arial" pitchFamily="34" charset="0"/>
                <a:ea typeface="Arial" pitchFamily="34" charset="-122"/>
                <a:cs typeface="Arial" pitchFamily="34" charset="-120"/>
              </a:rPr>
              <a:t>0</a:t>
            </a:r>
            <a:endParaRPr lang="en-US" sz="1000" dirty="0"/>
          </a:p>
        </p:txBody>
      </p:sp>
      <p:sp>
        <p:nvSpPr>
          <p:cNvPr id="21" name="Shape 18"/>
          <p:cNvSpPr/>
          <p:nvPr/>
        </p:nvSpPr>
        <p:spPr>
          <a:xfrm>
            <a:off x="3035808" y="3474720"/>
            <a:ext cx="384048" cy="384048"/>
          </a:xfrm>
          <a:prstGeom prst="rect">
            <a:avLst/>
          </a:prstGeom>
          <a:solidFill>
            <a:srgbClr val="E2F0D9"/>
          </a:solidFill>
          <a:ln w="12700">
            <a:solidFill>
              <a:srgbClr val="548235"/>
            </a:solidFill>
            <a:prstDash val="solid"/>
          </a:ln>
        </p:spPr>
        <p:txBody>
          <a:bodyPr/>
          <a:lstStyle/>
          <a:p>
            <a:endParaRPr lang="ko-KR" altLang="en-US"/>
          </a:p>
        </p:txBody>
      </p:sp>
      <p:sp>
        <p:nvSpPr>
          <p:cNvPr id="22" name="Text 19"/>
          <p:cNvSpPr/>
          <p:nvPr/>
        </p:nvSpPr>
        <p:spPr>
          <a:xfrm>
            <a:off x="3035808" y="3584448"/>
            <a:ext cx="384048" cy="91440"/>
          </a:xfrm>
          <a:prstGeom prst="rect">
            <a:avLst/>
          </a:prstGeom>
          <a:noFill/>
          <a:ln/>
        </p:spPr>
        <p:txBody>
          <a:bodyPr wrap="square" lIns="0" tIns="0" rIns="0" bIns="0" rtlCol="0" anchor="ctr"/>
          <a:lstStyle/>
          <a:p>
            <a:pPr marL="0" indent="0" algn="ctr">
              <a:buNone/>
            </a:pPr>
            <a:r>
              <a:rPr lang="en-US" sz="1000" b="1" dirty="0">
                <a:solidFill>
                  <a:srgbClr val="548235"/>
                </a:solidFill>
                <a:latin typeface="Arial" pitchFamily="34" charset="0"/>
                <a:ea typeface="Arial" pitchFamily="34" charset="-122"/>
                <a:cs typeface="Arial" pitchFamily="34" charset="-120"/>
              </a:rPr>
              <a:t>1</a:t>
            </a:r>
            <a:endParaRPr lang="en-US" sz="1000" dirty="0"/>
          </a:p>
        </p:txBody>
      </p:sp>
      <p:sp>
        <p:nvSpPr>
          <p:cNvPr id="23" name="Shape 20"/>
          <p:cNvSpPr/>
          <p:nvPr/>
        </p:nvSpPr>
        <p:spPr>
          <a:xfrm>
            <a:off x="3520440" y="3474720"/>
            <a:ext cx="384048" cy="384048"/>
          </a:xfrm>
          <a:prstGeom prst="rect">
            <a:avLst/>
          </a:prstGeom>
          <a:solidFill>
            <a:srgbClr val="E2F0D9"/>
          </a:solidFill>
          <a:ln w="12700">
            <a:solidFill>
              <a:srgbClr val="548235"/>
            </a:solidFill>
            <a:prstDash val="solid"/>
          </a:ln>
        </p:spPr>
        <p:txBody>
          <a:bodyPr/>
          <a:lstStyle/>
          <a:p>
            <a:endParaRPr lang="ko-KR" altLang="en-US"/>
          </a:p>
        </p:txBody>
      </p:sp>
      <p:sp>
        <p:nvSpPr>
          <p:cNvPr id="24" name="Text 21"/>
          <p:cNvSpPr/>
          <p:nvPr/>
        </p:nvSpPr>
        <p:spPr>
          <a:xfrm>
            <a:off x="3520440" y="3584448"/>
            <a:ext cx="384048" cy="91440"/>
          </a:xfrm>
          <a:prstGeom prst="rect">
            <a:avLst/>
          </a:prstGeom>
          <a:noFill/>
          <a:ln/>
        </p:spPr>
        <p:txBody>
          <a:bodyPr wrap="square" lIns="0" tIns="0" rIns="0" bIns="0" rtlCol="0" anchor="ctr"/>
          <a:lstStyle/>
          <a:p>
            <a:pPr marL="0" indent="0" algn="ctr">
              <a:buNone/>
            </a:pPr>
            <a:r>
              <a:rPr lang="en-US" sz="1000" b="1" dirty="0">
                <a:solidFill>
                  <a:srgbClr val="548235"/>
                </a:solidFill>
                <a:latin typeface="Arial" pitchFamily="34" charset="0"/>
                <a:ea typeface="Arial" pitchFamily="34" charset="-122"/>
                <a:cs typeface="Arial" pitchFamily="34" charset="-120"/>
              </a:rPr>
              <a:t>1</a:t>
            </a:r>
            <a:endParaRPr lang="en-US" sz="1000" dirty="0"/>
          </a:p>
        </p:txBody>
      </p:sp>
      <p:sp>
        <p:nvSpPr>
          <p:cNvPr id="25" name="Shape 22"/>
          <p:cNvSpPr/>
          <p:nvPr/>
        </p:nvSpPr>
        <p:spPr>
          <a:xfrm>
            <a:off x="4005072" y="3474720"/>
            <a:ext cx="384048" cy="384048"/>
          </a:xfrm>
          <a:prstGeom prst="rect">
            <a:avLst/>
          </a:prstGeom>
          <a:solidFill>
            <a:srgbClr val="FFFFFF"/>
          </a:solidFill>
          <a:ln w="12700">
            <a:solidFill>
              <a:srgbClr val="BFBFBF"/>
            </a:solidFill>
            <a:prstDash val="solid"/>
          </a:ln>
        </p:spPr>
        <p:txBody>
          <a:bodyPr/>
          <a:lstStyle/>
          <a:p>
            <a:endParaRPr lang="ko-KR" altLang="en-US"/>
          </a:p>
        </p:txBody>
      </p:sp>
      <p:sp>
        <p:nvSpPr>
          <p:cNvPr id="26" name="Text 23"/>
          <p:cNvSpPr/>
          <p:nvPr/>
        </p:nvSpPr>
        <p:spPr>
          <a:xfrm>
            <a:off x="4005072" y="3584448"/>
            <a:ext cx="384048" cy="91440"/>
          </a:xfrm>
          <a:prstGeom prst="rect">
            <a:avLst/>
          </a:prstGeom>
          <a:noFill/>
          <a:ln/>
        </p:spPr>
        <p:txBody>
          <a:bodyPr wrap="square" lIns="0" tIns="0" rIns="0" bIns="0" rtlCol="0" anchor="ctr"/>
          <a:lstStyle/>
          <a:p>
            <a:pPr marL="0" indent="0" algn="ctr">
              <a:buNone/>
            </a:pPr>
            <a:r>
              <a:rPr lang="en-US" sz="1000" b="1" dirty="0">
                <a:solidFill>
                  <a:srgbClr val="555555"/>
                </a:solidFill>
                <a:latin typeface="Arial" pitchFamily="34" charset="0"/>
                <a:ea typeface="Arial" pitchFamily="34" charset="-122"/>
                <a:cs typeface="Arial" pitchFamily="34" charset="-120"/>
              </a:rPr>
              <a:t>0</a:t>
            </a:r>
            <a:endParaRPr lang="en-US" sz="1000" dirty="0"/>
          </a:p>
        </p:txBody>
      </p:sp>
      <p:sp>
        <p:nvSpPr>
          <p:cNvPr id="27" name="Shape 24"/>
          <p:cNvSpPr/>
          <p:nvPr/>
        </p:nvSpPr>
        <p:spPr>
          <a:xfrm>
            <a:off x="4489704" y="3474720"/>
            <a:ext cx="384048" cy="384048"/>
          </a:xfrm>
          <a:prstGeom prst="rect">
            <a:avLst/>
          </a:prstGeom>
          <a:solidFill>
            <a:srgbClr val="E2F0D9"/>
          </a:solidFill>
          <a:ln w="12700">
            <a:solidFill>
              <a:srgbClr val="548235"/>
            </a:solidFill>
            <a:prstDash val="solid"/>
          </a:ln>
        </p:spPr>
        <p:txBody>
          <a:bodyPr/>
          <a:lstStyle/>
          <a:p>
            <a:endParaRPr lang="ko-KR" altLang="en-US"/>
          </a:p>
        </p:txBody>
      </p:sp>
      <p:sp>
        <p:nvSpPr>
          <p:cNvPr id="28" name="Text 25"/>
          <p:cNvSpPr/>
          <p:nvPr/>
        </p:nvSpPr>
        <p:spPr>
          <a:xfrm>
            <a:off x="4489704" y="3584448"/>
            <a:ext cx="384048" cy="91440"/>
          </a:xfrm>
          <a:prstGeom prst="rect">
            <a:avLst/>
          </a:prstGeom>
          <a:noFill/>
          <a:ln/>
        </p:spPr>
        <p:txBody>
          <a:bodyPr wrap="square" lIns="0" tIns="0" rIns="0" bIns="0" rtlCol="0" anchor="ctr"/>
          <a:lstStyle/>
          <a:p>
            <a:pPr marL="0" indent="0" algn="ctr">
              <a:buNone/>
            </a:pPr>
            <a:r>
              <a:rPr lang="en-US" sz="1000" b="1" dirty="0">
                <a:solidFill>
                  <a:srgbClr val="548235"/>
                </a:solidFill>
                <a:latin typeface="Arial" pitchFamily="34" charset="0"/>
                <a:ea typeface="Arial" pitchFamily="34" charset="-122"/>
                <a:cs typeface="Arial" pitchFamily="34" charset="-120"/>
              </a:rPr>
              <a:t>1</a:t>
            </a:r>
            <a:endParaRPr lang="en-US" sz="1000" dirty="0"/>
          </a:p>
        </p:txBody>
      </p:sp>
      <p:sp>
        <p:nvSpPr>
          <p:cNvPr id="29" name="Text 26"/>
          <p:cNvSpPr/>
          <p:nvPr/>
        </p:nvSpPr>
        <p:spPr>
          <a:xfrm>
            <a:off x="1097280" y="4005072"/>
            <a:ext cx="3840480" cy="164592"/>
          </a:xfrm>
          <a:prstGeom prst="rect">
            <a:avLst/>
          </a:prstGeom>
          <a:noFill/>
          <a:ln/>
        </p:spPr>
        <p:txBody>
          <a:bodyPr wrap="square" lIns="0" tIns="0" rIns="0" bIns="0" rtlCol="0" anchor="ctr">
            <a:normAutofit/>
          </a:bodyPr>
          <a:lstStyle/>
          <a:p>
            <a:pPr marL="0" indent="0" algn="ctr">
              <a:buNone/>
            </a:pPr>
            <a:r>
              <a:rPr lang="en-US" sz="950" b="1" dirty="0">
                <a:solidFill>
                  <a:srgbClr val="555555"/>
                </a:solidFill>
                <a:latin typeface="Arial" pitchFamily="34" charset="0"/>
                <a:ea typeface="Arial" pitchFamily="34" charset="-122"/>
                <a:cs typeface="Arial" pitchFamily="34" charset="-120"/>
              </a:rPr>
              <a:t>bit7 ... bit0</a:t>
            </a:r>
            <a:endParaRPr lang="en-US" sz="950" dirty="0"/>
          </a:p>
        </p:txBody>
      </p:sp>
      <p:sp>
        <p:nvSpPr>
          <p:cNvPr id="30" name="Shape 27"/>
          <p:cNvSpPr/>
          <p:nvPr/>
        </p:nvSpPr>
        <p:spPr>
          <a:xfrm>
            <a:off x="6400800" y="1417320"/>
            <a:ext cx="5074920" cy="4023360"/>
          </a:xfrm>
          <a:prstGeom prst="roundRect">
            <a:avLst>
              <a:gd name="adj" fmla="val 1364"/>
            </a:avLst>
          </a:prstGeom>
          <a:solidFill>
            <a:srgbClr val="FFFDF2"/>
          </a:solidFill>
          <a:ln w="13335">
            <a:solidFill>
              <a:srgbClr val="D6B656"/>
            </a:solidFill>
            <a:prstDash val="solid"/>
          </a:ln>
        </p:spPr>
        <p:txBody>
          <a:bodyPr/>
          <a:lstStyle/>
          <a:p>
            <a:endParaRPr lang="ko-KR" altLang="en-US"/>
          </a:p>
        </p:txBody>
      </p:sp>
      <p:sp>
        <p:nvSpPr>
          <p:cNvPr id="31" name="Text 28"/>
          <p:cNvSpPr/>
          <p:nvPr/>
        </p:nvSpPr>
        <p:spPr>
          <a:xfrm>
            <a:off x="6565392" y="1527048"/>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Shift-and-add form</a:t>
            </a:r>
            <a:endParaRPr lang="en-US" sz="1200" dirty="0"/>
          </a:p>
        </p:txBody>
      </p:sp>
      <mc:AlternateContent xmlns:mc="http://schemas.openxmlformats.org/markup-compatibility/2006" xmlns:a14="http://schemas.microsoft.com/office/drawing/2010/main">
        <mc:Choice Requires="a14">
          <p:sp>
            <p:nvSpPr>
              <p:cNvPr id="32" name="Text 29"/>
              <p:cNvSpPr/>
              <p:nvPr/>
            </p:nvSpPr>
            <p:spPr>
              <a:xfrm>
                <a:off x="6656832" y="2029968"/>
                <a:ext cx="4572000" cy="786384"/>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sSub>
                        <m:sSubPr>
                          <m:ctrlPr>
                            <a:rPr lang="ko-KR" altLang="en-US" sz="1180" smtClean="0">
                              <a:latin typeface="Cambria Math"/>
                            </a:rPr>
                          </m:ctrlPr>
                        </m:sSubPr>
                        <m:e>
                          <m:r>
                            <a:rPr lang="ko-KR" altLang="en-US" sz="1180" smtClean="0">
                              <a:latin typeface="Cambria Math"/>
                            </a:rPr>
                            <m:t>𝑚</m:t>
                          </m:r>
                        </m:e>
                        <m:sub>
                          <m:r>
                            <a:rPr lang="ko-KR" altLang="en-US" sz="1180" smtClean="0">
                              <a:latin typeface="Cambria Math"/>
                            </a:rPr>
                            <m:t>𝐴𝐶𝐶</m:t>
                          </m:r>
                        </m:sub>
                      </m:sSub>
                      <m:r>
                        <a:rPr lang="ko-KR" altLang="en-US" sz="1180" smtClean="0">
                          <a:latin typeface="Cambria Math"/>
                        </a:rPr>
                        <m:t>×13=</m:t>
                      </m:r>
                      <m:sSub>
                        <m:sSubPr>
                          <m:ctrlPr>
                            <a:rPr lang="ko-KR" altLang="en-US" sz="1180" smtClean="0">
                              <a:latin typeface="Cambria Math"/>
                            </a:rPr>
                          </m:ctrlPr>
                        </m:sSubPr>
                        <m:e>
                          <m:r>
                            <a:rPr lang="ko-KR" altLang="en-US" sz="1180" smtClean="0">
                              <a:latin typeface="Cambria Math"/>
                            </a:rPr>
                            <m:t>𝑚</m:t>
                          </m:r>
                        </m:e>
                        <m:sub>
                          <m:r>
                            <a:rPr lang="ko-KR" altLang="en-US" sz="1180" smtClean="0">
                              <a:latin typeface="Cambria Math"/>
                            </a:rPr>
                            <m:t>𝐴𝐶𝐶</m:t>
                          </m:r>
                        </m:sub>
                      </m:sSub>
                      <m:r>
                        <a:rPr lang="ko-KR" altLang="en-US" sz="1180" smtClean="0">
                          <a:latin typeface="Cambria Math"/>
                        </a:rPr>
                        <m:t>+</m:t>
                      </m:r>
                      <m:d>
                        <m:dPr>
                          <m:ctrlPr>
                            <a:rPr lang="ko-KR" altLang="en-US" sz="1180" i="1" smtClean="0">
                              <a:latin typeface="Cambria Math" panose="02040503050406030204" pitchFamily="18" charset="0"/>
                            </a:rPr>
                          </m:ctrlPr>
                        </m:dPr>
                        <m:e>
                          <m:sSub>
                            <m:sSubPr>
                              <m:ctrlPr>
                                <a:rPr lang="ko-KR" altLang="en-US" sz="1180" smtClean="0">
                                  <a:latin typeface="Cambria Math"/>
                                </a:rPr>
                              </m:ctrlPr>
                            </m:sSubPr>
                            <m:e>
                              <m:r>
                                <a:rPr lang="ko-KR" altLang="en-US" sz="1180" smtClean="0">
                                  <a:latin typeface="Cambria Math"/>
                                </a:rPr>
                                <m:t>𝑚</m:t>
                              </m:r>
                            </m:e>
                            <m:sub>
                              <m:r>
                                <a:rPr lang="ko-KR" altLang="en-US" sz="1180" smtClean="0">
                                  <a:latin typeface="Cambria Math"/>
                                </a:rPr>
                                <m:t>𝐴𝐶𝐶</m:t>
                              </m:r>
                            </m:sub>
                          </m:sSub>
                          <m:r>
                            <a:rPr lang="ko-KR" altLang="en-US" sz="1180" smtClean="0">
                              <a:latin typeface="Cambria Math"/>
                            </a:rPr>
                            <m:t>≪2</m:t>
                          </m:r>
                        </m:e>
                      </m:d>
                      <m:r>
                        <a:rPr lang="ko-KR" altLang="en-US" sz="1180" smtClean="0">
                          <a:latin typeface="Cambria Math"/>
                        </a:rPr>
                        <m:t>+</m:t>
                      </m:r>
                      <m:d>
                        <m:dPr>
                          <m:ctrlPr>
                            <a:rPr lang="ko-KR" altLang="en-US" sz="1180" i="1" smtClean="0">
                              <a:latin typeface="Cambria Math" panose="02040503050406030204" pitchFamily="18" charset="0"/>
                            </a:rPr>
                          </m:ctrlPr>
                        </m:dPr>
                        <m:e>
                          <m:sSub>
                            <m:sSubPr>
                              <m:ctrlPr>
                                <a:rPr lang="ko-KR" altLang="en-US" sz="1180" smtClean="0">
                                  <a:latin typeface="Cambria Math"/>
                                </a:rPr>
                              </m:ctrlPr>
                            </m:sSubPr>
                            <m:e>
                              <m:r>
                                <a:rPr lang="ko-KR" altLang="en-US" sz="1180" smtClean="0">
                                  <a:latin typeface="Cambria Math"/>
                                </a:rPr>
                                <m:t>𝑚</m:t>
                              </m:r>
                            </m:e>
                            <m:sub>
                              <m:r>
                                <a:rPr lang="ko-KR" altLang="en-US" sz="1180" smtClean="0">
                                  <a:latin typeface="Cambria Math"/>
                                </a:rPr>
                                <m:t>𝐴𝐶𝐶</m:t>
                              </m:r>
                            </m:sub>
                          </m:sSub>
                          <m:r>
                            <a:rPr lang="ko-KR" altLang="en-US" sz="1180" smtClean="0">
                              <a:latin typeface="Cambria Math"/>
                            </a:rPr>
                            <m:t>≪3</m:t>
                          </m:r>
                        </m:e>
                      </m:d>
                    </m:oMath>
                  </m:oMathPara>
                </a14:m>
                <a:endParaRPr/>
              </a:p>
            </p:txBody>
          </p:sp>
        </mc:Choice>
        <mc:Fallback xmlns="">
          <p:sp>
            <p:nvSpPr>
              <p:cNvPr id="32" name="Text 29"/>
              <p:cNvSpPr>
                <a:spLocks noRot="1" noChangeAspect="1" noMove="1" noResize="1" noEditPoints="1" noAdjustHandles="1" noChangeArrowheads="1" noChangeShapeType="1" noTextEdit="1"/>
              </p:cNvSpPr>
              <p:nvPr/>
            </p:nvSpPr>
            <p:spPr>
              <a:xfrm>
                <a:off x="6656832" y="2029968"/>
                <a:ext cx="4572000" cy="786384"/>
              </a:xfrm>
              <a:prstGeom prst="rect">
                <a:avLst/>
              </a:prstGeom>
              <a:blipFill>
                <a:blip r:embed="rId5"/>
                <a:stretch>
                  <a:fillRect/>
                </a:stretch>
              </a:blipFill>
              <a:ln/>
            </p:spPr>
            <p:txBody>
              <a:bodyPr/>
              <a:lstStyle/>
              <a:p>
                <a:r>
                  <a:rPr lang="ko-KR" altLang="en-US">
                    <a:noFill/>
                  </a:rPr>
                  <a:t> </a:t>
                </a:r>
              </a:p>
            </p:txBody>
          </p:sp>
        </mc:Fallback>
      </mc:AlternateContent>
      <p:sp>
        <p:nvSpPr>
          <p:cNvPr id="33" name="Text 30"/>
          <p:cNvSpPr/>
          <p:nvPr/>
        </p:nvSpPr>
        <p:spPr>
          <a:xfrm>
            <a:off x="6995160" y="3246120"/>
            <a:ext cx="3931920" cy="219456"/>
          </a:xfrm>
          <a:prstGeom prst="rect">
            <a:avLst/>
          </a:prstGeom>
          <a:noFill/>
          <a:ln/>
        </p:spPr>
        <p:txBody>
          <a:bodyPr wrap="square" lIns="0" tIns="0" rIns="0" bIns="0" rtlCol="0" anchor="ctr"/>
          <a:lstStyle/>
          <a:p>
            <a:pPr marL="0" indent="0" algn="ctr">
              <a:buNone/>
            </a:pPr>
            <a:r>
              <a:rPr lang="en-US" sz="1200" b="1" dirty="0">
                <a:solidFill>
                  <a:srgbClr val="00245D"/>
                </a:solidFill>
                <a:latin typeface="Arial" pitchFamily="34" charset="0"/>
                <a:ea typeface="Arial" pitchFamily="34" charset="-122"/>
                <a:cs typeface="Arial" pitchFamily="34" charset="-120"/>
              </a:rPr>
              <a:t>Cycle-wise interpretation</a:t>
            </a:r>
            <a:endParaRPr lang="en-US" sz="1200" dirty="0"/>
          </a:p>
        </p:txBody>
      </p:sp>
      <p:sp>
        <p:nvSpPr>
          <p:cNvPr id="34" name="Text 31"/>
          <p:cNvSpPr/>
          <p:nvPr/>
        </p:nvSpPr>
        <p:spPr>
          <a:xfrm>
            <a:off x="6995160" y="3703320"/>
            <a:ext cx="3977640" cy="1005840"/>
          </a:xfrm>
          <a:prstGeom prst="rect">
            <a:avLst/>
          </a:prstGeom>
          <a:noFill/>
          <a:ln/>
        </p:spPr>
        <p:txBody>
          <a:bodyPr wrap="square" lIns="381" tIns="381" rIns="381" bIns="381" rtlCol="0" anchor="ctr">
            <a:normAutofit/>
          </a:bodyPr>
          <a:lstStyle/>
          <a:p>
            <a:r>
              <a:rPr lang="en-US" sz="1100" dirty="0">
                <a:solidFill>
                  <a:srgbClr val="222222"/>
                </a:solidFill>
                <a:latin typeface="Arial" pitchFamily="34" charset="0"/>
                <a:ea typeface="Arial" pitchFamily="34" charset="-122"/>
                <a:cs typeface="Arial" pitchFamily="34" charset="-120"/>
              </a:rPr>
              <a:t>bit0 = 1 → use mACC</a:t>
            </a:r>
            <a:endParaRPr lang="en-US" sz="1100" dirty="0"/>
          </a:p>
          <a:p>
            <a:r>
              <a:rPr lang="en-US" sz="1100" dirty="0">
                <a:solidFill>
                  <a:srgbClr val="222222"/>
                </a:solidFill>
                <a:latin typeface="Arial" pitchFamily="34" charset="0"/>
                <a:ea typeface="Arial" pitchFamily="34" charset="-122"/>
                <a:cs typeface="Arial" pitchFamily="34" charset="-120"/>
              </a:rPr>
              <a:t>bit1 = 0 → skip</a:t>
            </a:r>
            <a:endParaRPr lang="en-US" sz="1100" dirty="0"/>
          </a:p>
          <a:p>
            <a:r>
              <a:rPr lang="en-US" sz="1100" dirty="0">
                <a:solidFill>
                  <a:srgbClr val="222222"/>
                </a:solidFill>
                <a:latin typeface="Arial" pitchFamily="34" charset="0"/>
                <a:ea typeface="Arial" pitchFamily="34" charset="-122"/>
                <a:cs typeface="Arial" pitchFamily="34" charset="-120"/>
              </a:rPr>
              <a:t>bit2 = 1 → use mACC &lt;&lt; 2</a:t>
            </a:r>
            <a:endParaRPr lang="en-US" sz="1100" dirty="0"/>
          </a:p>
          <a:p>
            <a:r>
              <a:rPr lang="en-US" sz="1100" dirty="0">
                <a:solidFill>
                  <a:srgbClr val="222222"/>
                </a:solidFill>
                <a:latin typeface="Arial" pitchFamily="34" charset="0"/>
                <a:ea typeface="Arial" pitchFamily="34" charset="-122"/>
                <a:cs typeface="Arial" pitchFamily="34" charset="-120"/>
              </a:rPr>
              <a:t>bit3 = 1 → use mACC &lt;&lt; 3</a:t>
            </a:r>
            <a:endParaRPr lang="en-US" sz="1100" dirty="0"/>
          </a:p>
        </p:txBody>
      </p:sp>
      <p:sp>
        <p:nvSpPr>
          <p:cNvPr id="35" name="Shape 32"/>
          <p:cNvSpPr/>
          <p:nvPr/>
        </p:nvSpPr>
        <p:spPr>
          <a:xfrm>
            <a:off x="1143000" y="5623560"/>
            <a:ext cx="9829800" cy="347472"/>
          </a:xfrm>
          <a:prstGeom prst="roundRect">
            <a:avLst>
              <a:gd name="adj" fmla="val 15789"/>
            </a:avLst>
          </a:prstGeom>
          <a:solidFill>
            <a:srgbClr val="EAF2FF"/>
          </a:solidFill>
          <a:ln w="12700">
            <a:solidFill>
              <a:srgbClr val="7EA6E0"/>
            </a:solidFill>
            <a:prstDash val="solid"/>
          </a:ln>
        </p:spPr>
        <p:txBody>
          <a:bodyPr/>
          <a:lstStyle/>
          <a:p>
            <a:endParaRPr lang="ko-KR" altLang="en-US"/>
          </a:p>
        </p:txBody>
      </p:sp>
      <p:sp>
        <p:nvSpPr>
          <p:cNvPr id="36" name="Text 33"/>
          <p:cNvSpPr/>
          <p:nvPr/>
        </p:nvSpPr>
        <p:spPr>
          <a:xfrm>
            <a:off x="1325880" y="5724144"/>
            <a:ext cx="9464040" cy="109728"/>
          </a:xfrm>
          <a:prstGeom prst="rect">
            <a:avLst/>
          </a:prstGeom>
          <a:noFill/>
          <a:ln/>
        </p:spPr>
        <p:txBody>
          <a:bodyPr wrap="square" lIns="0" tIns="0" rIns="0" bIns="0" rtlCol="0" anchor="ctr">
            <a:normAutofit fontScale="92500" lnSpcReduction="20000"/>
          </a:bodyPr>
          <a:lstStyle/>
          <a:p>
            <a:pPr marL="0" indent="0" algn="ctr">
              <a:buNone/>
            </a:pPr>
            <a:r>
              <a:rPr lang="en-US" sz="970" b="1" dirty="0">
                <a:solidFill>
                  <a:srgbClr val="00245D"/>
                </a:solidFill>
                <a:latin typeface="Arial" pitchFamily="34" charset="0"/>
                <a:ea typeface="Arial" pitchFamily="34" charset="-122"/>
                <a:cs typeface="Arial" pitchFamily="34" charset="-120"/>
              </a:rPr>
              <a:t>The example scale 13 is illustrative; the paper uses INT8 per-group scaling factors generally.</a:t>
            </a:r>
            <a:endParaRPr lang="en-US" sz="97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Why BitMoD chooses INT8 scaling factors</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51</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The paper sweeps scaling-factor precision under INT4-asymmetric per-group quantization with group size 128.</a:t>
            </a:r>
            <a:endParaRPr lang="en-US" sz="1300" dirty="0"/>
          </a:p>
        </p:txBody>
      </p:sp>
      <p:sp>
        <p:nvSpPr>
          <p:cNvPr id="69" name="Shape 66"/>
          <p:cNvSpPr/>
          <p:nvPr/>
        </p:nvSpPr>
        <p:spPr>
          <a:xfrm>
            <a:off x="868680" y="4754880"/>
            <a:ext cx="3337560" cy="932688"/>
          </a:xfrm>
          <a:prstGeom prst="roundRect">
            <a:avLst>
              <a:gd name="adj" fmla="val 5882"/>
            </a:avLst>
          </a:prstGeom>
          <a:solidFill>
            <a:srgbClr val="E2F0D9"/>
          </a:solidFill>
          <a:ln w="13335">
            <a:solidFill>
              <a:srgbClr val="548235"/>
            </a:solidFill>
            <a:prstDash val="solid"/>
          </a:ln>
        </p:spPr>
        <p:txBody>
          <a:bodyPr/>
          <a:lstStyle/>
          <a:p>
            <a:endParaRPr lang="ko-KR" altLang="en-US"/>
          </a:p>
        </p:txBody>
      </p:sp>
      <p:sp>
        <p:nvSpPr>
          <p:cNvPr id="70" name="Text 67"/>
          <p:cNvSpPr/>
          <p:nvPr/>
        </p:nvSpPr>
        <p:spPr>
          <a:xfrm>
            <a:off x="1033272" y="4864608"/>
            <a:ext cx="30083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Observation 1</a:t>
            </a:r>
            <a:endParaRPr lang="en-US" sz="1200" dirty="0"/>
          </a:p>
        </p:txBody>
      </p:sp>
      <p:sp>
        <p:nvSpPr>
          <p:cNvPr id="71" name="Text 68"/>
          <p:cNvSpPr/>
          <p:nvPr/>
        </p:nvSpPr>
        <p:spPr>
          <a:xfrm>
            <a:off x="1097280" y="5184648"/>
            <a:ext cx="2880360" cy="182880"/>
          </a:xfrm>
          <a:prstGeom prst="rect">
            <a:avLst/>
          </a:prstGeom>
          <a:noFill/>
          <a:ln/>
        </p:spPr>
        <p:txBody>
          <a:bodyPr wrap="square" lIns="0" tIns="0" rIns="0" bIns="0" rtlCol="0" anchor="ctr">
            <a:normAutofit/>
          </a:bodyPr>
          <a:lstStyle/>
          <a:p>
            <a:pPr marL="0" indent="0" algn="ctr">
              <a:buNone/>
            </a:pPr>
            <a:r>
              <a:rPr lang="en-US" sz="1100" b="1" dirty="0">
                <a:solidFill>
                  <a:srgbClr val="548235"/>
                </a:solidFill>
                <a:latin typeface="Arial" pitchFamily="34" charset="0"/>
                <a:ea typeface="Arial" pitchFamily="34" charset="-122"/>
                <a:cs typeface="Arial" pitchFamily="34" charset="-120"/>
              </a:rPr>
              <a:t>INT8 matches FP16 </a:t>
            </a:r>
            <a:r>
              <a:rPr lang="en-US" sz="1100" b="1" dirty="0">
                <a:solidFill>
                  <a:srgbClr val="FF0000"/>
                </a:solidFill>
                <a:latin typeface="Arial" pitchFamily="34" charset="0"/>
                <a:ea typeface="Arial" pitchFamily="34" charset="-122"/>
                <a:cs typeface="Arial" pitchFamily="34" charset="-120"/>
              </a:rPr>
              <a:t>exactly</a:t>
            </a:r>
            <a:r>
              <a:rPr lang="en-US" sz="1100" b="1" dirty="0">
                <a:solidFill>
                  <a:srgbClr val="548235"/>
                </a:solidFill>
                <a:latin typeface="Arial" pitchFamily="34" charset="0"/>
                <a:ea typeface="Arial" pitchFamily="34" charset="-122"/>
                <a:cs typeface="Arial" pitchFamily="34" charset="-120"/>
              </a:rPr>
              <a:t> in the table.</a:t>
            </a:r>
            <a:endParaRPr lang="en-US" sz="1100" dirty="0"/>
          </a:p>
        </p:txBody>
      </p:sp>
      <p:sp>
        <p:nvSpPr>
          <p:cNvPr id="72" name="Shape 69"/>
          <p:cNvSpPr/>
          <p:nvPr/>
        </p:nvSpPr>
        <p:spPr>
          <a:xfrm>
            <a:off x="4462272" y="4754880"/>
            <a:ext cx="3337560" cy="932688"/>
          </a:xfrm>
          <a:prstGeom prst="roundRect">
            <a:avLst>
              <a:gd name="adj" fmla="val 5882"/>
            </a:avLst>
          </a:prstGeom>
          <a:solidFill>
            <a:srgbClr val="FFFDF2"/>
          </a:solidFill>
          <a:ln w="13335">
            <a:solidFill>
              <a:srgbClr val="D6B656"/>
            </a:solidFill>
            <a:prstDash val="solid"/>
          </a:ln>
        </p:spPr>
        <p:txBody>
          <a:bodyPr/>
          <a:lstStyle/>
          <a:p>
            <a:endParaRPr lang="ko-KR" altLang="en-US"/>
          </a:p>
        </p:txBody>
      </p:sp>
      <p:sp>
        <p:nvSpPr>
          <p:cNvPr id="73" name="Text 70"/>
          <p:cNvSpPr/>
          <p:nvPr/>
        </p:nvSpPr>
        <p:spPr>
          <a:xfrm>
            <a:off x="4626864" y="4864608"/>
            <a:ext cx="30083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Observation 2</a:t>
            </a:r>
            <a:endParaRPr lang="en-US" sz="1200" dirty="0"/>
          </a:p>
        </p:txBody>
      </p:sp>
      <p:sp>
        <p:nvSpPr>
          <p:cNvPr id="74" name="Text 71"/>
          <p:cNvSpPr/>
          <p:nvPr/>
        </p:nvSpPr>
        <p:spPr>
          <a:xfrm>
            <a:off x="4690872" y="5184648"/>
            <a:ext cx="2880360" cy="182880"/>
          </a:xfrm>
          <a:prstGeom prst="rect">
            <a:avLst/>
          </a:prstGeom>
          <a:noFill/>
          <a:ln/>
        </p:spPr>
        <p:txBody>
          <a:bodyPr wrap="square" lIns="0" tIns="0" rIns="0" bIns="0" rtlCol="0" anchor="ctr">
            <a:normAutofit/>
          </a:bodyPr>
          <a:lstStyle/>
          <a:p>
            <a:pPr marL="0" indent="0" algn="ctr">
              <a:buNone/>
            </a:pPr>
            <a:r>
              <a:rPr lang="en-US" sz="1100" b="1" dirty="0">
                <a:solidFill>
                  <a:srgbClr val="00245D"/>
                </a:solidFill>
                <a:latin typeface="Arial" pitchFamily="34" charset="0"/>
                <a:ea typeface="Arial" pitchFamily="34" charset="-122"/>
                <a:cs typeface="Arial" pitchFamily="34" charset="-120"/>
              </a:rPr>
              <a:t>INT6 / INT4 are close, but not identical.</a:t>
            </a:r>
            <a:endParaRPr lang="en-US" sz="1100" dirty="0"/>
          </a:p>
        </p:txBody>
      </p:sp>
      <p:sp>
        <p:nvSpPr>
          <p:cNvPr id="75" name="Shape 72"/>
          <p:cNvSpPr/>
          <p:nvPr/>
        </p:nvSpPr>
        <p:spPr>
          <a:xfrm>
            <a:off x="8046720" y="4754880"/>
            <a:ext cx="3337560" cy="932688"/>
          </a:xfrm>
          <a:prstGeom prst="roundRect">
            <a:avLst>
              <a:gd name="adj" fmla="val 5882"/>
            </a:avLst>
          </a:prstGeom>
          <a:solidFill>
            <a:srgbClr val="FDECEC"/>
          </a:solidFill>
          <a:ln w="13335">
            <a:solidFill>
              <a:srgbClr val="E6B8B7"/>
            </a:solidFill>
            <a:prstDash val="solid"/>
          </a:ln>
        </p:spPr>
        <p:txBody>
          <a:bodyPr/>
          <a:lstStyle/>
          <a:p>
            <a:endParaRPr lang="ko-KR" altLang="en-US"/>
          </a:p>
        </p:txBody>
      </p:sp>
      <p:sp>
        <p:nvSpPr>
          <p:cNvPr id="76" name="Text 73"/>
          <p:cNvSpPr/>
          <p:nvPr/>
        </p:nvSpPr>
        <p:spPr>
          <a:xfrm>
            <a:off x="8211312" y="4864608"/>
            <a:ext cx="30083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Observation 3</a:t>
            </a:r>
            <a:endParaRPr lang="en-US" sz="1200" dirty="0"/>
          </a:p>
        </p:txBody>
      </p:sp>
      <p:sp>
        <p:nvSpPr>
          <p:cNvPr id="77" name="Text 74"/>
          <p:cNvSpPr/>
          <p:nvPr/>
        </p:nvSpPr>
        <p:spPr>
          <a:xfrm>
            <a:off x="8275320" y="5184648"/>
            <a:ext cx="2880360" cy="182880"/>
          </a:xfrm>
          <a:prstGeom prst="rect">
            <a:avLst/>
          </a:prstGeom>
          <a:noFill/>
          <a:ln/>
        </p:spPr>
        <p:txBody>
          <a:bodyPr wrap="square" lIns="0" tIns="0" rIns="0" bIns="0" rtlCol="0" anchor="ctr">
            <a:normAutofit/>
          </a:bodyPr>
          <a:lstStyle/>
          <a:p>
            <a:pPr marL="0" indent="0" algn="ctr">
              <a:buNone/>
            </a:pPr>
            <a:r>
              <a:rPr lang="en-US" sz="1100" b="1" dirty="0">
                <a:solidFill>
                  <a:srgbClr val="C00000"/>
                </a:solidFill>
                <a:latin typeface="Arial" pitchFamily="34" charset="0"/>
                <a:ea typeface="Arial" pitchFamily="34" charset="-122"/>
                <a:cs typeface="Arial" pitchFamily="34" charset="-120"/>
              </a:rPr>
              <a:t>INT2 hurts perplexity significantly.</a:t>
            </a:r>
            <a:endParaRPr lang="en-US" sz="1100" dirty="0"/>
          </a:p>
        </p:txBody>
      </p:sp>
      <p:pic>
        <p:nvPicPr>
          <p:cNvPr id="79" name="그림 78">
            <a:extLst>
              <a:ext uri="{FF2B5EF4-FFF2-40B4-BE49-F238E27FC236}">
                <a16:creationId xmlns:a16="http://schemas.microsoft.com/office/drawing/2014/main" id="{D799AF13-C6EE-E256-C47B-D4F611B00480}"/>
              </a:ext>
            </a:extLst>
          </p:cNvPr>
          <p:cNvPicPr>
            <a:picLocks noChangeAspect="1"/>
          </p:cNvPicPr>
          <p:nvPr/>
        </p:nvPicPr>
        <p:blipFill>
          <a:blip r:embed="rId4"/>
          <a:stretch>
            <a:fillRect/>
          </a:stretch>
        </p:blipFill>
        <p:spPr>
          <a:xfrm>
            <a:off x="2809866" y="1408176"/>
            <a:ext cx="5858886" cy="284889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84048"/>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Channel size, group size, and metadata overhead</a:t>
            </a:r>
            <a:endParaRPr lang="en-US" sz="2000" dirty="0"/>
          </a:p>
        </p:txBody>
      </p:sp>
      <p:sp>
        <p:nvSpPr>
          <p:cNvPr id="3" name="Text 1"/>
          <p:cNvSpPr/>
          <p:nvPr/>
        </p:nvSpPr>
        <p:spPr>
          <a:xfrm>
            <a:off x="11475720" y="384048"/>
            <a:ext cx="411480" cy="228600"/>
          </a:xfrm>
          <a:prstGeom prst="rect">
            <a:avLst/>
          </a:prstGeom>
          <a:noFill/>
          <a:ln/>
        </p:spPr>
        <p:txBody>
          <a:bodyPr wrap="square" lIns="0" tIns="0" rIns="0" bIns="0" rtlCol="0" anchor="ctr"/>
          <a:lstStyle/>
          <a:p>
            <a:pPr marL="0" indent="0" algn="r">
              <a:buNone/>
            </a:pPr>
            <a:endParaRPr lang="en-US" sz="1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52</a:t>
            </a:r>
            <a:endParaRPr lang="en-US" sz="1000" dirty="0"/>
          </a:p>
        </p:txBody>
      </p:sp>
      <p:sp>
        <p:nvSpPr>
          <p:cNvPr id="8" name="Text 5"/>
          <p:cNvSpPr/>
          <p:nvPr/>
        </p:nvSpPr>
        <p:spPr>
          <a:xfrm>
            <a:off x="594360" y="1024128"/>
            <a:ext cx="10881360" cy="292608"/>
          </a:xfrm>
          <a:prstGeom prst="rect">
            <a:avLst/>
          </a:prstGeom>
          <a:noFill/>
          <a:ln/>
        </p:spPr>
        <p:txBody>
          <a:bodyPr wrap="square" lIns="0" tIns="0" rIns="0" bIns="0" rtlCol="0" anchor="ctr"/>
          <a:lstStyle/>
          <a:p>
            <a:pPr marL="0" indent="0">
              <a:buNone/>
            </a:pPr>
            <a:r>
              <a:rPr lang="en-US" sz="1300" dirty="0">
                <a:solidFill>
                  <a:srgbClr val="222222"/>
                </a:solidFill>
                <a:latin typeface="Arial" pitchFamily="34" charset="0"/>
                <a:ea typeface="Arial" pitchFamily="34" charset="-122"/>
                <a:cs typeface="Arial" pitchFamily="34" charset="-120"/>
              </a:rPr>
              <a:t>BitMoD stores one INT8 scaling factor and one 2-bit Special Value ID per group.</a:t>
            </a:r>
            <a:endParaRPr lang="en-US" sz="1300" dirty="0"/>
          </a:p>
        </p:txBody>
      </p:sp>
      <p:sp>
        <p:nvSpPr>
          <p:cNvPr id="9" name="Shape 6"/>
          <p:cNvSpPr/>
          <p:nvPr/>
        </p:nvSpPr>
        <p:spPr>
          <a:xfrm>
            <a:off x="685800" y="1417320"/>
            <a:ext cx="4297680" cy="4526280"/>
          </a:xfrm>
          <a:prstGeom prst="roundRect">
            <a:avLst>
              <a:gd name="adj" fmla="val 1277"/>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27048"/>
            <a:ext cx="39684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How many groups per channel?</a:t>
            </a:r>
            <a:endParaRPr lang="en-US" sz="1200" dirty="0"/>
          </a:p>
        </p:txBody>
      </p:sp>
      <mc:AlternateContent xmlns:mc="http://schemas.openxmlformats.org/markup-compatibility/2006" xmlns:a14="http://schemas.microsoft.com/office/drawing/2010/main">
        <mc:Choice Requires="a14">
          <p:sp>
            <p:nvSpPr>
              <p:cNvPr id="11" name="Text 8"/>
              <p:cNvSpPr/>
              <p:nvPr/>
            </p:nvSpPr>
            <p:spPr>
              <a:xfrm>
                <a:off x="914400" y="1965960"/>
                <a:ext cx="3840480" cy="59436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f>
                        <m:fPr>
                          <m:ctrlPr>
                            <a:rPr lang="ko-KR" altLang="en-US" sz="1180" smtClean="0">
                              <a:latin typeface="Cambria Math"/>
                            </a:rPr>
                          </m:ctrlPr>
                        </m:fPr>
                        <m:num>
                          <m:r>
                            <a:rPr lang="ko-KR" altLang="en-US" sz="1180" smtClean="0">
                              <a:latin typeface="Cambria Math"/>
                            </a:rPr>
                            <m:t>𝐷</m:t>
                          </m:r>
                        </m:num>
                        <m:den>
                          <m:r>
                            <a:rPr lang="ko-KR" altLang="en-US" sz="1180" smtClean="0">
                              <a:latin typeface="Cambria Math"/>
                            </a:rPr>
                            <m:t>𝐺</m:t>
                          </m:r>
                        </m:den>
                      </m:f>
                      <m:r>
                        <a:rPr lang="ko-KR" altLang="en-US" sz="1180" smtClean="0">
                          <a:latin typeface="Cambria Math"/>
                        </a:rPr>
                        <m:t>=</m:t>
                      </m:r>
                      <m:f>
                        <m:fPr>
                          <m:ctrlPr>
                            <a:rPr lang="ko-KR" altLang="en-US" sz="1180" smtClean="0">
                              <a:latin typeface="Cambria Math"/>
                            </a:rPr>
                          </m:ctrlPr>
                        </m:fPr>
                        <m:num>
                          <m:r>
                            <a:rPr lang="ko-KR" altLang="en-US" sz="1180" smtClean="0">
                              <a:latin typeface="Cambria Math"/>
                            </a:rPr>
                            <m:t>4096</m:t>
                          </m:r>
                        </m:num>
                        <m:den>
                          <m:r>
                            <a:rPr lang="ko-KR" altLang="en-US" sz="1180" smtClean="0">
                              <a:latin typeface="Cambria Math"/>
                            </a:rPr>
                            <m:t>128</m:t>
                          </m:r>
                        </m:den>
                      </m:f>
                      <m:r>
                        <a:rPr lang="ko-KR" altLang="en-US" sz="1180" smtClean="0">
                          <a:latin typeface="Cambria Math"/>
                        </a:rPr>
                        <m:t>=32 </m:t>
                      </m:r>
                      <m:r>
                        <m:rPr>
                          <m:sty m:val="p"/>
                        </m:rPr>
                        <a:rPr lang="ko-KR" altLang="en-US" sz="1180" smtClean="0">
                          <a:latin typeface="Cambria Math"/>
                        </a:rPr>
                        <m:t>groups</m:t>
                      </m:r>
                      <m:r>
                        <a:rPr lang="ko-KR" altLang="en-US" sz="1180" smtClean="0">
                          <a:latin typeface="Cambria Math"/>
                        </a:rPr>
                        <m:t>/</m:t>
                      </m:r>
                      <m:r>
                        <m:rPr>
                          <m:sty m:val="p"/>
                        </m:rPr>
                        <a:rPr lang="ko-KR" altLang="en-US" sz="1180" smtClean="0">
                          <a:latin typeface="Cambria Math"/>
                        </a:rPr>
                        <m:t>channel</m:t>
                      </m:r>
                    </m:oMath>
                  </m:oMathPara>
                </a14:m>
                <a:endParaRPr/>
              </a:p>
            </p:txBody>
          </p:sp>
        </mc:Choice>
        <mc:Fallback xmlns="">
          <p:sp>
            <p:nvSpPr>
              <p:cNvPr id="11" name="Text 8"/>
              <p:cNvSpPr>
                <a:spLocks noRot="1" noChangeAspect="1" noMove="1" noResize="1" noEditPoints="1" noAdjustHandles="1" noChangeArrowheads="1" noChangeShapeType="1" noTextEdit="1"/>
              </p:cNvSpPr>
              <p:nvPr/>
            </p:nvSpPr>
            <p:spPr>
              <a:xfrm>
                <a:off x="914400" y="1965960"/>
                <a:ext cx="3840480" cy="594360"/>
              </a:xfrm>
              <a:prstGeom prst="rect">
                <a:avLst/>
              </a:prstGeom>
              <a:blipFill>
                <a:blip r:embed="rId4"/>
                <a:stretch>
                  <a:fillRect/>
                </a:stretch>
              </a:blipFill>
              <a:ln/>
            </p:spPr>
            <p:txBody>
              <a:bodyPr/>
              <a:lstStyle/>
              <a:p>
                <a:r>
                  <a:rPr lang="ko-KR" altLang="en-US">
                    <a:noFill/>
                  </a:rPr>
                  <a:t> </a:t>
                </a:r>
              </a:p>
            </p:txBody>
          </p:sp>
        </mc:Fallback>
      </mc:AlternateContent>
      <p:sp>
        <p:nvSpPr>
          <p:cNvPr id="12" name="Text 9"/>
          <p:cNvSpPr/>
          <p:nvPr/>
        </p:nvSpPr>
        <p:spPr>
          <a:xfrm>
            <a:off x="960120" y="2852928"/>
            <a:ext cx="3749040" cy="182880"/>
          </a:xfrm>
          <a:prstGeom prst="rect">
            <a:avLst/>
          </a:prstGeom>
          <a:noFill/>
          <a:ln/>
        </p:spPr>
        <p:txBody>
          <a:bodyPr wrap="square" lIns="0" tIns="0" rIns="0" bIns="0" rtlCol="0" anchor="ctr"/>
          <a:lstStyle/>
          <a:p>
            <a:pPr marL="0" indent="0" algn="ctr">
              <a:buNone/>
            </a:pPr>
            <a:r>
              <a:rPr lang="en-US" sz="1100" b="1" dirty="0">
                <a:solidFill>
                  <a:srgbClr val="00245D"/>
                </a:solidFill>
                <a:latin typeface="Arial" pitchFamily="34" charset="0"/>
                <a:ea typeface="Arial" pitchFamily="34" charset="-122"/>
                <a:cs typeface="Arial" pitchFamily="34" charset="-120"/>
              </a:rPr>
              <a:t>Example from the MD file</a:t>
            </a:r>
            <a:endParaRPr lang="en-US" sz="1100" dirty="0"/>
          </a:p>
        </p:txBody>
      </p:sp>
      <p:sp>
        <p:nvSpPr>
          <p:cNvPr id="13" name="Text 10"/>
          <p:cNvSpPr/>
          <p:nvPr/>
        </p:nvSpPr>
        <p:spPr>
          <a:xfrm>
            <a:off x="1051560" y="3246120"/>
            <a:ext cx="3566160" cy="1280160"/>
          </a:xfrm>
          <a:prstGeom prst="rect">
            <a:avLst/>
          </a:prstGeom>
          <a:noFill/>
          <a:ln/>
        </p:spPr>
        <p:txBody>
          <a:bodyPr wrap="square" lIns="254" tIns="254" rIns="254" bIns="254" rtlCol="0" anchor="ctr">
            <a:normAutofit/>
          </a:bodyPr>
          <a:lstStyle/>
          <a:p>
            <a:pPr marL="0" indent="0" algn="ctr">
              <a:buNone/>
            </a:pPr>
            <a:r>
              <a:rPr lang="en-US" sz="1100" dirty="0">
                <a:solidFill>
                  <a:srgbClr val="222222"/>
                </a:solidFill>
                <a:latin typeface="Arial" pitchFamily="34" charset="0"/>
                <a:ea typeface="Arial" pitchFamily="34" charset="-122"/>
                <a:cs typeface="Arial" pitchFamily="34" charset="-120"/>
              </a:rPr>
              <a:t>Channel size D = 4096</a:t>
            </a:r>
            <a:endParaRPr lang="en-US" sz="1100" dirty="0"/>
          </a:p>
          <a:p>
            <a:pPr marL="0" indent="0" algn="ctr">
              <a:buNone/>
            </a:pPr>
            <a:r>
              <a:rPr lang="en-US" sz="1100" dirty="0">
                <a:solidFill>
                  <a:srgbClr val="222222"/>
                </a:solidFill>
                <a:latin typeface="Arial" pitchFamily="34" charset="0"/>
                <a:ea typeface="Arial" pitchFamily="34" charset="-122"/>
                <a:cs typeface="Arial" pitchFamily="34" charset="-120"/>
              </a:rPr>
              <a:t>Group size G = 128</a:t>
            </a:r>
            <a:endParaRPr lang="en-US" sz="1100" dirty="0"/>
          </a:p>
          <a:p>
            <a:pPr marL="0" indent="0" algn="ctr">
              <a:buNone/>
            </a:pPr>
            <a:endParaRPr lang="en-US" sz="1100" dirty="0"/>
          </a:p>
          <a:p>
            <a:pPr marL="0" indent="0" algn="ctr">
              <a:buNone/>
            </a:pPr>
            <a:r>
              <a:rPr lang="en-US" sz="1100" dirty="0">
                <a:solidFill>
                  <a:srgbClr val="222222"/>
                </a:solidFill>
                <a:latin typeface="Arial" pitchFamily="34" charset="0"/>
                <a:ea typeface="Arial" pitchFamily="34" charset="-122"/>
                <a:cs typeface="Arial" pitchFamily="34" charset="-120"/>
              </a:rPr>
              <a:t>One channel has 32 groups.</a:t>
            </a:r>
            <a:endParaRPr lang="en-US" sz="1100" dirty="0"/>
          </a:p>
          <a:p>
            <a:pPr marL="0" indent="0" algn="ctr">
              <a:buNone/>
            </a:pPr>
            <a:r>
              <a:rPr lang="en-US" sz="1100" dirty="0">
                <a:solidFill>
                  <a:srgbClr val="222222"/>
                </a:solidFill>
                <a:latin typeface="Arial" pitchFamily="34" charset="0"/>
                <a:ea typeface="Arial" pitchFamily="34" charset="-122"/>
                <a:cs typeface="Arial" pitchFamily="34" charset="-120"/>
              </a:rPr>
              <a:t>Each group has its own INT8 scaling factor.</a:t>
            </a:r>
            <a:endParaRPr lang="en-US" sz="1100" dirty="0"/>
          </a:p>
        </p:txBody>
      </p:sp>
      <p:sp>
        <p:nvSpPr>
          <p:cNvPr id="14" name="Shape 11"/>
          <p:cNvSpPr/>
          <p:nvPr/>
        </p:nvSpPr>
        <p:spPr>
          <a:xfrm>
            <a:off x="5303520" y="1417320"/>
            <a:ext cx="2788920" cy="4526280"/>
          </a:xfrm>
          <a:prstGeom prst="roundRect">
            <a:avLst>
              <a:gd name="adj" fmla="val 1967"/>
            </a:avLst>
          </a:prstGeom>
          <a:solidFill>
            <a:srgbClr val="FFFDF2"/>
          </a:solidFill>
          <a:ln w="13335">
            <a:solidFill>
              <a:srgbClr val="D6B656"/>
            </a:solidFill>
            <a:prstDash val="solid"/>
          </a:ln>
        </p:spPr>
        <p:txBody>
          <a:bodyPr/>
          <a:lstStyle/>
          <a:p>
            <a:endParaRPr lang="ko-KR" altLang="en-US"/>
          </a:p>
        </p:txBody>
      </p:sp>
      <p:sp>
        <p:nvSpPr>
          <p:cNvPr id="15" name="Text 12"/>
          <p:cNvSpPr/>
          <p:nvPr/>
        </p:nvSpPr>
        <p:spPr>
          <a:xfrm>
            <a:off x="5468112" y="1527048"/>
            <a:ext cx="2459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Metadata per group</a:t>
            </a:r>
            <a:endParaRPr lang="en-US" sz="1200" dirty="0"/>
          </a:p>
        </p:txBody>
      </p:sp>
      <mc:AlternateContent xmlns:mc="http://schemas.openxmlformats.org/markup-compatibility/2006" xmlns:a14="http://schemas.microsoft.com/office/drawing/2010/main">
        <mc:Choice Requires="a14">
          <p:sp>
            <p:nvSpPr>
              <p:cNvPr id="16" name="Text 13"/>
              <p:cNvSpPr/>
              <p:nvPr/>
            </p:nvSpPr>
            <p:spPr>
              <a:xfrm>
                <a:off x="5532120" y="2011680"/>
                <a:ext cx="2331720" cy="530352"/>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r>
                        <a:rPr lang="ko-KR" altLang="en-US" sz="1180" smtClean="0">
                          <a:latin typeface="Cambria Math"/>
                        </a:rPr>
                        <m:t>8 </m:t>
                      </m:r>
                      <m:r>
                        <m:rPr>
                          <m:sty m:val="p"/>
                        </m:rPr>
                        <a:rPr lang="ko-KR" altLang="en-US" sz="1180" smtClean="0">
                          <a:latin typeface="Cambria Math"/>
                        </a:rPr>
                        <m:t>bits</m:t>
                      </m:r>
                      <m:r>
                        <a:rPr lang="ko-KR" altLang="en-US" sz="1180" smtClean="0">
                          <a:latin typeface="Cambria Math"/>
                        </a:rPr>
                        <m:t>+2 </m:t>
                      </m:r>
                      <m:r>
                        <m:rPr>
                          <m:sty m:val="p"/>
                        </m:rPr>
                        <a:rPr lang="ko-KR" altLang="en-US" sz="1180" smtClean="0">
                          <a:latin typeface="Cambria Math"/>
                        </a:rPr>
                        <m:t>bits</m:t>
                      </m:r>
                      <m:r>
                        <a:rPr lang="ko-KR" altLang="en-US" sz="1180" smtClean="0">
                          <a:latin typeface="Cambria Math"/>
                        </a:rPr>
                        <m:t>=10 </m:t>
                      </m:r>
                      <m:r>
                        <m:rPr>
                          <m:sty m:val="p"/>
                        </m:rPr>
                        <a:rPr lang="ko-KR" altLang="en-US" sz="1180" smtClean="0">
                          <a:latin typeface="Cambria Math"/>
                        </a:rPr>
                        <m:t>bits</m:t>
                      </m:r>
                      <m:r>
                        <a:rPr lang="ko-KR" altLang="en-US" sz="1180" smtClean="0">
                          <a:latin typeface="Cambria Math"/>
                        </a:rPr>
                        <m:t>/</m:t>
                      </m:r>
                      <m:r>
                        <m:rPr>
                          <m:sty m:val="p"/>
                        </m:rPr>
                        <a:rPr lang="ko-KR" altLang="en-US" sz="1180" smtClean="0">
                          <a:latin typeface="Cambria Math"/>
                        </a:rPr>
                        <m:t>group</m:t>
                      </m:r>
                    </m:oMath>
                  </m:oMathPara>
                </a14:m>
                <a:endParaRPr/>
              </a:p>
            </p:txBody>
          </p:sp>
        </mc:Choice>
        <mc:Fallback xmlns="">
          <p:sp>
            <p:nvSpPr>
              <p:cNvPr id="16" name="Text 13"/>
              <p:cNvSpPr>
                <a:spLocks noRot="1" noChangeAspect="1" noMove="1" noResize="1" noEditPoints="1" noAdjustHandles="1" noChangeArrowheads="1" noChangeShapeType="1" noTextEdit="1"/>
              </p:cNvSpPr>
              <p:nvPr/>
            </p:nvSpPr>
            <p:spPr>
              <a:xfrm>
                <a:off x="5532120" y="2011680"/>
                <a:ext cx="2331720" cy="530352"/>
              </a:xfrm>
              <a:prstGeom prst="rect">
                <a:avLst/>
              </a:prstGeom>
              <a:blipFill>
                <a:blip r:embed="rId5"/>
                <a:stretch>
                  <a:fillRect/>
                </a:stretch>
              </a:blipFill>
              <a:ln/>
            </p:spPr>
            <p:txBody>
              <a:bodyPr/>
              <a:lstStyle/>
              <a:p>
                <a:r>
                  <a:rPr lang="ko-KR" altLang="en-US">
                    <a:noFill/>
                  </a:rPr>
                  <a:t> </a:t>
                </a:r>
              </a:p>
            </p:txBody>
          </p:sp>
        </mc:Fallback>
      </mc:AlternateContent>
      <p:sp>
        <p:nvSpPr>
          <p:cNvPr id="17" name="Text 14"/>
          <p:cNvSpPr/>
          <p:nvPr/>
        </p:nvSpPr>
        <p:spPr>
          <a:xfrm>
            <a:off x="5623560" y="2926080"/>
            <a:ext cx="2148840" cy="1234440"/>
          </a:xfrm>
          <a:prstGeom prst="rect">
            <a:avLst/>
          </a:prstGeom>
          <a:noFill/>
          <a:ln/>
        </p:spPr>
        <p:txBody>
          <a:bodyPr wrap="square" lIns="254" tIns="254" rIns="254" bIns="254" rtlCol="0" anchor="ctr">
            <a:normAutofit/>
          </a:bodyPr>
          <a:lstStyle/>
          <a:p>
            <a:pPr marL="0" indent="0" algn="ctr">
              <a:buNone/>
            </a:pPr>
            <a:r>
              <a:rPr lang="en-US" sz="1200" b="1" dirty="0">
                <a:solidFill>
                  <a:srgbClr val="00245D"/>
                </a:solidFill>
                <a:latin typeface="Arial" pitchFamily="34" charset="0"/>
                <a:ea typeface="Arial" pitchFamily="34" charset="-122"/>
                <a:cs typeface="Arial" pitchFamily="34" charset="-120"/>
              </a:rPr>
              <a:t>8-bit INT8 scale</a:t>
            </a:r>
            <a:endParaRPr lang="en-US" sz="1200" dirty="0"/>
          </a:p>
          <a:p>
            <a:pPr marL="0" indent="0" algn="ctr">
              <a:buNone/>
            </a:pPr>
            <a:r>
              <a:rPr lang="en-US" sz="1200" b="1" dirty="0">
                <a:solidFill>
                  <a:srgbClr val="00245D"/>
                </a:solidFill>
                <a:latin typeface="Arial" pitchFamily="34" charset="0"/>
                <a:ea typeface="Arial" pitchFamily="34" charset="-122"/>
                <a:cs typeface="Arial" pitchFamily="34" charset="-120"/>
              </a:rPr>
              <a:t>+</a:t>
            </a:r>
            <a:endParaRPr lang="en-US" sz="1200" dirty="0"/>
          </a:p>
          <a:p>
            <a:pPr marL="0" indent="0" algn="ctr">
              <a:buNone/>
            </a:pPr>
            <a:r>
              <a:rPr lang="en-US" sz="1200" b="1" dirty="0">
                <a:solidFill>
                  <a:srgbClr val="00245D"/>
                </a:solidFill>
                <a:latin typeface="Arial" pitchFamily="34" charset="0"/>
                <a:ea typeface="Arial" pitchFamily="34" charset="-122"/>
                <a:cs typeface="Arial" pitchFamily="34" charset="-120"/>
              </a:rPr>
              <a:t>2-bit SV ID</a:t>
            </a:r>
            <a:endParaRPr lang="en-US" sz="1200" dirty="0"/>
          </a:p>
          <a:p>
            <a:pPr marL="0" indent="0" algn="ctr">
              <a:buNone/>
            </a:pPr>
            <a:r>
              <a:rPr lang="en-US" sz="1200" b="1" dirty="0">
                <a:solidFill>
                  <a:srgbClr val="00245D"/>
                </a:solidFill>
                <a:latin typeface="Arial" pitchFamily="34" charset="0"/>
                <a:ea typeface="Arial" pitchFamily="34" charset="-122"/>
                <a:cs typeface="Arial" pitchFamily="34" charset="-120"/>
              </a:rPr>
              <a:t>=</a:t>
            </a:r>
            <a:endParaRPr lang="en-US" sz="1200" dirty="0"/>
          </a:p>
          <a:p>
            <a:pPr marL="0" indent="0" algn="ctr">
              <a:buNone/>
            </a:pPr>
            <a:r>
              <a:rPr lang="en-US" sz="1200" b="1" dirty="0">
                <a:solidFill>
                  <a:srgbClr val="00245D"/>
                </a:solidFill>
                <a:latin typeface="Arial" pitchFamily="34" charset="0"/>
                <a:ea typeface="Arial" pitchFamily="34" charset="-122"/>
                <a:cs typeface="Arial" pitchFamily="34" charset="-120"/>
              </a:rPr>
              <a:t>10 bits / group</a:t>
            </a:r>
            <a:endParaRPr lang="en-US" sz="1200" dirty="0"/>
          </a:p>
        </p:txBody>
      </p:sp>
      <p:sp>
        <p:nvSpPr>
          <p:cNvPr id="18" name="Shape 15"/>
          <p:cNvSpPr/>
          <p:nvPr/>
        </p:nvSpPr>
        <p:spPr>
          <a:xfrm>
            <a:off x="8412480" y="1417320"/>
            <a:ext cx="3063240" cy="4526280"/>
          </a:xfrm>
          <a:prstGeom prst="roundRect">
            <a:avLst>
              <a:gd name="adj" fmla="val 1791"/>
            </a:avLst>
          </a:prstGeom>
          <a:solidFill>
            <a:srgbClr val="F3F8FF"/>
          </a:solidFill>
          <a:ln w="13335">
            <a:solidFill>
              <a:srgbClr val="9EADCC"/>
            </a:solidFill>
            <a:prstDash val="solid"/>
          </a:ln>
        </p:spPr>
        <p:txBody>
          <a:bodyPr/>
          <a:lstStyle/>
          <a:p>
            <a:endParaRPr lang="ko-KR" altLang="en-US"/>
          </a:p>
        </p:txBody>
      </p:sp>
      <p:sp>
        <p:nvSpPr>
          <p:cNvPr id="19" name="Text 16"/>
          <p:cNvSpPr/>
          <p:nvPr/>
        </p:nvSpPr>
        <p:spPr>
          <a:xfrm>
            <a:off x="8577072" y="1527048"/>
            <a:ext cx="27340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Overhead vs weight bits</a:t>
            </a:r>
            <a:endParaRPr lang="en-US" sz="1200" dirty="0"/>
          </a:p>
        </p:txBody>
      </p:sp>
      <mc:AlternateContent xmlns:mc="http://schemas.openxmlformats.org/markup-compatibility/2006" xmlns:a14="http://schemas.microsoft.com/office/drawing/2010/main">
        <mc:Choice Requires="a14">
          <p:sp>
            <p:nvSpPr>
              <p:cNvPr id="20" name="Text 17"/>
              <p:cNvSpPr/>
              <p:nvPr/>
            </p:nvSpPr>
            <p:spPr>
              <a:xfrm>
                <a:off x="8641080" y="1874520"/>
                <a:ext cx="2606040" cy="5029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f>
                        <m:fPr>
                          <m:ctrlPr>
                            <a:rPr lang="ko-KR" altLang="en-US" sz="1180" smtClean="0">
                              <a:latin typeface="Cambria Math"/>
                            </a:rPr>
                          </m:ctrlPr>
                        </m:fPr>
                        <m:num>
                          <m:r>
                            <a:rPr lang="ko-KR" altLang="en-US" sz="1180" smtClean="0">
                              <a:latin typeface="Cambria Math"/>
                            </a:rPr>
                            <m:t>10</m:t>
                          </m:r>
                        </m:num>
                        <m:den>
                          <m:r>
                            <a:rPr lang="ko-KR" altLang="en-US" sz="1180" smtClean="0">
                              <a:latin typeface="Cambria Math"/>
                            </a:rPr>
                            <m:t>128×3</m:t>
                          </m:r>
                        </m:den>
                      </m:f>
                      <m:r>
                        <a:rPr lang="ko-KR" altLang="en-US" sz="1180" smtClean="0">
                          <a:latin typeface="Cambria Math"/>
                        </a:rPr>
                        <m:t>×100≈2.6%</m:t>
                      </m:r>
                    </m:oMath>
                  </m:oMathPara>
                </a14:m>
                <a:endParaRPr/>
              </a:p>
            </p:txBody>
          </p:sp>
        </mc:Choice>
        <mc:Fallback xmlns="">
          <p:sp>
            <p:nvSpPr>
              <p:cNvPr id="20" name="Text 17"/>
              <p:cNvSpPr>
                <a:spLocks noRot="1" noChangeAspect="1" noMove="1" noResize="1" noEditPoints="1" noAdjustHandles="1" noChangeArrowheads="1" noChangeShapeType="1" noTextEdit="1"/>
              </p:cNvSpPr>
              <p:nvPr/>
            </p:nvSpPr>
            <p:spPr>
              <a:xfrm>
                <a:off x="8641080" y="1874520"/>
                <a:ext cx="2606040" cy="502920"/>
              </a:xfrm>
              <a:prstGeom prst="rect">
                <a:avLst/>
              </a:prstGeom>
              <a:blipFill>
                <a:blip r:embed="rId6"/>
                <a:stretch>
                  <a:fillRect/>
                </a:stretch>
              </a:blip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Text 18"/>
              <p:cNvSpPr/>
              <p:nvPr/>
            </p:nvSpPr>
            <p:spPr>
              <a:xfrm>
                <a:off x="8641080" y="2788920"/>
                <a:ext cx="2606040" cy="50292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ParaPr>
                      <m:jc m:val="center"/>
                    </m:oMathParaPr>
                    <m:oMath>
                      <m:f>
                        <m:fPr>
                          <m:ctrlPr>
                            <a:rPr lang="ko-KR" altLang="en-US" sz="1180" smtClean="0">
                              <a:latin typeface="Cambria Math"/>
                            </a:rPr>
                          </m:ctrlPr>
                        </m:fPr>
                        <m:num>
                          <m:r>
                            <a:rPr lang="ko-KR" altLang="en-US" sz="1180" smtClean="0">
                              <a:latin typeface="Cambria Math"/>
                            </a:rPr>
                            <m:t>10</m:t>
                          </m:r>
                        </m:num>
                        <m:den>
                          <m:r>
                            <a:rPr lang="ko-KR" altLang="en-US" sz="1180" smtClean="0">
                              <a:latin typeface="Cambria Math"/>
                            </a:rPr>
                            <m:t>128×4</m:t>
                          </m:r>
                        </m:den>
                      </m:f>
                      <m:r>
                        <a:rPr lang="ko-KR" altLang="en-US" sz="1180" smtClean="0">
                          <a:latin typeface="Cambria Math"/>
                        </a:rPr>
                        <m:t>×100≈1.95%</m:t>
                      </m:r>
                    </m:oMath>
                  </m:oMathPara>
                </a14:m>
                <a:endParaRPr/>
              </a:p>
            </p:txBody>
          </p:sp>
        </mc:Choice>
        <mc:Fallback xmlns="">
          <p:sp>
            <p:nvSpPr>
              <p:cNvPr id="21" name="Text 18"/>
              <p:cNvSpPr>
                <a:spLocks noRot="1" noChangeAspect="1" noMove="1" noResize="1" noEditPoints="1" noAdjustHandles="1" noChangeArrowheads="1" noChangeShapeType="1" noTextEdit="1"/>
              </p:cNvSpPr>
              <p:nvPr/>
            </p:nvSpPr>
            <p:spPr>
              <a:xfrm>
                <a:off x="8641080" y="2788920"/>
                <a:ext cx="2606040" cy="502920"/>
              </a:xfrm>
              <a:prstGeom prst="rect">
                <a:avLst/>
              </a:prstGeom>
              <a:blipFill>
                <a:blip r:embed="rId7"/>
                <a:stretch>
                  <a:fillRect/>
                </a:stretch>
              </a:blipFill>
              <a:ln/>
            </p:spPr>
            <p:txBody>
              <a:bodyPr/>
              <a:lstStyle/>
              <a:p>
                <a:r>
                  <a:rPr lang="ko-KR" altLang="en-US">
                    <a:noFill/>
                  </a:rPr>
                  <a:t> </a:t>
                </a:r>
              </a:p>
            </p:txBody>
          </p:sp>
        </mc:Fallback>
      </mc:AlternateContent>
      <p:sp>
        <p:nvSpPr>
          <p:cNvPr id="22" name="Text 19"/>
          <p:cNvSpPr/>
          <p:nvPr/>
        </p:nvSpPr>
        <p:spPr>
          <a:xfrm>
            <a:off x="8686800" y="3977640"/>
            <a:ext cx="2514600" cy="475488"/>
          </a:xfrm>
          <a:prstGeom prst="rect">
            <a:avLst/>
          </a:prstGeom>
          <a:noFill/>
          <a:ln/>
        </p:spPr>
        <p:txBody>
          <a:bodyPr wrap="square" lIns="254" tIns="254" rIns="254" bIns="254" rtlCol="0" anchor="ctr">
            <a:normAutofit lnSpcReduction="10000"/>
          </a:bodyPr>
          <a:lstStyle/>
          <a:p>
            <a:pPr marL="0" indent="0" algn="ctr">
              <a:buNone/>
            </a:pPr>
            <a:r>
              <a:rPr lang="en-US" sz="1060" b="1" dirty="0">
                <a:solidFill>
                  <a:srgbClr val="00245D"/>
                </a:solidFill>
                <a:latin typeface="Arial" pitchFamily="34" charset="0"/>
                <a:ea typeface="Arial" pitchFamily="34" charset="-122"/>
                <a:cs typeface="Arial" pitchFamily="34" charset="-120"/>
              </a:rPr>
              <a:t>With G = 128, </a:t>
            </a:r>
            <a:r>
              <a:rPr lang="en-US" sz="1060" b="1" dirty="0">
                <a:solidFill>
                  <a:srgbClr val="FF0000"/>
                </a:solidFill>
                <a:latin typeface="Arial" pitchFamily="34" charset="0"/>
                <a:ea typeface="Arial" pitchFamily="34" charset="-122"/>
                <a:cs typeface="Arial" pitchFamily="34" charset="-120"/>
              </a:rPr>
              <a:t>metadata overhead is small </a:t>
            </a:r>
            <a:r>
              <a:rPr lang="en-US" sz="1060" b="1" dirty="0">
                <a:solidFill>
                  <a:srgbClr val="00245D"/>
                </a:solidFill>
                <a:latin typeface="Arial" pitchFamily="34" charset="0"/>
                <a:ea typeface="Arial" pitchFamily="34" charset="-122"/>
                <a:cs typeface="Arial" pitchFamily="34" charset="-120"/>
              </a:rPr>
              <a:t>compared with the weight storage.</a:t>
            </a:r>
            <a:endParaRPr lang="en-US" sz="106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C8358-66C1-343D-519E-4269F4B892F4}"/>
            </a:ext>
          </a:extLst>
        </p:cNvPr>
        <p:cNvGrpSpPr/>
        <p:nvPr/>
      </p:nvGrpSpPr>
      <p:grpSpPr>
        <a:xfrm>
          <a:off x="0" y="0"/>
          <a:ext cx="0" cy="0"/>
          <a:chOff x="0" y="0"/>
          <a:chExt cx="0" cy="0"/>
        </a:xfrm>
      </p:grpSpPr>
      <p:pic>
        <p:nvPicPr>
          <p:cNvPr id="2" name="Image 0" descr="/mnt/data/aca_top.png">
            <a:extLst>
              <a:ext uri="{FF2B5EF4-FFF2-40B4-BE49-F238E27FC236}">
                <a16:creationId xmlns:a16="http://schemas.microsoft.com/office/drawing/2014/main" id="{0CB1548E-D9DD-048A-301F-95C49FC2764A}"/>
              </a:ext>
            </a:extLst>
          </p:cNvPr>
          <p:cNvPicPr>
            <a:picLocks noChangeAspect="1"/>
          </p:cNvPicPr>
          <p:nvPr/>
        </p:nvPicPr>
        <p:blipFill>
          <a:blip r:embed="rId3"/>
          <a:stretch>
            <a:fillRect/>
          </a:stretch>
        </p:blipFill>
        <p:spPr>
          <a:xfrm>
            <a:off x="118872" y="45720"/>
            <a:ext cx="2057400" cy="566928"/>
          </a:xfrm>
          <a:prstGeom prst="rect">
            <a:avLst/>
          </a:prstGeom>
        </p:spPr>
      </p:pic>
      <p:sp>
        <p:nvSpPr>
          <p:cNvPr id="3" name="Shape 0">
            <a:extLst>
              <a:ext uri="{FF2B5EF4-FFF2-40B4-BE49-F238E27FC236}">
                <a16:creationId xmlns:a16="http://schemas.microsoft.com/office/drawing/2014/main" id="{523E1C19-DAE5-D045-42F4-3B920D867BB5}"/>
              </a:ext>
            </a:extLst>
          </p:cNvPr>
          <p:cNvSpPr/>
          <p:nvPr/>
        </p:nvSpPr>
        <p:spPr>
          <a:xfrm>
            <a:off x="338328" y="731520"/>
            <a:ext cx="11503152" cy="45720"/>
          </a:xfrm>
          <a:prstGeom prst="rect">
            <a:avLst/>
          </a:prstGeom>
          <a:solidFill>
            <a:srgbClr val="00245D"/>
          </a:solidFill>
          <a:ln w="12700">
            <a:solidFill>
              <a:srgbClr val="00245D"/>
            </a:solidFill>
            <a:prstDash val="solid"/>
          </a:ln>
        </p:spPr>
        <p:txBody>
          <a:bodyPr/>
          <a:lstStyle/>
          <a:p>
            <a:endParaRPr lang="ko-KR" altLang="en-US"/>
          </a:p>
        </p:txBody>
      </p:sp>
      <p:sp>
        <p:nvSpPr>
          <p:cNvPr id="4" name="Text 1">
            <a:extLst>
              <a:ext uri="{FF2B5EF4-FFF2-40B4-BE49-F238E27FC236}">
                <a16:creationId xmlns:a16="http://schemas.microsoft.com/office/drawing/2014/main" id="{E1C75B91-3A7C-1A72-C17C-1ED1ED7CE513}"/>
              </a:ext>
            </a:extLst>
          </p:cNvPr>
          <p:cNvSpPr/>
          <p:nvPr/>
        </p:nvSpPr>
        <p:spPr>
          <a:xfrm>
            <a:off x="960120" y="2737595"/>
            <a:ext cx="10332720" cy="777240"/>
          </a:xfrm>
          <a:prstGeom prst="rect">
            <a:avLst/>
          </a:prstGeom>
          <a:noFill/>
          <a:ln/>
        </p:spPr>
        <p:txBody>
          <a:bodyPr wrap="square" lIns="0" tIns="0" rIns="0" bIns="0" rtlCol="0" anchor="ctr"/>
          <a:lstStyle/>
          <a:p>
            <a:pPr marL="0" indent="0" algn="ctr">
              <a:buNone/>
            </a:pPr>
            <a:r>
              <a:rPr lang="en-US" sz="4800" b="1" dirty="0" err="1">
                <a:solidFill>
                  <a:srgbClr val="111111"/>
                </a:solidFill>
                <a:latin typeface="Comic Sans MS" pitchFamily="34" charset="0"/>
                <a:ea typeface="Comic Sans MS" pitchFamily="34" charset="-122"/>
                <a:cs typeface="Comic Sans MS" pitchFamily="34" charset="-120"/>
              </a:rPr>
              <a:t>BitMoD</a:t>
            </a:r>
            <a:r>
              <a:rPr lang="en-US" sz="4800" b="1" dirty="0">
                <a:solidFill>
                  <a:srgbClr val="111111"/>
                </a:solidFill>
                <a:latin typeface="Comic Sans MS" pitchFamily="34" charset="0"/>
                <a:ea typeface="Comic Sans MS" pitchFamily="34" charset="-122"/>
                <a:cs typeface="Comic Sans MS" pitchFamily="34" charset="-120"/>
              </a:rPr>
              <a:t> </a:t>
            </a:r>
            <a:r>
              <a:rPr lang="en-US" sz="4800" b="1" dirty="0" err="1">
                <a:solidFill>
                  <a:srgbClr val="111111"/>
                </a:solidFill>
                <a:latin typeface="Comic Sans MS" pitchFamily="34" charset="0"/>
                <a:ea typeface="Comic Sans MS" pitchFamily="34" charset="-122"/>
                <a:cs typeface="Comic Sans MS" pitchFamily="34" charset="-120"/>
              </a:rPr>
              <a:t>Harware</a:t>
            </a:r>
            <a:r>
              <a:rPr lang="en-US" sz="4800" b="1" dirty="0">
                <a:solidFill>
                  <a:srgbClr val="111111"/>
                </a:solidFill>
                <a:latin typeface="Comic Sans MS" pitchFamily="34" charset="0"/>
                <a:ea typeface="Comic Sans MS" pitchFamily="34" charset="-122"/>
                <a:cs typeface="Comic Sans MS" pitchFamily="34" charset="-120"/>
              </a:rPr>
              <a:t> Accelerator</a:t>
            </a:r>
            <a:endParaRPr lang="en-US" sz="4800" dirty="0"/>
          </a:p>
        </p:txBody>
      </p:sp>
      <p:sp>
        <p:nvSpPr>
          <p:cNvPr id="6" name="Shape 3">
            <a:extLst>
              <a:ext uri="{FF2B5EF4-FFF2-40B4-BE49-F238E27FC236}">
                <a16:creationId xmlns:a16="http://schemas.microsoft.com/office/drawing/2014/main" id="{D2D24AD3-2D89-9678-9C8D-168962D735AF}"/>
              </a:ext>
            </a:extLst>
          </p:cNvPr>
          <p:cNvSpPr/>
          <p:nvPr/>
        </p:nvSpPr>
        <p:spPr>
          <a:xfrm>
            <a:off x="1768642" y="3600118"/>
            <a:ext cx="8807116" cy="0"/>
          </a:xfrm>
          <a:prstGeom prst="line">
            <a:avLst/>
          </a:prstGeom>
          <a:noFill/>
          <a:ln w="25400">
            <a:solidFill>
              <a:srgbClr val="00245D"/>
            </a:solidFill>
            <a:prstDash val="solid"/>
          </a:ln>
        </p:spPr>
        <p:txBody>
          <a:bodyPr/>
          <a:lstStyle/>
          <a:p>
            <a:endParaRPr lang="ko-KR" altLang="en-US"/>
          </a:p>
        </p:txBody>
      </p:sp>
      <p:sp>
        <p:nvSpPr>
          <p:cNvPr id="7" name="Shape 4">
            <a:extLst>
              <a:ext uri="{FF2B5EF4-FFF2-40B4-BE49-F238E27FC236}">
                <a16:creationId xmlns:a16="http://schemas.microsoft.com/office/drawing/2014/main" id="{61577810-1520-DBF0-B900-300B6A7DB6A1}"/>
              </a:ext>
            </a:extLst>
          </p:cNvPr>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8" name="Image 1" descr="/mnt/data/aca_footer.png">
            <a:extLst>
              <a:ext uri="{FF2B5EF4-FFF2-40B4-BE49-F238E27FC236}">
                <a16:creationId xmlns:a16="http://schemas.microsoft.com/office/drawing/2014/main" id="{AEC97951-0059-B732-9C97-93EE3985E24A}"/>
              </a:ext>
            </a:extLst>
          </p:cNvPr>
          <p:cNvPicPr>
            <a:picLocks noChangeAspect="1"/>
          </p:cNvPicPr>
          <p:nvPr/>
        </p:nvPicPr>
        <p:blipFill>
          <a:blip r:embed="rId4"/>
          <a:stretch>
            <a:fillRect/>
          </a:stretch>
        </p:blipFill>
        <p:spPr>
          <a:xfrm>
            <a:off x="91440" y="6483096"/>
            <a:ext cx="1234440" cy="274320"/>
          </a:xfrm>
          <a:prstGeom prst="rect">
            <a:avLst/>
          </a:prstGeom>
        </p:spPr>
      </p:pic>
      <p:sp>
        <p:nvSpPr>
          <p:cNvPr id="9" name="Text 5">
            <a:extLst>
              <a:ext uri="{FF2B5EF4-FFF2-40B4-BE49-F238E27FC236}">
                <a16:creationId xmlns:a16="http://schemas.microsoft.com/office/drawing/2014/main" id="{B9D0680E-D280-84A5-EFCA-9DF0970A2A2A}"/>
              </a:ext>
            </a:extLst>
          </p:cNvPr>
          <p:cNvSpPr/>
          <p:nvPr/>
        </p:nvSpPr>
        <p:spPr>
          <a:xfrm>
            <a:off x="11567160" y="6473952"/>
            <a:ext cx="365760" cy="274320"/>
          </a:xfrm>
          <a:prstGeom prst="rect">
            <a:avLst/>
          </a:prstGeom>
          <a:noFill/>
          <a:ln/>
        </p:spPr>
        <p:txBody>
          <a:bodyPr wrap="square" lIns="0" tIns="0" rIns="0" bIns="0" rtlCol="0" anchor="ctr"/>
          <a:lstStyle/>
          <a:p>
            <a:pPr marL="0" indent="0" algn="r">
              <a:buNone/>
            </a:pPr>
            <a:r>
              <a:rPr lang="en-US" sz="1800" b="1" dirty="0">
                <a:solidFill>
                  <a:srgbClr val="FFFFFF"/>
                </a:solidFill>
                <a:latin typeface="Arial" pitchFamily="34" charset="0"/>
                <a:ea typeface="Arial" pitchFamily="34" charset="-122"/>
                <a:cs typeface="Arial" pitchFamily="34" charset="-120"/>
              </a:rPr>
              <a:t>53</a:t>
            </a:r>
            <a:endParaRPr lang="en-US" sz="1800" dirty="0"/>
          </a:p>
        </p:txBody>
      </p:sp>
    </p:spTree>
    <p:extLst>
      <p:ext uri="{BB962C8B-B14F-4D97-AF65-F5344CB8AC3E}">
        <p14:creationId xmlns:p14="http://schemas.microsoft.com/office/powerpoint/2010/main" val="36561307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A. Unified Bit-serial Representation</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54</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BitMoD hardware should support multiple weight formats in a single accelerator without losing low-bit compute efficiency.</a:t>
            </a:r>
            <a:endParaRPr lang="en-US" sz="1300" dirty="0"/>
          </a:p>
        </p:txBody>
      </p:sp>
      <p:sp>
        <p:nvSpPr>
          <p:cNvPr id="9" name="Shape 6"/>
          <p:cNvSpPr/>
          <p:nvPr/>
        </p:nvSpPr>
        <p:spPr>
          <a:xfrm>
            <a:off x="1828800" y="1636776"/>
            <a:ext cx="1920240" cy="566928"/>
          </a:xfrm>
          <a:prstGeom prst="roundRect">
            <a:avLst>
              <a:gd name="adj" fmla="val 8065"/>
            </a:avLst>
          </a:prstGeom>
          <a:solidFill>
            <a:srgbClr val="EAF2FF"/>
          </a:solidFill>
          <a:ln w="12700">
            <a:solidFill>
              <a:srgbClr val="9EADCC"/>
            </a:solidFill>
            <a:prstDash val="solid"/>
          </a:ln>
        </p:spPr>
        <p:txBody>
          <a:bodyPr/>
          <a:lstStyle/>
          <a:p>
            <a:endParaRPr lang="ko-KR" altLang="en-US"/>
          </a:p>
        </p:txBody>
      </p:sp>
      <p:sp>
        <p:nvSpPr>
          <p:cNvPr id="10" name="Text 7"/>
          <p:cNvSpPr/>
          <p:nvPr/>
        </p:nvSpPr>
        <p:spPr>
          <a:xfrm>
            <a:off x="1901952" y="1691640"/>
            <a:ext cx="1773936" cy="475488"/>
          </a:xfrm>
          <a:prstGeom prst="rect">
            <a:avLst/>
          </a:prstGeom>
          <a:noFill/>
          <a:ln/>
        </p:spPr>
        <p:txBody>
          <a:bodyPr wrap="square" lIns="254" tIns="254" rIns="254" bIns="254" rtlCol="0" anchor="ctr">
            <a:normAutofit/>
          </a:bodyPr>
          <a:lstStyle/>
          <a:p>
            <a:pPr marL="0" indent="0" algn="ctr">
              <a:buNone/>
            </a:pPr>
            <a:r>
              <a:rPr lang="en-US" sz="1100" b="1" dirty="0">
                <a:solidFill>
                  <a:srgbClr val="00245D"/>
                </a:solidFill>
                <a:latin typeface="Arial" pitchFamily="34" charset="0"/>
                <a:ea typeface="Arial" pitchFamily="34" charset="-122"/>
                <a:cs typeface="Arial" pitchFamily="34" charset="-120"/>
              </a:rPr>
              <a:t>INT8</a:t>
            </a:r>
            <a:endParaRPr lang="en-US" sz="1100" dirty="0"/>
          </a:p>
          <a:p>
            <a:pPr marL="0" indent="0" algn="ctr">
              <a:buNone/>
            </a:pPr>
            <a:r>
              <a:rPr lang="en-US" sz="1100" b="1" dirty="0">
                <a:solidFill>
                  <a:srgbClr val="00245D"/>
                </a:solidFill>
                <a:latin typeface="Arial" pitchFamily="34" charset="0"/>
                <a:ea typeface="Arial" pitchFamily="34" charset="-122"/>
                <a:cs typeface="Arial" pitchFamily="34" charset="-120"/>
              </a:rPr>
              <a:t>high accuracy</a:t>
            </a:r>
            <a:endParaRPr lang="en-US" sz="1100" dirty="0"/>
          </a:p>
        </p:txBody>
      </p:sp>
      <p:sp>
        <p:nvSpPr>
          <p:cNvPr id="11" name="Shape 8"/>
          <p:cNvSpPr/>
          <p:nvPr/>
        </p:nvSpPr>
        <p:spPr>
          <a:xfrm>
            <a:off x="3977640" y="1636776"/>
            <a:ext cx="1920240" cy="566928"/>
          </a:xfrm>
          <a:prstGeom prst="roundRect">
            <a:avLst>
              <a:gd name="adj" fmla="val 8065"/>
            </a:avLst>
          </a:prstGeom>
          <a:solidFill>
            <a:srgbClr val="EAF2FF"/>
          </a:solidFill>
          <a:ln w="12700">
            <a:solidFill>
              <a:srgbClr val="9EADCC"/>
            </a:solidFill>
            <a:prstDash val="solid"/>
          </a:ln>
        </p:spPr>
        <p:txBody>
          <a:bodyPr/>
          <a:lstStyle/>
          <a:p>
            <a:endParaRPr lang="ko-KR" altLang="en-US"/>
          </a:p>
        </p:txBody>
      </p:sp>
      <p:sp>
        <p:nvSpPr>
          <p:cNvPr id="12" name="Text 9"/>
          <p:cNvSpPr/>
          <p:nvPr/>
        </p:nvSpPr>
        <p:spPr>
          <a:xfrm>
            <a:off x="4050792" y="1691640"/>
            <a:ext cx="1773936" cy="475488"/>
          </a:xfrm>
          <a:prstGeom prst="rect">
            <a:avLst/>
          </a:prstGeom>
          <a:noFill/>
          <a:ln/>
        </p:spPr>
        <p:txBody>
          <a:bodyPr wrap="square" lIns="254" tIns="254" rIns="254" bIns="254"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INT6</a:t>
            </a:r>
            <a:endParaRPr lang="en-US" sz="1050" dirty="0"/>
          </a:p>
          <a:p>
            <a:pPr marL="0" indent="0" algn="ctr">
              <a:buNone/>
            </a:pPr>
            <a:r>
              <a:rPr lang="en-US" sz="1050" b="1" dirty="0">
                <a:solidFill>
                  <a:srgbClr val="00245D"/>
                </a:solidFill>
                <a:latin typeface="Arial" pitchFamily="34" charset="0"/>
                <a:ea typeface="Arial" pitchFamily="34" charset="-122"/>
                <a:cs typeface="Arial" pitchFamily="34" charset="-120"/>
              </a:rPr>
              <a:t>accuracy-cost tradeoff</a:t>
            </a:r>
            <a:endParaRPr lang="en-US" sz="1050" dirty="0"/>
          </a:p>
        </p:txBody>
      </p:sp>
      <p:sp>
        <p:nvSpPr>
          <p:cNvPr id="13" name="Shape 10"/>
          <p:cNvSpPr/>
          <p:nvPr/>
        </p:nvSpPr>
        <p:spPr>
          <a:xfrm>
            <a:off x="6126480" y="1636776"/>
            <a:ext cx="1920240" cy="566928"/>
          </a:xfrm>
          <a:prstGeom prst="roundRect">
            <a:avLst>
              <a:gd name="adj" fmla="val 8065"/>
            </a:avLst>
          </a:prstGeom>
          <a:solidFill>
            <a:srgbClr val="FFF2CC"/>
          </a:solidFill>
          <a:ln w="12700">
            <a:solidFill>
              <a:srgbClr val="D6B656"/>
            </a:solidFill>
            <a:prstDash val="solid"/>
          </a:ln>
        </p:spPr>
        <p:txBody>
          <a:bodyPr/>
          <a:lstStyle/>
          <a:p>
            <a:endParaRPr lang="ko-KR" altLang="en-US"/>
          </a:p>
        </p:txBody>
      </p:sp>
      <p:sp>
        <p:nvSpPr>
          <p:cNvPr id="14" name="Text 11"/>
          <p:cNvSpPr/>
          <p:nvPr/>
        </p:nvSpPr>
        <p:spPr>
          <a:xfrm>
            <a:off x="6199632" y="1691640"/>
            <a:ext cx="1773936" cy="475488"/>
          </a:xfrm>
          <a:prstGeom prst="rect">
            <a:avLst/>
          </a:prstGeom>
          <a:noFill/>
          <a:ln/>
        </p:spPr>
        <p:txBody>
          <a:bodyPr wrap="square" lIns="254" tIns="254" rIns="254" bIns="254" rtlCol="0" anchor="ctr">
            <a:normAutofit/>
          </a:bodyPr>
          <a:lstStyle/>
          <a:p>
            <a:pPr marL="0" indent="0" algn="ctr">
              <a:buNone/>
            </a:pPr>
            <a:r>
              <a:rPr lang="en-US" sz="1100" b="1" dirty="0">
                <a:solidFill>
                  <a:srgbClr val="00245D"/>
                </a:solidFill>
                <a:latin typeface="Arial" pitchFamily="34" charset="0"/>
                <a:ea typeface="Arial" pitchFamily="34" charset="-122"/>
                <a:cs typeface="Arial" pitchFamily="34" charset="-120"/>
              </a:rPr>
              <a:t>FP4</a:t>
            </a:r>
            <a:endParaRPr lang="en-US" sz="1100" dirty="0"/>
          </a:p>
          <a:p>
            <a:pPr marL="0" indent="0" algn="ctr">
              <a:buNone/>
            </a:pPr>
            <a:r>
              <a:rPr lang="en-US" sz="1100" b="1" dirty="0">
                <a:solidFill>
                  <a:srgbClr val="00245D"/>
                </a:solidFill>
                <a:latin typeface="Arial" pitchFamily="34" charset="0"/>
                <a:ea typeface="Arial" pitchFamily="34" charset="-122"/>
                <a:cs typeface="Arial" pitchFamily="34" charset="-120"/>
              </a:rPr>
              <a:t>compression</a:t>
            </a:r>
            <a:endParaRPr lang="en-US" sz="1100" dirty="0"/>
          </a:p>
        </p:txBody>
      </p:sp>
      <p:sp>
        <p:nvSpPr>
          <p:cNvPr id="15" name="Shape 12"/>
          <p:cNvSpPr/>
          <p:nvPr/>
        </p:nvSpPr>
        <p:spPr>
          <a:xfrm>
            <a:off x="8275320" y="1636776"/>
            <a:ext cx="1920240" cy="566928"/>
          </a:xfrm>
          <a:prstGeom prst="roundRect">
            <a:avLst>
              <a:gd name="adj" fmla="val 8065"/>
            </a:avLst>
          </a:prstGeom>
          <a:solidFill>
            <a:srgbClr val="FFF2CC"/>
          </a:solidFill>
          <a:ln w="12700">
            <a:solidFill>
              <a:srgbClr val="D6B656"/>
            </a:solidFill>
            <a:prstDash val="solid"/>
          </a:ln>
        </p:spPr>
        <p:txBody>
          <a:bodyPr/>
          <a:lstStyle/>
          <a:p>
            <a:endParaRPr lang="ko-KR" altLang="en-US"/>
          </a:p>
        </p:txBody>
      </p:sp>
      <p:sp>
        <p:nvSpPr>
          <p:cNvPr id="16" name="Text 13"/>
          <p:cNvSpPr/>
          <p:nvPr/>
        </p:nvSpPr>
        <p:spPr>
          <a:xfrm>
            <a:off x="8348472" y="1691640"/>
            <a:ext cx="1773936" cy="475488"/>
          </a:xfrm>
          <a:prstGeom prst="rect">
            <a:avLst/>
          </a:prstGeom>
          <a:noFill/>
          <a:ln/>
        </p:spPr>
        <p:txBody>
          <a:bodyPr wrap="square" lIns="254" tIns="254" rIns="254" bIns="254" rtlCol="0" anchor="ctr">
            <a:normAutofit/>
          </a:bodyPr>
          <a:lstStyle/>
          <a:p>
            <a:pPr marL="0" indent="0" algn="ctr">
              <a:buNone/>
            </a:pPr>
            <a:r>
              <a:rPr lang="en-US" sz="1100" b="1" dirty="0">
                <a:solidFill>
                  <a:srgbClr val="00245D"/>
                </a:solidFill>
                <a:latin typeface="Arial" pitchFamily="34" charset="0"/>
                <a:ea typeface="Arial" pitchFamily="34" charset="-122"/>
                <a:cs typeface="Arial" pitchFamily="34" charset="-120"/>
              </a:rPr>
              <a:t>FP3</a:t>
            </a:r>
            <a:endParaRPr lang="en-US" sz="1100" dirty="0"/>
          </a:p>
          <a:p>
            <a:pPr marL="0" indent="0" algn="ctr">
              <a:buNone/>
            </a:pPr>
            <a:r>
              <a:rPr lang="en-US" sz="1100" b="1" dirty="0">
                <a:solidFill>
                  <a:srgbClr val="00245D"/>
                </a:solidFill>
                <a:latin typeface="Arial" pitchFamily="34" charset="0"/>
                <a:ea typeface="Arial" pitchFamily="34" charset="-122"/>
                <a:cs typeface="Arial" pitchFamily="34" charset="-120"/>
              </a:rPr>
              <a:t>high efficiency</a:t>
            </a:r>
            <a:endParaRPr lang="en-US" sz="1100" dirty="0"/>
          </a:p>
        </p:txBody>
      </p:sp>
      <p:sp>
        <p:nvSpPr>
          <p:cNvPr id="20" name="Shape 17"/>
          <p:cNvSpPr/>
          <p:nvPr/>
        </p:nvSpPr>
        <p:spPr>
          <a:xfrm>
            <a:off x="731520" y="2798065"/>
            <a:ext cx="3337560" cy="2377440"/>
          </a:xfrm>
          <a:prstGeom prst="roundRect">
            <a:avLst>
              <a:gd name="adj" fmla="val 2308"/>
            </a:avLst>
          </a:prstGeom>
          <a:solidFill>
            <a:srgbClr val="FDECEC"/>
          </a:solidFill>
          <a:ln w="13335">
            <a:solidFill>
              <a:srgbClr val="E6B8B7"/>
            </a:solidFill>
            <a:prstDash val="solid"/>
          </a:ln>
        </p:spPr>
        <p:txBody>
          <a:bodyPr/>
          <a:lstStyle/>
          <a:p>
            <a:endParaRPr lang="ko-KR" altLang="en-US"/>
          </a:p>
        </p:txBody>
      </p:sp>
      <p:sp>
        <p:nvSpPr>
          <p:cNvPr id="21" name="Text 18"/>
          <p:cNvSpPr/>
          <p:nvPr/>
        </p:nvSpPr>
        <p:spPr>
          <a:xfrm>
            <a:off x="896112" y="2907793"/>
            <a:ext cx="30083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Problem 1: different representation</a:t>
            </a:r>
            <a:endParaRPr lang="en-US" sz="1200" dirty="0"/>
          </a:p>
        </p:txBody>
      </p:sp>
      <p:sp>
        <p:nvSpPr>
          <p:cNvPr id="22" name="Text 19"/>
          <p:cNvSpPr/>
          <p:nvPr/>
        </p:nvSpPr>
        <p:spPr>
          <a:xfrm>
            <a:off x="960120" y="3346705"/>
            <a:ext cx="2880360" cy="457200"/>
          </a:xfrm>
          <a:prstGeom prst="rect">
            <a:avLst/>
          </a:prstGeom>
          <a:noFill/>
          <a:ln/>
        </p:spPr>
        <p:txBody>
          <a:bodyPr wrap="square" lIns="0" tIns="0" rIns="0" bIns="0" rtlCol="0" anchor="ctr">
            <a:normAutofit/>
          </a:bodyPr>
          <a:lstStyle/>
          <a:p>
            <a:pPr marL="0" indent="0" algn="ctr">
              <a:buNone/>
            </a:pPr>
            <a:r>
              <a:rPr lang="en-US" sz="1500" b="1" dirty="0">
                <a:solidFill>
                  <a:srgbClr val="C00000"/>
                </a:solidFill>
                <a:latin typeface="Arial" pitchFamily="34" charset="0"/>
                <a:ea typeface="Arial" pitchFamily="34" charset="-122"/>
                <a:cs typeface="Arial" pitchFamily="34" charset="-120"/>
              </a:rPr>
              <a:t>INT8 / INT6</a:t>
            </a:r>
            <a:endParaRPr lang="en-US" sz="1500" dirty="0"/>
          </a:p>
          <a:p>
            <a:pPr marL="0" indent="0" algn="ctr">
              <a:buNone/>
            </a:pPr>
            <a:r>
              <a:rPr lang="en-US" sz="1500" b="1" dirty="0">
                <a:solidFill>
                  <a:srgbClr val="C00000"/>
                </a:solidFill>
                <a:latin typeface="Arial" pitchFamily="34" charset="0"/>
                <a:ea typeface="Arial" pitchFamily="34" charset="-122"/>
                <a:cs typeface="Arial" pitchFamily="34" charset="-120"/>
              </a:rPr>
              <a:t>→ Integer Representation</a:t>
            </a:r>
            <a:endParaRPr lang="en-US" sz="1500" dirty="0"/>
          </a:p>
        </p:txBody>
      </p:sp>
      <p:sp>
        <p:nvSpPr>
          <p:cNvPr id="23" name="Text 20"/>
          <p:cNvSpPr/>
          <p:nvPr/>
        </p:nvSpPr>
        <p:spPr>
          <a:xfrm>
            <a:off x="960120" y="4123945"/>
            <a:ext cx="2880360" cy="457200"/>
          </a:xfrm>
          <a:prstGeom prst="rect">
            <a:avLst/>
          </a:prstGeom>
          <a:noFill/>
          <a:ln/>
        </p:spPr>
        <p:txBody>
          <a:bodyPr wrap="square" lIns="0" tIns="0" rIns="0" bIns="0" rtlCol="0" anchor="ctr">
            <a:normAutofit fontScale="92500"/>
          </a:bodyPr>
          <a:lstStyle/>
          <a:p>
            <a:pPr marL="0" indent="0" algn="ctr">
              <a:buNone/>
            </a:pPr>
            <a:r>
              <a:rPr lang="en-US" sz="1500" b="1" dirty="0">
                <a:solidFill>
                  <a:srgbClr val="C00000"/>
                </a:solidFill>
                <a:latin typeface="Arial" pitchFamily="34" charset="0"/>
                <a:ea typeface="Arial" pitchFamily="34" charset="-122"/>
                <a:cs typeface="Arial" pitchFamily="34" charset="-120"/>
              </a:rPr>
              <a:t>FP4 / FP3</a:t>
            </a:r>
            <a:endParaRPr lang="en-US" sz="1500" dirty="0"/>
          </a:p>
          <a:p>
            <a:pPr marL="0" indent="0" algn="ctr">
              <a:buNone/>
            </a:pPr>
            <a:r>
              <a:rPr lang="en-US" sz="1500" b="1" dirty="0">
                <a:solidFill>
                  <a:srgbClr val="C00000"/>
                </a:solidFill>
                <a:latin typeface="Arial" pitchFamily="34" charset="0"/>
                <a:ea typeface="Arial" pitchFamily="34" charset="-122"/>
                <a:cs typeface="Arial" pitchFamily="34" charset="-120"/>
              </a:rPr>
              <a:t>→ Floating-Point Representation</a:t>
            </a:r>
            <a:endParaRPr lang="en-US" sz="1500" dirty="0"/>
          </a:p>
        </p:txBody>
      </p:sp>
      <p:sp>
        <p:nvSpPr>
          <p:cNvPr id="24" name="Shape 21"/>
          <p:cNvSpPr/>
          <p:nvPr/>
        </p:nvSpPr>
        <p:spPr>
          <a:xfrm>
            <a:off x="4434840" y="2798065"/>
            <a:ext cx="3337560" cy="2377440"/>
          </a:xfrm>
          <a:prstGeom prst="roundRect">
            <a:avLst>
              <a:gd name="adj" fmla="val 2308"/>
            </a:avLst>
          </a:prstGeom>
          <a:solidFill>
            <a:srgbClr val="FFFDF2"/>
          </a:solidFill>
          <a:ln w="13335">
            <a:solidFill>
              <a:srgbClr val="D6B656"/>
            </a:solidFill>
            <a:prstDash val="solid"/>
          </a:ln>
        </p:spPr>
        <p:txBody>
          <a:bodyPr/>
          <a:lstStyle/>
          <a:p>
            <a:endParaRPr lang="ko-KR" altLang="en-US"/>
          </a:p>
        </p:txBody>
      </p:sp>
      <p:sp>
        <p:nvSpPr>
          <p:cNvPr id="25" name="Text 22"/>
          <p:cNvSpPr/>
          <p:nvPr/>
        </p:nvSpPr>
        <p:spPr>
          <a:xfrm>
            <a:off x="4599432" y="2907793"/>
            <a:ext cx="30083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Problem 2: naïve solutions fail</a:t>
            </a:r>
            <a:endParaRPr lang="en-US" sz="1200" dirty="0"/>
          </a:p>
        </p:txBody>
      </p:sp>
      <p:sp>
        <p:nvSpPr>
          <p:cNvPr id="26" name="Text 23"/>
          <p:cNvSpPr/>
          <p:nvPr/>
        </p:nvSpPr>
        <p:spPr>
          <a:xfrm>
            <a:off x="4681728" y="3300985"/>
            <a:ext cx="2880360" cy="320040"/>
          </a:xfrm>
          <a:prstGeom prst="rect">
            <a:avLst/>
          </a:prstGeom>
          <a:noFill/>
          <a:ln/>
        </p:spPr>
        <p:txBody>
          <a:bodyPr wrap="square" lIns="0" tIns="0" rIns="0" bIns="0" rtlCol="0" anchor="ctr">
            <a:normAutofit/>
          </a:bodyPr>
          <a:lstStyle/>
          <a:p>
            <a:pPr marL="0" indent="0" algn="ctr">
              <a:buNone/>
            </a:pPr>
            <a:r>
              <a:rPr lang="en-US" sz="1400" b="1" dirty="0">
                <a:solidFill>
                  <a:srgbClr val="222222"/>
                </a:solidFill>
                <a:latin typeface="Arial" pitchFamily="34" charset="0"/>
                <a:ea typeface="Arial" pitchFamily="34" charset="-122"/>
                <a:cs typeface="Arial" pitchFamily="34" charset="-120"/>
              </a:rPr>
              <a:t>Separate operators</a:t>
            </a:r>
            <a:endParaRPr lang="en-US" sz="1400" dirty="0"/>
          </a:p>
        </p:txBody>
      </p:sp>
      <p:sp>
        <p:nvSpPr>
          <p:cNvPr id="27" name="Text 24"/>
          <p:cNvSpPr/>
          <p:nvPr/>
        </p:nvSpPr>
        <p:spPr>
          <a:xfrm>
            <a:off x="4681728" y="3666745"/>
            <a:ext cx="2880360" cy="201168"/>
          </a:xfrm>
          <a:prstGeom prst="rect">
            <a:avLst/>
          </a:prstGeom>
          <a:noFill/>
          <a:ln/>
        </p:spPr>
        <p:txBody>
          <a:bodyPr wrap="square" lIns="0" tIns="0" rIns="0" bIns="0" rtlCol="0" anchor="ctr">
            <a:normAutofit/>
          </a:bodyPr>
          <a:lstStyle/>
          <a:p>
            <a:pPr marL="0" indent="0" algn="ctr">
              <a:buNone/>
            </a:pPr>
            <a:r>
              <a:rPr lang="en-US" sz="1080" dirty="0">
                <a:solidFill>
                  <a:srgbClr val="666666"/>
                </a:solidFill>
                <a:latin typeface="Arial" pitchFamily="34" charset="0"/>
                <a:ea typeface="Arial" pitchFamily="34" charset="-122"/>
                <a:cs typeface="Arial" pitchFamily="34" charset="-120"/>
              </a:rPr>
              <a:t>→ hardware area and complexity increase</a:t>
            </a:r>
            <a:endParaRPr lang="en-US" sz="1080" dirty="0"/>
          </a:p>
        </p:txBody>
      </p:sp>
      <p:sp>
        <p:nvSpPr>
          <p:cNvPr id="28" name="Text 25"/>
          <p:cNvSpPr/>
          <p:nvPr/>
        </p:nvSpPr>
        <p:spPr>
          <a:xfrm>
            <a:off x="4681728" y="4306825"/>
            <a:ext cx="2880360" cy="320040"/>
          </a:xfrm>
          <a:prstGeom prst="rect">
            <a:avLst/>
          </a:prstGeom>
          <a:noFill/>
          <a:ln/>
        </p:spPr>
        <p:txBody>
          <a:bodyPr wrap="square" lIns="0" tIns="0" rIns="0" bIns="0" rtlCol="0" anchor="ctr">
            <a:normAutofit/>
          </a:bodyPr>
          <a:lstStyle/>
          <a:p>
            <a:pPr marL="0" indent="0" algn="ctr">
              <a:buNone/>
            </a:pPr>
            <a:r>
              <a:rPr lang="en-US" sz="1400" b="1" dirty="0">
                <a:solidFill>
                  <a:srgbClr val="222222"/>
                </a:solidFill>
                <a:latin typeface="Arial" pitchFamily="34" charset="0"/>
                <a:ea typeface="Arial" pitchFamily="34" charset="-122"/>
                <a:cs typeface="Arial" pitchFamily="34" charset="-120"/>
              </a:rPr>
              <a:t>Convert all to INT8</a:t>
            </a:r>
            <a:endParaRPr lang="en-US" sz="1400" dirty="0"/>
          </a:p>
        </p:txBody>
      </p:sp>
      <p:sp>
        <p:nvSpPr>
          <p:cNvPr id="29" name="Text 26"/>
          <p:cNvSpPr/>
          <p:nvPr/>
        </p:nvSpPr>
        <p:spPr>
          <a:xfrm>
            <a:off x="4681728" y="4672585"/>
            <a:ext cx="2880360" cy="228600"/>
          </a:xfrm>
          <a:prstGeom prst="rect">
            <a:avLst/>
          </a:prstGeom>
          <a:noFill/>
          <a:ln/>
        </p:spPr>
        <p:txBody>
          <a:bodyPr wrap="square" lIns="0" tIns="0" rIns="0" bIns="0" rtlCol="0" anchor="ctr">
            <a:normAutofit/>
          </a:bodyPr>
          <a:lstStyle/>
          <a:p>
            <a:pPr marL="0" indent="0" algn="ctr">
              <a:buNone/>
            </a:pPr>
            <a:r>
              <a:rPr lang="en-US" sz="1080" dirty="0">
                <a:solidFill>
                  <a:srgbClr val="666666"/>
                </a:solidFill>
                <a:latin typeface="Arial" pitchFamily="34" charset="0"/>
                <a:ea typeface="Arial" pitchFamily="34" charset="-122"/>
                <a:cs typeface="Arial" pitchFamily="34" charset="-120"/>
              </a:rPr>
              <a:t>→ FP3/FP4 lose low-bit compute benefit</a:t>
            </a:r>
            <a:endParaRPr lang="en-US" sz="1080" dirty="0"/>
          </a:p>
        </p:txBody>
      </p:sp>
      <p:sp>
        <p:nvSpPr>
          <p:cNvPr id="30" name="Shape 27"/>
          <p:cNvSpPr/>
          <p:nvPr/>
        </p:nvSpPr>
        <p:spPr>
          <a:xfrm>
            <a:off x="8138160" y="2798065"/>
            <a:ext cx="3337560" cy="2377440"/>
          </a:xfrm>
          <a:prstGeom prst="roundRect">
            <a:avLst>
              <a:gd name="adj" fmla="val 2308"/>
            </a:avLst>
          </a:prstGeom>
          <a:solidFill>
            <a:srgbClr val="F3F8FF"/>
          </a:solidFill>
          <a:ln w="13335">
            <a:solidFill>
              <a:srgbClr val="9EADCC"/>
            </a:solidFill>
            <a:prstDash val="solid"/>
          </a:ln>
        </p:spPr>
        <p:txBody>
          <a:bodyPr/>
          <a:lstStyle/>
          <a:p>
            <a:endParaRPr lang="ko-KR" altLang="en-US"/>
          </a:p>
        </p:txBody>
      </p:sp>
      <p:sp>
        <p:nvSpPr>
          <p:cNvPr id="31" name="Text 28"/>
          <p:cNvSpPr/>
          <p:nvPr/>
        </p:nvSpPr>
        <p:spPr>
          <a:xfrm>
            <a:off x="8302752" y="2907793"/>
            <a:ext cx="30083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BitMoD answer</a:t>
            </a:r>
            <a:endParaRPr lang="en-US" sz="1200" dirty="0"/>
          </a:p>
        </p:txBody>
      </p:sp>
      <p:sp>
        <p:nvSpPr>
          <p:cNvPr id="32" name="Text 29"/>
          <p:cNvSpPr/>
          <p:nvPr/>
        </p:nvSpPr>
        <p:spPr>
          <a:xfrm>
            <a:off x="8339328" y="3346705"/>
            <a:ext cx="2944368" cy="292608"/>
          </a:xfrm>
          <a:prstGeom prst="rect">
            <a:avLst/>
          </a:prstGeom>
          <a:noFill/>
          <a:ln/>
        </p:spPr>
        <p:txBody>
          <a:bodyPr wrap="square" lIns="0" tIns="0" rIns="0" bIns="0" rtlCol="0" anchor="ctr">
            <a:normAutofit/>
          </a:bodyPr>
          <a:lstStyle/>
          <a:p>
            <a:pPr marL="0" indent="0" algn="ctr">
              <a:buNone/>
            </a:pPr>
            <a:r>
              <a:rPr lang="en-US" sz="1500" b="1" dirty="0">
                <a:solidFill>
                  <a:srgbClr val="00245D"/>
                </a:solidFill>
                <a:latin typeface="Cambria Math" pitchFamily="34" charset="0"/>
                <a:ea typeface="Cambria Math" pitchFamily="34" charset="-122"/>
                <a:cs typeface="Cambria Math" pitchFamily="34" charset="-120"/>
              </a:rPr>
              <a:t>INT / FP → </a:t>
            </a:r>
            <a:r>
              <a:rPr lang="en-US" sz="1500" b="1" dirty="0">
                <a:solidFill>
                  <a:srgbClr val="FF0000"/>
                </a:solidFill>
                <a:latin typeface="Cambria Math" pitchFamily="34" charset="0"/>
                <a:ea typeface="Cambria Math" pitchFamily="34" charset="-122"/>
                <a:cs typeface="Cambria Math" pitchFamily="34" charset="-120"/>
              </a:rPr>
              <a:t>common term</a:t>
            </a:r>
            <a:endParaRPr lang="en-US" sz="1500" dirty="0">
              <a:solidFill>
                <a:srgbClr val="FF0000"/>
              </a:solidFill>
            </a:endParaRPr>
          </a:p>
        </p:txBody>
      </p:sp>
      <p:sp>
        <p:nvSpPr>
          <p:cNvPr id="33" name="Text 30"/>
          <p:cNvSpPr/>
          <p:nvPr/>
        </p:nvSpPr>
        <p:spPr>
          <a:xfrm>
            <a:off x="8275320" y="3877057"/>
            <a:ext cx="3063240" cy="292608"/>
          </a:xfrm>
          <a:prstGeom prst="rect">
            <a:avLst/>
          </a:prstGeom>
          <a:noFill/>
          <a:ln/>
        </p:spPr>
        <p:txBody>
          <a:bodyPr wrap="square" lIns="0" tIns="0" rIns="0" bIns="0" rtlCol="0" anchor="ctr">
            <a:normAutofit/>
          </a:bodyPr>
          <a:lstStyle/>
          <a:p>
            <a:pPr marL="0" indent="0" algn="ctr">
              <a:buNone/>
            </a:pPr>
            <a:r>
              <a:rPr lang="en-US" sz="1500" b="1" dirty="0">
                <a:solidFill>
                  <a:srgbClr val="00245D"/>
                </a:solidFill>
                <a:latin typeface="Cambria Math" pitchFamily="34" charset="0"/>
                <a:ea typeface="Cambria Math" pitchFamily="34" charset="-122"/>
                <a:cs typeface="Cambria Math" pitchFamily="34" charset="-120"/>
              </a:rPr>
              <a:t>Sign | Exp | Man | Bsig</a:t>
            </a:r>
            <a:endParaRPr lang="en-US" sz="1500" dirty="0"/>
          </a:p>
        </p:txBody>
      </p:sp>
      <p:sp>
        <p:nvSpPr>
          <p:cNvPr id="34" name="Text 31"/>
          <p:cNvSpPr/>
          <p:nvPr/>
        </p:nvSpPr>
        <p:spPr>
          <a:xfrm>
            <a:off x="8458200" y="4489705"/>
            <a:ext cx="2697480" cy="365760"/>
          </a:xfrm>
          <a:prstGeom prst="rect">
            <a:avLst/>
          </a:prstGeom>
          <a:noFill/>
          <a:ln/>
        </p:spPr>
        <p:txBody>
          <a:bodyPr wrap="square" lIns="0" tIns="0" rIns="0" bIns="0" rtlCol="0" anchor="ctr">
            <a:normAutofit/>
          </a:bodyPr>
          <a:lstStyle/>
          <a:p>
            <a:pPr marL="0" indent="0" algn="ctr">
              <a:buNone/>
            </a:pPr>
            <a:r>
              <a:rPr lang="en-US" sz="1120" b="1" dirty="0">
                <a:solidFill>
                  <a:srgbClr val="222222"/>
                </a:solidFill>
                <a:latin typeface="Arial" pitchFamily="34" charset="0"/>
                <a:ea typeface="Arial" pitchFamily="34" charset="-122"/>
                <a:cs typeface="Arial" pitchFamily="34" charset="-120"/>
              </a:rPr>
              <a:t>Same PE, fewer terms for lower precision</a:t>
            </a:r>
            <a:endParaRPr lang="en-US" sz="112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Unified Bit-serial Term: the common language for all data types</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55</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Every supported weight is decomposed into one or more terms with the same four fields.</a:t>
            </a:r>
            <a:endParaRPr lang="en-US" sz="1300" dirty="0"/>
          </a:p>
        </p:txBody>
      </p:sp>
      <p:sp>
        <p:nvSpPr>
          <p:cNvPr id="9" name="Shape 6"/>
          <p:cNvSpPr/>
          <p:nvPr/>
        </p:nvSpPr>
        <p:spPr>
          <a:xfrm>
            <a:off x="777240" y="1481328"/>
            <a:ext cx="1188720" cy="484632"/>
          </a:xfrm>
          <a:prstGeom prst="rect">
            <a:avLst/>
          </a:prstGeom>
          <a:solidFill>
            <a:srgbClr val="00245D"/>
          </a:solidFill>
          <a:ln w="6350">
            <a:solidFill>
              <a:srgbClr val="D9E2F3"/>
            </a:solidFill>
            <a:prstDash val="solid"/>
          </a:ln>
        </p:spPr>
        <p:txBody>
          <a:bodyPr/>
          <a:lstStyle/>
          <a:p>
            <a:endParaRPr lang="ko-KR" altLang="en-US"/>
          </a:p>
        </p:txBody>
      </p:sp>
      <p:sp>
        <p:nvSpPr>
          <p:cNvPr id="10" name="Text 7"/>
          <p:cNvSpPr/>
          <p:nvPr/>
        </p:nvSpPr>
        <p:spPr>
          <a:xfrm>
            <a:off x="813816" y="1600200"/>
            <a:ext cx="1115568"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FFFFFF"/>
                </a:solidFill>
                <a:latin typeface="Arial" pitchFamily="34" charset="0"/>
                <a:ea typeface="Arial" pitchFamily="34" charset="-122"/>
                <a:cs typeface="Arial" pitchFamily="34" charset="-120"/>
              </a:rPr>
              <a:t>Field</a:t>
            </a:r>
            <a:endParaRPr lang="en-US" sz="1080" dirty="0"/>
          </a:p>
        </p:txBody>
      </p:sp>
      <p:sp>
        <p:nvSpPr>
          <p:cNvPr id="11" name="Shape 8"/>
          <p:cNvSpPr/>
          <p:nvPr/>
        </p:nvSpPr>
        <p:spPr>
          <a:xfrm>
            <a:off x="1965960" y="1481328"/>
            <a:ext cx="2743200" cy="484632"/>
          </a:xfrm>
          <a:prstGeom prst="rect">
            <a:avLst/>
          </a:prstGeom>
          <a:solidFill>
            <a:srgbClr val="00245D"/>
          </a:solidFill>
          <a:ln w="6350">
            <a:solidFill>
              <a:srgbClr val="D9E2F3"/>
            </a:solidFill>
            <a:prstDash val="solid"/>
          </a:ln>
        </p:spPr>
        <p:txBody>
          <a:bodyPr/>
          <a:lstStyle/>
          <a:p>
            <a:endParaRPr lang="ko-KR" altLang="en-US"/>
          </a:p>
        </p:txBody>
      </p:sp>
      <p:sp>
        <p:nvSpPr>
          <p:cNvPr id="12" name="Text 9"/>
          <p:cNvSpPr/>
          <p:nvPr/>
        </p:nvSpPr>
        <p:spPr>
          <a:xfrm>
            <a:off x="2002536" y="1600200"/>
            <a:ext cx="2670048"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FFFFFF"/>
                </a:solidFill>
                <a:latin typeface="Arial" pitchFamily="34" charset="0"/>
                <a:ea typeface="Arial" pitchFamily="34" charset="-122"/>
                <a:cs typeface="Arial" pitchFamily="34" charset="-120"/>
              </a:rPr>
              <a:t>Meaning</a:t>
            </a:r>
            <a:endParaRPr lang="en-US" sz="1080" dirty="0"/>
          </a:p>
        </p:txBody>
      </p:sp>
      <p:sp>
        <p:nvSpPr>
          <p:cNvPr id="13" name="Shape 10"/>
          <p:cNvSpPr/>
          <p:nvPr/>
        </p:nvSpPr>
        <p:spPr>
          <a:xfrm>
            <a:off x="4709160" y="1481328"/>
            <a:ext cx="3931920" cy="484632"/>
          </a:xfrm>
          <a:prstGeom prst="rect">
            <a:avLst/>
          </a:prstGeom>
          <a:solidFill>
            <a:srgbClr val="00245D"/>
          </a:solidFill>
          <a:ln w="6350">
            <a:solidFill>
              <a:srgbClr val="D9E2F3"/>
            </a:solidFill>
            <a:prstDash val="solid"/>
          </a:ln>
        </p:spPr>
        <p:txBody>
          <a:bodyPr/>
          <a:lstStyle/>
          <a:p>
            <a:endParaRPr lang="ko-KR" altLang="en-US"/>
          </a:p>
        </p:txBody>
      </p:sp>
      <p:sp>
        <p:nvSpPr>
          <p:cNvPr id="14" name="Text 11"/>
          <p:cNvSpPr/>
          <p:nvPr/>
        </p:nvSpPr>
        <p:spPr>
          <a:xfrm>
            <a:off x="4745736" y="1600200"/>
            <a:ext cx="3858768"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FFFFFF"/>
                </a:solidFill>
                <a:latin typeface="Arial" pitchFamily="34" charset="0"/>
                <a:ea typeface="Arial" pitchFamily="34" charset="-122"/>
                <a:cs typeface="Arial" pitchFamily="34" charset="-120"/>
              </a:rPr>
              <a:t>Role inside PE</a:t>
            </a:r>
            <a:endParaRPr lang="en-US" sz="1080" dirty="0"/>
          </a:p>
        </p:txBody>
      </p:sp>
      <p:sp>
        <p:nvSpPr>
          <p:cNvPr id="15" name="Shape 12"/>
          <p:cNvSpPr/>
          <p:nvPr/>
        </p:nvSpPr>
        <p:spPr>
          <a:xfrm>
            <a:off x="777240" y="1965960"/>
            <a:ext cx="1188720" cy="484632"/>
          </a:xfrm>
          <a:prstGeom prst="rect">
            <a:avLst/>
          </a:prstGeom>
          <a:solidFill>
            <a:srgbClr val="FFFFFF"/>
          </a:solidFill>
          <a:ln w="6350">
            <a:solidFill>
              <a:srgbClr val="D9E2F3"/>
            </a:solidFill>
            <a:prstDash val="solid"/>
          </a:ln>
        </p:spPr>
        <p:txBody>
          <a:bodyPr/>
          <a:lstStyle/>
          <a:p>
            <a:endParaRPr lang="ko-KR" altLang="en-US"/>
          </a:p>
        </p:txBody>
      </p:sp>
      <p:sp>
        <p:nvSpPr>
          <p:cNvPr id="16" name="Text 13"/>
          <p:cNvSpPr/>
          <p:nvPr/>
        </p:nvSpPr>
        <p:spPr>
          <a:xfrm>
            <a:off x="822960" y="2084832"/>
            <a:ext cx="1097280"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222222"/>
                </a:solidFill>
                <a:latin typeface="Arial" pitchFamily="34" charset="0"/>
                <a:ea typeface="Arial" pitchFamily="34" charset="-122"/>
                <a:cs typeface="Arial" pitchFamily="34" charset="-120"/>
              </a:rPr>
              <a:t>Sign</a:t>
            </a:r>
            <a:endParaRPr lang="en-US" sz="1080" dirty="0"/>
          </a:p>
        </p:txBody>
      </p:sp>
      <p:sp>
        <p:nvSpPr>
          <p:cNvPr id="17" name="Shape 14"/>
          <p:cNvSpPr/>
          <p:nvPr/>
        </p:nvSpPr>
        <p:spPr>
          <a:xfrm>
            <a:off x="1965960" y="1965960"/>
            <a:ext cx="2743200" cy="484632"/>
          </a:xfrm>
          <a:prstGeom prst="rect">
            <a:avLst/>
          </a:prstGeom>
          <a:solidFill>
            <a:srgbClr val="FFFFFF"/>
          </a:solidFill>
          <a:ln w="6350">
            <a:solidFill>
              <a:srgbClr val="D9E2F3"/>
            </a:solidFill>
            <a:prstDash val="solid"/>
          </a:ln>
        </p:spPr>
        <p:txBody>
          <a:bodyPr/>
          <a:lstStyle/>
          <a:p>
            <a:endParaRPr lang="ko-KR" altLang="en-US"/>
          </a:p>
        </p:txBody>
      </p:sp>
      <p:sp>
        <p:nvSpPr>
          <p:cNvPr id="18" name="Text 15"/>
          <p:cNvSpPr/>
          <p:nvPr/>
        </p:nvSpPr>
        <p:spPr>
          <a:xfrm>
            <a:off x="2011680" y="2084832"/>
            <a:ext cx="265176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222222"/>
                </a:solidFill>
                <a:latin typeface="Arial" pitchFamily="34" charset="0"/>
                <a:ea typeface="Arial" pitchFamily="34" charset="-122"/>
                <a:cs typeface="Arial" pitchFamily="34" charset="-120"/>
              </a:rPr>
              <a:t>value sign</a:t>
            </a:r>
            <a:endParaRPr lang="en-US" sz="1080" dirty="0"/>
          </a:p>
        </p:txBody>
      </p:sp>
      <p:sp>
        <p:nvSpPr>
          <p:cNvPr id="19" name="Shape 16"/>
          <p:cNvSpPr/>
          <p:nvPr/>
        </p:nvSpPr>
        <p:spPr>
          <a:xfrm>
            <a:off x="4709160" y="1965960"/>
            <a:ext cx="3931920" cy="484632"/>
          </a:xfrm>
          <a:prstGeom prst="rect">
            <a:avLst/>
          </a:prstGeom>
          <a:solidFill>
            <a:srgbClr val="FFFFFF"/>
          </a:solidFill>
          <a:ln w="6350">
            <a:solidFill>
              <a:srgbClr val="D9E2F3"/>
            </a:solidFill>
            <a:prstDash val="solid"/>
          </a:ln>
        </p:spPr>
        <p:txBody>
          <a:bodyPr/>
          <a:lstStyle/>
          <a:p>
            <a:endParaRPr lang="ko-KR" altLang="en-US"/>
          </a:p>
        </p:txBody>
      </p:sp>
      <p:sp>
        <p:nvSpPr>
          <p:cNvPr id="20" name="Text 17"/>
          <p:cNvSpPr/>
          <p:nvPr/>
        </p:nvSpPr>
        <p:spPr>
          <a:xfrm>
            <a:off x="4754880" y="2084832"/>
            <a:ext cx="384048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222222"/>
                </a:solidFill>
                <a:latin typeface="Arial" pitchFamily="34" charset="0"/>
                <a:ea typeface="Arial" pitchFamily="34" charset="-122"/>
                <a:cs typeface="Arial" pitchFamily="34" charset="-120"/>
              </a:rPr>
              <a:t>positive / negative contribution</a:t>
            </a:r>
            <a:endParaRPr lang="en-US" sz="1080" dirty="0"/>
          </a:p>
        </p:txBody>
      </p:sp>
      <p:sp>
        <p:nvSpPr>
          <p:cNvPr id="21" name="Shape 18"/>
          <p:cNvSpPr/>
          <p:nvPr/>
        </p:nvSpPr>
        <p:spPr>
          <a:xfrm>
            <a:off x="777240" y="2450592"/>
            <a:ext cx="1188720" cy="484632"/>
          </a:xfrm>
          <a:prstGeom prst="rect">
            <a:avLst/>
          </a:prstGeom>
          <a:solidFill>
            <a:srgbClr val="F5F7FA"/>
          </a:solidFill>
          <a:ln w="6350">
            <a:solidFill>
              <a:srgbClr val="D9E2F3"/>
            </a:solidFill>
            <a:prstDash val="solid"/>
          </a:ln>
        </p:spPr>
        <p:txBody>
          <a:bodyPr/>
          <a:lstStyle/>
          <a:p>
            <a:endParaRPr lang="ko-KR" altLang="en-US"/>
          </a:p>
        </p:txBody>
      </p:sp>
      <p:sp>
        <p:nvSpPr>
          <p:cNvPr id="22" name="Text 19"/>
          <p:cNvSpPr/>
          <p:nvPr/>
        </p:nvSpPr>
        <p:spPr>
          <a:xfrm>
            <a:off x="822960" y="2569464"/>
            <a:ext cx="1097280"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222222"/>
                </a:solidFill>
                <a:latin typeface="Arial" pitchFamily="34" charset="0"/>
                <a:ea typeface="Arial" pitchFamily="34" charset="-122"/>
                <a:cs typeface="Arial" pitchFamily="34" charset="-120"/>
              </a:rPr>
              <a:t>Exp</a:t>
            </a:r>
            <a:endParaRPr lang="en-US" sz="1080" dirty="0"/>
          </a:p>
        </p:txBody>
      </p:sp>
      <p:sp>
        <p:nvSpPr>
          <p:cNvPr id="23" name="Shape 20"/>
          <p:cNvSpPr/>
          <p:nvPr/>
        </p:nvSpPr>
        <p:spPr>
          <a:xfrm>
            <a:off x="1965960" y="2450592"/>
            <a:ext cx="2743200" cy="484632"/>
          </a:xfrm>
          <a:prstGeom prst="rect">
            <a:avLst/>
          </a:prstGeom>
          <a:solidFill>
            <a:srgbClr val="F5F7FA"/>
          </a:solidFill>
          <a:ln w="6350">
            <a:solidFill>
              <a:srgbClr val="D9E2F3"/>
            </a:solidFill>
            <a:prstDash val="solid"/>
          </a:ln>
        </p:spPr>
        <p:txBody>
          <a:bodyPr/>
          <a:lstStyle/>
          <a:p>
            <a:endParaRPr lang="ko-KR" altLang="en-US"/>
          </a:p>
        </p:txBody>
      </p:sp>
      <p:sp>
        <p:nvSpPr>
          <p:cNvPr id="24" name="Text 21"/>
          <p:cNvSpPr/>
          <p:nvPr/>
        </p:nvSpPr>
        <p:spPr>
          <a:xfrm>
            <a:off x="2011680" y="2569464"/>
            <a:ext cx="265176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222222"/>
                </a:solidFill>
                <a:latin typeface="Arial" pitchFamily="34" charset="0"/>
                <a:ea typeface="Arial" pitchFamily="34" charset="-122"/>
                <a:cs typeface="Arial" pitchFamily="34" charset="-120"/>
              </a:rPr>
              <a:t>exponent</a:t>
            </a:r>
            <a:endParaRPr lang="en-US" sz="1080" dirty="0"/>
          </a:p>
        </p:txBody>
      </p:sp>
      <p:sp>
        <p:nvSpPr>
          <p:cNvPr id="25" name="Shape 22"/>
          <p:cNvSpPr/>
          <p:nvPr/>
        </p:nvSpPr>
        <p:spPr>
          <a:xfrm>
            <a:off x="4709160" y="2450592"/>
            <a:ext cx="3931920" cy="484632"/>
          </a:xfrm>
          <a:prstGeom prst="rect">
            <a:avLst/>
          </a:prstGeom>
          <a:solidFill>
            <a:srgbClr val="F5F7FA"/>
          </a:solidFill>
          <a:ln w="6350">
            <a:solidFill>
              <a:srgbClr val="D9E2F3"/>
            </a:solidFill>
            <a:prstDash val="solid"/>
          </a:ln>
        </p:spPr>
        <p:txBody>
          <a:bodyPr/>
          <a:lstStyle/>
          <a:p>
            <a:endParaRPr lang="ko-KR" altLang="en-US"/>
          </a:p>
        </p:txBody>
      </p:sp>
      <p:sp>
        <p:nvSpPr>
          <p:cNvPr id="26" name="Text 23"/>
          <p:cNvSpPr/>
          <p:nvPr/>
        </p:nvSpPr>
        <p:spPr>
          <a:xfrm>
            <a:off x="4754880" y="2569464"/>
            <a:ext cx="384048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222222"/>
                </a:solidFill>
                <a:latin typeface="Arial" pitchFamily="34" charset="0"/>
                <a:ea typeface="Arial" pitchFamily="34" charset="-122"/>
                <a:cs typeface="Arial" pitchFamily="34" charset="-120"/>
              </a:rPr>
              <a:t>power-of-two scale inside the term</a:t>
            </a:r>
            <a:endParaRPr lang="en-US" sz="1080" dirty="0"/>
          </a:p>
        </p:txBody>
      </p:sp>
      <p:sp>
        <p:nvSpPr>
          <p:cNvPr id="27" name="Shape 24"/>
          <p:cNvSpPr/>
          <p:nvPr/>
        </p:nvSpPr>
        <p:spPr>
          <a:xfrm>
            <a:off x="777240" y="2935224"/>
            <a:ext cx="1188720" cy="484632"/>
          </a:xfrm>
          <a:prstGeom prst="rect">
            <a:avLst/>
          </a:prstGeom>
          <a:solidFill>
            <a:srgbClr val="FFFFFF"/>
          </a:solidFill>
          <a:ln w="6350">
            <a:solidFill>
              <a:srgbClr val="D9E2F3"/>
            </a:solidFill>
            <a:prstDash val="solid"/>
          </a:ln>
        </p:spPr>
        <p:txBody>
          <a:bodyPr/>
          <a:lstStyle/>
          <a:p>
            <a:endParaRPr lang="ko-KR" altLang="en-US"/>
          </a:p>
        </p:txBody>
      </p:sp>
      <p:sp>
        <p:nvSpPr>
          <p:cNvPr id="28" name="Text 25"/>
          <p:cNvSpPr/>
          <p:nvPr/>
        </p:nvSpPr>
        <p:spPr>
          <a:xfrm>
            <a:off x="822960" y="3054096"/>
            <a:ext cx="1097280"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222222"/>
                </a:solidFill>
                <a:latin typeface="Arial" pitchFamily="34" charset="0"/>
                <a:ea typeface="Arial" pitchFamily="34" charset="-122"/>
                <a:cs typeface="Arial" pitchFamily="34" charset="-120"/>
              </a:rPr>
              <a:t>Man</a:t>
            </a:r>
            <a:endParaRPr lang="en-US" sz="1080" dirty="0"/>
          </a:p>
        </p:txBody>
      </p:sp>
      <p:sp>
        <p:nvSpPr>
          <p:cNvPr id="29" name="Shape 26"/>
          <p:cNvSpPr/>
          <p:nvPr/>
        </p:nvSpPr>
        <p:spPr>
          <a:xfrm>
            <a:off x="1965960" y="2935224"/>
            <a:ext cx="2743200" cy="484632"/>
          </a:xfrm>
          <a:prstGeom prst="rect">
            <a:avLst/>
          </a:prstGeom>
          <a:solidFill>
            <a:srgbClr val="FFFFFF"/>
          </a:solidFill>
          <a:ln w="6350">
            <a:solidFill>
              <a:srgbClr val="D9E2F3"/>
            </a:solidFill>
            <a:prstDash val="solid"/>
          </a:ln>
        </p:spPr>
        <p:txBody>
          <a:bodyPr/>
          <a:lstStyle/>
          <a:p>
            <a:endParaRPr lang="ko-KR" altLang="en-US"/>
          </a:p>
        </p:txBody>
      </p:sp>
      <p:sp>
        <p:nvSpPr>
          <p:cNvPr id="30" name="Text 27"/>
          <p:cNvSpPr/>
          <p:nvPr/>
        </p:nvSpPr>
        <p:spPr>
          <a:xfrm>
            <a:off x="2011680" y="3054096"/>
            <a:ext cx="265176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222222"/>
                </a:solidFill>
                <a:latin typeface="Arial" pitchFamily="34" charset="0"/>
                <a:ea typeface="Arial" pitchFamily="34" charset="-122"/>
                <a:cs typeface="Arial" pitchFamily="34" charset="-120"/>
              </a:rPr>
              <a:t>mantissa</a:t>
            </a:r>
            <a:endParaRPr lang="en-US" sz="1080" dirty="0"/>
          </a:p>
        </p:txBody>
      </p:sp>
      <p:sp>
        <p:nvSpPr>
          <p:cNvPr id="31" name="Shape 28"/>
          <p:cNvSpPr/>
          <p:nvPr/>
        </p:nvSpPr>
        <p:spPr>
          <a:xfrm>
            <a:off x="4709160" y="2935224"/>
            <a:ext cx="3931920" cy="484632"/>
          </a:xfrm>
          <a:prstGeom prst="rect">
            <a:avLst/>
          </a:prstGeom>
          <a:solidFill>
            <a:srgbClr val="FFFFFF"/>
          </a:solidFill>
          <a:ln w="6350">
            <a:solidFill>
              <a:srgbClr val="D9E2F3"/>
            </a:solidFill>
            <a:prstDash val="solid"/>
          </a:ln>
        </p:spPr>
        <p:txBody>
          <a:bodyPr/>
          <a:lstStyle/>
          <a:p>
            <a:endParaRPr lang="ko-KR" altLang="en-US"/>
          </a:p>
        </p:txBody>
      </p:sp>
      <p:sp>
        <p:nvSpPr>
          <p:cNvPr id="32" name="Text 29"/>
          <p:cNvSpPr/>
          <p:nvPr/>
        </p:nvSpPr>
        <p:spPr>
          <a:xfrm>
            <a:off x="4754880" y="3054096"/>
            <a:ext cx="384048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222222"/>
                </a:solidFill>
                <a:latin typeface="Arial" pitchFamily="34" charset="0"/>
                <a:ea typeface="Arial" pitchFamily="34" charset="-122"/>
                <a:cs typeface="Arial" pitchFamily="34" charset="-120"/>
              </a:rPr>
              <a:t>whether the term is active</a:t>
            </a:r>
            <a:endParaRPr lang="en-US" sz="1080" dirty="0"/>
          </a:p>
        </p:txBody>
      </p:sp>
      <p:sp>
        <p:nvSpPr>
          <p:cNvPr id="33" name="Shape 30"/>
          <p:cNvSpPr/>
          <p:nvPr/>
        </p:nvSpPr>
        <p:spPr>
          <a:xfrm>
            <a:off x="777240" y="3419856"/>
            <a:ext cx="1188720" cy="484632"/>
          </a:xfrm>
          <a:prstGeom prst="rect">
            <a:avLst/>
          </a:prstGeom>
          <a:solidFill>
            <a:srgbClr val="F5F7FA"/>
          </a:solidFill>
          <a:ln w="6350">
            <a:solidFill>
              <a:srgbClr val="D9E2F3"/>
            </a:solidFill>
            <a:prstDash val="solid"/>
          </a:ln>
        </p:spPr>
        <p:txBody>
          <a:bodyPr/>
          <a:lstStyle/>
          <a:p>
            <a:endParaRPr lang="ko-KR" altLang="en-US"/>
          </a:p>
        </p:txBody>
      </p:sp>
      <p:sp>
        <p:nvSpPr>
          <p:cNvPr id="34" name="Text 31"/>
          <p:cNvSpPr/>
          <p:nvPr/>
        </p:nvSpPr>
        <p:spPr>
          <a:xfrm>
            <a:off x="822960" y="3538728"/>
            <a:ext cx="1097280" cy="146304"/>
          </a:xfrm>
          <a:prstGeom prst="rect">
            <a:avLst/>
          </a:prstGeom>
          <a:noFill/>
          <a:ln/>
        </p:spPr>
        <p:txBody>
          <a:bodyPr wrap="square" lIns="0" tIns="0" rIns="0" bIns="0" rtlCol="0" anchor="ctr">
            <a:normAutofit fontScale="92500" lnSpcReduction="10000"/>
          </a:bodyPr>
          <a:lstStyle/>
          <a:p>
            <a:pPr marL="0" indent="0" algn="ctr">
              <a:buNone/>
            </a:pPr>
            <a:r>
              <a:rPr lang="en-US" sz="1080" b="1" dirty="0">
                <a:solidFill>
                  <a:srgbClr val="222222"/>
                </a:solidFill>
                <a:latin typeface="Arial" pitchFamily="34" charset="0"/>
                <a:ea typeface="Arial" pitchFamily="34" charset="-122"/>
                <a:cs typeface="Arial" pitchFamily="34" charset="-120"/>
              </a:rPr>
              <a:t>Bsig</a:t>
            </a:r>
            <a:endParaRPr lang="en-US" sz="1080" dirty="0"/>
          </a:p>
        </p:txBody>
      </p:sp>
      <p:sp>
        <p:nvSpPr>
          <p:cNvPr id="35" name="Shape 32"/>
          <p:cNvSpPr/>
          <p:nvPr/>
        </p:nvSpPr>
        <p:spPr>
          <a:xfrm>
            <a:off x="1965960" y="3419856"/>
            <a:ext cx="2743200" cy="484632"/>
          </a:xfrm>
          <a:prstGeom prst="rect">
            <a:avLst/>
          </a:prstGeom>
          <a:solidFill>
            <a:srgbClr val="F5F7FA"/>
          </a:solidFill>
          <a:ln w="6350">
            <a:solidFill>
              <a:srgbClr val="D9E2F3"/>
            </a:solidFill>
            <a:prstDash val="solid"/>
          </a:ln>
        </p:spPr>
        <p:txBody>
          <a:bodyPr/>
          <a:lstStyle/>
          <a:p>
            <a:endParaRPr lang="ko-KR" altLang="en-US"/>
          </a:p>
        </p:txBody>
      </p:sp>
      <p:sp>
        <p:nvSpPr>
          <p:cNvPr id="36" name="Text 33"/>
          <p:cNvSpPr/>
          <p:nvPr/>
        </p:nvSpPr>
        <p:spPr>
          <a:xfrm>
            <a:off x="2011680" y="3538728"/>
            <a:ext cx="265176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222222"/>
                </a:solidFill>
                <a:latin typeface="Arial" pitchFamily="34" charset="0"/>
                <a:ea typeface="Arial" pitchFamily="34" charset="-122"/>
                <a:cs typeface="Arial" pitchFamily="34" charset="-120"/>
              </a:rPr>
              <a:t>bit-significance</a:t>
            </a:r>
            <a:endParaRPr lang="en-US" sz="1080" dirty="0"/>
          </a:p>
        </p:txBody>
      </p:sp>
      <p:sp>
        <p:nvSpPr>
          <p:cNvPr id="37" name="Shape 34"/>
          <p:cNvSpPr/>
          <p:nvPr/>
        </p:nvSpPr>
        <p:spPr>
          <a:xfrm>
            <a:off x="4709160" y="3419856"/>
            <a:ext cx="3931920" cy="484632"/>
          </a:xfrm>
          <a:prstGeom prst="rect">
            <a:avLst/>
          </a:prstGeom>
          <a:solidFill>
            <a:srgbClr val="F5F7FA"/>
          </a:solidFill>
          <a:ln w="6350">
            <a:solidFill>
              <a:srgbClr val="D9E2F3"/>
            </a:solidFill>
            <a:prstDash val="solid"/>
          </a:ln>
        </p:spPr>
        <p:txBody>
          <a:bodyPr/>
          <a:lstStyle/>
          <a:p>
            <a:endParaRPr lang="ko-KR" altLang="en-US"/>
          </a:p>
        </p:txBody>
      </p:sp>
      <p:sp>
        <p:nvSpPr>
          <p:cNvPr id="38" name="Text 35"/>
          <p:cNvSpPr/>
          <p:nvPr/>
        </p:nvSpPr>
        <p:spPr>
          <a:xfrm>
            <a:off x="4754880" y="3538728"/>
            <a:ext cx="384048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222222"/>
                </a:solidFill>
                <a:latin typeface="Arial" pitchFamily="34" charset="0"/>
                <a:ea typeface="Arial" pitchFamily="34" charset="-122"/>
                <a:cs typeface="Arial" pitchFamily="34" charset="-120"/>
              </a:rPr>
              <a:t>original bit position / shift amount</a:t>
            </a:r>
            <a:endParaRPr lang="en-US" sz="1080" dirty="0"/>
          </a:p>
        </p:txBody>
      </p:sp>
      <p:sp>
        <p:nvSpPr>
          <p:cNvPr id="39" name="Shape 36"/>
          <p:cNvSpPr/>
          <p:nvPr/>
        </p:nvSpPr>
        <p:spPr>
          <a:xfrm>
            <a:off x="8863584" y="1755648"/>
            <a:ext cx="2514600" cy="1828800"/>
          </a:xfrm>
          <a:prstGeom prst="roundRect">
            <a:avLst>
              <a:gd name="adj" fmla="val 3000"/>
            </a:avLst>
          </a:prstGeom>
          <a:solidFill>
            <a:srgbClr val="EAF2FF"/>
          </a:solidFill>
          <a:ln w="13335">
            <a:solidFill>
              <a:srgbClr val="9EADCC"/>
            </a:solidFill>
            <a:prstDash val="solid"/>
          </a:ln>
        </p:spPr>
        <p:txBody>
          <a:bodyPr/>
          <a:lstStyle/>
          <a:p>
            <a:endParaRPr lang="ko-KR" altLang="en-US"/>
          </a:p>
        </p:txBody>
      </p:sp>
      <p:sp>
        <p:nvSpPr>
          <p:cNvPr id="40" name="Text 37"/>
          <p:cNvSpPr/>
          <p:nvPr/>
        </p:nvSpPr>
        <p:spPr>
          <a:xfrm>
            <a:off x="9028176" y="1865376"/>
            <a:ext cx="218541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Term value</a:t>
            </a:r>
            <a:endParaRPr lang="en-US" sz="1200" dirty="0"/>
          </a:p>
        </p:txBody>
      </p:sp>
      <mc:AlternateContent xmlns:mc="http://schemas.openxmlformats.org/markup-compatibility/2006" xmlns:a14="http://schemas.microsoft.com/office/drawing/2010/main">
        <mc:Choice Requires="a14">
          <p:sp>
            <p:nvSpPr>
              <p:cNvPr id="41" name="Text 38"/>
              <p:cNvSpPr/>
              <p:nvPr/>
            </p:nvSpPr>
            <p:spPr>
              <a:xfrm>
                <a:off x="9052560" y="2313432"/>
                <a:ext cx="2148840" cy="292608"/>
              </a:xfrm>
              <a:prstGeom prst="rect">
                <a:avLst/>
              </a:prstGeom>
              <a:noFill/>
              <a:ln/>
            </p:spPr>
            <p:txBody>
              <a:bodyPr wrap="square" lIns="0" tIns="0" rIns="0" bIns="0" rtlCol="0" anchor="ctr">
                <a:normAutofit fontScale="70000" lnSpcReduction="20000"/>
              </a:bodyPr>
              <a:lstStyle/>
              <a:p>
                <a:pPr marL="0" indent="0" algn="ctr">
                  <a:buNone/>
                </a:pPr>
                <a14:m>
                  <m:oMathPara xmlns:m="http://schemas.openxmlformats.org/officeDocument/2006/math">
                    <m:oMath>
                      <m:sSub>
                        <m:sSubPr>
                          <m:ctrlPr>
                            <a:rPr lang="ko-KR" altLang="en-US" sz="1450" i="1" dirty="0" smtClean="0">
                              <a:solidFill>
                                <a:srgbClr val="00245D"/>
                              </a:solidFill>
                              <a:latin typeface="Cambria Math" panose="02040503050406030204" pitchFamily="18" charset="0"/>
                            </a:rPr>
                          </m:ctrlPr>
                        </m:sSubPr>
                        <m:e>
                          <m:r>
                            <a:rPr lang="ko-KR" altLang="en-US" sz="1450" i="1" dirty="0" smtClean="0">
                              <a:solidFill>
                                <a:srgbClr val="00245D"/>
                              </a:solidFill>
                              <a:latin typeface="Cambria Math" panose="02040503050406030204" pitchFamily="18" charset="0"/>
                            </a:rPr>
                            <m:t>𝑉</m:t>
                          </m:r>
                        </m:e>
                        <m:sub>
                          <m:r>
                            <a:rPr lang="ko-KR" altLang="en-US" sz="1450" i="1" dirty="0" smtClean="0">
                              <a:solidFill>
                                <a:srgbClr val="00245D"/>
                              </a:solidFill>
                              <a:latin typeface="Cambria Math" panose="02040503050406030204" pitchFamily="18" charset="0"/>
                            </a:rPr>
                            <m:t>𝑡𝑒𝑟𝑚</m:t>
                          </m:r>
                        </m:sub>
                      </m:sSub>
                      <m:r>
                        <a:rPr lang="en-US" altLang="ko-KR" sz="1450" i="0" dirty="0" smtClean="0">
                          <a:solidFill>
                            <a:srgbClr val="00245D"/>
                          </a:solidFill>
                          <a:latin typeface="Cambria Math" panose="02040503050406030204" pitchFamily="18" charset="0"/>
                          <a:ea typeface="Cambria Math" pitchFamily="34" charset="-122"/>
                        </a:rPr>
                        <m:t>=</m:t>
                      </m:r>
                      <m:sSup>
                        <m:sSupPr>
                          <m:ctrlPr>
                            <a:rPr lang="en-US" altLang="ko-KR" sz="1450" i="1" dirty="0" smtClean="0">
                              <a:solidFill>
                                <a:srgbClr val="00245D"/>
                              </a:solidFill>
                              <a:latin typeface="Cambria Math" panose="02040503050406030204" pitchFamily="18" charset="0"/>
                              <a:ea typeface="Cambria Math" pitchFamily="34" charset="-122"/>
                            </a:rPr>
                          </m:ctrlPr>
                        </m:sSupPr>
                        <m:e>
                          <m:d>
                            <m:dPr>
                              <m:ctrlPr>
                                <a:rPr lang="en-US" altLang="ko-KR" sz="1450" i="0" dirty="0" smtClean="0">
                                  <a:solidFill>
                                    <a:srgbClr val="00245D"/>
                                  </a:solidFill>
                                  <a:latin typeface="Cambria Math" panose="02040503050406030204" pitchFamily="18" charset="0"/>
                                  <a:ea typeface="Cambria Math" pitchFamily="34" charset="-122"/>
                                </a:rPr>
                              </m:ctrlPr>
                            </m:dPr>
                            <m:e>
                              <m:r>
                                <a:rPr lang="en-US" altLang="ko-KR" sz="1450" i="0" dirty="0" smtClean="0">
                                  <a:solidFill>
                                    <a:srgbClr val="00245D"/>
                                  </a:solidFill>
                                  <a:latin typeface="Cambria Math" panose="02040503050406030204" pitchFamily="18" charset="0"/>
                                  <a:ea typeface="Cambria Math" pitchFamily="34" charset="-122"/>
                                </a:rPr>
                                <m:t>−1</m:t>
                              </m:r>
                            </m:e>
                          </m:d>
                        </m:e>
                        <m:sup>
                          <m:r>
                            <a:rPr lang="ko-KR" altLang="en-US" sz="1450" i="1" dirty="0" smtClean="0">
                              <a:solidFill>
                                <a:srgbClr val="00245D"/>
                              </a:solidFill>
                              <a:latin typeface="Cambria Math" panose="02040503050406030204" pitchFamily="18" charset="0"/>
                            </a:rPr>
                            <m:t>𝑠𝑖𝑔𝑛</m:t>
                          </m:r>
                        </m:sup>
                      </m:sSup>
                      <m:r>
                        <a:rPr lang="en-US" altLang="ko-KR" sz="1450" i="0" dirty="0" smtClean="0">
                          <a:solidFill>
                            <a:srgbClr val="00245D"/>
                          </a:solidFill>
                          <a:latin typeface="Cambria Math" panose="02040503050406030204" pitchFamily="18" charset="0"/>
                          <a:ea typeface="Cambria Math" pitchFamily="34" charset="-122"/>
                        </a:rPr>
                        <m:t>·</m:t>
                      </m:r>
                      <m:sSup>
                        <m:sSupPr>
                          <m:ctrlPr>
                            <a:rPr lang="en-US" altLang="ko-KR" sz="1450" i="0" dirty="0" smtClean="0">
                              <a:solidFill>
                                <a:srgbClr val="00245D"/>
                              </a:solidFill>
                              <a:latin typeface="Cambria Math" panose="02040503050406030204" pitchFamily="18" charset="0"/>
                              <a:ea typeface="Cambria Math" pitchFamily="34" charset="-122"/>
                            </a:rPr>
                          </m:ctrlPr>
                        </m:sSupPr>
                        <m:e>
                          <m:r>
                            <a:rPr lang="en-US" altLang="ko-KR" sz="1450" i="0" dirty="0" smtClean="0">
                              <a:solidFill>
                                <a:srgbClr val="00245D"/>
                              </a:solidFill>
                              <a:latin typeface="Cambria Math" panose="02040503050406030204" pitchFamily="18" charset="0"/>
                              <a:ea typeface="Cambria Math" pitchFamily="34" charset="-122"/>
                            </a:rPr>
                            <m:t>2</m:t>
                          </m:r>
                        </m:e>
                        <m:sup>
                          <m:r>
                            <a:rPr lang="ko-KR" altLang="en-US" sz="1450" i="1" dirty="0" smtClean="0">
                              <a:solidFill>
                                <a:srgbClr val="00245D"/>
                              </a:solidFill>
                              <a:latin typeface="Cambria Math" panose="02040503050406030204" pitchFamily="18" charset="0"/>
                            </a:rPr>
                            <m:t>𝑒𝑥𝑝</m:t>
                          </m:r>
                        </m:sup>
                      </m:sSup>
                      <m:r>
                        <a:rPr lang="en-US" altLang="ko-KR" sz="1450" i="0" dirty="0" smtClean="0">
                          <a:solidFill>
                            <a:srgbClr val="00245D"/>
                          </a:solidFill>
                          <a:latin typeface="Cambria Math" panose="02040503050406030204" pitchFamily="18" charset="0"/>
                          <a:ea typeface="Cambria Math" pitchFamily="34" charset="-122"/>
                        </a:rPr>
                        <m:t>·</m:t>
                      </m:r>
                      <m:r>
                        <a:rPr lang="ko-KR" altLang="en-US" sz="1450" i="1" dirty="0" smtClean="0">
                          <a:solidFill>
                            <a:srgbClr val="00245D"/>
                          </a:solidFill>
                          <a:latin typeface="Cambria Math" panose="02040503050406030204" pitchFamily="18" charset="0"/>
                        </a:rPr>
                        <m:t>𝑚𝑎𝑛</m:t>
                      </m:r>
                      <m:r>
                        <a:rPr lang="en-US" altLang="ko-KR" sz="1450" i="0" dirty="0" smtClean="0">
                          <a:solidFill>
                            <a:srgbClr val="00245D"/>
                          </a:solidFill>
                          <a:latin typeface="Cambria Math" panose="02040503050406030204" pitchFamily="18" charset="0"/>
                          <a:ea typeface="Cambria Math" pitchFamily="34" charset="-122"/>
                        </a:rPr>
                        <m:t>·</m:t>
                      </m:r>
                      <m:sSup>
                        <m:sSupPr>
                          <m:ctrlPr>
                            <a:rPr lang="en-US" altLang="ko-KR" sz="1450" i="0" dirty="0" smtClean="0">
                              <a:solidFill>
                                <a:srgbClr val="00245D"/>
                              </a:solidFill>
                              <a:latin typeface="Cambria Math" panose="02040503050406030204" pitchFamily="18" charset="0"/>
                              <a:ea typeface="Cambria Math" pitchFamily="34" charset="-122"/>
                            </a:rPr>
                          </m:ctrlPr>
                        </m:sSupPr>
                        <m:e>
                          <m:r>
                            <a:rPr lang="en-US" altLang="ko-KR" sz="1450" i="0" dirty="0" smtClean="0">
                              <a:solidFill>
                                <a:srgbClr val="00245D"/>
                              </a:solidFill>
                              <a:latin typeface="Cambria Math" panose="02040503050406030204" pitchFamily="18" charset="0"/>
                              <a:ea typeface="Cambria Math" pitchFamily="34" charset="-122"/>
                            </a:rPr>
                            <m:t>2</m:t>
                          </m:r>
                        </m:e>
                        <m:sup>
                          <m:r>
                            <a:rPr lang="ko-KR" altLang="en-US" sz="1450" i="1" dirty="0" smtClean="0">
                              <a:solidFill>
                                <a:srgbClr val="00245D"/>
                              </a:solidFill>
                              <a:latin typeface="Cambria Math" panose="02040503050406030204" pitchFamily="18" charset="0"/>
                            </a:rPr>
                            <m:t>𝑏𝑠𝑖𝑔</m:t>
                          </m:r>
                        </m:sup>
                      </m:sSup>
                    </m:oMath>
                  </m:oMathPara>
                </a14:m>
                <a:endParaRPr lang="en-US" sz="1450" dirty="0"/>
              </a:p>
            </p:txBody>
          </p:sp>
        </mc:Choice>
        <mc:Fallback xmlns="">
          <p:sp>
            <p:nvSpPr>
              <p:cNvPr id="41" name="Text 38"/>
              <p:cNvSpPr>
                <a:spLocks noRot="1" noChangeAspect="1" noMove="1" noResize="1" noEditPoints="1" noAdjustHandles="1" noChangeArrowheads="1" noChangeShapeType="1" noTextEdit="1"/>
              </p:cNvSpPr>
              <p:nvPr/>
            </p:nvSpPr>
            <p:spPr>
              <a:xfrm>
                <a:off x="9052560" y="2313432"/>
                <a:ext cx="2148840" cy="292608"/>
              </a:xfrm>
              <a:prstGeom prst="rect">
                <a:avLst/>
              </a:prstGeom>
              <a:blipFill>
                <a:blip r:embed="rId4"/>
                <a:stretch>
                  <a:fillRect/>
                </a:stretch>
              </a:blipFill>
              <a:ln/>
            </p:spPr>
            <p:txBody>
              <a:bodyPr/>
              <a:lstStyle/>
              <a:p>
                <a:r>
                  <a:rPr lang="ko-KR" altLang="en-US">
                    <a:noFill/>
                  </a:rPr>
                  <a:t> </a:t>
                </a:r>
              </a:p>
            </p:txBody>
          </p:sp>
        </mc:Fallback>
      </mc:AlternateContent>
      <p:sp>
        <p:nvSpPr>
          <p:cNvPr id="42" name="Text 39"/>
          <p:cNvSpPr/>
          <p:nvPr/>
        </p:nvSpPr>
        <p:spPr>
          <a:xfrm>
            <a:off x="9052560" y="2697480"/>
            <a:ext cx="2148840" cy="292608"/>
          </a:xfrm>
          <a:prstGeom prst="rect">
            <a:avLst/>
          </a:prstGeom>
          <a:noFill/>
          <a:ln/>
        </p:spPr>
        <p:txBody>
          <a:bodyPr wrap="square" lIns="0" tIns="0" rIns="0" bIns="0" rtlCol="0" anchor="ctr">
            <a:normAutofit/>
          </a:bodyPr>
          <a:lstStyle/>
          <a:p>
            <a:pPr marL="0" indent="0" algn="ctr">
              <a:buNone/>
            </a:pPr>
            <a:r>
              <a:rPr lang="en-US" sz="1450" dirty="0">
                <a:solidFill>
                  <a:srgbClr val="00245D"/>
                </a:solidFill>
                <a:latin typeface="Cambria Math" pitchFamily="34" charset="0"/>
                <a:ea typeface="Cambria Math" pitchFamily="34" charset="-122"/>
                <a:cs typeface="Cambria Math" pitchFamily="34" charset="-120"/>
              </a:rPr>
              <a:t>W = T1 + T2 + ⋯ + Tn</a:t>
            </a:r>
            <a:endParaRPr lang="en-US" sz="1450" dirty="0"/>
          </a:p>
        </p:txBody>
      </p:sp>
      <p:sp>
        <p:nvSpPr>
          <p:cNvPr id="43" name="Shape 40"/>
          <p:cNvSpPr/>
          <p:nvPr/>
        </p:nvSpPr>
        <p:spPr>
          <a:xfrm>
            <a:off x="835152" y="4027932"/>
            <a:ext cx="10378440" cy="1097280"/>
          </a:xfrm>
          <a:prstGeom prst="roundRect">
            <a:avLst>
              <a:gd name="adj" fmla="val 5000"/>
            </a:avLst>
          </a:prstGeom>
          <a:solidFill>
            <a:srgbClr val="FFFDF2"/>
          </a:solidFill>
          <a:ln w="13335">
            <a:solidFill>
              <a:srgbClr val="D6B656"/>
            </a:solidFill>
            <a:prstDash val="solid"/>
          </a:ln>
        </p:spPr>
        <p:txBody>
          <a:bodyPr/>
          <a:lstStyle/>
          <a:p>
            <a:endParaRPr lang="ko-KR" altLang="en-US"/>
          </a:p>
        </p:txBody>
      </p:sp>
      <p:sp>
        <p:nvSpPr>
          <p:cNvPr id="44" name="Text 41"/>
          <p:cNvSpPr/>
          <p:nvPr/>
        </p:nvSpPr>
        <p:spPr>
          <a:xfrm>
            <a:off x="999744" y="4137660"/>
            <a:ext cx="100492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Core intuition</a:t>
            </a:r>
            <a:endParaRPr lang="en-US" sz="1200" dirty="0"/>
          </a:p>
        </p:txBody>
      </p:sp>
      <p:sp>
        <p:nvSpPr>
          <p:cNvPr id="45" name="Text 42"/>
          <p:cNvSpPr/>
          <p:nvPr/>
        </p:nvSpPr>
        <p:spPr>
          <a:xfrm>
            <a:off x="1200912" y="4448556"/>
            <a:ext cx="9646920"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00245D"/>
                </a:solidFill>
                <a:latin typeface="Arial" pitchFamily="34" charset="0"/>
                <a:ea typeface="Arial" pitchFamily="34" charset="-122"/>
                <a:cs typeface="Arial" pitchFamily="34" charset="-120"/>
              </a:rPr>
              <a:t>Lower bit-width → fewer bit-serial terms → fewer PE cycles</a:t>
            </a:r>
            <a:endParaRPr lang="en-US" sz="1600" dirty="0"/>
          </a:p>
        </p:txBody>
      </p:sp>
      <p:sp>
        <p:nvSpPr>
          <p:cNvPr id="46" name="Text 43"/>
          <p:cNvSpPr/>
          <p:nvPr/>
        </p:nvSpPr>
        <p:spPr>
          <a:xfrm>
            <a:off x="1200912" y="4869180"/>
            <a:ext cx="9646920" cy="164592"/>
          </a:xfrm>
          <a:prstGeom prst="rect">
            <a:avLst/>
          </a:prstGeom>
          <a:noFill/>
          <a:ln/>
        </p:spPr>
        <p:txBody>
          <a:bodyPr wrap="square" lIns="0" tIns="0" rIns="0" bIns="0" rtlCol="0" anchor="ctr">
            <a:normAutofit lnSpcReduction="10000"/>
          </a:bodyPr>
          <a:lstStyle/>
          <a:p>
            <a:pPr marL="0" indent="0" algn="ctr">
              <a:buNone/>
            </a:pPr>
            <a:r>
              <a:rPr lang="en-US" sz="1150" dirty="0">
                <a:solidFill>
                  <a:srgbClr val="222222"/>
                </a:solidFill>
                <a:latin typeface="Arial" pitchFamily="34" charset="0"/>
                <a:ea typeface="Arial" pitchFamily="34" charset="-122"/>
                <a:cs typeface="Arial" pitchFamily="34" charset="-120"/>
              </a:rPr>
              <a:t>So quantization reduces not only memory footprint, but also the amount of computation.</a:t>
            </a:r>
            <a:endParaRPr lang="en-US" sz="1150" dirty="0"/>
          </a:p>
        </p:txBody>
      </p:sp>
      <p:sp>
        <p:nvSpPr>
          <p:cNvPr id="61" name="Shape 44">
            <a:extLst>
              <a:ext uri="{FF2B5EF4-FFF2-40B4-BE49-F238E27FC236}">
                <a16:creationId xmlns:a16="http://schemas.microsoft.com/office/drawing/2014/main" id="{42C63D38-111E-5FAD-C0C7-A421A09CB2BB}"/>
              </a:ext>
            </a:extLst>
          </p:cNvPr>
          <p:cNvSpPr/>
          <p:nvPr/>
        </p:nvSpPr>
        <p:spPr>
          <a:xfrm>
            <a:off x="2859425" y="5385816"/>
            <a:ext cx="1417320" cy="457200"/>
          </a:xfrm>
          <a:prstGeom prst="roundRect">
            <a:avLst>
              <a:gd name="adj" fmla="val 10000"/>
            </a:avLst>
          </a:prstGeom>
          <a:solidFill>
            <a:srgbClr val="EAF2FF"/>
          </a:solidFill>
          <a:ln w="12700">
            <a:solidFill>
              <a:srgbClr val="9EADCC"/>
            </a:solidFill>
            <a:prstDash val="solid"/>
          </a:ln>
        </p:spPr>
        <p:txBody>
          <a:bodyPr/>
          <a:lstStyle/>
          <a:p>
            <a:endParaRPr lang="ko-KR" altLang="en-US"/>
          </a:p>
        </p:txBody>
      </p:sp>
      <p:sp>
        <p:nvSpPr>
          <p:cNvPr id="63" name="Text 45">
            <a:extLst>
              <a:ext uri="{FF2B5EF4-FFF2-40B4-BE49-F238E27FC236}">
                <a16:creationId xmlns:a16="http://schemas.microsoft.com/office/drawing/2014/main" id="{6212DA87-903C-2474-031B-A494EB8F51FB}"/>
              </a:ext>
            </a:extLst>
          </p:cNvPr>
          <p:cNvSpPr/>
          <p:nvPr/>
        </p:nvSpPr>
        <p:spPr>
          <a:xfrm>
            <a:off x="2932577" y="5440680"/>
            <a:ext cx="1271016" cy="365760"/>
          </a:xfrm>
          <a:prstGeom prst="rect">
            <a:avLst/>
          </a:prstGeom>
          <a:noFill/>
          <a:ln/>
        </p:spPr>
        <p:txBody>
          <a:bodyPr wrap="square" lIns="254" tIns="254" rIns="254" bIns="254" rtlCol="0" anchor="ctr">
            <a:normAutofit/>
          </a:bodyPr>
          <a:lstStyle/>
          <a:p>
            <a:pPr marL="0" indent="0" algn="ctr">
              <a:buNone/>
            </a:pPr>
            <a:r>
              <a:rPr lang="en-US" sz="1200" b="1" dirty="0">
                <a:solidFill>
                  <a:srgbClr val="00245D"/>
                </a:solidFill>
                <a:latin typeface="Arial" pitchFamily="34" charset="0"/>
                <a:ea typeface="Arial" pitchFamily="34" charset="-122"/>
                <a:cs typeface="Arial" pitchFamily="34" charset="-120"/>
              </a:rPr>
              <a:t>INT8, 6</a:t>
            </a:r>
            <a:endParaRPr lang="en-US" sz="1200" dirty="0"/>
          </a:p>
        </p:txBody>
      </p:sp>
      <p:sp>
        <p:nvSpPr>
          <p:cNvPr id="65" name="Shape 46">
            <a:extLst>
              <a:ext uri="{FF2B5EF4-FFF2-40B4-BE49-F238E27FC236}">
                <a16:creationId xmlns:a16="http://schemas.microsoft.com/office/drawing/2014/main" id="{23B55698-970B-9534-2A97-A225370102EC}"/>
              </a:ext>
            </a:extLst>
          </p:cNvPr>
          <p:cNvSpPr/>
          <p:nvPr/>
        </p:nvSpPr>
        <p:spPr>
          <a:xfrm>
            <a:off x="4322465" y="5614416"/>
            <a:ext cx="548640" cy="0"/>
          </a:xfrm>
          <a:prstGeom prst="line">
            <a:avLst/>
          </a:prstGeom>
          <a:noFill/>
          <a:ln w="15240">
            <a:solidFill>
              <a:srgbClr val="00245D"/>
            </a:solidFill>
            <a:prstDash val="solid"/>
            <a:tailEnd type="triangle"/>
          </a:ln>
        </p:spPr>
        <p:txBody>
          <a:bodyPr/>
          <a:lstStyle/>
          <a:p>
            <a:endParaRPr lang="ko-KR" altLang="en-US"/>
          </a:p>
        </p:txBody>
      </p:sp>
      <p:sp>
        <p:nvSpPr>
          <p:cNvPr id="67" name="Shape 47">
            <a:extLst>
              <a:ext uri="{FF2B5EF4-FFF2-40B4-BE49-F238E27FC236}">
                <a16:creationId xmlns:a16="http://schemas.microsoft.com/office/drawing/2014/main" id="{38E5B54A-1571-E6DD-40BD-87C56A4F2E13}"/>
              </a:ext>
            </a:extLst>
          </p:cNvPr>
          <p:cNvSpPr/>
          <p:nvPr/>
        </p:nvSpPr>
        <p:spPr>
          <a:xfrm>
            <a:off x="4871105" y="5385816"/>
            <a:ext cx="2148840" cy="457200"/>
          </a:xfrm>
          <a:prstGeom prst="roundRect">
            <a:avLst>
              <a:gd name="adj" fmla="val 10000"/>
            </a:avLst>
          </a:prstGeom>
          <a:solidFill>
            <a:srgbClr val="E2F0D9"/>
          </a:solidFill>
          <a:ln w="12700">
            <a:solidFill>
              <a:srgbClr val="548235"/>
            </a:solidFill>
            <a:prstDash val="solid"/>
          </a:ln>
        </p:spPr>
        <p:txBody>
          <a:bodyPr/>
          <a:lstStyle/>
          <a:p>
            <a:endParaRPr lang="ko-KR" altLang="en-US"/>
          </a:p>
        </p:txBody>
      </p:sp>
      <p:sp>
        <p:nvSpPr>
          <p:cNvPr id="69" name="Text 48">
            <a:extLst>
              <a:ext uri="{FF2B5EF4-FFF2-40B4-BE49-F238E27FC236}">
                <a16:creationId xmlns:a16="http://schemas.microsoft.com/office/drawing/2014/main" id="{E37F8C23-E03D-D99C-8AA3-FDBDEAFEC768}"/>
              </a:ext>
            </a:extLst>
          </p:cNvPr>
          <p:cNvSpPr/>
          <p:nvPr/>
        </p:nvSpPr>
        <p:spPr>
          <a:xfrm>
            <a:off x="4944257" y="5440680"/>
            <a:ext cx="2002536" cy="365760"/>
          </a:xfrm>
          <a:prstGeom prst="rect">
            <a:avLst/>
          </a:prstGeom>
          <a:noFill/>
          <a:ln/>
        </p:spPr>
        <p:txBody>
          <a:bodyPr wrap="square" lIns="254" tIns="254" rIns="254" bIns="254" rtlCol="0" anchor="ctr">
            <a:normAutofit/>
          </a:bodyPr>
          <a:lstStyle/>
          <a:p>
            <a:pPr marL="0" indent="0" algn="ctr">
              <a:buNone/>
            </a:pPr>
            <a:r>
              <a:rPr lang="en-US" sz="1200" b="1" dirty="0">
                <a:solidFill>
                  <a:srgbClr val="00245D"/>
                </a:solidFill>
                <a:latin typeface="Arial" pitchFamily="34" charset="0"/>
                <a:ea typeface="Arial" pitchFamily="34" charset="-122"/>
                <a:cs typeface="Arial" pitchFamily="34" charset="-120"/>
              </a:rPr>
              <a:t>Unified Term</a:t>
            </a:r>
            <a:endParaRPr lang="en-US" sz="1200" dirty="0"/>
          </a:p>
        </p:txBody>
      </p:sp>
      <p:sp>
        <p:nvSpPr>
          <p:cNvPr id="71" name="Shape 49">
            <a:extLst>
              <a:ext uri="{FF2B5EF4-FFF2-40B4-BE49-F238E27FC236}">
                <a16:creationId xmlns:a16="http://schemas.microsoft.com/office/drawing/2014/main" id="{E06EFB26-2141-EFAA-8D3F-8AC97E94CE8D}"/>
              </a:ext>
            </a:extLst>
          </p:cNvPr>
          <p:cNvSpPr/>
          <p:nvPr/>
        </p:nvSpPr>
        <p:spPr>
          <a:xfrm>
            <a:off x="7065665" y="5614416"/>
            <a:ext cx="548640" cy="0"/>
          </a:xfrm>
          <a:prstGeom prst="line">
            <a:avLst/>
          </a:prstGeom>
          <a:noFill/>
          <a:ln w="15240">
            <a:solidFill>
              <a:srgbClr val="00245D"/>
            </a:solidFill>
            <a:prstDash val="solid"/>
            <a:tailEnd type="triangle"/>
          </a:ln>
        </p:spPr>
        <p:txBody>
          <a:bodyPr/>
          <a:lstStyle/>
          <a:p>
            <a:endParaRPr lang="ko-KR" altLang="en-US"/>
          </a:p>
        </p:txBody>
      </p:sp>
      <p:sp>
        <p:nvSpPr>
          <p:cNvPr id="73" name="Shape 50">
            <a:extLst>
              <a:ext uri="{FF2B5EF4-FFF2-40B4-BE49-F238E27FC236}">
                <a16:creationId xmlns:a16="http://schemas.microsoft.com/office/drawing/2014/main" id="{AA8DA62D-25D5-58EF-32B2-07A4CE07ADD8}"/>
              </a:ext>
            </a:extLst>
          </p:cNvPr>
          <p:cNvSpPr/>
          <p:nvPr/>
        </p:nvSpPr>
        <p:spPr>
          <a:xfrm>
            <a:off x="7614305" y="5385816"/>
            <a:ext cx="2148840" cy="457200"/>
          </a:xfrm>
          <a:prstGeom prst="roundRect">
            <a:avLst>
              <a:gd name="adj" fmla="val 10000"/>
            </a:avLst>
          </a:prstGeom>
          <a:solidFill>
            <a:srgbClr val="EAF2FF"/>
          </a:solidFill>
          <a:ln w="12700">
            <a:solidFill>
              <a:srgbClr val="9EADCC"/>
            </a:solidFill>
            <a:prstDash val="solid"/>
          </a:ln>
        </p:spPr>
        <p:txBody>
          <a:bodyPr/>
          <a:lstStyle/>
          <a:p>
            <a:endParaRPr lang="ko-KR" altLang="en-US"/>
          </a:p>
        </p:txBody>
      </p:sp>
      <p:sp>
        <p:nvSpPr>
          <p:cNvPr id="75" name="Text 51">
            <a:extLst>
              <a:ext uri="{FF2B5EF4-FFF2-40B4-BE49-F238E27FC236}">
                <a16:creationId xmlns:a16="http://schemas.microsoft.com/office/drawing/2014/main" id="{33BCFEC3-F890-3E33-DB06-66FFA6253909}"/>
              </a:ext>
            </a:extLst>
          </p:cNvPr>
          <p:cNvSpPr/>
          <p:nvPr/>
        </p:nvSpPr>
        <p:spPr>
          <a:xfrm>
            <a:off x="7687457" y="5440680"/>
            <a:ext cx="2002536" cy="365760"/>
          </a:xfrm>
          <a:prstGeom prst="rect">
            <a:avLst/>
          </a:prstGeom>
          <a:noFill/>
          <a:ln/>
        </p:spPr>
        <p:txBody>
          <a:bodyPr wrap="square" lIns="254" tIns="254" rIns="254" bIns="254" rtlCol="0" anchor="ctr">
            <a:normAutofit/>
          </a:bodyPr>
          <a:lstStyle/>
          <a:p>
            <a:pPr marL="0" indent="0" algn="ctr">
              <a:buNone/>
            </a:pPr>
            <a:r>
              <a:rPr lang="en-US" sz="1200" b="1" dirty="0">
                <a:solidFill>
                  <a:srgbClr val="00245D"/>
                </a:solidFill>
                <a:latin typeface="Arial" pitchFamily="34" charset="0"/>
                <a:ea typeface="Arial" pitchFamily="34" charset="-122"/>
                <a:cs typeface="Arial" pitchFamily="34" charset="-120"/>
              </a:rPr>
              <a:t>BitMoD PE</a:t>
            </a:r>
            <a:endParaRPr lang="en-US" sz="1200" dirty="0"/>
          </a:p>
        </p:txBody>
      </p:sp>
      <p:sp>
        <p:nvSpPr>
          <p:cNvPr id="77" name="Shape 52">
            <a:extLst>
              <a:ext uri="{FF2B5EF4-FFF2-40B4-BE49-F238E27FC236}">
                <a16:creationId xmlns:a16="http://schemas.microsoft.com/office/drawing/2014/main" id="{47F28266-1D78-3BEF-0C94-04DCF83B29A4}"/>
              </a:ext>
            </a:extLst>
          </p:cNvPr>
          <p:cNvSpPr/>
          <p:nvPr/>
        </p:nvSpPr>
        <p:spPr>
          <a:xfrm>
            <a:off x="2859425" y="5833872"/>
            <a:ext cx="1417320" cy="457200"/>
          </a:xfrm>
          <a:prstGeom prst="roundRect">
            <a:avLst>
              <a:gd name="adj" fmla="val 10000"/>
            </a:avLst>
          </a:prstGeom>
          <a:solidFill>
            <a:srgbClr val="FFF2CC"/>
          </a:solidFill>
          <a:ln w="12700">
            <a:solidFill>
              <a:srgbClr val="D6B656"/>
            </a:solidFill>
            <a:prstDash val="solid"/>
          </a:ln>
        </p:spPr>
        <p:txBody>
          <a:bodyPr/>
          <a:lstStyle/>
          <a:p>
            <a:endParaRPr lang="ko-KR" altLang="en-US"/>
          </a:p>
        </p:txBody>
      </p:sp>
      <p:sp>
        <p:nvSpPr>
          <p:cNvPr id="79" name="Text 53">
            <a:extLst>
              <a:ext uri="{FF2B5EF4-FFF2-40B4-BE49-F238E27FC236}">
                <a16:creationId xmlns:a16="http://schemas.microsoft.com/office/drawing/2014/main" id="{80804AA1-7C02-B4A2-0AEA-633353E42C97}"/>
              </a:ext>
            </a:extLst>
          </p:cNvPr>
          <p:cNvSpPr/>
          <p:nvPr/>
        </p:nvSpPr>
        <p:spPr>
          <a:xfrm>
            <a:off x="2932577" y="5888736"/>
            <a:ext cx="1271016" cy="365760"/>
          </a:xfrm>
          <a:prstGeom prst="rect">
            <a:avLst/>
          </a:prstGeom>
          <a:noFill/>
          <a:ln/>
        </p:spPr>
        <p:txBody>
          <a:bodyPr wrap="square" lIns="254" tIns="254" rIns="254" bIns="254" rtlCol="0" anchor="ctr">
            <a:normAutofit/>
          </a:bodyPr>
          <a:lstStyle/>
          <a:p>
            <a:pPr marL="0" indent="0" algn="ctr">
              <a:buNone/>
            </a:pPr>
            <a:r>
              <a:rPr lang="en-US" sz="1200" b="1" dirty="0">
                <a:solidFill>
                  <a:srgbClr val="00245D"/>
                </a:solidFill>
                <a:latin typeface="Arial" pitchFamily="34" charset="0"/>
                <a:ea typeface="Arial" pitchFamily="34" charset="-122"/>
                <a:cs typeface="Arial" pitchFamily="34" charset="-120"/>
              </a:rPr>
              <a:t>FP4, 3</a:t>
            </a:r>
            <a:endParaRPr lang="en-US" sz="1200" dirty="0"/>
          </a:p>
        </p:txBody>
      </p:sp>
      <p:sp>
        <p:nvSpPr>
          <p:cNvPr id="81" name="Shape 54">
            <a:extLst>
              <a:ext uri="{FF2B5EF4-FFF2-40B4-BE49-F238E27FC236}">
                <a16:creationId xmlns:a16="http://schemas.microsoft.com/office/drawing/2014/main" id="{C98E7EB9-1908-561A-9911-14EE6E5AE8CB}"/>
              </a:ext>
            </a:extLst>
          </p:cNvPr>
          <p:cNvSpPr/>
          <p:nvPr/>
        </p:nvSpPr>
        <p:spPr>
          <a:xfrm>
            <a:off x="4322465" y="6062472"/>
            <a:ext cx="3291840" cy="0"/>
          </a:xfrm>
          <a:prstGeom prst="line">
            <a:avLst/>
          </a:prstGeom>
          <a:noFill/>
          <a:ln w="15240">
            <a:solidFill>
              <a:srgbClr val="00245D"/>
            </a:solidFill>
            <a:prstDash val="solid"/>
            <a:tailEnd type="triangle"/>
          </a:ln>
        </p:spPr>
        <p:txBody>
          <a:bodyPr/>
          <a:lstStyle/>
          <a:p>
            <a:endParaRPr lang="ko-KR" altLang="en-US"/>
          </a:p>
        </p:txBody>
      </p:sp>
      <p:sp>
        <p:nvSpPr>
          <p:cNvPr id="83" name="Shape 55">
            <a:extLst>
              <a:ext uri="{FF2B5EF4-FFF2-40B4-BE49-F238E27FC236}">
                <a16:creationId xmlns:a16="http://schemas.microsoft.com/office/drawing/2014/main" id="{5BB6D23E-F485-CEED-8D38-A4B42D372663}"/>
              </a:ext>
            </a:extLst>
          </p:cNvPr>
          <p:cNvSpPr/>
          <p:nvPr/>
        </p:nvSpPr>
        <p:spPr>
          <a:xfrm>
            <a:off x="7614305" y="5833872"/>
            <a:ext cx="2148840" cy="457200"/>
          </a:xfrm>
          <a:prstGeom prst="roundRect">
            <a:avLst>
              <a:gd name="adj" fmla="val 10000"/>
            </a:avLst>
          </a:prstGeom>
          <a:solidFill>
            <a:srgbClr val="EAF2FF"/>
          </a:solidFill>
          <a:ln w="12700">
            <a:solidFill>
              <a:srgbClr val="9EADCC"/>
            </a:solidFill>
            <a:prstDash val="solid"/>
          </a:ln>
        </p:spPr>
        <p:txBody>
          <a:bodyPr/>
          <a:lstStyle/>
          <a:p>
            <a:endParaRPr lang="ko-KR" altLang="en-US"/>
          </a:p>
        </p:txBody>
      </p:sp>
      <p:sp>
        <p:nvSpPr>
          <p:cNvPr id="85" name="Text 56">
            <a:extLst>
              <a:ext uri="{FF2B5EF4-FFF2-40B4-BE49-F238E27FC236}">
                <a16:creationId xmlns:a16="http://schemas.microsoft.com/office/drawing/2014/main" id="{92025B7D-2BE8-E1BA-9073-15C302E0F4F6}"/>
              </a:ext>
            </a:extLst>
          </p:cNvPr>
          <p:cNvSpPr/>
          <p:nvPr/>
        </p:nvSpPr>
        <p:spPr>
          <a:xfrm>
            <a:off x="7687457" y="5888736"/>
            <a:ext cx="2002536" cy="365760"/>
          </a:xfrm>
          <a:prstGeom prst="rect">
            <a:avLst/>
          </a:prstGeom>
          <a:noFill/>
          <a:ln/>
        </p:spPr>
        <p:txBody>
          <a:bodyPr wrap="square" lIns="254" tIns="254" rIns="254" bIns="254" rtlCol="0" anchor="ctr">
            <a:normAutofit/>
          </a:bodyPr>
          <a:lstStyle/>
          <a:p>
            <a:pPr marL="0" indent="0" algn="ctr">
              <a:buNone/>
            </a:pPr>
            <a:r>
              <a:rPr lang="en-US" sz="1200" b="1" dirty="0">
                <a:solidFill>
                  <a:srgbClr val="00245D"/>
                </a:solidFill>
                <a:latin typeface="Arial" pitchFamily="34" charset="0"/>
                <a:ea typeface="Arial" pitchFamily="34" charset="-122"/>
                <a:cs typeface="Arial" pitchFamily="34" charset="-120"/>
              </a:rPr>
              <a:t>same PE</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Figure 4 Overview: two decoders, one output format</a:t>
            </a:r>
            <a:endParaRPr lang="en-US" sz="2000" dirty="0"/>
          </a:p>
        </p:txBody>
      </p:sp>
      <p:sp>
        <p:nvSpPr>
          <p:cNvPr id="3" name="Text 1"/>
          <p:cNvSpPr/>
          <p:nvPr/>
        </p:nvSpPr>
        <p:spPr>
          <a:xfrm>
            <a:off x="11475720" y="384048"/>
            <a:ext cx="411480" cy="228600"/>
          </a:xfrm>
          <a:prstGeom prst="rect">
            <a:avLst/>
          </a:prstGeom>
          <a:noFill/>
          <a:ln/>
        </p:spPr>
        <p:txBody>
          <a:bodyPr wrap="square" lIns="0" tIns="0" rIns="0" bIns="0" rtlCol="0" anchor="ctr"/>
          <a:lstStyle/>
          <a:p>
            <a:pPr marL="0" indent="0" algn="r">
              <a:buNone/>
            </a:pPr>
            <a:endParaRPr lang="en-US" sz="1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56</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INT formats and FP formats enter different front-end decoders, but both produce Sign / Exp / Man / Bsig terms.</a:t>
            </a:r>
            <a:endParaRPr lang="en-US" sz="1300" dirty="0"/>
          </a:p>
        </p:txBody>
      </p:sp>
      <p:sp>
        <p:nvSpPr>
          <p:cNvPr id="10" name="Shape 6"/>
          <p:cNvSpPr/>
          <p:nvPr/>
        </p:nvSpPr>
        <p:spPr>
          <a:xfrm>
            <a:off x="6400800" y="1417320"/>
            <a:ext cx="4983480" cy="1051560"/>
          </a:xfrm>
          <a:prstGeom prst="roundRect">
            <a:avLst>
              <a:gd name="adj" fmla="val 5217"/>
            </a:avLst>
          </a:prstGeom>
          <a:solidFill>
            <a:srgbClr val="F3F8FF"/>
          </a:solidFill>
          <a:ln w="13335">
            <a:solidFill>
              <a:srgbClr val="9EADCC"/>
            </a:solidFill>
            <a:prstDash val="solid"/>
          </a:ln>
        </p:spPr>
        <p:txBody>
          <a:bodyPr/>
          <a:lstStyle/>
          <a:p>
            <a:endParaRPr lang="ko-KR" altLang="en-US"/>
          </a:p>
        </p:txBody>
      </p:sp>
      <p:sp>
        <p:nvSpPr>
          <p:cNvPr id="11" name="Text 7"/>
          <p:cNvSpPr/>
          <p:nvPr/>
        </p:nvSpPr>
        <p:spPr>
          <a:xfrm>
            <a:off x="6565392" y="1527048"/>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Figure 4(a): INT8 / INT6</a:t>
            </a:r>
            <a:endParaRPr lang="en-US" sz="1200" dirty="0"/>
          </a:p>
        </p:txBody>
      </p:sp>
      <p:sp>
        <p:nvSpPr>
          <p:cNvPr id="12" name="Text 8"/>
          <p:cNvSpPr/>
          <p:nvPr/>
        </p:nvSpPr>
        <p:spPr>
          <a:xfrm>
            <a:off x="6720840" y="1874520"/>
            <a:ext cx="4389120" cy="228600"/>
          </a:xfrm>
          <a:prstGeom prst="rect">
            <a:avLst/>
          </a:prstGeom>
          <a:noFill/>
          <a:ln/>
        </p:spPr>
        <p:txBody>
          <a:bodyPr wrap="square" lIns="0" tIns="0" rIns="0" bIns="0" rtlCol="0" anchor="ctr">
            <a:normAutofit fontScale="85000" lnSpcReduction="10000"/>
          </a:bodyPr>
          <a:lstStyle/>
          <a:p>
            <a:pPr marL="0" indent="0" algn="ctr">
              <a:buNone/>
            </a:pPr>
            <a:r>
              <a:rPr lang="en-US" sz="1140" dirty="0">
                <a:solidFill>
                  <a:srgbClr val="222222"/>
                </a:solidFill>
                <a:latin typeface="Arial" pitchFamily="34" charset="0"/>
                <a:ea typeface="Arial" pitchFamily="34" charset="-122"/>
                <a:cs typeface="Arial" pitchFamily="34" charset="-120"/>
              </a:rPr>
              <a:t>Booth Encoding decomposes integer binary strings into 3-bit Booth strings.</a:t>
            </a:r>
            <a:endParaRPr lang="en-US" sz="1140" dirty="0"/>
          </a:p>
        </p:txBody>
      </p:sp>
      <p:sp>
        <p:nvSpPr>
          <p:cNvPr id="13" name="Shape 9"/>
          <p:cNvSpPr/>
          <p:nvPr/>
        </p:nvSpPr>
        <p:spPr>
          <a:xfrm>
            <a:off x="6400800" y="2724912"/>
            <a:ext cx="4983480" cy="1051560"/>
          </a:xfrm>
          <a:prstGeom prst="roundRect">
            <a:avLst>
              <a:gd name="adj" fmla="val 5217"/>
            </a:avLst>
          </a:prstGeom>
          <a:solidFill>
            <a:srgbClr val="FFFDF2"/>
          </a:solidFill>
          <a:ln w="13335">
            <a:solidFill>
              <a:srgbClr val="D6B656"/>
            </a:solidFill>
            <a:prstDash val="solid"/>
          </a:ln>
        </p:spPr>
        <p:txBody>
          <a:bodyPr/>
          <a:lstStyle/>
          <a:p>
            <a:endParaRPr lang="ko-KR" altLang="en-US"/>
          </a:p>
        </p:txBody>
      </p:sp>
      <p:sp>
        <p:nvSpPr>
          <p:cNvPr id="14" name="Text 10"/>
          <p:cNvSpPr/>
          <p:nvPr/>
        </p:nvSpPr>
        <p:spPr>
          <a:xfrm>
            <a:off x="6565392" y="2834640"/>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Figure 4(b): FP4 / FP3</a:t>
            </a:r>
            <a:endParaRPr lang="en-US" sz="1200" dirty="0"/>
          </a:p>
        </p:txBody>
      </p:sp>
      <p:sp>
        <p:nvSpPr>
          <p:cNvPr id="15" name="Text 11"/>
          <p:cNvSpPr/>
          <p:nvPr/>
        </p:nvSpPr>
        <p:spPr>
          <a:xfrm>
            <a:off x="6720840" y="3182112"/>
            <a:ext cx="4389120" cy="228600"/>
          </a:xfrm>
          <a:prstGeom prst="rect">
            <a:avLst/>
          </a:prstGeom>
          <a:noFill/>
          <a:ln/>
        </p:spPr>
        <p:txBody>
          <a:bodyPr wrap="square" lIns="0" tIns="0" rIns="0" bIns="0" rtlCol="0" anchor="ctr">
            <a:normAutofit fontScale="77500" lnSpcReduction="20000"/>
          </a:bodyPr>
          <a:lstStyle/>
          <a:p>
            <a:pPr marL="0" indent="0" algn="ctr">
              <a:buNone/>
            </a:pPr>
            <a:r>
              <a:rPr lang="en-US" sz="1140" dirty="0">
                <a:solidFill>
                  <a:srgbClr val="222222"/>
                </a:solidFill>
                <a:latin typeface="Arial" pitchFamily="34" charset="0"/>
                <a:ea typeface="Arial" pitchFamily="34" charset="-122"/>
                <a:cs typeface="Arial" pitchFamily="34" charset="-120"/>
              </a:rPr>
              <a:t>FP → Fixed conversion + redundant −0 handling + LOD creates at most 2 terms.</a:t>
            </a:r>
            <a:endParaRPr lang="en-US" sz="1140" dirty="0"/>
          </a:p>
        </p:txBody>
      </p:sp>
      <p:sp>
        <p:nvSpPr>
          <p:cNvPr id="16" name="Shape 12"/>
          <p:cNvSpPr/>
          <p:nvPr/>
        </p:nvSpPr>
        <p:spPr>
          <a:xfrm>
            <a:off x="6400800" y="4041648"/>
            <a:ext cx="4983480" cy="1051560"/>
          </a:xfrm>
          <a:prstGeom prst="roundRect">
            <a:avLst>
              <a:gd name="adj" fmla="val 5217"/>
            </a:avLst>
          </a:prstGeom>
          <a:solidFill>
            <a:srgbClr val="E2F0D9"/>
          </a:solidFill>
          <a:ln w="13335">
            <a:solidFill>
              <a:srgbClr val="548235"/>
            </a:solidFill>
            <a:prstDash val="solid"/>
          </a:ln>
        </p:spPr>
        <p:txBody>
          <a:bodyPr/>
          <a:lstStyle/>
          <a:p>
            <a:endParaRPr lang="ko-KR" altLang="en-US"/>
          </a:p>
        </p:txBody>
      </p:sp>
      <p:sp>
        <p:nvSpPr>
          <p:cNvPr id="17" name="Text 13"/>
          <p:cNvSpPr/>
          <p:nvPr/>
        </p:nvSpPr>
        <p:spPr>
          <a:xfrm>
            <a:off x="6565392" y="4151376"/>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Final output of both paths</a:t>
            </a:r>
            <a:endParaRPr lang="en-US" sz="1200" dirty="0"/>
          </a:p>
        </p:txBody>
      </p:sp>
      <p:sp>
        <p:nvSpPr>
          <p:cNvPr id="18" name="Text 14"/>
          <p:cNvSpPr/>
          <p:nvPr/>
        </p:nvSpPr>
        <p:spPr>
          <a:xfrm>
            <a:off x="6720840" y="4510400"/>
            <a:ext cx="4389120" cy="228600"/>
          </a:xfrm>
          <a:prstGeom prst="rect">
            <a:avLst/>
          </a:prstGeom>
          <a:noFill/>
          <a:ln/>
        </p:spPr>
        <p:txBody>
          <a:bodyPr wrap="square" lIns="0" tIns="0" rIns="0" bIns="0" rtlCol="0" anchor="ctr">
            <a:normAutofit/>
          </a:bodyPr>
          <a:lstStyle/>
          <a:p>
            <a:pPr marL="0" indent="0" algn="ctr">
              <a:buNone/>
            </a:pPr>
            <a:r>
              <a:rPr lang="en-US" sz="1200" b="1" dirty="0">
                <a:solidFill>
                  <a:srgbClr val="00245D"/>
                </a:solidFill>
                <a:latin typeface="Arial" pitchFamily="34" charset="0"/>
                <a:ea typeface="Arial" pitchFamily="34" charset="-122"/>
                <a:cs typeface="Arial" pitchFamily="34" charset="-120"/>
              </a:rPr>
              <a:t>Unified Bit-serial Terms: Sign | Exp | Man | Bsig</a:t>
            </a:r>
            <a:endParaRPr lang="en-US" sz="1200" dirty="0"/>
          </a:p>
        </p:txBody>
      </p:sp>
      <p:sp>
        <p:nvSpPr>
          <p:cNvPr id="19" name="Shape 15"/>
          <p:cNvSpPr/>
          <p:nvPr/>
        </p:nvSpPr>
        <p:spPr>
          <a:xfrm>
            <a:off x="6537960" y="5413248"/>
            <a:ext cx="1143000" cy="384048"/>
          </a:xfrm>
          <a:prstGeom prst="roundRect">
            <a:avLst>
              <a:gd name="adj" fmla="val 11905"/>
            </a:avLst>
          </a:prstGeom>
          <a:solidFill>
            <a:srgbClr val="EAF2FF"/>
          </a:solidFill>
          <a:ln w="12700">
            <a:solidFill>
              <a:srgbClr val="9EADCC"/>
            </a:solidFill>
            <a:prstDash val="solid"/>
          </a:ln>
        </p:spPr>
        <p:txBody>
          <a:bodyPr/>
          <a:lstStyle/>
          <a:p>
            <a:endParaRPr lang="ko-KR" altLang="en-US"/>
          </a:p>
        </p:txBody>
      </p:sp>
      <p:sp>
        <p:nvSpPr>
          <p:cNvPr id="20" name="Text 16"/>
          <p:cNvSpPr/>
          <p:nvPr/>
        </p:nvSpPr>
        <p:spPr>
          <a:xfrm>
            <a:off x="6611112" y="5468112"/>
            <a:ext cx="996696" cy="292608"/>
          </a:xfrm>
          <a:prstGeom prst="rect">
            <a:avLst/>
          </a:prstGeom>
          <a:noFill/>
          <a:ln/>
        </p:spPr>
        <p:txBody>
          <a:bodyPr wrap="square" lIns="254" tIns="254" rIns="254" bIns="254" rtlCol="0" anchor="ctr">
            <a:normAutofit/>
          </a:bodyPr>
          <a:lstStyle/>
          <a:p>
            <a:pPr marL="0" indent="0" algn="ctr">
              <a:buNone/>
            </a:pPr>
            <a:r>
              <a:rPr lang="en-US" sz="860" b="1" dirty="0">
                <a:solidFill>
                  <a:srgbClr val="00245D"/>
                </a:solidFill>
                <a:latin typeface="Arial" pitchFamily="34" charset="0"/>
                <a:ea typeface="Arial" pitchFamily="34" charset="-122"/>
                <a:cs typeface="Arial" pitchFamily="34" charset="-120"/>
              </a:rPr>
              <a:t>INT8</a:t>
            </a:r>
            <a:endParaRPr lang="en-US" sz="860" dirty="0"/>
          </a:p>
          <a:p>
            <a:pPr marL="0" indent="0" algn="ctr">
              <a:buNone/>
            </a:pPr>
            <a:r>
              <a:rPr lang="en-US" sz="860" b="1" dirty="0">
                <a:solidFill>
                  <a:srgbClr val="00245D"/>
                </a:solidFill>
                <a:latin typeface="Arial" pitchFamily="34" charset="0"/>
                <a:ea typeface="Arial" pitchFamily="34" charset="-122"/>
                <a:cs typeface="Arial" pitchFamily="34" charset="-120"/>
              </a:rPr>
              <a:t>4 terms</a:t>
            </a:r>
            <a:endParaRPr lang="en-US" sz="860" dirty="0"/>
          </a:p>
        </p:txBody>
      </p:sp>
      <p:sp>
        <p:nvSpPr>
          <p:cNvPr id="21" name="Shape 17"/>
          <p:cNvSpPr/>
          <p:nvPr/>
        </p:nvSpPr>
        <p:spPr>
          <a:xfrm>
            <a:off x="7818120" y="5413248"/>
            <a:ext cx="1143000" cy="384048"/>
          </a:xfrm>
          <a:prstGeom prst="roundRect">
            <a:avLst>
              <a:gd name="adj" fmla="val 11905"/>
            </a:avLst>
          </a:prstGeom>
          <a:solidFill>
            <a:srgbClr val="EAF2FF"/>
          </a:solidFill>
          <a:ln w="12700">
            <a:solidFill>
              <a:srgbClr val="9EADCC"/>
            </a:solidFill>
            <a:prstDash val="solid"/>
          </a:ln>
        </p:spPr>
        <p:txBody>
          <a:bodyPr/>
          <a:lstStyle/>
          <a:p>
            <a:endParaRPr lang="ko-KR" altLang="en-US"/>
          </a:p>
        </p:txBody>
      </p:sp>
      <p:sp>
        <p:nvSpPr>
          <p:cNvPr id="22" name="Text 18"/>
          <p:cNvSpPr/>
          <p:nvPr/>
        </p:nvSpPr>
        <p:spPr>
          <a:xfrm>
            <a:off x="7891272" y="5468112"/>
            <a:ext cx="996696" cy="292608"/>
          </a:xfrm>
          <a:prstGeom prst="rect">
            <a:avLst/>
          </a:prstGeom>
          <a:noFill/>
          <a:ln/>
        </p:spPr>
        <p:txBody>
          <a:bodyPr wrap="square" lIns="254" tIns="254" rIns="254" bIns="254" rtlCol="0" anchor="ctr">
            <a:normAutofit/>
          </a:bodyPr>
          <a:lstStyle/>
          <a:p>
            <a:pPr marL="0" indent="0" algn="ctr">
              <a:buNone/>
            </a:pPr>
            <a:r>
              <a:rPr lang="en-US" sz="860" b="1" dirty="0">
                <a:solidFill>
                  <a:srgbClr val="00245D"/>
                </a:solidFill>
                <a:latin typeface="Arial" pitchFamily="34" charset="0"/>
                <a:ea typeface="Arial" pitchFamily="34" charset="-122"/>
                <a:cs typeface="Arial" pitchFamily="34" charset="-120"/>
              </a:rPr>
              <a:t>INT6</a:t>
            </a:r>
            <a:endParaRPr lang="en-US" sz="860" dirty="0"/>
          </a:p>
          <a:p>
            <a:pPr marL="0" indent="0" algn="ctr">
              <a:buNone/>
            </a:pPr>
            <a:r>
              <a:rPr lang="en-US" sz="860" b="1" dirty="0">
                <a:solidFill>
                  <a:srgbClr val="00245D"/>
                </a:solidFill>
                <a:latin typeface="Arial" pitchFamily="34" charset="0"/>
                <a:ea typeface="Arial" pitchFamily="34" charset="-122"/>
                <a:cs typeface="Arial" pitchFamily="34" charset="-120"/>
              </a:rPr>
              <a:t>3 terms</a:t>
            </a:r>
            <a:endParaRPr lang="en-US" sz="860" dirty="0"/>
          </a:p>
        </p:txBody>
      </p:sp>
      <p:sp>
        <p:nvSpPr>
          <p:cNvPr id="23" name="Shape 19"/>
          <p:cNvSpPr/>
          <p:nvPr/>
        </p:nvSpPr>
        <p:spPr>
          <a:xfrm>
            <a:off x="9098280" y="5413248"/>
            <a:ext cx="1143000" cy="384048"/>
          </a:xfrm>
          <a:prstGeom prst="roundRect">
            <a:avLst>
              <a:gd name="adj" fmla="val 11905"/>
            </a:avLst>
          </a:prstGeom>
          <a:solidFill>
            <a:srgbClr val="FFF2CC"/>
          </a:solidFill>
          <a:ln w="12700">
            <a:solidFill>
              <a:srgbClr val="D6B656"/>
            </a:solidFill>
            <a:prstDash val="solid"/>
          </a:ln>
        </p:spPr>
        <p:txBody>
          <a:bodyPr/>
          <a:lstStyle/>
          <a:p>
            <a:endParaRPr lang="ko-KR" altLang="en-US"/>
          </a:p>
        </p:txBody>
      </p:sp>
      <p:sp>
        <p:nvSpPr>
          <p:cNvPr id="24" name="Text 20"/>
          <p:cNvSpPr/>
          <p:nvPr/>
        </p:nvSpPr>
        <p:spPr>
          <a:xfrm>
            <a:off x="9171432" y="5468112"/>
            <a:ext cx="996696" cy="292608"/>
          </a:xfrm>
          <a:prstGeom prst="rect">
            <a:avLst/>
          </a:prstGeom>
          <a:noFill/>
          <a:ln/>
        </p:spPr>
        <p:txBody>
          <a:bodyPr wrap="square" lIns="254" tIns="254" rIns="254" bIns="254" rtlCol="0" anchor="ctr">
            <a:normAutofit/>
          </a:bodyPr>
          <a:lstStyle/>
          <a:p>
            <a:pPr marL="0" indent="0" algn="ctr">
              <a:buNone/>
            </a:pPr>
            <a:r>
              <a:rPr lang="en-US" sz="860" b="1" dirty="0">
                <a:solidFill>
                  <a:srgbClr val="00245D"/>
                </a:solidFill>
                <a:latin typeface="Arial" pitchFamily="34" charset="0"/>
                <a:ea typeface="Arial" pitchFamily="34" charset="-122"/>
                <a:cs typeface="Arial" pitchFamily="34" charset="-120"/>
              </a:rPr>
              <a:t>FP4</a:t>
            </a:r>
            <a:endParaRPr lang="en-US" sz="860" dirty="0"/>
          </a:p>
          <a:p>
            <a:pPr marL="0" indent="0" algn="ctr">
              <a:buNone/>
            </a:pPr>
            <a:r>
              <a:rPr lang="en-US" sz="860" b="1" dirty="0">
                <a:solidFill>
                  <a:srgbClr val="00245D"/>
                </a:solidFill>
                <a:latin typeface="Arial" pitchFamily="34" charset="0"/>
                <a:ea typeface="Arial" pitchFamily="34" charset="-122"/>
                <a:cs typeface="Arial" pitchFamily="34" charset="-120"/>
              </a:rPr>
              <a:t>≤2 terms</a:t>
            </a:r>
            <a:endParaRPr lang="en-US" sz="860" dirty="0"/>
          </a:p>
        </p:txBody>
      </p:sp>
      <p:sp>
        <p:nvSpPr>
          <p:cNvPr id="25" name="Shape 21"/>
          <p:cNvSpPr/>
          <p:nvPr/>
        </p:nvSpPr>
        <p:spPr>
          <a:xfrm>
            <a:off x="10378440" y="5413248"/>
            <a:ext cx="1143000" cy="384048"/>
          </a:xfrm>
          <a:prstGeom prst="roundRect">
            <a:avLst>
              <a:gd name="adj" fmla="val 11905"/>
            </a:avLst>
          </a:prstGeom>
          <a:solidFill>
            <a:srgbClr val="FFF2CC"/>
          </a:solidFill>
          <a:ln w="12700">
            <a:solidFill>
              <a:srgbClr val="D6B656"/>
            </a:solidFill>
            <a:prstDash val="solid"/>
          </a:ln>
        </p:spPr>
        <p:txBody>
          <a:bodyPr/>
          <a:lstStyle/>
          <a:p>
            <a:endParaRPr lang="ko-KR" altLang="en-US"/>
          </a:p>
        </p:txBody>
      </p:sp>
      <p:sp>
        <p:nvSpPr>
          <p:cNvPr id="26" name="Text 22"/>
          <p:cNvSpPr/>
          <p:nvPr/>
        </p:nvSpPr>
        <p:spPr>
          <a:xfrm>
            <a:off x="10451592" y="5468112"/>
            <a:ext cx="996696" cy="292608"/>
          </a:xfrm>
          <a:prstGeom prst="rect">
            <a:avLst/>
          </a:prstGeom>
          <a:noFill/>
          <a:ln/>
        </p:spPr>
        <p:txBody>
          <a:bodyPr wrap="square" lIns="254" tIns="254" rIns="254" bIns="254" rtlCol="0" anchor="ctr">
            <a:normAutofit/>
          </a:bodyPr>
          <a:lstStyle/>
          <a:p>
            <a:pPr marL="0" indent="0" algn="ctr">
              <a:buNone/>
            </a:pPr>
            <a:r>
              <a:rPr lang="en-US" sz="860" b="1" dirty="0">
                <a:solidFill>
                  <a:srgbClr val="00245D"/>
                </a:solidFill>
                <a:latin typeface="Arial" pitchFamily="34" charset="0"/>
                <a:ea typeface="Arial" pitchFamily="34" charset="-122"/>
                <a:cs typeface="Arial" pitchFamily="34" charset="-120"/>
              </a:rPr>
              <a:t>FP3</a:t>
            </a:r>
            <a:endParaRPr lang="en-US" sz="860" dirty="0"/>
          </a:p>
          <a:p>
            <a:pPr marL="0" indent="0" algn="ctr">
              <a:buNone/>
            </a:pPr>
            <a:r>
              <a:rPr lang="en-US" sz="860" b="1" dirty="0">
                <a:solidFill>
                  <a:srgbClr val="00245D"/>
                </a:solidFill>
                <a:latin typeface="Arial" pitchFamily="34" charset="0"/>
                <a:ea typeface="Arial" pitchFamily="34" charset="-122"/>
                <a:cs typeface="Arial" pitchFamily="34" charset="-120"/>
              </a:rPr>
              <a:t>≤2 terms</a:t>
            </a:r>
            <a:endParaRPr lang="en-US" sz="860" dirty="0"/>
          </a:p>
        </p:txBody>
      </p:sp>
      <p:pic>
        <p:nvPicPr>
          <p:cNvPr id="28" name="그림 27">
            <a:extLst>
              <a:ext uri="{FF2B5EF4-FFF2-40B4-BE49-F238E27FC236}">
                <a16:creationId xmlns:a16="http://schemas.microsoft.com/office/drawing/2014/main" id="{86D1E276-B69C-1D41-454F-32DB20FCA289}"/>
              </a:ext>
            </a:extLst>
          </p:cNvPr>
          <p:cNvPicPr>
            <a:picLocks noChangeAspect="1"/>
          </p:cNvPicPr>
          <p:nvPr/>
        </p:nvPicPr>
        <p:blipFill>
          <a:blip r:embed="rId4"/>
          <a:stretch>
            <a:fillRect/>
          </a:stretch>
        </p:blipFill>
        <p:spPr>
          <a:xfrm>
            <a:off x="181356" y="1248059"/>
            <a:ext cx="6137148" cy="476277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Case 1 — INT8: Booth Encoding creates 4 terms</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57</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INT8 has 8 binary bits, so radix-4 Booth encoding produces four 3-bit Booth strings with Bsig = 0, 2, 4, 6.</a:t>
            </a:r>
            <a:endParaRPr lang="en-US" sz="1300" dirty="0"/>
          </a:p>
        </p:txBody>
      </p:sp>
      <p:sp>
        <p:nvSpPr>
          <p:cNvPr id="9" name="Shape 6"/>
          <p:cNvSpPr/>
          <p:nvPr/>
        </p:nvSpPr>
        <p:spPr>
          <a:xfrm>
            <a:off x="685800" y="1481328"/>
            <a:ext cx="5394960" cy="1737360"/>
          </a:xfrm>
          <a:prstGeom prst="roundRect">
            <a:avLst>
              <a:gd name="adj" fmla="val 3158"/>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91056"/>
            <a:ext cx="50657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INT8 weight 45</a:t>
            </a:r>
            <a:endParaRPr lang="en-US" sz="1200" dirty="0"/>
          </a:p>
        </p:txBody>
      </p:sp>
      <p:sp>
        <p:nvSpPr>
          <p:cNvPr id="11" name="Text 8"/>
          <p:cNvSpPr/>
          <p:nvPr/>
        </p:nvSpPr>
        <p:spPr>
          <a:xfrm>
            <a:off x="891540" y="2093977"/>
            <a:ext cx="1554480" cy="182880"/>
          </a:xfrm>
          <a:prstGeom prst="rect">
            <a:avLst/>
          </a:prstGeom>
          <a:noFill/>
          <a:ln/>
        </p:spPr>
        <p:txBody>
          <a:bodyPr wrap="square" lIns="0" tIns="0" rIns="0" bIns="0" rtlCol="0" anchor="ctr">
            <a:normAutofit fontScale="92500" lnSpcReduction="20000"/>
          </a:bodyPr>
          <a:lstStyle/>
          <a:p>
            <a:pPr marL="0" indent="0" algn="l">
              <a:buNone/>
            </a:pPr>
            <a:r>
              <a:rPr lang="en-US" sz="1500" b="1" dirty="0">
                <a:solidFill>
                  <a:srgbClr val="00245D"/>
                </a:solidFill>
                <a:latin typeface="Arial" pitchFamily="34" charset="0"/>
                <a:ea typeface="Arial" pitchFamily="34" charset="-122"/>
                <a:cs typeface="Arial" pitchFamily="34" charset="-120"/>
              </a:rPr>
              <a:t>45 → 00101101₂</a:t>
            </a:r>
            <a:endParaRPr lang="en-US" sz="1500" dirty="0"/>
          </a:p>
        </p:txBody>
      </p:sp>
      <p:sp>
        <p:nvSpPr>
          <p:cNvPr id="12" name="Shape 9"/>
          <p:cNvSpPr/>
          <p:nvPr/>
        </p:nvSpPr>
        <p:spPr>
          <a:xfrm>
            <a:off x="2446020" y="2025396"/>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13" name="Text 10"/>
          <p:cNvSpPr/>
          <p:nvPr/>
        </p:nvSpPr>
        <p:spPr>
          <a:xfrm>
            <a:off x="2464308" y="2098548"/>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14" name="Text 11"/>
          <p:cNvSpPr/>
          <p:nvPr/>
        </p:nvSpPr>
        <p:spPr>
          <a:xfrm>
            <a:off x="2446020" y="2455164"/>
            <a:ext cx="41148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I7</a:t>
            </a:r>
            <a:endParaRPr lang="en-US" sz="780" dirty="0"/>
          </a:p>
        </p:txBody>
      </p:sp>
      <p:sp>
        <p:nvSpPr>
          <p:cNvPr id="15" name="Shape 12"/>
          <p:cNvSpPr/>
          <p:nvPr/>
        </p:nvSpPr>
        <p:spPr>
          <a:xfrm>
            <a:off x="2857500" y="2025396"/>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16" name="Text 13"/>
          <p:cNvSpPr/>
          <p:nvPr/>
        </p:nvSpPr>
        <p:spPr>
          <a:xfrm>
            <a:off x="2875788" y="2098548"/>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17" name="Text 14"/>
          <p:cNvSpPr/>
          <p:nvPr/>
        </p:nvSpPr>
        <p:spPr>
          <a:xfrm>
            <a:off x="2857500" y="2455164"/>
            <a:ext cx="41148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I6</a:t>
            </a:r>
            <a:endParaRPr lang="en-US" sz="780" dirty="0"/>
          </a:p>
        </p:txBody>
      </p:sp>
      <p:sp>
        <p:nvSpPr>
          <p:cNvPr id="18" name="Shape 15"/>
          <p:cNvSpPr/>
          <p:nvPr/>
        </p:nvSpPr>
        <p:spPr>
          <a:xfrm>
            <a:off x="3268980" y="2025396"/>
            <a:ext cx="411480" cy="384048"/>
          </a:xfrm>
          <a:prstGeom prst="rect">
            <a:avLst/>
          </a:prstGeom>
          <a:solidFill>
            <a:srgbClr val="F4CCCC"/>
          </a:solidFill>
          <a:ln w="8890">
            <a:solidFill>
              <a:srgbClr val="D9E2F3"/>
            </a:solidFill>
            <a:prstDash val="solid"/>
          </a:ln>
        </p:spPr>
        <p:txBody>
          <a:bodyPr/>
          <a:lstStyle/>
          <a:p>
            <a:endParaRPr lang="ko-KR" altLang="en-US"/>
          </a:p>
        </p:txBody>
      </p:sp>
      <p:sp>
        <p:nvSpPr>
          <p:cNvPr id="19" name="Text 16"/>
          <p:cNvSpPr/>
          <p:nvPr/>
        </p:nvSpPr>
        <p:spPr>
          <a:xfrm>
            <a:off x="3287268" y="2098548"/>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20" name="Text 17"/>
          <p:cNvSpPr/>
          <p:nvPr/>
        </p:nvSpPr>
        <p:spPr>
          <a:xfrm>
            <a:off x="3268980" y="2455164"/>
            <a:ext cx="41148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I5</a:t>
            </a:r>
            <a:endParaRPr lang="en-US" sz="780" dirty="0"/>
          </a:p>
        </p:txBody>
      </p:sp>
      <p:sp>
        <p:nvSpPr>
          <p:cNvPr id="21" name="Shape 18"/>
          <p:cNvSpPr/>
          <p:nvPr/>
        </p:nvSpPr>
        <p:spPr>
          <a:xfrm>
            <a:off x="3680460" y="2025396"/>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22" name="Text 19"/>
          <p:cNvSpPr/>
          <p:nvPr/>
        </p:nvSpPr>
        <p:spPr>
          <a:xfrm>
            <a:off x="3698748" y="2098548"/>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23" name="Text 20"/>
          <p:cNvSpPr/>
          <p:nvPr/>
        </p:nvSpPr>
        <p:spPr>
          <a:xfrm>
            <a:off x="3680460" y="2455164"/>
            <a:ext cx="41148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I4</a:t>
            </a:r>
            <a:endParaRPr lang="en-US" sz="780" dirty="0"/>
          </a:p>
        </p:txBody>
      </p:sp>
      <p:sp>
        <p:nvSpPr>
          <p:cNvPr id="24" name="Shape 21"/>
          <p:cNvSpPr/>
          <p:nvPr/>
        </p:nvSpPr>
        <p:spPr>
          <a:xfrm>
            <a:off x="4091940" y="2025396"/>
            <a:ext cx="411480" cy="384048"/>
          </a:xfrm>
          <a:prstGeom prst="rect">
            <a:avLst/>
          </a:prstGeom>
          <a:solidFill>
            <a:srgbClr val="F4CCCC"/>
          </a:solidFill>
          <a:ln w="8890">
            <a:solidFill>
              <a:srgbClr val="D9E2F3"/>
            </a:solidFill>
            <a:prstDash val="solid"/>
          </a:ln>
        </p:spPr>
        <p:txBody>
          <a:bodyPr/>
          <a:lstStyle/>
          <a:p>
            <a:endParaRPr lang="ko-KR" altLang="en-US"/>
          </a:p>
        </p:txBody>
      </p:sp>
      <p:sp>
        <p:nvSpPr>
          <p:cNvPr id="25" name="Text 22"/>
          <p:cNvSpPr/>
          <p:nvPr/>
        </p:nvSpPr>
        <p:spPr>
          <a:xfrm>
            <a:off x="4110228" y="2098548"/>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26" name="Text 23"/>
          <p:cNvSpPr/>
          <p:nvPr/>
        </p:nvSpPr>
        <p:spPr>
          <a:xfrm>
            <a:off x="4091940" y="2455164"/>
            <a:ext cx="41148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I3</a:t>
            </a:r>
            <a:endParaRPr lang="en-US" sz="780" dirty="0"/>
          </a:p>
        </p:txBody>
      </p:sp>
      <p:sp>
        <p:nvSpPr>
          <p:cNvPr id="27" name="Shape 24"/>
          <p:cNvSpPr/>
          <p:nvPr/>
        </p:nvSpPr>
        <p:spPr>
          <a:xfrm>
            <a:off x="4503420" y="2025396"/>
            <a:ext cx="411480" cy="384048"/>
          </a:xfrm>
          <a:prstGeom prst="rect">
            <a:avLst/>
          </a:prstGeom>
          <a:solidFill>
            <a:srgbClr val="F4CCCC"/>
          </a:solidFill>
          <a:ln w="8890">
            <a:solidFill>
              <a:srgbClr val="D9E2F3"/>
            </a:solidFill>
            <a:prstDash val="solid"/>
          </a:ln>
        </p:spPr>
        <p:txBody>
          <a:bodyPr/>
          <a:lstStyle/>
          <a:p>
            <a:endParaRPr lang="ko-KR" altLang="en-US"/>
          </a:p>
        </p:txBody>
      </p:sp>
      <p:sp>
        <p:nvSpPr>
          <p:cNvPr id="28" name="Text 25"/>
          <p:cNvSpPr/>
          <p:nvPr/>
        </p:nvSpPr>
        <p:spPr>
          <a:xfrm>
            <a:off x="4521708" y="2098548"/>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29" name="Text 26"/>
          <p:cNvSpPr/>
          <p:nvPr/>
        </p:nvSpPr>
        <p:spPr>
          <a:xfrm>
            <a:off x="4503420" y="2455164"/>
            <a:ext cx="41148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I2</a:t>
            </a:r>
            <a:endParaRPr lang="en-US" sz="780" dirty="0"/>
          </a:p>
        </p:txBody>
      </p:sp>
      <p:sp>
        <p:nvSpPr>
          <p:cNvPr id="30" name="Shape 27"/>
          <p:cNvSpPr/>
          <p:nvPr/>
        </p:nvSpPr>
        <p:spPr>
          <a:xfrm>
            <a:off x="4914900" y="2025396"/>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31" name="Text 28"/>
          <p:cNvSpPr/>
          <p:nvPr/>
        </p:nvSpPr>
        <p:spPr>
          <a:xfrm>
            <a:off x="4933188" y="2098548"/>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32" name="Text 29"/>
          <p:cNvSpPr/>
          <p:nvPr/>
        </p:nvSpPr>
        <p:spPr>
          <a:xfrm>
            <a:off x="4914900" y="2455164"/>
            <a:ext cx="41148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I1</a:t>
            </a:r>
            <a:endParaRPr lang="en-US" sz="780" dirty="0"/>
          </a:p>
        </p:txBody>
      </p:sp>
      <p:sp>
        <p:nvSpPr>
          <p:cNvPr id="33" name="Shape 30"/>
          <p:cNvSpPr/>
          <p:nvPr/>
        </p:nvSpPr>
        <p:spPr>
          <a:xfrm>
            <a:off x="5326380" y="2025396"/>
            <a:ext cx="411480" cy="384048"/>
          </a:xfrm>
          <a:prstGeom prst="rect">
            <a:avLst/>
          </a:prstGeom>
          <a:solidFill>
            <a:srgbClr val="F4CCCC"/>
          </a:solidFill>
          <a:ln w="8890">
            <a:solidFill>
              <a:srgbClr val="D9E2F3"/>
            </a:solidFill>
            <a:prstDash val="solid"/>
          </a:ln>
        </p:spPr>
        <p:txBody>
          <a:bodyPr/>
          <a:lstStyle/>
          <a:p>
            <a:endParaRPr lang="ko-KR" altLang="en-US"/>
          </a:p>
        </p:txBody>
      </p:sp>
      <p:sp>
        <p:nvSpPr>
          <p:cNvPr id="34" name="Text 31"/>
          <p:cNvSpPr/>
          <p:nvPr/>
        </p:nvSpPr>
        <p:spPr>
          <a:xfrm>
            <a:off x="5344668" y="2098548"/>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35" name="Text 32"/>
          <p:cNvSpPr/>
          <p:nvPr/>
        </p:nvSpPr>
        <p:spPr>
          <a:xfrm>
            <a:off x="5326380" y="2455164"/>
            <a:ext cx="41148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I0</a:t>
            </a:r>
            <a:endParaRPr lang="en-US" sz="780" dirty="0"/>
          </a:p>
        </p:txBody>
      </p:sp>
      <p:sp>
        <p:nvSpPr>
          <p:cNvPr id="36" name="Shape 33"/>
          <p:cNvSpPr/>
          <p:nvPr/>
        </p:nvSpPr>
        <p:spPr>
          <a:xfrm>
            <a:off x="685800" y="3547872"/>
            <a:ext cx="5394960" cy="2441448"/>
          </a:xfrm>
          <a:prstGeom prst="roundRect">
            <a:avLst>
              <a:gd name="adj" fmla="val 3125"/>
            </a:avLst>
          </a:prstGeom>
          <a:solidFill>
            <a:srgbClr val="FFFDF2"/>
          </a:solidFill>
          <a:ln w="13335">
            <a:solidFill>
              <a:srgbClr val="D6B656"/>
            </a:solidFill>
            <a:prstDash val="solid"/>
          </a:ln>
        </p:spPr>
        <p:txBody>
          <a:bodyPr/>
          <a:lstStyle/>
          <a:p>
            <a:endParaRPr lang="ko-KR" altLang="en-US"/>
          </a:p>
        </p:txBody>
      </p:sp>
      <p:sp>
        <p:nvSpPr>
          <p:cNvPr id="37" name="Text 34"/>
          <p:cNvSpPr/>
          <p:nvPr/>
        </p:nvSpPr>
        <p:spPr>
          <a:xfrm>
            <a:off x="850392" y="3657600"/>
            <a:ext cx="50657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Booth terms generated from LSB side</a:t>
            </a:r>
            <a:endParaRPr lang="en-US" sz="1200" dirty="0"/>
          </a:p>
        </p:txBody>
      </p:sp>
      <p:sp>
        <p:nvSpPr>
          <p:cNvPr id="38" name="Shape 35"/>
          <p:cNvSpPr/>
          <p:nvPr/>
        </p:nvSpPr>
        <p:spPr>
          <a:xfrm>
            <a:off x="1371359" y="4046220"/>
            <a:ext cx="1143000" cy="320040"/>
          </a:xfrm>
          <a:prstGeom prst="rect">
            <a:avLst/>
          </a:prstGeom>
          <a:solidFill>
            <a:srgbClr val="00245D"/>
          </a:solidFill>
          <a:ln w="6350">
            <a:solidFill>
              <a:srgbClr val="D9E2F3"/>
            </a:solidFill>
            <a:prstDash val="solid"/>
          </a:ln>
        </p:spPr>
        <p:txBody>
          <a:bodyPr/>
          <a:lstStyle/>
          <a:p>
            <a:endParaRPr lang="ko-KR" altLang="en-US"/>
          </a:p>
        </p:txBody>
      </p:sp>
      <p:sp>
        <p:nvSpPr>
          <p:cNvPr id="39" name="Text 36"/>
          <p:cNvSpPr/>
          <p:nvPr/>
        </p:nvSpPr>
        <p:spPr>
          <a:xfrm>
            <a:off x="1407935" y="4165092"/>
            <a:ext cx="1069848" cy="146304"/>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Booth string</a:t>
            </a:r>
            <a:endParaRPr lang="en-US" sz="950" dirty="0"/>
          </a:p>
        </p:txBody>
      </p:sp>
      <p:sp>
        <p:nvSpPr>
          <p:cNvPr id="40" name="Shape 37"/>
          <p:cNvSpPr/>
          <p:nvPr/>
        </p:nvSpPr>
        <p:spPr>
          <a:xfrm>
            <a:off x="2514359" y="4046220"/>
            <a:ext cx="822960" cy="320040"/>
          </a:xfrm>
          <a:prstGeom prst="rect">
            <a:avLst/>
          </a:prstGeom>
          <a:solidFill>
            <a:srgbClr val="00245D"/>
          </a:solidFill>
          <a:ln w="6350">
            <a:solidFill>
              <a:srgbClr val="D9E2F3"/>
            </a:solidFill>
            <a:prstDash val="solid"/>
          </a:ln>
        </p:spPr>
        <p:txBody>
          <a:bodyPr/>
          <a:lstStyle/>
          <a:p>
            <a:endParaRPr lang="ko-KR" altLang="en-US"/>
          </a:p>
        </p:txBody>
      </p:sp>
      <p:sp>
        <p:nvSpPr>
          <p:cNvPr id="41" name="Text 38"/>
          <p:cNvSpPr/>
          <p:nvPr/>
        </p:nvSpPr>
        <p:spPr>
          <a:xfrm>
            <a:off x="2550935" y="4165092"/>
            <a:ext cx="749808" cy="146304"/>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Op</a:t>
            </a:r>
            <a:endParaRPr lang="en-US" sz="950" dirty="0"/>
          </a:p>
        </p:txBody>
      </p:sp>
      <p:sp>
        <p:nvSpPr>
          <p:cNvPr id="42" name="Shape 39"/>
          <p:cNvSpPr/>
          <p:nvPr/>
        </p:nvSpPr>
        <p:spPr>
          <a:xfrm>
            <a:off x="3337319" y="4046220"/>
            <a:ext cx="822960" cy="320040"/>
          </a:xfrm>
          <a:prstGeom prst="rect">
            <a:avLst/>
          </a:prstGeom>
          <a:solidFill>
            <a:srgbClr val="00245D"/>
          </a:solidFill>
          <a:ln w="6350">
            <a:solidFill>
              <a:srgbClr val="D9E2F3"/>
            </a:solidFill>
            <a:prstDash val="solid"/>
          </a:ln>
        </p:spPr>
        <p:txBody>
          <a:bodyPr/>
          <a:lstStyle/>
          <a:p>
            <a:endParaRPr lang="ko-KR" altLang="en-US"/>
          </a:p>
        </p:txBody>
      </p:sp>
      <p:sp>
        <p:nvSpPr>
          <p:cNvPr id="43" name="Text 40"/>
          <p:cNvSpPr/>
          <p:nvPr/>
        </p:nvSpPr>
        <p:spPr>
          <a:xfrm>
            <a:off x="3373895" y="4165092"/>
            <a:ext cx="749808" cy="146304"/>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Bsig</a:t>
            </a:r>
            <a:endParaRPr lang="en-US" sz="950" dirty="0"/>
          </a:p>
        </p:txBody>
      </p:sp>
      <p:sp>
        <p:nvSpPr>
          <p:cNvPr id="44" name="Shape 41"/>
          <p:cNvSpPr/>
          <p:nvPr/>
        </p:nvSpPr>
        <p:spPr>
          <a:xfrm>
            <a:off x="4160279" y="4046220"/>
            <a:ext cx="1417320" cy="320040"/>
          </a:xfrm>
          <a:prstGeom prst="rect">
            <a:avLst/>
          </a:prstGeom>
          <a:solidFill>
            <a:srgbClr val="00245D"/>
          </a:solidFill>
          <a:ln w="6350">
            <a:solidFill>
              <a:srgbClr val="D9E2F3"/>
            </a:solidFill>
            <a:prstDash val="solid"/>
          </a:ln>
        </p:spPr>
        <p:txBody>
          <a:bodyPr/>
          <a:lstStyle/>
          <a:p>
            <a:endParaRPr lang="ko-KR" altLang="en-US"/>
          </a:p>
        </p:txBody>
      </p:sp>
      <p:sp>
        <p:nvSpPr>
          <p:cNvPr id="45" name="Text 42"/>
          <p:cNvSpPr/>
          <p:nvPr/>
        </p:nvSpPr>
        <p:spPr>
          <a:xfrm>
            <a:off x="4196855" y="4165092"/>
            <a:ext cx="1344168" cy="146304"/>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Contribution</a:t>
            </a:r>
            <a:endParaRPr lang="en-US" sz="950" dirty="0"/>
          </a:p>
        </p:txBody>
      </p:sp>
      <p:sp>
        <p:nvSpPr>
          <p:cNvPr id="46" name="Shape 43"/>
          <p:cNvSpPr/>
          <p:nvPr/>
        </p:nvSpPr>
        <p:spPr>
          <a:xfrm>
            <a:off x="1371359" y="4366260"/>
            <a:ext cx="1143000" cy="320040"/>
          </a:xfrm>
          <a:prstGeom prst="rect">
            <a:avLst/>
          </a:prstGeom>
          <a:solidFill>
            <a:srgbClr val="FFFFFF"/>
          </a:solidFill>
          <a:ln w="6350">
            <a:solidFill>
              <a:srgbClr val="D9E2F3"/>
            </a:solidFill>
            <a:prstDash val="solid"/>
          </a:ln>
        </p:spPr>
        <p:txBody>
          <a:bodyPr/>
          <a:lstStyle/>
          <a:p>
            <a:endParaRPr lang="ko-KR" altLang="en-US"/>
          </a:p>
        </p:txBody>
      </p:sp>
      <p:sp>
        <p:nvSpPr>
          <p:cNvPr id="47" name="Text 44"/>
          <p:cNvSpPr/>
          <p:nvPr/>
        </p:nvSpPr>
        <p:spPr>
          <a:xfrm>
            <a:off x="1417079" y="4485132"/>
            <a:ext cx="1051560" cy="146304"/>
          </a:xfrm>
          <a:prstGeom prst="rect">
            <a:avLst/>
          </a:prstGeom>
          <a:noFill/>
          <a:ln/>
        </p:spPr>
        <p:txBody>
          <a:bodyPr wrap="square" lIns="0" tIns="0" rIns="0" bIns="0" rtlCol="0" anchor="ctr">
            <a:normAutofit/>
          </a:bodyPr>
          <a:lstStyle/>
          <a:p>
            <a:pPr marL="0" indent="0" algn="ctr">
              <a:buNone/>
            </a:pPr>
            <a:r>
              <a:rPr lang="en-US" sz="950" b="1" dirty="0">
                <a:solidFill>
                  <a:srgbClr val="222222"/>
                </a:solidFill>
                <a:latin typeface="Arial" pitchFamily="34" charset="0"/>
                <a:ea typeface="Arial" pitchFamily="34" charset="-122"/>
                <a:cs typeface="Arial" pitchFamily="34" charset="-120"/>
              </a:rPr>
              <a:t>010</a:t>
            </a:r>
            <a:endParaRPr lang="en-US" sz="950" dirty="0"/>
          </a:p>
        </p:txBody>
      </p:sp>
      <p:sp>
        <p:nvSpPr>
          <p:cNvPr id="48" name="Shape 45"/>
          <p:cNvSpPr/>
          <p:nvPr/>
        </p:nvSpPr>
        <p:spPr>
          <a:xfrm>
            <a:off x="2514359" y="4366260"/>
            <a:ext cx="822960" cy="320040"/>
          </a:xfrm>
          <a:prstGeom prst="rect">
            <a:avLst/>
          </a:prstGeom>
          <a:solidFill>
            <a:srgbClr val="FFFFFF"/>
          </a:solidFill>
          <a:ln w="6350">
            <a:solidFill>
              <a:srgbClr val="D9E2F3"/>
            </a:solidFill>
            <a:prstDash val="solid"/>
          </a:ln>
        </p:spPr>
        <p:txBody>
          <a:bodyPr/>
          <a:lstStyle/>
          <a:p>
            <a:endParaRPr lang="ko-KR" altLang="en-US"/>
          </a:p>
        </p:txBody>
      </p:sp>
      <p:sp>
        <p:nvSpPr>
          <p:cNvPr id="49" name="Text 46"/>
          <p:cNvSpPr/>
          <p:nvPr/>
        </p:nvSpPr>
        <p:spPr>
          <a:xfrm>
            <a:off x="2560079" y="4485132"/>
            <a:ext cx="73152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+x</a:t>
            </a:r>
            <a:endParaRPr lang="en-US" sz="950" dirty="0"/>
          </a:p>
        </p:txBody>
      </p:sp>
      <p:sp>
        <p:nvSpPr>
          <p:cNvPr id="50" name="Shape 47"/>
          <p:cNvSpPr/>
          <p:nvPr/>
        </p:nvSpPr>
        <p:spPr>
          <a:xfrm>
            <a:off x="3337319" y="4366260"/>
            <a:ext cx="822960" cy="320040"/>
          </a:xfrm>
          <a:prstGeom prst="rect">
            <a:avLst/>
          </a:prstGeom>
          <a:solidFill>
            <a:srgbClr val="FFFFFF"/>
          </a:solidFill>
          <a:ln w="6350">
            <a:solidFill>
              <a:srgbClr val="D9E2F3"/>
            </a:solidFill>
            <a:prstDash val="solid"/>
          </a:ln>
        </p:spPr>
        <p:txBody>
          <a:bodyPr/>
          <a:lstStyle/>
          <a:p>
            <a:endParaRPr lang="ko-KR" altLang="en-US"/>
          </a:p>
        </p:txBody>
      </p:sp>
      <p:sp>
        <p:nvSpPr>
          <p:cNvPr id="51" name="Text 48"/>
          <p:cNvSpPr/>
          <p:nvPr/>
        </p:nvSpPr>
        <p:spPr>
          <a:xfrm>
            <a:off x="3383039" y="4485132"/>
            <a:ext cx="73152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0</a:t>
            </a:r>
            <a:endParaRPr lang="en-US" sz="950" dirty="0"/>
          </a:p>
        </p:txBody>
      </p:sp>
      <p:sp>
        <p:nvSpPr>
          <p:cNvPr id="52" name="Shape 49"/>
          <p:cNvSpPr/>
          <p:nvPr/>
        </p:nvSpPr>
        <p:spPr>
          <a:xfrm>
            <a:off x="4160279" y="4366260"/>
            <a:ext cx="1417320" cy="320040"/>
          </a:xfrm>
          <a:prstGeom prst="rect">
            <a:avLst/>
          </a:prstGeom>
          <a:solidFill>
            <a:srgbClr val="FFFFFF"/>
          </a:solidFill>
          <a:ln w="6350">
            <a:solidFill>
              <a:srgbClr val="D9E2F3"/>
            </a:solidFill>
            <a:prstDash val="solid"/>
          </a:ln>
        </p:spPr>
        <p:txBody>
          <a:bodyPr/>
          <a:lstStyle/>
          <a:p>
            <a:endParaRPr lang="ko-KR" altLang="en-US"/>
          </a:p>
        </p:txBody>
      </p:sp>
      <p:sp>
        <p:nvSpPr>
          <p:cNvPr id="53" name="Text 50"/>
          <p:cNvSpPr/>
          <p:nvPr/>
        </p:nvSpPr>
        <p:spPr>
          <a:xfrm>
            <a:off x="4205999" y="4485132"/>
            <a:ext cx="132588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+1</a:t>
            </a:r>
            <a:endParaRPr lang="en-US" sz="950" dirty="0"/>
          </a:p>
        </p:txBody>
      </p:sp>
      <p:sp>
        <p:nvSpPr>
          <p:cNvPr id="54" name="Shape 51"/>
          <p:cNvSpPr/>
          <p:nvPr/>
        </p:nvSpPr>
        <p:spPr>
          <a:xfrm>
            <a:off x="1371359" y="4686300"/>
            <a:ext cx="1143000" cy="320040"/>
          </a:xfrm>
          <a:prstGeom prst="rect">
            <a:avLst/>
          </a:prstGeom>
          <a:solidFill>
            <a:srgbClr val="F5F7FA"/>
          </a:solidFill>
          <a:ln w="6350">
            <a:solidFill>
              <a:srgbClr val="D9E2F3"/>
            </a:solidFill>
            <a:prstDash val="solid"/>
          </a:ln>
        </p:spPr>
        <p:txBody>
          <a:bodyPr/>
          <a:lstStyle/>
          <a:p>
            <a:endParaRPr lang="ko-KR" altLang="en-US"/>
          </a:p>
        </p:txBody>
      </p:sp>
      <p:sp>
        <p:nvSpPr>
          <p:cNvPr id="55" name="Text 52"/>
          <p:cNvSpPr/>
          <p:nvPr/>
        </p:nvSpPr>
        <p:spPr>
          <a:xfrm>
            <a:off x="1417079" y="4805172"/>
            <a:ext cx="1051560" cy="146304"/>
          </a:xfrm>
          <a:prstGeom prst="rect">
            <a:avLst/>
          </a:prstGeom>
          <a:noFill/>
          <a:ln/>
        </p:spPr>
        <p:txBody>
          <a:bodyPr wrap="square" lIns="0" tIns="0" rIns="0" bIns="0" rtlCol="0" anchor="ctr">
            <a:normAutofit/>
          </a:bodyPr>
          <a:lstStyle/>
          <a:p>
            <a:pPr marL="0" indent="0" algn="ctr">
              <a:buNone/>
            </a:pPr>
            <a:r>
              <a:rPr lang="en-US" sz="950" b="1" dirty="0">
                <a:solidFill>
                  <a:srgbClr val="222222"/>
                </a:solidFill>
                <a:latin typeface="Arial" pitchFamily="34" charset="0"/>
                <a:ea typeface="Arial" pitchFamily="34" charset="-122"/>
                <a:cs typeface="Arial" pitchFamily="34" charset="-120"/>
              </a:rPr>
              <a:t>110</a:t>
            </a:r>
            <a:endParaRPr lang="en-US" sz="950" dirty="0"/>
          </a:p>
        </p:txBody>
      </p:sp>
      <p:sp>
        <p:nvSpPr>
          <p:cNvPr id="56" name="Shape 53"/>
          <p:cNvSpPr/>
          <p:nvPr/>
        </p:nvSpPr>
        <p:spPr>
          <a:xfrm>
            <a:off x="2514359" y="4686300"/>
            <a:ext cx="822960" cy="320040"/>
          </a:xfrm>
          <a:prstGeom prst="rect">
            <a:avLst/>
          </a:prstGeom>
          <a:solidFill>
            <a:srgbClr val="F5F7FA"/>
          </a:solidFill>
          <a:ln w="6350">
            <a:solidFill>
              <a:srgbClr val="D9E2F3"/>
            </a:solidFill>
            <a:prstDash val="solid"/>
          </a:ln>
        </p:spPr>
        <p:txBody>
          <a:bodyPr/>
          <a:lstStyle/>
          <a:p>
            <a:endParaRPr lang="ko-KR" altLang="en-US"/>
          </a:p>
        </p:txBody>
      </p:sp>
      <p:sp>
        <p:nvSpPr>
          <p:cNvPr id="57" name="Text 54"/>
          <p:cNvSpPr/>
          <p:nvPr/>
        </p:nvSpPr>
        <p:spPr>
          <a:xfrm>
            <a:off x="2560079" y="4805172"/>
            <a:ext cx="73152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−x</a:t>
            </a:r>
            <a:endParaRPr lang="en-US" sz="950" dirty="0"/>
          </a:p>
        </p:txBody>
      </p:sp>
      <p:sp>
        <p:nvSpPr>
          <p:cNvPr id="58" name="Shape 55"/>
          <p:cNvSpPr/>
          <p:nvPr/>
        </p:nvSpPr>
        <p:spPr>
          <a:xfrm>
            <a:off x="3337319" y="4686300"/>
            <a:ext cx="822960" cy="320040"/>
          </a:xfrm>
          <a:prstGeom prst="rect">
            <a:avLst/>
          </a:prstGeom>
          <a:solidFill>
            <a:srgbClr val="F5F7FA"/>
          </a:solidFill>
          <a:ln w="6350">
            <a:solidFill>
              <a:srgbClr val="D9E2F3"/>
            </a:solidFill>
            <a:prstDash val="solid"/>
          </a:ln>
        </p:spPr>
        <p:txBody>
          <a:bodyPr/>
          <a:lstStyle/>
          <a:p>
            <a:endParaRPr lang="ko-KR" altLang="en-US"/>
          </a:p>
        </p:txBody>
      </p:sp>
      <p:sp>
        <p:nvSpPr>
          <p:cNvPr id="59" name="Text 56"/>
          <p:cNvSpPr/>
          <p:nvPr/>
        </p:nvSpPr>
        <p:spPr>
          <a:xfrm>
            <a:off x="3383039" y="4805172"/>
            <a:ext cx="73152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2</a:t>
            </a:r>
            <a:endParaRPr lang="en-US" sz="950" dirty="0"/>
          </a:p>
        </p:txBody>
      </p:sp>
      <p:sp>
        <p:nvSpPr>
          <p:cNvPr id="60" name="Shape 57"/>
          <p:cNvSpPr/>
          <p:nvPr/>
        </p:nvSpPr>
        <p:spPr>
          <a:xfrm>
            <a:off x="4160279" y="4686300"/>
            <a:ext cx="1417320" cy="320040"/>
          </a:xfrm>
          <a:prstGeom prst="rect">
            <a:avLst/>
          </a:prstGeom>
          <a:solidFill>
            <a:srgbClr val="F5F7FA"/>
          </a:solidFill>
          <a:ln w="6350">
            <a:solidFill>
              <a:srgbClr val="D9E2F3"/>
            </a:solidFill>
            <a:prstDash val="solid"/>
          </a:ln>
        </p:spPr>
        <p:txBody>
          <a:bodyPr/>
          <a:lstStyle/>
          <a:p>
            <a:endParaRPr lang="ko-KR" altLang="en-US"/>
          </a:p>
        </p:txBody>
      </p:sp>
      <p:sp>
        <p:nvSpPr>
          <p:cNvPr id="61" name="Text 58"/>
          <p:cNvSpPr/>
          <p:nvPr/>
        </p:nvSpPr>
        <p:spPr>
          <a:xfrm>
            <a:off x="4205999" y="4805172"/>
            <a:ext cx="132588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−4</a:t>
            </a:r>
            <a:endParaRPr lang="en-US" sz="950" dirty="0"/>
          </a:p>
        </p:txBody>
      </p:sp>
      <p:sp>
        <p:nvSpPr>
          <p:cNvPr id="62" name="Shape 59"/>
          <p:cNvSpPr/>
          <p:nvPr/>
        </p:nvSpPr>
        <p:spPr>
          <a:xfrm>
            <a:off x="1371359" y="5006340"/>
            <a:ext cx="1143000" cy="320040"/>
          </a:xfrm>
          <a:prstGeom prst="rect">
            <a:avLst/>
          </a:prstGeom>
          <a:solidFill>
            <a:srgbClr val="FFFFFF"/>
          </a:solidFill>
          <a:ln w="6350">
            <a:solidFill>
              <a:srgbClr val="D9E2F3"/>
            </a:solidFill>
            <a:prstDash val="solid"/>
          </a:ln>
        </p:spPr>
        <p:txBody>
          <a:bodyPr/>
          <a:lstStyle/>
          <a:p>
            <a:endParaRPr lang="ko-KR" altLang="en-US"/>
          </a:p>
        </p:txBody>
      </p:sp>
      <p:sp>
        <p:nvSpPr>
          <p:cNvPr id="63" name="Text 60"/>
          <p:cNvSpPr/>
          <p:nvPr/>
        </p:nvSpPr>
        <p:spPr>
          <a:xfrm>
            <a:off x="1417079" y="5125212"/>
            <a:ext cx="1051560" cy="146304"/>
          </a:xfrm>
          <a:prstGeom prst="rect">
            <a:avLst/>
          </a:prstGeom>
          <a:noFill/>
          <a:ln/>
        </p:spPr>
        <p:txBody>
          <a:bodyPr wrap="square" lIns="0" tIns="0" rIns="0" bIns="0" rtlCol="0" anchor="ctr">
            <a:normAutofit/>
          </a:bodyPr>
          <a:lstStyle/>
          <a:p>
            <a:pPr marL="0" indent="0" algn="ctr">
              <a:buNone/>
            </a:pPr>
            <a:r>
              <a:rPr lang="en-US" sz="950" b="1" dirty="0">
                <a:solidFill>
                  <a:srgbClr val="222222"/>
                </a:solidFill>
                <a:latin typeface="Arial" pitchFamily="34" charset="0"/>
                <a:ea typeface="Arial" pitchFamily="34" charset="-122"/>
                <a:cs typeface="Arial" pitchFamily="34" charset="-120"/>
              </a:rPr>
              <a:t>101</a:t>
            </a:r>
            <a:endParaRPr lang="en-US" sz="950" dirty="0"/>
          </a:p>
        </p:txBody>
      </p:sp>
      <p:sp>
        <p:nvSpPr>
          <p:cNvPr id="64" name="Shape 61"/>
          <p:cNvSpPr/>
          <p:nvPr/>
        </p:nvSpPr>
        <p:spPr>
          <a:xfrm>
            <a:off x="2514359" y="5006340"/>
            <a:ext cx="822960" cy="320040"/>
          </a:xfrm>
          <a:prstGeom prst="rect">
            <a:avLst/>
          </a:prstGeom>
          <a:solidFill>
            <a:srgbClr val="FFFFFF"/>
          </a:solidFill>
          <a:ln w="6350">
            <a:solidFill>
              <a:srgbClr val="D9E2F3"/>
            </a:solidFill>
            <a:prstDash val="solid"/>
          </a:ln>
        </p:spPr>
        <p:txBody>
          <a:bodyPr/>
          <a:lstStyle/>
          <a:p>
            <a:endParaRPr lang="ko-KR" altLang="en-US"/>
          </a:p>
        </p:txBody>
      </p:sp>
      <p:sp>
        <p:nvSpPr>
          <p:cNvPr id="65" name="Text 62"/>
          <p:cNvSpPr/>
          <p:nvPr/>
        </p:nvSpPr>
        <p:spPr>
          <a:xfrm>
            <a:off x="2560079" y="5125212"/>
            <a:ext cx="73152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−x</a:t>
            </a:r>
            <a:endParaRPr lang="en-US" sz="950" dirty="0"/>
          </a:p>
        </p:txBody>
      </p:sp>
      <p:sp>
        <p:nvSpPr>
          <p:cNvPr id="66" name="Shape 63"/>
          <p:cNvSpPr/>
          <p:nvPr/>
        </p:nvSpPr>
        <p:spPr>
          <a:xfrm>
            <a:off x="3337319" y="5006340"/>
            <a:ext cx="822960" cy="320040"/>
          </a:xfrm>
          <a:prstGeom prst="rect">
            <a:avLst/>
          </a:prstGeom>
          <a:solidFill>
            <a:srgbClr val="FFFFFF"/>
          </a:solidFill>
          <a:ln w="6350">
            <a:solidFill>
              <a:srgbClr val="D9E2F3"/>
            </a:solidFill>
            <a:prstDash val="solid"/>
          </a:ln>
        </p:spPr>
        <p:txBody>
          <a:bodyPr/>
          <a:lstStyle/>
          <a:p>
            <a:endParaRPr lang="ko-KR" altLang="en-US"/>
          </a:p>
        </p:txBody>
      </p:sp>
      <p:sp>
        <p:nvSpPr>
          <p:cNvPr id="67" name="Text 64"/>
          <p:cNvSpPr/>
          <p:nvPr/>
        </p:nvSpPr>
        <p:spPr>
          <a:xfrm>
            <a:off x="3383039" y="5125212"/>
            <a:ext cx="73152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4</a:t>
            </a:r>
            <a:endParaRPr lang="en-US" sz="950" dirty="0"/>
          </a:p>
        </p:txBody>
      </p:sp>
      <p:sp>
        <p:nvSpPr>
          <p:cNvPr id="68" name="Shape 65"/>
          <p:cNvSpPr/>
          <p:nvPr/>
        </p:nvSpPr>
        <p:spPr>
          <a:xfrm>
            <a:off x="4160279" y="5006340"/>
            <a:ext cx="1417320" cy="320040"/>
          </a:xfrm>
          <a:prstGeom prst="rect">
            <a:avLst/>
          </a:prstGeom>
          <a:solidFill>
            <a:srgbClr val="FFFFFF"/>
          </a:solidFill>
          <a:ln w="6350">
            <a:solidFill>
              <a:srgbClr val="D9E2F3"/>
            </a:solidFill>
            <a:prstDash val="solid"/>
          </a:ln>
        </p:spPr>
        <p:txBody>
          <a:bodyPr/>
          <a:lstStyle/>
          <a:p>
            <a:endParaRPr lang="ko-KR" altLang="en-US"/>
          </a:p>
        </p:txBody>
      </p:sp>
      <p:sp>
        <p:nvSpPr>
          <p:cNvPr id="69" name="Text 66"/>
          <p:cNvSpPr/>
          <p:nvPr/>
        </p:nvSpPr>
        <p:spPr>
          <a:xfrm>
            <a:off x="4205999" y="5125212"/>
            <a:ext cx="132588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−16</a:t>
            </a:r>
            <a:endParaRPr lang="en-US" sz="950" dirty="0"/>
          </a:p>
        </p:txBody>
      </p:sp>
      <p:sp>
        <p:nvSpPr>
          <p:cNvPr id="70" name="Shape 67"/>
          <p:cNvSpPr/>
          <p:nvPr/>
        </p:nvSpPr>
        <p:spPr>
          <a:xfrm>
            <a:off x="1371359" y="5326380"/>
            <a:ext cx="1143000" cy="320040"/>
          </a:xfrm>
          <a:prstGeom prst="rect">
            <a:avLst/>
          </a:prstGeom>
          <a:solidFill>
            <a:srgbClr val="F5F7FA"/>
          </a:solidFill>
          <a:ln w="6350">
            <a:solidFill>
              <a:srgbClr val="D9E2F3"/>
            </a:solidFill>
            <a:prstDash val="solid"/>
          </a:ln>
        </p:spPr>
        <p:txBody>
          <a:bodyPr/>
          <a:lstStyle/>
          <a:p>
            <a:endParaRPr lang="ko-KR" altLang="en-US"/>
          </a:p>
        </p:txBody>
      </p:sp>
      <p:sp>
        <p:nvSpPr>
          <p:cNvPr id="71" name="Text 68"/>
          <p:cNvSpPr/>
          <p:nvPr/>
        </p:nvSpPr>
        <p:spPr>
          <a:xfrm>
            <a:off x="1417079" y="5445252"/>
            <a:ext cx="1051560" cy="146304"/>
          </a:xfrm>
          <a:prstGeom prst="rect">
            <a:avLst/>
          </a:prstGeom>
          <a:noFill/>
          <a:ln/>
        </p:spPr>
        <p:txBody>
          <a:bodyPr wrap="square" lIns="0" tIns="0" rIns="0" bIns="0" rtlCol="0" anchor="ctr">
            <a:normAutofit/>
          </a:bodyPr>
          <a:lstStyle/>
          <a:p>
            <a:pPr marL="0" indent="0" algn="ctr">
              <a:buNone/>
            </a:pPr>
            <a:r>
              <a:rPr lang="en-US" sz="950" b="1" dirty="0">
                <a:solidFill>
                  <a:srgbClr val="222222"/>
                </a:solidFill>
                <a:latin typeface="Arial" pitchFamily="34" charset="0"/>
                <a:ea typeface="Arial" pitchFamily="34" charset="-122"/>
                <a:cs typeface="Arial" pitchFamily="34" charset="-120"/>
              </a:rPr>
              <a:t>001</a:t>
            </a:r>
            <a:endParaRPr lang="en-US" sz="950" dirty="0"/>
          </a:p>
        </p:txBody>
      </p:sp>
      <p:sp>
        <p:nvSpPr>
          <p:cNvPr id="72" name="Shape 69"/>
          <p:cNvSpPr/>
          <p:nvPr/>
        </p:nvSpPr>
        <p:spPr>
          <a:xfrm>
            <a:off x="2514359" y="5326380"/>
            <a:ext cx="822960" cy="320040"/>
          </a:xfrm>
          <a:prstGeom prst="rect">
            <a:avLst/>
          </a:prstGeom>
          <a:solidFill>
            <a:srgbClr val="F5F7FA"/>
          </a:solidFill>
          <a:ln w="6350">
            <a:solidFill>
              <a:srgbClr val="D9E2F3"/>
            </a:solidFill>
            <a:prstDash val="solid"/>
          </a:ln>
        </p:spPr>
        <p:txBody>
          <a:bodyPr/>
          <a:lstStyle/>
          <a:p>
            <a:endParaRPr lang="ko-KR" altLang="en-US"/>
          </a:p>
        </p:txBody>
      </p:sp>
      <p:sp>
        <p:nvSpPr>
          <p:cNvPr id="73" name="Text 70"/>
          <p:cNvSpPr/>
          <p:nvPr/>
        </p:nvSpPr>
        <p:spPr>
          <a:xfrm>
            <a:off x="2560079" y="5445252"/>
            <a:ext cx="73152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+x</a:t>
            </a:r>
            <a:endParaRPr lang="en-US" sz="950" dirty="0"/>
          </a:p>
        </p:txBody>
      </p:sp>
      <p:sp>
        <p:nvSpPr>
          <p:cNvPr id="74" name="Shape 71"/>
          <p:cNvSpPr/>
          <p:nvPr/>
        </p:nvSpPr>
        <p:spPr>
          <a:xfrm>
            <a:off x="3337319" y="5326380"/>
            <a:ext cx="822960" cy="320040"/>
          </a:xfrm>
          <a:prstGeom prst="rect">
            <a:avLst/>
          </a:prstGeom>
          <a:solidFill>
            <a:srgbClr val="F5F7FA"/>
          </a:solidFill>
          <a:ln w="6350">
            <a:solidFill>
              <a:srgbClr val="D9E2F3"/>
            </a:solidFill>
            <a:prstDash val="solid"/>
          </a:ln>
        </p:spPr>
        <p:txBody>
          <a:bodyPr/>
          <a:lstStyle/>
          <a:p>
            <a:endParaRPr lang="ko-KR" altLang="en-US"/>
          </a:p>
        </p:txBody>
      </p:sp>
      <p:sp>
        <p:nvSpPr>
          <p:cNvPr id="75" name="Text 72"/>
          <p:cNvSpPr/>
          <p:nvPr/>
        </p:nvSpPr>
        <p:spPr>
          <a:xfrm>
            <a:off x="3383039" y="5445252"/>
            <a:ext cx="73152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6</a:t>
            </a:r>
            <a:endParaRPr lang="en-US" sz="950" dirty="0"/>
          </a:p>
        </p:txBody>
      </p:sp>
      <p:sp>
        <p:nvSpPr>
          <p:cNvPr id="76" name="Shape 73"/>
          <p:cNvSpPr/>
          <p:nvPr/>
        </p:nvSpPr>
        <p:spPr>
          <a:xfrm>
            <a:off x="4160279" y="5326380"/>
            <a:ext cx="1417320" cy="320040"/>
          </a:xfrm>
          <a:prstGeom prst="rect">
            <a:avLst/>
          </a:prstGeom>
          <a:solidFill>
            <a:srgbClr val="F5F7FA"/>
          </a:solidFill>
          <a:ln w="6350">
            <a:solidFill>
              <a:srgbClr val="D9E2F3"/>
            </a:solidFill>
            <a:prstDash val="solid"/>
          </a:ln>
        </p:spPr>
        <p:txBody>
          <a:bodyPr/>
          <a:lstStyle/>
          <a:p>
            <a:endParaRPr lang="ko-KR" altLang="en-US"/>
          </a:p>
        </p:txBody>
      </p:sp>
      <p:sp>
        <p:nvSpPr>
          <p:cNvPr id="77" name="Text 74"/>
          <p:cNvSpPr/>
          <p:nvPr/>
        </p:nvSpPr>
        <p:spPr>
          <a:xfrm>
            <a:off x="4205999" y="5445252"/>
            <a:ext cx="1325880" cy="146304"/>
          </a:xfrm>
          <a:prstGeom prst="rect">
            <a:avLst/>
          </a:prstGeom>
          <a:noFill/>
          <a:ln/>
        </p:spPr>
        <p:txBody>
          <a:bodyPr wrap="square" lIns="0" tIns="0" rIns="0" bIns="0" rtlCol="0" anchor="ctr">
            <a:normAutofit/>
          </a:bodyPr>
          <a:lstStyle/>
          <a:p>
            <a:pPr marL="0" indent="0" algn="ctr">
              <a:buNone/>
            </a:pPr>
            <a:r>
              <a:rPr lang="en-US" sz="950" dirty="0">
                <a:solidFill>
                  <a:srgbClr val="222222"/>
                </a:solidFill>
                <a:latin typeface="Arial" pitchFamily="34" charset="0"/>
                <a:ea typeface="Arial" pitchFamily="34" charset="-122"/>
                <a:cs typeface="Arial" pitchFamily="34" charset="-120"/>
              </a:rPr>
              <a:t>+64</a:t>
            </a:r>
            <a:endParaRPr lang="en-US" sz="950" dirty="0"/>
          </a:p>
        </p:txBody>
      </p:sp>
      <p:sp>
        <p:nvSpPr>
          <p:cNvPr id="78" name="Shape 75"/>
          <p:cNvSpPr/>
          <p:nvPr/>
        </p:nvSpPr>
        <p:spPr>
          <a:xfrm>
            <a:off x="6492240" y="1481328"/>
            <a:ext cx="4709160" cy="4507992"/>
          </a:xfrm>
          <a:prstGeom prst="roundRect">
            <a:avLst>
              <a:gd name="adj" fmla="val 1435"/>
            </a:avLst>
          </a:prstGeom>
          <a:solidFill>
            <a:srgbClr val="E2F0D9"/>
          </a:solidFill>
          <a:ln w="13335">
            <a:solidFill>
              <a:srgbClr val="548235"/>
            </a:solidFill>
            <a:prstDash val="solid"/>
          </a:ln>
        </p:spPr>
        <p:txBody>
          <a:bodyPr/>
          <a:lstStyle/>
          <a:p>
            <a:endParaRPr lang="ko-KR" altLang="en-US"/>
          </a:p>
        </p:txBody>
      </p:sp>
      <p:sp>
        <p:nvSpPr>
          <p:cNvPr id="79" name="Text 76"/>
          <p:cNvSpPr/>
          <p:nvPr/>
        </p:nvSpPr>
        <p:spPr>
          <a:xfrm>
            <a:off x="6656832" y="1591056"/>
            <a:ext cx="43799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Result</a:t>
            </a:r>
            <a:endParaRPr lang="en-US" sz="1200" dirty="0"/>
          </a:p>
        </p:txBody>
      </p:sp>
      <p:sp>
        <p:nvSpPr>
          <p:cNvPr id="80" name="Text 77"/>
          <p:cNvSpPr/>
          <p:nvPr/>
        </p:nvSpPr>
        <p:spPr>
          <a:xfrm>
            <a:off x="6812280" y="1965960"/>
            <a:ext cx="4069080" cy="502920"/>
          </a:xfrm>
          <a:prstGeom prst="rect">
            <a:avLst/>
          </a:prstGeom>
          <a:noFill/>
          <a:ln/>
        </p:spPr>
        <p:txBody>
          <a:bodyPr wrap="square" lIns="0" tIns="0" rIns="0" bIns="0" rtlCol="0" anchor="ctr">
            <a:normAutofit/>
          </a:bodyPr>
          <a:lstStyle/>
          <a:p>
            <a:pPr marL="0" indent="0" algn="ctr">
              <a:buNone/>
            </a:pPr>
            <a:r>
              <a:rPr lang="en-US" sz="2000" b="1" dirty="0">
                <a:solidFill>
                  <a:srgbClr val="548235"/>
                </a:solidFill>
                <a:latin typeface="Cambria Math" pitchFamily="34" charset="0"/>
                <a:ea typeface="Cambria Math" pitchFamily="34" charset="-122"/>
                <a:cs typeface="Cambria Math" pitchFamily="34" charset="-120"/>
              </a:rPr>
              <a:t>45 = +64 −16 −4 +1</a:t>
            </a:r>
            <a:endParaRPr lang="en-US" sz="2000" dirty="0"/>
          </a:p>
        </p:txBody>
      </p:sp>
      <p:sp>
        <p:nvSpPr>
          <p:cNvPr id="81" name="Text 78"/>
          <p:cNvSpPr/>
          <p:nvPr/>
        </p:nvSpPr>
        <p:spPr>
          <a:xfrm>
            <a:off x="6903720" y="2788920"/>
            <a:ext cx="3886200" cy="365760"/>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Each contribution becomes one unified bit-serial term.</a:t>
            </a:r>
            <a:endParaRPr lang="en-US" sz="1200" dirty="0"/>
          </a:p>
        </p:txBody>
      </p:sp>
      <p:sp>
        <p:nvSpPr>
          <p:cNvPr id="82" name="Shape 79"/>
          <p:cNvSpPr/>
          <p:nvPr/>
        </p:nvSpPr>
        <p:spPr>
          <a:xfrm>
            <a:off x="6812280" y="3429000"/>
            <a:ext cx="1188720" cy="310896"/>
          </a:xfrm>
          <a:prstGeom prst="rect">
            <a:avLst/>
          </a:prstGeom>
          <a:solidFill>
            <a:srgbClr val="00245D"/>
          </a:solidFill>
          <a:ln w="6350">
            <a:solidFill>
              <a:srgbClr val="D9E2F3"/>
            </a:solidFill>
            <a:prstDash val="solid"/>
          </a:ln>
        </p:spPr>
        <p:txBody>
          <a:bodyPr/>
          <a:lstStyle/>
          <a:p>
            <a:endParaRPr lang="ko-KR" altLang="en-US"/>
          </a:p>
        </p:txBody>
      </p:sp>
      <p:sp>
        <p:nvSpPr>
          <p:cNvPr id="83" name="Text 80"/>
          <p:cNvSpPr/>
          <p:nvPr/>
        </p:nvSpPr>
        <p:spPr>
          <a:xfrm>
            <a:off x="6848856" y="3547872"/>
            <a:ext cx="1115568" cy="14630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rial" pitchFamily="34" charset="0"/>
                <a:ea typeface="Arial" pitchFamily="34" charset="-122"/>
                <a:cs typeface="Arial" pitchFamily="34" charset="-120"/>
              </a:rPr>
              <a:t>Term</a:t>
            </a:r>
            <a:endParaRPr lang="en-US" sz="930" dirty="0"/>
          </a:p>
        </p:txBody>
      </p:sp>
      <p:sp>
        <p:nvSpPr>
          <p:cNvPr id="84" name="Shape 81"/>
          <p:cNvSpPr/>
          <p:nvPr/>
        </p:nvSpPr>
        <p:spPr>
          <a:xfrm>
            <a:off x="8001000" y="3429000"/>
            <a:ext cx="640080" cy="310896"/>
          </a:xfrm>
          <a:prstGeom prst="rect">
            <a:avLst/>
          </a:prstGeom>
          <a:solidFill>
            <a:srgbClr val="00245D"/>
          </a:solidFill>
          <a:ln w="6350">
            <a:solidFill>
              <a:srgbClr val="D9E2F3"/>
            </a:solidFill>
            <a:prstDash val="solid"/>
          </a:ln>
        </p:spPr>
        <p:txBody>
          <a:bodyPr/>
          <a:lstStyle/>
          <a:p>
            <a:endParaRPr lang="ko-KR" altLang="en-US"/>
          </a:p>
        </p:txBody>
      </p:sp>
      <p:sp>
        <p:nvSpPr>
          <p:cNvPr id="85" name="Text 82"/>
          <p:cNvSpPr/>
          <p:nvPr/>
        </p:nvSpPr>
        <p:spPr>
          <a:xfrm>
            <a:off x="8037576" y="3547872"/>
            <a:ext cx="566928" cy="14630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rial" pitchFamily="34" charset="0"/>
                <a:ea typeface="Arial" pitchFamily="34" charset="-122"/>
                <a:cs typeface="Arial" pitchFamily="34" charset="-120"/>
              </a:rPr>
              <a:t>Sign</a:t>
            </a:r>
            <a:endParaRPr lang="en-US" sz="930" dirty="0"/>
          </a:p>
        </p:txBody>
      </p:sp>
      <p:sp>
        <p:nvSpPr>
          <p:cNvPr id="86" name="Shape 83"/>
          <p:cNvSpPr/>
          <p:nvPr/>
        </p:nvSpPr>
        <p:spPr>
          <a:xfrm>
            <a:off x="8641080" y="3429000"/>
            <a:ext cx="640080" cy="310896"/>
          </a:xfrm>
          <a:prstGeom prst="rect">
            <a:avLst/>
          </a:prstGeom>
          <a:solidFill>
            <a:srgbClr val="00245D"/>
          </a:solidFill>
          <a:ln w="6350">
            <a:solidFill>
              <a:srgbClr val="D9E2F3"/>
            </a:solidFill>
            <a:prstDash val="solid"/>
          </a:ln>
        </p:spPr>
        <p:txBody>
          <a:bodyPr/>
          <a:lstStyle/>
          <a:p>
            <a:endParaRPr lang="ko-KR" altLang="en-US"/>
          </a:p>
        </p:txBody>
      </p:sp>
      <p:sp>
        <p:nvSpPr>
          <p:cNvPr id="87" name="Text 84"/>
          <p:cNvSpPr/>
          <p:nvPr/>
        </p:nvSpPr>
        <p:spPr>
          <a:xfrm>
            <a:off x="8677656" y="3547872"/>
            <a:ext cx="566928" cy="14630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rial" pitchFamily="34" charset="0"/>
                <a:ea typeface="Arial" pitchFamily="34" charset="-122"/>
                <a:cs typeface="Arial" pitchFamily="34" charset="-120"/>
              </a:rPr>
              <a:t>Exp</a:t>
            </a:r>
            <a:endParaRPr lang="en-US" sz="930" dirty="0"/>
          </a:p>
        </p:txBody>
      </p:sp>
      <p:sp>
        <p:nvSpPr>
          <p:cNvPr id="88" name="Shape 85"/>
          <p:cNvSpPr/>
          <p:nvPr/>
        </p:nvSpPr>
        <p:spPr>
          <a:xfrm>
            <a:off x="9281160" y="3429000"/>
            <a:ext cx="640080" cy="310896"/>
          </a:xfrm>
          <a:prstGeom prst="rect">
            <a:avLst/>
          </a:prstGeom>
          <a:solidFill>
            <a:srgbClr val="00245D"/>
          </a:solidFill>
          <a:ln w="6350">
            <a:solidFill>
              <a:srgbClr val="D9E2F3"/>
            </a:solidFill>
            <a:prstDash val="solid"/>
          </a:ln>
        </p:spPr>
        <p:txBody>
          <a:bodyPr/>
          <a:lstStyle/>
          <a:p>
            <a:endParaRPr lang="ko-KR" altLang="en-US"/>
          </a:p>
        </p:txBody>
      </p:sp>
      <p:sp>
        <p:nvSpPr>
          <p:cNvPr id="89" name="Text 86"/>
          <p:cNvSpPr/>
          <p:nvPr/>
        </p:nvSpPr>
        <p:spPr>
          <a:xfrm>
            <a:off x="9317736" y="3547872"/>
            <a:ext cx="566928" cy="14630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rial" pitchFamily="34" charset="0"/>
                <a:ea typeface="Arial" pitchFamily="34" charset="-122"/>
                <a:cs typeface="Arial" pitchFamily="34" charset="-120"/>
              </a:rPr>
              <a:t>Man</a:t>
            </a:r>
            <a:endParaRPr lang="en-US" sz="930" dirty="0"/>
          </a:p>
        </p:txBody>
      </p:sp>
      <p:sp>
        <p:nvSpPr>
          <p:cNvPr id="90" name="Shape 87"/>
          <p:cNvSpPr/>
          <p:nvPr/>
        </p:nvSpPr>
        <p:spPr>
          <a:xfrm>
            <a:off x="9921240" y="3429000"/>
            <a:ext cx="685800" cy="310896"/>
          </a:xfrm>
          <a:prstGeom prst="rect">
            <a:avLst/>
          </a:prstGeom>
          <a:solidFill>
            <a:srgbClr val="00245D"/>
          </a:solidFill>
          <a:ln w="6350">
            <a:solidFill>
              <a:srgbClr val="D9E2F3"/>
            </a:solidFill>
            <a:prstDash val="solid"/>
          </a:ln>
        </p:spPr>
        <p:txBody>
          <a:bodyPr/>
          <a:lstStyle/>
          <a:p>
            <a:endParaRPr lang="ko-KR" altLang="en-US"/>
          </a:p>
        </p:txBody>
      </p:sp>
      <p:sp>
        <p:nvSpPr>
          <p:cNvPr id="91" name="Text 88"/>
          <p:cNvSpPr/>
          <p:nvPr/>
        </p:nvSpPr>
        <p:spPr>
          <a:xfrm>
            <a:off x="9957816" y="3547872"/>
            <a:ext cx="612648" cy="146304"/>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rial" pitchFamily="34" charset="0"/>
                <a:ea typeface="Arial" pitchFamily="34" charset="-122"/>
                <a:cs typeface="Arial" pitchFamily="34" charset="-120"/>
              </a:rPr>
              <a:t>Bsig</a:t>
            </a:r>
            <a:endParaRPr lang="en-US" sz="930" dirty="0"/>
          </a:p>
        </p:txBody>
      </p:sp>
      <p:sp>
        <p:nvSpPr>
          <p:cNvPr id="92" name="Shape 89"/>
          <p:cNvSpPr/>
          <p:nvPr/>
        </p:nvSpPr>
        <p:spPr>
          <a:xfrm>
            <a:off x="6812280" y="3739896"/>
            <a:ext cx="1188720" cy="310896"/>
          </a:xfrm>
          <a:prstGeom prst="rect">
            <a:avLst/>
          </a:prstGeom>
          <a:solidFill>
            <a:srgbClr val="FFFFFF"/>
          </a:solidFill>
          <a:ln w="6350">
            <a:solidFill>
              <a:srgbClr val="D9E2F3"/>
            </a:solidFill>
            <a:prstDash val="solid"/>
          </a:ln>
        </p:spPr>
        <p:txBody>
          <a:bodyPr/>
          <a:lstStyle/>
          <a:p>
            <a:endParaRPr lang="ko-KR" altLang="en-US"/>
          </a:p>
        </p:txBody>
      </p:sp>
      <p:sp>
        <p:nvSpPr>
          <p:cNvPr id="93" name="Text 90"/>
          <p:cNvSpPr/>
          <p:nvPr/>
        </p:nvSpPr>
        <p:spPr>
          <a:xfrm>
            <a:off x="6858000" y="3858768"/>
            <a:ext cx="1097280" cy="146304"/>
          </a:xfrm>
          <a:prstGeom prst="rect">
            <a:avLst/>
          </a:prstGeom>
          <a:noFill/>
          <a:ln/>
        </p:spPr>
        <p:txBody>
          <a:bodyPr wrap="square" lIns="0" tIns="0" rIns="0" bIns="0" rtlCol="0" anchor="ctr">
            <a:normAutofit/>
          </a:bodyPr>
          <a:lstStyle/>
          <a:p>
            <a:pPr marL="0" indent="0" algn="ctr">
              <a:buNone/>
            </a:pPr>
            <a:r>
              <a:rPr lang="en-US" sz="930" b="1" dirty="0">
                <a:solidFill>
                  <a:srgbClr val="222222"/>
                </a:solidFill>
                <a:latin typeface="Arial" pitchFamily="34" charset="0"/>
                <a:ea typeface="Arial" pitchFamily="34" charset="-122"/>
                <a:cs typeface="Arial" pitchFamily="34" charset="-120"/>
              </a:rPr>
              <a:t>+x·2⁶</a:t>
            </a:r>
            <a:endParaRPr lang="en-US" sz="930" dirty="0"/>
          </a:p>
        </p:txBody>
      </p:sp>
      <p:sp>
        <p:nvSpPr>
          <p:cNvPr id="94" name="Shape 91"/>
          <p:cNvSpPr/>
          <p:nvPr/>
        </p:nvSpPr>
        <p:spPr>
          <a:xfrm>
            <a:off x="8001000" y="3739896"/>
            <a:ext cx="640080" cy="310896"/>
          </a:xfrm>
          <a:prstGeom prst="rect">
            <a:avLst/>
          </a:prstGeom>
          <a:solidFill>
            <a:srgbClr val="FFFFFF"/>
          </a:solidFill>
          <a:ln w="6350">
            <a:solidFill>
              <a:srgbClr val="D9E2F3"/>
            </a:solidFill>
            <a:prstDash val="solid"/>
          </a:ln>
        </p:spPr>
        <p:txBody>
          <a:bodyPr/>
          <a:lstStyle/>
          <a:p>
            <a:endParaRPr lang="ko-KR" altLang="en-US"/>
          </a:p>
        </p:txBody>
      </p:sp>
      <p:sp>
        <p:nvSpPr>
          <p:cNvPr id="95" name="Text 92"/>
          <p:cNvSpPr/>
          <p:nvPr/>
        </p:nvSpPr>
        <p:spPr>
          <a:xfrm>
            <a:off x="8046720" y="3858768"/>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0</a:t>
            </a:r>
            <a:endParaRPr lang="en-US" sz="930" dirty="0"/>
          </a:p>
        </p:txBody>
      </p:sp>
      <p:sp>
        <p:nvSpPr>
          <p:cNvPr id="96" name="Shape 93"/>
          <p:cNvSpPr/>
          <p:nvPr/>
        </p:nvSpPr>
        <p:spPr>
          <a:xfrm>
            <a:off x="8641080" y="3739896"/>
            <a:ext cx="640080" cy="310896"/>
          </a:xfrm>
          <a:prstGeom prst="rect">
            <a:avLst/>
          </a:prstGeom>
          <a:solidFill>
            <a:srgbClr val="FFFFFF"/>
          </a:solidFill>
          <a:ln w="6350">
            <a:solidFill>
              <a:srgbClr val="D9E2F3"/>
            </a:solidFill>
            <a:prstDash val="solid"/>
          </a:ln>
        </p:spPr>
        <p:txBody>
          <a:bodyPr/>
          <a:lstStyle/>
          <a:p>
            <a:endParaRPr lang="ko-KR" altLang="en-US"/>
          </a:p>
        </p:txBody>
      </p:sp>
      <p:sp>
        <p:nvSpPr>
          <p:cNvPr id="97" name="Text 94"/>
          <p:cNvSpPr/>
          <p:nvPr/>
        </p:nvSpPr>
        <p:spPr>
          <a:xfrm>
            <a:off x="8686800" y="3858768"/>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0</a:t>
            </a:r>
            <a:endParaRPr lang="en-US" sz="930" dirty="0"/>
          </a:p>
        </p:txBody>
      </p:sp>
      <p:sp>
        <p:nvSpPr>
          <p:cNvPr id="98" name="Shape 95"/>
          <p:cNvSpPr/>
          <p:nvPr/>
        </p:nvSpPr>
        <p:spPr>
          <a:xfrm>
            <a:off x="9281160" y="3739896"/>
            <a:ext cx="640080" cy="310896"/>
          </a:xfrm>
          <a:prstGeom prst="rect">
            <a:avLst/>
          </a:prstGeom>
          <a:solidFill>
            <a:srgbClr val="FFFFFF"/>
          </a:solidFill>
          <a:ln w="6350">
            <a:solidFill>
              <a:srgbClr val="D9E2F3"/>
            </a:solidFill>
            <a:prstDash val="solid"/>
          </a:ln>
        </p:spPr>
        <p:txBody>
          <a:bodyPr/>
          <a:lstStyle/>
          <a:p>
            <a:endParaRPr lang="ko-KR" altLang="en-US"/>
          </a:p>
        </p:txBody>
      </p:sp>
      <p:sp>
        <p:nvSpPr>
          <p:cNvPr id="99" name="Text 96"/>
          <p:cNvSpPr/>
          <p:nvPr/>
        </p:nvSpPr>
        <p:spPr>
          <a:xfrm>
            <a:off x="9326880" y="3858768"/>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1</a:t>
            </a:r>
            <a:endParaRPr lang="en-US" sz="930" dirty="0"/>
          </a:p>
        </p:txBody>
      </p:sp>
      <p:sp>
        <p:nvSpPr>
          <p:cNvPr id="100" name="Shape 97"/>
          <p:cNvSpPr/>
          <p:nvPr/>
        </p:nvSpPr>
        <p:spPr>
          <a:xfrm>
            <a:off x="9921240" y="3739896"/>
            <a:ext cx="685800" cy="310896"/>
          </a:xfrm>
          <a:prstGeom prst="rect">
            <a:avLst/>
          </a:prstGeom>
          <a:solidFill>
            <a:srgbClr val="FFFFFF"/>
          </a:solidFill>
          <a:ln w="6350">
            <a:solidFill>
              <a:srgbClr val="D9E2F3"/>
            </a:solidFill>
            <a:prstDash val="solid"/>
          </a:ln>
        </p:spPr>
        <p:txBody>
          <a:bodyPr/>
          <a:lstStyle/>
          <a:p>
            <a:endParaRPr lang="ko-KR" altLang="en-US"/>
          </a:p>
        </p:txBody>
      </p:sp>
      <p:sp>
        <p:nvSpPr>
          <p:cNvPr id="101" name="Text 98"/>
          <p:cNvSpPr/>
          <p:nvPr/>
        </p:nvSpPr>
        <p:spPr>
          <a:xfrm>
            <a:off x="9966960" y="3858768"/>
            <a:ext cx="59436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6</a:t>
            </a:r>
            <a:endParaRPr lang="en-US" sz="930" dirty="0"/>
          </a:p>
        </p:txBody>
      </p:sp>
      <p:sp>
        <p:nvSpPr>
          <p:cNvPr id="102" name="Shape 99"/>
          <p:cNvSpPr/>
          <p:nvPr/>
        </p:nvSpPr>
        <p:spPr>
          <a:xfrm>
            <a:off x="6812280" y="4050792"/>
            <a:ext cx="1188720" cy="310896"/>
          </a:xfrm>
          <a:prstGeom prst="rect">
            <a:avLst/>
          </a:prstGeom>
          <a:solidFill>
            <a:srgbClr val="F5F7FA"/>
          </a:solidFill>
          <a:ln w="6350">
            <a:solidFill>
              <a:srgbClr val="D9E2F3"/>
            </a:solidFill>
            <a:prstDash val="solid"/>
          </a:ln>
        </p:spPr>
        <p:txBody>
          <a:bodyPr/>
          <a:lstStyle/>
          <a:p>
            <a:endParaRPr lang="ko-KR" altLang="en-US"/>
          </a:p>
        </p:txBody>
      </p:sp>
      <p:sp>
        <p:nvSpPr>
          <p:cNvPr id="103" name="Text 100"/>
          <p:cNvSpPr/>
          <p:nvPr/>
        </p:nvSpPr>
        <p:spPr>
          <a:xfrm>
            <a:off x="6858000" y="4169664"/>
            <a:ext cx="1097280" cy="146304"/>
          </a:xfrm>
          <a:prstGeom prst="rect">
            <a:avLst/>
          </a:prstGeom>
          <a:noFill/>
          <a:ln/>
        </p:spPr>
        <p:txBody>
          <a:bodyPr wrap="square" lIns="0" tIns="0" rIns="0" bIns="0" rtlCol="0" anchor="ctr">
            <a:normAutofit/>
          </a:bodyPr>
          <a:lstStyle/>
          <a:p>
            <a:pPr marL="0" indent="0" algn="ctr">
              <a:buNone/>
            </a:pPr>
            <a:r>
              <a:rPr lang="en-US" sz="930" b="1" dirty="0">
                <a:solidFill>
                  <a:srgbClr val="222222"/>
                </a:solidFill>
                <a:latin typeface="Arial" pitchFamily="34" charset="0"/>
                <a:ea typeface="Arial" pitchFamily="34" charset="-122"/>
                <a:cs typeface="Arial" pitchFamily="34" charset="-120"/>
              </a:rPr>
              <a:t>−x·2⁴</a:t>
            </a:r>
            <a:endParaRPr lang="en-US" sz="930" dirty="0"/>
          </a:p>
        </p:txBody>
      </p:sp>
      <p:sp>
        <p:nvSpPr>
          <p:cNvPr id="104" name="Shape 101"/>
          <p:cNvSpPr/>
          <p:nvPr/>
        </p:nvSpPr>
        <p:spPr>
          <a:xfrm>
            <a:off x="8001000" y="4050792"/>
            <a:ext cx="640080" cy="310896"/>
          </a:xfrm>
          <a:prstGeom prst="rect">
            <a:avLst/>
          </a:prstGeom>
          <a:solidFill>
            <a:srgbClr val="F5F7FA"/>
          </a:solidFill>
          <a:ln w="6350">
            <a:solidFill>
              <a:srgbClr val="D9E2F3"/>
            </a:solidFill>
            <a:prstDash val="solid"/>
          </a:ln>
        </p:spPr>
        <p:txBody>
          <a:bodyPr/>
          <a:lstStyle/>
          <a:p>
            <a:endParaRPr lang="ko-KR" altLang="en-US"/>
          </a:p>
        </p:txBody>
      </p:sp>
      <p:sp>
        <p:nvSpPr>
          <p:cNvPr id="105" name="Text 102"/>
          <p:cNvSpPr/>
          <p:nvPr/>
        </p:nvSpPr>
        <p:spPr>
          <a:xfrm>
            <a:off x="8046720" y="4169664"/>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1</a:t>
            </a:r>
            <a:endParaRPr lang="en-US" sz="930" dirty="0"/>
          </a:p>
        </p:txBody>
      </p:sp>
      <p:sp>
        <p:nvSpPr>
          <p:cNvPr id="106" name="Shape 103"/>
          <p:cNvSpPr/>
          <p:nvPr/>
        </p:nvSpPr>
        <p:spPr>
          <a:xfrm>
            <a:off x="8641080" y="4050792"/>
            <a:ext cx="640080" cy="310896"/>
          </a:xfrm>
          <a:prstGeom prst="rect">
            <a:avLst/>
          </a:prstGeom>
          <a:solidFill>
            <a:srgbClr val="F5F7FA"/>
          </a:solidFill>
          <a:ln w="6350">
            <a:solidFill>
              <a:srgbClr val="D9E2F3"/>
            </a:solidFill>
            <a:prstDash val="solid"/>
          </a:ln>
        </p:spPr>
        <p:txBody>
          <a:bodyPr/>
          <a:lstStyle/>
          <a:p>
            <a:endParaRPr lang="ko-KR" altLang="en-US"/>
          </a:p>
        </p:txBody>
      </p:sp>
      <p:sp>
        <p:nvSpPr>
          <p:cNvPr id="107" name="Text 104"/>
          <p:cNvSpPr/>
          <p:nvPr/>
        </p:nvSpPr>
        <p:spPr>
          <a:xfrm>
            <a:off x="8686800" y="4169664"/>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0</a:t>
            </a:r>
            <a:endParaRPr lang="en-US" sz="930" dirty="0"/>
          </a:p>
        </p:txBody>
      </p:sp>
      <p:sp>
        <p:nvSpPr>
          <p:cNvPr id="108" name="Shape 105"/>
          <p:cNvSpPr/>
          <p:nvPr/>
        </p:nvSpPr>
        <p:spPr>
          <a:xfrm>
            <a:off x="9281160" y="4050792"/>
            <a:ext cx="640080" cy="310896"/>
          </a:xfrm>
          <a:prstGeom prst="rect">
            <a:avLst/>
          </a:prstGeom>
          <a:solidFill>
            <a:srgbClr val="F5F7FA"/>
          </a:solidFill>
          <a:ln w="6350">
            <a:solidFill>
              <a:srgbClr val="D9E2F3"/>
            </a:solidFill>
            <a:prstDash val="solid"/>
          </a:ln>
        </p:spPr>
        <p:txBody>
          <a:bodyPr/>
          <a:lstStyle/>
          <a:p>
            <a:endParaRPr lang="ko-KR" altLang="en-US"/>
          </a:p>
        </p:txBody>
      </p:sp>
      <p:sp>
        <p:nvSpPr>
          <p:cNvPr id="109" name="Text 106"/>
          <p:cNvSpPr/>
          <p:nvPr/>
        </p:nvSpPr>
        <p:spPr>
          <a:xfrm>
            <a:off x="9326880" y="4169664"/>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1</a:t>
            </a:r>
            <a:endParaRPr lang="en-US" sz="930" dirty="0"/>
          </a:p>
        </p:txBody>
      </p:sp>
      <p:sp>
        <p:nvSpPr>
          <p:cNvPr id="110" name="Shape 107"/>
          <p:cNvSpPr/>
          <p:nvPr/>
        </p:nvSpPr>
        <p:spPr>
          <a:xfrm>
            <a:off x="9921240" y="4050792"/>
            <a:ext cx="685800" cy="310896"/>
          </a:xfrm>
          <a:prstGeom prst="rect">
            <a:avLst/>
          </a:prstGeom>
          <a:solidFill>
            <a:srgbClr val="F5F7FA"/>
          </a:solidFill>
          <a:ln w="6350">
            <a:solidFill>
              <a:srgbClr val="D9E2F3"/>
            </a:solidFill>
            <a:prstDash val="solid"/>
          </a:ln>
        </p:spPr>
        <p:txBody>
          <a:bodyPr/>
          <a:lstStyle/>
          <a:p>
            <a:endParaRPr lang="ko-KR" altLang="en-US"/>
          </a:p>
        </p:txBody>
      </p:sp>
      <p:sp>
        <p:nvSpPr>
          <p:cNvPr id="111" name="Text 108"/>
          <p:cNvSpPr/>
          <p:nvPr/>
        </p:nvSpPr>
        <p:spPr>
          <a:xfrm>
            <a:off x="9966960" y="4169664"/>
            <a:ext cx="59436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4</a:t>
            </a:r>
            <a:endParaRPr lang="en-US" sz="930" dirty="0"/>
          </a:p>
        </p:txBody>
      </p:sp>
      <p:sp>
        <p:nvSpPr>
          <p:cNvPr id="112" name="Shape 109"/>
          <p:cNvSpPr/>
          <p:nvPr/>
        </p:nvSpPr>
        <p:spPr>
          <a:xfrm>
            <a:off x="6812280" y="4361688"/>
            <a:ext cx="1188720" cy="310896"/>
          </a:xfrm>
          <a:prstGeom prst="rect">
            <a:avLst/>
          </a:prstGeom>
          <a:solidFill>
            <a:srgbClr val="FFFFFF"/>
          </a:solidFill>
          <a:ln w="6350">
            <a:solidFill>
              <a:srgbClr val="D9E2F3"/>
            </a:solidFill>
            <a:prstDash val="solid"/>
          </a:ln>
        </p:spPr>
        <p:txBody>
          <a:bodyPr/>
          <a:lstStyle/>
          <a:p>
            <a:endParaRPr lang="ko-KR" altLang="en-US"/>
          </a:p>
        </p:txBody>
      </p:sp>
      <p:sp>
        <p:nvSpPr>
          <p:cNvPr id="113" name="Text 110"/>
          <p:cNvSpPr/>
          <p:nvPr/>
        </p:nvSpPr>
        <p:spPr>
          <a:xfrm>
            <a:off x="6858000" y="4480560"/>
            <a:ext cx="1097280" cy="146304"/>
          </a:xfrm>
          <a:prstGeom prst="rect">
            <a:avLst/>
          </a:prstGeom>
          <a:noFill/>
          <a:ln/>
        </p:spPr>
        <p:txBody>
          <a:bodyPr wrap="square" lIns="0" tIns="0" rIns="0" bIns="0" rtlCol="0" anchor="ctr">
            <a:normAutofit/>
          </a:bodyPr>
          <a:lstStyle/>
          <a:p>
            <a:pPr marL="0" indent="0" algn="ctr">
              <a:buNone/>
            </a:pPr>
            <a:r>
              <a:rPr lang="en-US" sz="930" b="1" dirty="0">
                <a:solidFill>
                  <a:srgbClr val="222222"/>
                </a:solidFill>
                <a:latin typeface="Arial" pitchFamily="34" charset="0"/>
                <a:ea typeface="Arial" pitchFamily="34" charset="-122"/>
                <a:cs typeface="Arial" pitchFamily="34" charset="-120"/>
              </a:rPr>
              <a:t>−x·2²</a:t>
            </a:r>
            <a:endParaRPr lang="en-US" sz="930" dirty="0"/>
          </a:p>
        </p:txBody>
      </p:sp>
      <p:sp>
        <p:nvSpPr>
          <p:cNvPr id="114" name="Shape 111"/>
          <p:cNvSpPr/>
          <p:nvPr/>
        </p:nvSpPr>
        <p:spPr>
          <a:xfrm>
            <a:off x="8001000" y="4361688"/>
            <a:ext cx="640080" cy="310896"/>
          </a:xfrm>
          <a:prstGeom prst="rect">
            <a:avLst/>
          </a:prstGeom>
          <a:solidFill>
            <a:srgbClr val="FFFFFF"/>
          </a:solidFill>
          <a:ln w="6350">
            <a:solidFill>
              <a:srgbClr val="D9E2F3"/>
            </a:solidFill>
            <a:prstDash val="solid"/>
          </a:ln>
        </p:spPr>
        <p:txBody>
          <a:bodyPr/>
          <a:lstStyle/>
          <a:p>
            <a:endParaRPr lang="ko-KR" altLang="en-US"/>
          </a:p>
        </p:txBody>
      </p:sp>
      <p:sp>
        <p:nvSpPr>
          <p:cNvPr id="115" name="Text 112"/>
          <p:cNvSpPr/>
          <p:nvPr/>
        </p:nvSpPr>
        <p:spPr>
          <a:xfrm>
            <a:off x="8046720" y="4480560"/>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1</a:t>
            </a:r>
            <a:endParaRPr lang="en-US" sz="930" dirty="0"/>
          </a:p>
        </p:txBody>
      </p:sp>
      <p:sp>
        <p:nvSpPr>
          <p:cNvPr id="116" name="Shape 113"/>
          <p:cNvSpPr/>
          <p:nvPr/>
        </p:nvSpPr>
        <p:spPr>
          <a:xfrm>
            <a:off x="8641080" y="4361688"/>
            <a:ext cx="640080" cy="310896"/>
          </a:xfrm>
          <a:prstGeom prst="rect">
            <a:avLst/>
          </a:prstGeom>
          <a:solidFill>
            <a:srgbClr val="FFFFFF"/>
          </a:solidFill>
          <a:ln w="6350">
            <a:solidFill>
              <a:srgbClr val="D9E2F3"/>
            </a:solidFill>
            <a:prstDash val="solid"/>
          </a:ln>
        </p:spPr>
        <p:txBody>
          <a:bodyPr/>
          <a:lstStyle/>
          <a:p>
            <a:endParaRPr lang="ko-KR" altLang="en-US"/>
          </a:p>
        </p:txBody>
      </p:sp>
      <p:sp>
        <p:nvSpPr>
          <p:cNvPr id="117" name="Text 114"/>
          <p:cNvSpPr/>
          <p:nvPr/>
        </p:nvSpPr>
        <p:spPr>
          <a:xfrm>
            <a:off x="8686800" y="4480560"/>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0</a:t>
            </a:r>
            <a:endParaRPr lang="en-US" sz="930" dirty="0"/>
          </a:p>
        </p:txBody>
      </p:sp>
      <p:sp>
        <p:nvSpPr>
          <p:cNvPr id="118" name="Shape 115"/>
          <p:cNvSpPr/>
          <p:nvPr/>
        </p:nvSpPr>
        <p:spPr>
          <a:xfrm>
            <a:off x="9281160" y="4361688"/>
            <a:ext cx="640080" cy="310896"/>
          </a:xfrm>
          <a:prstGeom prst="rect">
            <a:avLst/>
          </a:prstGeom>
          <a:solidFill>
            <a:srgbClr val="FFFFFF"/>
          </a:solidFill>
          <a:ln w="6350">
            <a:solidFill>
              <a:srgbClr val="D9E2F3"/>
            </a:solidFill>
            <a:prstDash val="solid"/>
          </a:ln>
        </p:spPr>
        <p:txBody>
          <a:bodyPr/>
          <a:lstStyle/>
          <a:p>
            <a:endParaRPr lang="ko-KR" altLang="en-US"/>
          </a:p>
        </p:txBody>
      </p:sp>
      <p:sp>
        <p:nvSpPr>
          <p:cNvPr id="119" name="Text 116"/>
          <p:cNvSpPr/>
          <p:nvPr/>
        </p:nvSpPr>
        <p:spPr>
          <a:xfrm>
            <a:off x="9326880" y="4480560"/>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1</a:t>
            </a:r>
            <a:endParaRPr lang="en-US" sz="930" dirty="0"/>
          </a:p>
        </p:txBody>
      </p:sp>
      <p:sp>
        <p:nvSpPr>
          <p:cNvPr id="120" name="Shape 117"/>
          <p:cNvSpPr/>
          <p:nvPr/>
        </p:nvSpPr>
        <p:spPr>
          <a:xfrm>
            <a:off x="9921240" y="4361688"/>
            <a:ext cx="685800" cy="310896"/>
          </a:xfrm>
          <a:prstGeom prst="rect">
            <a:avLst/>
          </a:prstGeom>
          <a:solidFill>
            <a:srgbClr val="FFFFFF"/>
          </a:solidFill>
          <a:ln w="6350">
            <a:solidFill>
              <a:srgbClr val="D9E2F3"/>
            </a:solidFill>
            <a:prstDash val="solid"/>
          </a:ln>
        </p:spPr>
        <p:txBody>
          <a:bodyPr/>
          <a:lstStyle/>
          <a:p>
            <a:endParaRPr lang="ko-KR" altLang="en-US"/>
          </a:p>
        </p:txBody>
      </p:sp>
      <p:sp>
        <p:nvSpPr>
          <p:cNvPr id="121" name="Text 118"/>
          <p:cNvSpPr/>
          <p:nvPr/>
        </p:nvSpPr>
        <p:spPr>
          <a:xfrm>
            <a:off x="9966960" y="4480560"/>
            <a:ext cx="59436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2</a:t>
            </a:r>
            <a:endParaRPr lang="en-US" sz="930" dirty="0"/>
          </a:p>
        </p:txBody>
      </p:sp>
      <p:sp>
        <p:nvSpPr>
          <p:cNvPr id="122" name="Shape 119"/>
          <p:cNvSpPr/>
          <p:nvPr/>
        </p:nvSpPr>
        <p:spPr>
          <a:xfrm>
            <a:off x="6812280" y="4672584"/>
            <a:ext cx="1188720" cy="310896"/>
          </a:xfrm>
          <a:prstGeom prst="rect">
            <a:avLst/>
          </a:prstGeom>
          <a:solidFill>
            <a:srgbClr val="F5F7FA"/>
          </a:solidFill>
          <a:ln w="6350">
            <a:solidFill>
              <a:srgbClr val="D9E2F3"/>
            </a:solidFill>
            <a:prstDash val="solid"/>
          </a:ln>
        </p:spPr>
        <p:txBody>
          <a:bodyPr/>
          <a:lstStyle/>
          <a:p>
            <a:endParaRPr lang="ko-KR" altLang="en-US"/>
          </a:p>
        </p:txBody>
      </p:sp>
      <p:sp>
        <p:nvSpPr>
          <p:cNvPr id="123" name="Text 120"/>
          <p:cNvSpPr/>
          <p:nvPr/>
        </p:nvSpPr>
        <p:spPr>
          <a:xfrm>
            <a:off x="6858000" y="4791456"/>
            <a:ext cx="1097280" cy="146304"/>
          </a:xfrm>
          <a:prstGeom prst="rect">
            <a:avLst/>
          </a:prstGeom>
          <a:noFill/>
          <a:ln/>
        </p:spPr>
        <p:txBody>
          <a:bodyPr wrap="square" lIns="0" tIns="0" rIns="0" bIns="0" rtlCol="0" anchor="ctr">
            <a:normAutofit/>
          </a:bodyPr>
          <a:lstStyle/>
          <a:p>
            <a:pPr marL="0" indent="0" algn="ctr">
              <a:buNone/>
            </a:pPr>
            <a:r>
              <a:rPr lang="en-US" sz="930" b="1" dirty="0">
                <a:solidFill>
                  <a:srgbClr val="222222"/>
                </a:solidFill>
                <a:latin typeface="Arial" pitchFamily="34" charset="0"/>
                <a:ea typeface="Arial" pitchFamily="34" charset="-122"/>
                <a:cs typeface="Arial" pitchFamily="34" charset="-120"/>
              </a:rPr>
              <a:t>+x·2⁰</a:t>
            </a:r>
            <a:endParaRPr lang="en-US" sz="930" dirty="0"/>
          </a:p>
        </p:txBody>
      </p:sp>
      <p:sp>
        <p:nvSpPr>
          <p:cNvPr id="124" name="Shape 121"/>
          <p:cNvSpPr/>
          <p:nvPr/>
        </p:nvSpPr>
        <p:spPr>
          <a:xfrm>
            <a:off x="8001000" y="4672584"/>
            <a:ext cx="640080" cy="310896"/>
          </a:xfrm>
          <a:prstGeom prst="rect">
            <a:avLst/>
          </a:prstGeom>
          <a:solidFill>
            <a:srgbClr val="F5F7FA"/>
          </a:solidFill>
          <a:ln w="6350">
            <a:solidFill>
              <a:srgbClr val="D9E2F3"/>
            </a:solidFill>
            <a:prstDash val="solid"/>
          </a:ln>
        </p:spPr>
        <p:txBody>
          <a:bodyPr/>
          <a:lstStyle/>
          <a:p>
            <a:endParaRPr lang="ko-KR" altLang="en-US"/>
          </a:p>
        </p:txBody>
      </p:sp>
      <p:sp>
        <p:nvSpPr>
          <p:cNvPr id="125" name="Text 122"/>
          <p:cNvSpPr/>
          <p:nvPr/>
        </p:nvSpPr>
        <p:spPr>
          <a:xfrm>
            <a:off x="8046720" y="4791456"/>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0</a:t>
            </a:r>
            <a:endParaRPr lang="en-US" sz="930" dirty="0"/>
          </a:p>
        </p:txBody>
      </p:sp>
      <p:sp>
        <p:nvSpPr>
          <p:cNvPr id="126" name="Shape 123"/>
          <p:cNvSpPr/>
          <p:nvPr/>
        </p:nvSpPr>
        <p:spPr>
          <a:xfrm>
            <a:off x="8641080" y="4672584"/>
            <a:ext cx="640080" cy="310896"/>
          </a:xfrm>
          <a:prstGeom prst="rect">
            <a:avLst/>
          </a:prstGeom>
          <a:solidFill>
            <a:srgbClr val="F5F7FA"/>
          </a:solidFill>
          <a:ln w="6350">
            <a:solidFill>
              <a:srgbClr val="D9E2F3"/>
            </a:solidFill>
            <a:prstDash val="solid"/>
          </a:ln>
        </p:spPr>
        <p:txBody>
          <a:bodyPr/>
          <a:lstStyle/>
          <a:p>
            <a:endParaRPr lang="ko-KR" altLang="en-US"/>
          </a:p>
        </p:txBody>
      </p:sp>
      <p:sp>
        <p:nvSpPr>
          <p:cNvPr id="127" name="Text 124"/>
          <p:cNvSpPr/>
          <p:nvPr/>
        </p:nvSpPr>
        <p:spPr>
          <a:xfrm>
            <a:off x="8686800" y="4791456"/>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0</a:t>
            </a:r>
            <a:endParaRPr lang="en-US" sz="930" dirty="0"/>
          </a:p>
        </p:txBody>
      </p:sp>
      <p:sp>
        <p:nvSpPr>
          <p:cNvPr id="128" name="Shape 125"/>
          <p:cNvSpPr/>
          <p:nvPr/>
        </p:nvSpPr>
        <p:spPr>
          <a:xfrm>
            <a:off x="9281160" y="4672584"/>
            <a:ext cx="640080" cy="310896"/>
          </a:xfrm>
          <a:prstGeom prst="rect">
            <a:avLst/>
          </a:prstGeom>
          <a:solidFill>
            <a:srgbClr val="F5F7FA"/>
          </a:solidFill>
          <a:ln w="6350">
            <a:solidFill>
              <a:srgbClr val="D9E2F3"/>
            </a:solidFill>
            <a:prstDash val="solid"/>
          </a:ln>
        </p:spPr>
        <p:txBody>
          <a:bodyPr/>
          <a:lstStyle/>
          <a:p>
            <a:endParaRPr lang="ko-KR" altLang="en-US"/>
          </a:p>
        </p:txBody>
      </p:sp>
      <p:sp>
        <p:nvSpPr>
          <p:cNvPr id="129" name="Text 126"/>
          <p:cNvSpPr/>
          <p:nvPr/>
        </p:nvSpPr>
        <p:spPr>
          <a:xfrm>
            <a:off x="9326880" y="4791456"/>
            <a:ext cx="54864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1</a:t>
            </a:r>
            <a:endParaRPr lang="en-US" sz="930" dirty="0"/>
          </a:p>
        </p:txBody>
      </p:sp>
      <p:sp>
        <p:nvSpPr>
          <p:cNvPr id="130" name="Shape 127"/>
          <p:cNvSpPr/>
          <p:nvPr/>
        </p:nvSpPr>
        <p:spPr>
          <a:xfrm>
            <a:off x="9921240" y="4672584"/>
            <a:ext cx="685800" cy="310896"/>
          </a:xfrm>
          <a:prstGeom prst="rect">
            <a:avLst/>
          </a:prstGeom>
          <a:solidFill>
            <a:srgbClr val="F5F7FA"/>
          </a:solidFill>
          <a:ln w="6350">
            <a:solidFill>
              <a:srgbClr val="D9E2F3"/>
            </a:solidFill>
            <a:prstDash val="solid"/>
          </a:ln>
        </p:spPr>
        <p:txBody>
          <a:bodyPr/>
          <a:lstStyle/>
          <a:p>
            <a:endParaRPr lang="ko-KR" altLang="en-US"/>
          </a:p>
        </p:txBody>
      </p:sp>
      <p:sp>
        <p:nvSpPr>
          <p:cNvPr id="131" name="Text 128"/>
          <p:cNvSpPr/>
          <p:nvPr/>
        </p:nvSpPr>
        <p:spPr>
          <a:xfrm>
            <a:off x="9966960" y="4791456"/>
            <a:ext cx="594360" cy="146304"/>
          </a:xfrm>
          <a:prstGeom prst="rect">
            <a:avLst/>
          </a:prstGeom>
          <a:noFill/>
          <a:ln/>
        </p:spPr>
        <p:txBody>
          <a:bodyPr wrap="square" lIns="0" tIns="0" rIns="0" bIns="0" rtlCol="0" anchor="ctr">
            <a:normAutofit/>
          </a:bodyPr>
          <a:lstStyle/>
          <a:p>
            <a:pPr marL="0" indent="0" algn="ctr">
              <a:buNone/>
            </a:pPr>
            <a:r>
              <a:rPr lang="en-US" sz="930" dirty="0">
                <a:solidFill>
                  <a:srgbClr val="222222"/>
                </a:solidFill>
                <a:latin typeface="Arial" pitchFamily="34" charset="0"/>
                <a:ea typeface="Arial" pitchFamily="34" charset="-122"/>
                <a:cs typeface="Arial" pitchFamily="34" charset="-120"/>
              </a:rPr>
              <a:t>0</a:t>
            </a:r>
            <a:endParaRPr lang="en-US" sz="930" dirty="0"/>
          </a:p>
        </p:txBody>
      </p:sp>
      <p:sp>
        <p:nvSpPr>
          <p:cNvPr id="132" name="Text 129"/>
          <p:cNvSpPr/>
          <p:nvPr/>
        </p:nvSpPr>
        <p:spPr>
          <a:xfrm>
            <a:off x="6720840" y="5226518"/>
            <a:ext cx="4160520" cy="256032"/>
          </a:xfrm>
          <a:prstGeom prst="rect">
            <a:avLst/>
          </a:prstGeom>
          <a:noFill/>
          <a:ln/>
        </p:spPr>
        <p:txBody>
          <a:bodyPr wrap="square" lIns="0" tIns="0" rIns="0" bIns="0" rtlCol="0" anchor="ctr">
            <a:normAutofit/>
          </a:bodyPr>
          <a:lstStyle/>
          <a:p>
            <a:pPr marL="0" indent="0" algn="ctr">
              <a:buNone/>
            </a:pPr>
            <a:r>
              <a:rPr lang="en-US" sz="1300" b="1" dirty="0">
                <a:solidFill>
                  <a:srgbClr val="00245D"/>
                </a:solidFill>
                <a:latin typeface="Arial" pitchFamily="34" charset="0"/>
                <a:ea typeface="Arial" pitchFamily="34" charset="-122"/>
                <a:cs typeface="Arial" pitchFamily="34" charset="-120"/>
              </a:rPr>
              <a:t>INT8 → 4 cycles for 4 bit-serial terms</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Case 2 — INT6: same Booth Encoding, fewer terms</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58</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INT6 uses the same Booth decoder as INT8, but the shorter bit-width reduces the number of terms from four to three.</a:t>
            </a:r>
            <a:endParaRPr lang="en-US" sz="1300" dirty="0"/>
          </a:p>
        </p:txBody>
      </p:sp>
      <p:sp>
        <p:nvSpPr>
          <p:cNvPr id="9" name="Shape 6"/>
          <p:cNvSpPr/>
          <p:nvPr/>
        </p:nvSpPr>
        <p:spPr>
          <a:xfrm>
            <a:off x="685800" y="1463040"/>
            <a:ext cx="5394960" cy="1783080"/>
          </a:xfrm>
          <a:prstGeom prst="roundRect">
            <a:avLst>
              <a:gd name="adj" fmla="val 3077"/>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72768"/>
            <a:ext cx="50657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INT6 weight 21</a:t>
            </a:r>
            <a:endParaRPr lang="en-US" sz="1200" dirty="0"/>
          </a:p>
        </p:txBody>
      </p:sp>
      <p:sp>
        <p:nvSpPr>
          <p:cNvPr id="11" name="Text 8"/>
          <p:cNvSpPr/>
          <p:nvPr/>
        </p:nvSpPr>
        <p:spPr>
          <a:xfrm>
            <a:off x="1051560" y="2116836"/>
            <a:ext cx="1554480" cy="182880"/>
          </a:xfrm>
          <a:prstGeom prst="rect">
            <a:avLst/>
          </a:prstGeom>
          <a:noFill/>
          <a:ln/>
        </p:spPr>
        <p:txBody>
          <a:bodyPr wrap="square" lIns="0" tIns="0" rIns="0" bIns="0" rtlCol="0" anchor="ctr">
            <a:normAutofit fontScale="92500" lnSpcReduction="20000"/>
          </a:bodyPr>
          <a:lstStyle/>
          <a:p>
            <a:pPr marL="0" indent="0" algn="l">
              <a:buNone/>
            </a:pPr>
            <a:r>
              <a:rPr lang="en-US" sz="1500" b="1" dirty="0">
                <a:solidFill>
                  <a:srgbClr val="00245D"/>
                </a:solidFill>
                <a:latin typeface="Arial" pitchFamily="34" charset="0"/>
                <a:ea typeface="Arial" pitchFamily="34" charset="-122"/>
                <a:cs typeface="Arial" pitchFamily="34" charset="-120"/>
              </a:rPr>
              <a:t>21 → 010101₂</a:t>
            </a:r>
            <a:endParaRPr lang="en-US" sz="1500" dirty="0"/>
          </a:p>
        </p:txBody>
      </p:sp>
      <p:sp>
        <p:nvSpPr>
          <p:cNvPr id="12" name="Shape 9"/>
          <p:cNvSpPr/>
          <p:nvPr/>
        </p:nvSpPr>
        <p:spPr>
          <a:xfrm>
            <a:off x="3017520" y="2080260"/>
            <a:ext cx="457200" cy="384048"/>
          </a:xfrm>
          <a:prstGeom prst="rect">
            <a:avLst/>
          </a:prstGeom>
          <a:solidFill>
            <a:srgbClr val="FFFFFF"/>
          </a:solidFill>
          <a:ln w="8890">
            <a:solidFill>
              <a:srgbClr val="D9E2F3"/>
            </a:solidFill>
            <a:prstDash val="solid"/>
          </a:ln>
        </p:spPr>
        <p:txBody>
          <a:bodyPr/>
          <a:lstStyle/>
          <a:p>
            <a:endParaRPr lang="ko-KR" altLang="en-US"/>
          </a:p>
        </p:txBody>
      </p:sp>
      <p:sp>
        <p:nvSpPr>
          <p:cNvPr id="13" name="Text 10"/>
          <p:cNvSpPr/>
          <p:nvPr/>
        </p:nvSpPr>
        <p:spPr>
          <a:xfrm>
            <a:off x="3035808" y="2153412"/>
            <a:ext cx="42062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14" name="Text 11"/>
          <p:cNvSpPr/>
          <p:nvPr/>
        </p:nvSpPr>
        <p:spPr>
          <a:xfrm>
            <a:off x="3017520" y="2510028"/>
            <a:ext cx="45720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I5</a:t>
            </a:r>
            <a:endParaRPr lang="en-US" sz="780" dirty="0"/>
          </a:p>
        </p:txBody>
      </p:sp>
      <p:sp>
        <p:nvSpPr>
          <p:cNvPr id="15" name="Shape 12"/>
          <p:cNvSpPr/>
          <p:nvPr/>
        </p:nvSpPr>
        <p:spPr>
          <a:xfrm>
            <a:off x="3474720" y="2080260"/>
            <a:ext cx="457200" cy="384048"/>
          </a:xfrm>
          <a:prstGeom prst="rect">
            <a:avLst/>
          </a:prstGeom>
          <a:solidFill>
            <a:srgbClr val="F4CCCC"/>
          </a:solidFill>
          <a:ln w="8890">
            <a:solidFill>
              <a:srgbClr val="D9E2F3"/>
            </a:solidFill>
            <a:prstDash val="solid"/>
          </a:ln>
        </p:spPr>
        <p:txBody>
          <a:bodyPr/>
          <a:lstStyle/>
          <a:p>
            <a:endParaRPr lang="ko-KR" altLang="en-US"/>
          </a:p>
        </p:txBody>
      </p:sp>
      <p:sp>
        <p:nvSpPr>
          <p:cNvPr id="16" name="Text 13"/>
          <p:cNvSpPr/>
          <p:nvPr/>
        </p:nvSpPr>
        <p:spPr>
          <a:xfrm>
            <a:off x="3493008" y="2153412"/>
            <a:ext cx="42062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17" name="Text 14"/>
          <p:cNvSpPr/>
          <p:nvPr/>
        </p:nvSpPr>
        <p:spPr>
          <a:xfrm>
            <a:off x="3474720" y="2510028"/>
            <a:ext cx="45720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I4</a:t>
            </a:r>
            <a:endParaRPr lang="en-US" sz="780" dirty="0"/>
          </a:p>
        </p:txBody>
      </p:sp>
      <p:sp>
        <p:nvSpPr>
          <p:cNvPr id="18" name="Shape 15"/>
          <p:cNvSpPr/>
          <p:nvPr/>
        </p:nvSpPr>
        <p:spPr>
          <a:xfrm>
            <a:off x="3931920" y="2080260"/>
            <a:ext cx="457200" cy="384048"/>
          </a:xfrm>
          <a:prstGeom prst="rect">
            <a:avLst/>
          </a:prstGeom>
          <a:solidFill>
            <a:srgbClr val="FFFFFF"/>
          </a:solidFill>
          <a:ln w="8890">
            <a:solidFill>
              <a:srgbClr val="D9E2F3"/>
            </a:solidFill>
            <a:prstDash val="solid"/>
          </a:ln>
        </p:spPr>
        <p:txBody>
          <a:bodyPr/>
          <a:lstStyle/>
          <a:p>
            <a:endParaRPr lang="ko-KR" altLang="en-US"/>
          </a:p>
        </p:txBody>
      </p:sp>
      <p:sp>
        <p:nvSpPr>
          <p:cNvPr id="19" name="Text 16"/>
          <p:cNvSpPr/>
          <p:nvPr/>
        </p:nvSpPr>
        <p:spPr>
          <a:xfrm>
            <a:off x="3950208" y="2153412"/>
            <a:ext cx="42062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20" name="Text 17"/>
          <p:cNvSpPr/>
          <p:nvPr/>
        </p:nvSpPr>
        <p:spPr>
          <a:xfrm>
            <a:off x="3931920" y="2510028"/>
            <a:ext cx="45720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I3</a:t>
            </a:r>
            <a:endParaRPr lang="en-US" sz="780" dirty="0"/>
          </a:p>
        </p:txBody>
      </p:sp>
      <p:sp>
        <p:nvSpPr>
          <p:cNvPr id="21" name="Shape 18"/>
          <p:cNvSpPr/>
          <p:nvPr/>
        </p:nvSpPr>
        <p:spPr>
          <a:xfrm>
            <a:off x="4389120" y="2080260"/>
            <a:ext cx="457200" cy="384048"/>
          </a:xfrm>
          <a:prstGeom prst="rect">
            <a:avLst/>
          </a:prstGeom>
          <a:solidFill>
            <a:srgbClr val="F4CCCC"/>
          </a:solidFill>
          <a:ln w="8890">
            <a:solidFill>
              <a:srgbClr val="D9E2F3"/>
            </a:solidFill>
            <a:prstDash val="solid"/>
          </a:ln>
        </p:spPr>
        <p:txBody>
          <a:bodyPr/>
          <a:lstStyle/>
          <a:p>
            <a:endParaRPr lang="ko-KR" altLang="en-US"/>
          </a:p>
        </p:txBody>
      </p:sp>
      <p:sp>
        <p:nvSpPr>
          <p:cNvPr id="22" name="Text 19"/>
          <p:cNvSpPr/>
          <p:nvPr/>
        </p:nvSpPr>
        <p:spPr>
          <a:xfrm>
            <a:off x="4407408" y="2153412"/>
            <a:ext cx="42062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23" name="Text 20"/>
          <p:cNvSpPr/>
          <p:nvPr/>
        </p:nvSpPr>
        <p:spPr>
          <a:xfrm>
            <a:off x="4389120" y="2510028"/>
            <a:ext cx="45720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I2</a:t>
            </a:r>
            <a:endParaRPr lang="en-US" sz="780" dirty="0"/>
          </a:p>
        </p:txBody>
      </p:sp>
      <p:sp>
        <p:nvSpPr>
          <p:cNvPr id="24" name="Shape 21"/>
          <p:cNvSpPr/>
          <p:nvPr/>
        </p:nvSpPr>
        <p:spPr>
          <a:xfrm>
            <a:off x="4846320" y="2080260"/>
            <a:ext cx="457200" cy="384048"/>
          </a:xfrm>
          <a:prstGeom prst="rect">
            <a:avLst/>
          </a:prstGeom>
          <a:solidFill>
            <a:srgbClr val="FFFFFF"/>
          </a:solidFill>
          <a:ln w="8890">
            <a:solidFill>
              <a:srgbClr val="D9E2F3"/>
            </a:solidFill>
            <a:prstDash val="solid"/>
          </a:ln>
        </p:spPr>
        <p:txBody>
          <a:bodyPr/>
          <a:lstStyle/>
          <a:p>
            <a:endParaRPr lang="ko-KR" altLang="en-US"/>
          </a:p>
        </p:txBody>
      </p:sp>
      <p:sp>
        <p:nvSpPr>
          <p:cNvPr id="25" name="Text 22"/>
          <p:cNvSpPr/>
          <p:nvPr/>
        </p:nvSpPr>
        <p:spPr>
          <a:xfrm>
            <a:off x="4864608" y="2153412"/>
            <a:ext cx="42062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26" name="Text 23"/>
          <p:cNvSpPr/>
          <p:nvPr/>
        </p:nvSpPr>
        <p:spPr>
          <a:xfrm>
            <a:off x="4846320" y="2510028"/>
            <a:ext cx="45720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I1</a:t>
            </a:r>
            <a:endParaRPr lang="en-US" sz="780" dirty="0"/>
          </a:p>
        </p:txBody>
      </p:sp>
      <p:sp>
        <p:nvSpPr>
          <p:cNvPr id="27" name="Shape 24"/>
          <p:cNvSpPr/>
          <p:nvPr/>
        </p:nvSpPr>
        <p:spPr>
          <a:xfrm>
            <a:off x="5303520" y="2080260"/>
            <a:ext cx="457200" cy="384048"/>
          </a:xfrm>
          <a:prstGeom prst="rect">
            <a:avLst/>
          </a:prstGeom>
          <a:solidFill>
            <a:srgbClr val="F4CCCC"/>
          </a:solidFill>
          <a:ln w="8890">
            <a:solidFill>
              <a:srgbClr val="D9E2F3"/>
            </a:solidFill>
            <a:prstDash val="solid"/>
          </a:ln>
        </p:spPr>
        <p:txBody>
          <a:bodyPr/>
          <a:lstStyle/>
          <a:p>
            <a:endParaRPr lang="ko-KR" altLang="en-US"/>
          </a:p>
        </p:txBody>
      </p:sp>
      <p:sp>
        <p:nvSpPr>
          <p:cNvPr id="28" name="Text 25"/>
          <p:cNvSpPr/>
          <p:nvPr/>
        </p:nvSpPr>
        <p:spPr>
          <a:xfrm>
            <a:off x="5321808" y="2153412"/>
            <a:ext cx="42062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29" name="Text 26"/>
          <p:cNvSpPr/>
          <p:nvPr/>
        </p:nvSpPr>
        <p:spPr>
          <a:xfrm>
            <a:off x="5303520" y="2510028"/>
            <a:ext cx="457200" cy="137160"/>
          </a:xfrm>
          <a:prstGeom prst="rect">
            <a:avLst/>
          </a:prstGeom>
          <a:noFill/>
          <a:ln/>
        </p:spPr>
        <p:txBody>
          <a:bodyPr wrap="square" lIns="0" tIns="0" rIns="0" bIns="0" rtlCol="0" anchor="ctr">
            <a:normAutofit/>
          </a:bodyPr>
          <a:lstStyle/>
          <a:p>
            <a:pPr marL="0" indent="0" algn="ctr">
              <a:buNone/>
            </a:pPr>
            <a:r>
              <a:rPr lang="en-US" sz="780" dirty="0">
                <a:solidFill>
                  <a:srgbClr val="666666"/>
                </a:solidFill>
                <a:latin typeface="Arial" pitchFamily="34" charset="0"/>
                <a:ea typeface="Arial" pitchFamily="34" charset="-122"/>
                <a:cs typeface="Arial" pitchFamily="34" charset="-120"/>
              </a:rPr>
              <a:t>I0</a:t>
            </a:r>
            <a:endParaRPr lang="en-US" sz="780" dirty="0"/>
          </a:p>
        </p:txBody>
      </p:sp>
      <p:sp>
        <p:nvSpPr>
          <p:cNvPr id="30" name="Shape 27"/>
          <p:cNvSpPr/>
          <p:nvPr/>
        </p:nvSpPr>
        <p:spPr>
          <a:xfrm>
            <a:off x="685800" y="3547872"/>
            <a:ext cx="5394960" cy="2286000"/>
          </a:xfrm>
          <a:prstGeom prst="roundRect">
            <a:avLst>
              <a:gd name="adj" fmla="val 3636"/>
            </a:avLst>
          </a:prstGeom>
          <a:solidFill>
            <a:srgbClr val="FFFDF2"/>
          </a:solidFill>
          <a:ln w="13335">
            <a:solidFill>
              <a:srgbClr val="D6B656"/>
            </a:solidFill>
            <a:prstDash val="solid"/>
          </a:ln>
        </p:spPr>
        <p:txBody>
          <a:bodyPr/>
          <a:lstStyle/>
          <a:p>
            <a:endParaRPr lang="ko-KR" altLang="en-US"/>
          </a:p>
        </p:txBody>
      </p:sp>
      <p:sp>
        <p:nvSpPr>
          <p:cNvPr id="31" name="Text 28"/>
          <p:cNvSpPr/>
          <p:nvPr/>
        </p:nvSpPr>
        <p:spPr>
          <a:xfrm>
            <a:off x="850392" y="3657600"/>
            <a:ext cx="50657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Booth terms</a:t>
            </a:r>
            <a:endParaRPr lang="en-US" sz="1200" dirty="0"/>
          </a:p>
        </p:txBody>
      </p:sp>
      <p:sp>
        <p:nvSpPr>
          <p:cNvPr id="32" name="Shape 29"/>
          <p:cNvSpPr/>
          <p:nvPr/>
        </p:nvSpPr>
        <p:spPr>
          <a:xfrm>
            <a:off x="1229868" y="4152820"/>
            <a:ext cx="1234440" cy="329184"/>
          </a:xfrm>
          <a:prstGeom prst="rect">
            <a:avLst/>
          </a:prstGeom>
          <a:solidFill>
            <a:srgbClr val="00245D"/>
          </a:solidFill>
          <a:ln w="6350">
            <a:solidFill>
              <a:srgbClr val="D9E2F3"/>
            </a:solidFill>
            <a:prstDash val="solid"/>
          </a:ln>
        </p:spPr>
        <p:txBody>
          <a:bodyPr/>
          <a:lstStyle/>
          <a:p>
            <a:endParaRPr lang="ko-KR" altLang="en-US"/>
          </a:p>
        </p:txBody>
      </p:sp>
      <p:sp>
        <p:nvSpPr>
          <p:cNvPr id="33" name="Text 30"/>
          <p:cNvSpPr/>
          <p:nvPr/>
        </p:nvSpPr>
        <p:spPr>
          <a:xfrm>
            <a:off x="1266444" y="4271692"/>
            <a:ext cx="1161288" cy="146304"/>
          </a:xfrm>
          <a:prstGeom prst="rect">
            <a:avLst/>
          </a:prstGeom>
          <a:noFill/>
          <a:ln/>
        </p:spPr>
        <p:txBody>
          <a:bodyPr wrap="square" lIns="0" tIns="0" rIns="0" bIns="0" rtlCol="0" anchor="ctr">
            <a:normAutofit/>
          </a:bodyPr>
          <a:lstStyle/>
          <a:p>
            <a:pPr marL="0" indent="0" algn="ctr">
              <a:buNone/>
            </a:pPr>
            <a:r>
              <a:rPr lang="en-US" sz="960" b="1" dirty="0">
                <a:solidFill>
                  <a:srgbClr val="FFFFFF"/>
                </a:solidFill>
                <a:latin typeface="Arial" pitchFamily="34" charset="0"/>
                <a:ea typeface="Arial" pitchFamily="34" charset="-122"/>
                <a:cs typeface="Arial" pitchFamily="34" charset="-120"/>
              </a:rPr>
              <a:t>Booth string</a:t>
            </a:r>
            <a:endParaRPr lang="en-US" sz="960" dirty="0"/>
          </a:p>
        </p:txBody>
      </p:sp>
      <p:sp>
        <p:nvSpPr>
          <p:cNvPr id="34" name="Shape 31"/>
          <p:cNvSpPr/>
          <p:nvPr/>
        </p:nvSpPr>
        <p:spPr>
          <a:xfrm>
            <a:off x="2464308" y="4152820"/>
            <a:ext cx="868680" cy="329184"/>
          </a:xfrm>
          <a:prstGeom prst="rect">
            <a:avLst/>
          </a:prstGeom>
          <a:solidFill>
            <a:srgbClr val="00245D"/>
          </a:solidFill>
          <a:ln w="6350">
            <a:solidFill>
              <a:srgbClr val="D9E2F3"/>
            </a:solidFill>
            <a:prstDash val="solid"/>
          </a:ln>
        </p:spPr>
        <p:txBody>
          <a:bodyPr/>
          <a:lstStyle/>
          <a:p>
            <a:endParaRPr lang="ko-KR" altLang="en-US"/>
          </a:p>
        </p:txBody>
      </p:sp>
      <p:sp>
        <p:nvSpPr>
          <p:cNvPr id="35" name="Text 32"/>
          <p:cNvSpPr/>
          <p:nvPr/>
        </p:nvSpPr>
        <p:spPr>
          <a:xfrm>
            <a:off x="2500884" y="4271692"/>
            <a:ext cx="795528" cy="146304"/>
          </a:xfrm>
          <a:prstGeom prst="rect">
            <a:avLst/>
          </a:prstGeom>
          <a:noFill/>
          <a:ln/>
        </p:spPr>
        <p:txBody>
          <a:bodyPr wrap="square" lIns="0" tIns="0" rIns="0" bIns="0" rtlCol="0" anchor="ctr">
            <a:normAutofit/>
          </a:bodyPr>
          <a:lstStyle/>
          <a:p>
            <a:pPr marL="0" indent="0" algn="ctr">
              <a:buNone/>
            </a:pPr>
            <a:r>
              <a:rPr lang="en-US" sz="960" b="1" dirty="0">
                <a:solidFill>
                  <a:srgbClr val="FFFFFF"/>
                </a:solidFill>
                <a:latin typeface="Arial" pitchFamily="34" charset="0"/>
                <a:ea typeface="Arial" pitchFamily="34" charset="-122"/>
                <a:cs typeface="Arial" pitchFamily="34" charset="-120"/>
              </a:rPr>
              <a:t>Op</a:t>
            </a:r>
            <a:endParaRPr lang="en-US" sz="960" dirty="0"/>
          </a:p>
        </p:txBody>
      </p:sp>
      <p:sp>
        <p:nvSpPr>
          <p:cNvPr id="36" name="Shape 33"/>
          <p:cNvSpPr/>
          <p:nvPr/>
        </p:nvSpPr>
        <p:spPr>
          <a:xfrm>
            <a:off x="3332988" y="4152820"/>
            <a:ext cx="868680" cy="329184"/>
          </a:xfrm>
          <a:prstGeom prst="rect">
            <a:avLst/>
          </a:prstGeom>
          <a:solidFill>
            <a:srgbClr val="00245D"/>
          </a:solidFill>
          <a:ln w="6350">
            <a:solidFill>
              <a:srgbClr val="D9E2F3"/>
            </a:solidFill>
            <a:prstDash val="solid"/>
          </a:ln>
        </p:spPr>
        <p:txBody>
          <a:bodyPr/>
          <a:lstStyle/>
          <a:p>
            <a:endParaRPr lang="ko-KR" altLang="en-US"/>
          </a:p>
        </p:txBody>
      </p:sp>
      <p:sp>
        <p:nvSpPr>
          <p:cNvPr id="37" name="Text 34"/>
          <p:cNvSpPr/>
          <p:nvPr/>
        </p:nvSpPr>
        <p:spPr>
          <a:xfrm>
            <a:off x="3369564" y="4271692"/>
            <a:ext cx="795528" cy="146304"/>
          </a:xfrm>
          <a:prstGeom prst="rect">
            <a:avLst/>
          </a:prstGeom>
          <a:noFill/>
          <a:ln/>
        </p:spPr>
        <p:txBody>
          <a:bodyPr wrap="square" lIns="0" tIns="0" rIns="0" bIns="0" rtlCol="0" anchor="ctr">
            <a:normAutofit/>
          </a:bodyPr>
          <a:lstStyle/>
          <a:p>
            <a:pPr marL="0" indent="0" algn="ctr">
              <a:buNone/>
            </a:pPr>
            <a:r>
              <a:rPr lang="en-US" sz="960" b="1" dirty="0">
                <a:solidFill>
                  <a:srgbClr val="FFFFFF"/>
                </a:solidFill>
                <a:latin typeface="Arial" pitchFamily="34" charset="0"/>
                <a:ea typeface="Arial" pitchFamily="34" charset="-122"/>
                <a:cs typeface="Arial" pitchFamily="34" charset="-120"/>
              </a:rPr>
              <a:t>Bsig</a:t>
            </a:r>
            <a:endParaRPr lang="en-US" sz="960" dirty="0"/>
          </a:p>
        </p:txBody>
      </p:sp>
      <p:sp>
        <p:nvSpPr>
          <p:cNvPr id="38" name="Shape 35"/>
          <p:cNvSpPr/>
          <p:nvPr/>
        </p:nvSpPr>
        <p:spPr>
          <a:xfrm>
            <a:off x="4201668" y="4152820"/>
            <a:ext cx="1417320" cy="329184"/>
          </a:xfrm>
          <a:prstGeom prst="rect">
            <a:avLst/>
          </a:prstGeom>
          <a:solidFill>
            <a:srgbClr val="00245D"/>
          </a:solidFill>
          <a:ln w="6350">
            <a:solidFill>
              <a:srgbClr val="D9E2F3"/>
            </a:solidFill>
            <a:prstDash val="solid"/>
          </a:ln>
        </p:spPr>
        <p:txBody>
          <a:bodyPr/>
          <a:lstStyle/>
          <a:p>
            <a:endParaRPr lang="ko-KR" altLang="en-US"/>
          </a:p>
        </p:txBody>
      </p:sp>
      <p:sp>
        <p:nvSpPr>
          <p:cNvPr id="39" name="Text 36"/>
          <p:cNvSpPr/>
          <p:nvPr/>
        </p:nvSpPr>
        <p:spPr>
          <a:xfrm>
            <a:off x="4238244" y="4271692"/>
            <a:ext cx="1344168" cy="146304"/>
          </a:xfrm>
          <a:prstGeom prst="rect">
            <a:avLst/>
          </a:prstGeom>
          <a:noFill/>
          <a:ln/>
        </p:spPr>
        <p:txBody>
          <a:bodyPr wrap="square" lIns="0" tIns="0" rIns="0" bIns="0" rtlCol="0" anchor="ctr">
            <a:normAutofit/>
          </a:bodyPr>
          <a:lstStyle/>
          <a:p>
            <a:pPr marL="0" indent="0" algn="ctr">
              <a:buNone/>
            </a:pPr>
            <a:r>
              <a:rPr lang="en-US" sz="960" b="1" dirty="0">
                <a:solidFill>
                  <a:srgbClr val="FFFFFF"/>
                </a:solidFill>
                <a:latin typeface="Arial" pitchFamily="34" charset="0"/>
                <a:ea typeface="Arial" pitchFamily="34" charset="-122"/>
                <a:cs typeface="Arial" pitchFamily="34" charset="-120"/>
              </a:rPr>
              <a:t>Contribution</a:t>
            </a:r>
            <a:endParaRPr lang="en-US" sz="960" dirty="0"/>
          </a:p>
        </p:txBody>
      </p:sp>
      <p:sp>
        <p:nvSpPr>
          <p:cNvPr id="40" name="Shape 37"/>
          <p:cNvSpPr/>
          <p:nvPr/>
        </p:nvSpPr>
        <p:spPr>
          <a:xfrm>
            <a:off x="1229868" y="4482004"/>
            <a:ext cx="1234440" cy="329184"/>
          </a:xfrm>
          <a:prstGeom prst="rect">
            <a:avLst/>
          </a:prstGeom>
          <a:solidFill>
            <a:srgbClr val="FFFFFF"/>
          </a:solidFill>
          <a:ln w="6350">
            <a:solidFill>
              <a:srgbClr val="D9E2F3"/>
            </a:solidFill>
            <a:prstDash val="solid"/>
          </a:ln>
        </p:spPr>
        <p:txBody>
          <a:bodyPr/>
          <a:lstStyle/>
          <a:p>
            <a:endParaRPr lang="ko-KR" altLang="en-US"/>
          </a:p>
        </p:txBody>
      </p:sp>
      <p:sp>
        <p:nvSpPr>
          <p:cNvPr id="41" name="Text 38"/>
          <p:cNvSpPr/>
          <p:nvPr/>
        </p:nvSpPr>
        <p:spPr>
          <a:xfrm>
            <a:off x="1275588" y="4600876"/>
            <a:ext cx="1143000" cy="146304"/>
          </a:xfrm>
          <a:prstGeom prst="rect">
            <a:avLst/>
          </a:prstGeom>
          <a:noFill/>
          <a:ln/>
        </p:spPr>
        <p:txBody>
          <a:bodyPr wrap="square" lIns="0" tIns="0" rIns="0" bIns="0" rtlCol="0" anchor="ctr">
            <a:normAutofit/>
          </a:bodyPr>
          <a:lstStyle/>
          <a:p>
            <a:pPr marL="0" indent="0" algn="ctr">
              <a:buNone/>
            </a:pPr>
            <a:r>
              <a:rPr lang="en-US" sz="960" b="1" dirty="0">
                <a:solidFill>
                  <a:srgbClr val="222222"/>
                </a:solidFill>
                <a:latin typeface="Arial" pitchFamily="34" charset="0"/>
                <a:ea typeface="Arial" pitchFamily="34" charset="-122"/>
                <a:cs typeface="Arial" pitchFamily="34" charset="-120"/>
              </a:rPr>
              <a:t>010</a:t>
            </a:r>
            <a:endParaRPr lang="en-US" sz="960" dirty="0"/>
          </a:p>
        </p:txBody>
      </p:sp>
      <p:sp>
        <p:nvSpPr>
          <p:cNvPr id="42" name="Shape 39"/>
          <p:cNvSpPr/>
          <p:nvPr/>
        </p:nvSpPr>
        <p:spPr>
          <a:xfrm>
            <a:off x="2464308" y="4482004"/>
            <a:ext cx="868680" cy="329184"/>
          </a:xfrm>
          <a:prstGeom prst="rect">
            <a:avLst/>
          </a:prstGeom>
          <a:solidFill>
            <a:srgbClr val="FFFFFF"/>
          </a:solidFill>
          <a:ln w="6350">
            <a:solidFill>
              <a:srgbClr val="D9E2F3"/>
            </a:solidFill>
            <a:prstDash val="solid"/>
          </a:ln>
        </p:spPr>
        <p:txBody>
          <a:bodyPr/>
          <a:lstStyle/>
          <a:p>
            <a:endParaRPr lang="ko-KR" altLang="en-US"/>
          </a:p>
        </p:txBody>
      </p:sp>
      <p:sp>
        <p:nvSpPr>
          <p:cNvPr id="43" name="Text 40"/>
          <p:cNvSpPr/>
          <p:nvPr/>
        </p:nvSpPr>
        <p:spPr>
          <a:xfrm>
            <a:off x="2510028" y="4600876"/>
            <a:ext cx="777240" cy="146304"/>
          </a:xfrm>
          <a:prstGeom prst="rect">
            <a:avLst/>
          </a:prstGeom>
          <a:noFill/>
          <a:ln/>
        </p:spPr>
        <p:txBody>
          <a:bodyPr wrap="square" lIns="0" tIns="0" rIns="0" bIns="0" rtlCol="0" anchor="ctr">
            <a:normAutofit/>
          </a:bodyPr>
          <a:lstStyle/>
          <a:p>
            <a:pPr marL="0" indent="0" algn="ctr">
              <a:buNone/>
            </a:pPr>
            <a:r>
              <a:rPr lang="en-US" sz="960" dirty="0">
                <a:solidFill>
                  <a:srgbClr val="222222"/>
                </a:solidFill>
                <a:latin typeface="Arial" pitchFamily="34" charset="0"/>
                <a:ea typeface="Arial" pitchFamily="34" charset="-122"/>
                <a:cs typeface="Arial" pitchFamily="34" charset="-120"/>
              </a:rPr>
              <a:t>+x</a:t>
            </a:r>
            <a:endParaRPr lang="en-US" sz="960" dirty="0"/>
          </a:p>
        </p:txBody>
      </p:sp>
      <p:sp>
        <p:nvSpPr>
          <p:cNvPr id="44" name="Shape 41"/>
          <p:cNvSpPr/>
          <p:nvPr/>
        </p:nvSpPr>
        <p:spPr>
          <a:xfrm>
            <a:off x="3332988" y="4482004"/>
            <a:ext cx="868680" cy="329184"/>
          </a:xfrm>
          <a:prstGeom prst="rect">
            <a:avLst/>
          </a:prstGeom>
          <a:solidFill>
            <a:srgbClr val="FFFFFF"/>
          </a:solidFill>
          <a:ln w="6350">
            <a:solidFill>
              <a:srgbClr val="D9E2F3"/>
            </a:solidFill>
            <a:prstDash val="solid"/>
          </a:ln>
        </p:spPr>
        <p:txBody>
          <a:bodyPr/>
          <a:lstStyle/>
          <a:p>
            <a:endParaRPr lang="ko-KR" altLang="en-US"/>
          </a:p>
        </p:txBody>
      </p:sp>
      <p:sp>
        <p:nvSpPr>
          <p:cNvPr id="45" name="Text 42"/>
          <p:cNvSpPr/>
          <p:nvPr/>
        </p:nvSpPr>
        <p:spPr>
          <a:xfrm>
            <a:off x="3378708" y="4600876"/>
            <a:ext cx="777240" cy="146304"/>
          </a:xfrm>
          <a:prstGeom prst="rect">
            <a:avLst/>
          </a:prstGeom>
          <a:noFill/>
          <a:ln/>
        </p:spPr>
        <p:txBody>
          <a:bodyPr wrap="square" lIns="0" tIns="0" rIns="0" bIns="0" rtlCol="0" anchor="ctr">
            <a:normAutofit/>
          </a:bodyPr>
          <a:lstStyle/>
          <a:p>
            <a:pPr marL="0" indent="0" algn="ctr">
              <a:buNone/>
            </a:pPr>
            <a:r>
              <a:rPr lang="en-US" sz="960" dirty="0">
                <a:solidFill>
                  <a:srgbClr val="222222"/>
                </a:solidFill>
                <a:latin typeface="Arial" pitchFamily="34" charset="0"/>
                <a:ea typeface="Arial" pitchFamily="34" charset="-122"/>
                <a:cs typeface="Arial" pitchFamily="34" charset="-120"/>
              </a:rPr>
              <a:t>0</a:t>
            </a:r>
            <a:endParaRPr lang="en-US" sz="960" dirty="0"/>
          </a:p>
        </p:txBody>
      </p:sp>
      <p:sp>
        <p:nvSpPr>
          <p:cNvPr id="46" name="Shape 43"/>
          <p:cNvSpPr/>
          <p:nvPr/>
        </p:nvSpPr>
        <p:spPr>
          <a:xfrm>
            <a:off x="4201668" y="4482004"/>
            <a:ext cx="1417320" cy="329184"/>
          </a:xfrm>
          <a:prstGeom prst="rect">
            <a:avLst/>
          </a:prstGeom>
          <a:solidFill>
            <a:srgbClr val="FFFFFF"/>
          </a:solidFill>
          <a:ln w="6350">
            <a:solidFill>
              <a:srgbClr val="D9E2F3"/>
            </a:solidFill>
            <a:prstDash val="solid"/>
          </a:ln>
        </p:spPr>
        <p:txBody>
          <a:bodyPr/>
          <a:lstStyle/>
          <a:p>
            <a:endParaRPr lang="ko-KR" altLang="en-US"/>
          </a:p>
        </p:txBody>
      </p:sp>
      <p:sp>
        <p:nvSpPr>
          <p:cNvPr id="47" name="Text 44"/>
          <p:cNvSpPr/>
          <p:nvPr/>
        </p:nvSpPr>
        <p:spPr>
          <a:xfrm>
            <a:off x="4247388" y="4600876"/>
            <a:ext cx="1325880" cy="146304"/>
          </a:xfrm>
          <a:prstGeom prst="rect">
            <a:avLst/>
          </a:prstGeom>
          <a:noFill/>
          <a:ln/>
        </p:spPr>
        <p:txBody>
          <a:bodyPr wrap="square" lIns="0" tIns="0" rIns="0" bIns="0" rtlCol="0" anchor="ctr">
            <a:normAutofit/>
          </a:bodyPr>
          <a:lstStyle/>
          <a:p>
            <a:pPr marL="0" indent="0" algn="ctr">
              <a:buNone/>
            </a:pPr>
            <a:r>
              <a:rPr lang="en-US" sz="960" dirty="0">
                <a:solidFill>
                  <a:srgbClr val="222222"/>
                </a:solidFill>
                <a:latin typeface="Arial" pitchFamily="34" charset="0"/>
                <a:ea typeface="Arial" pitchFamily="34" charset="-122"/>
                <a:cs typeface="Arial" pitchFamily="34" charset="-120"/>
              </a:rPr>
              <a:t>+1</a:t>
            </a:r>
            <a:endParaRPr lang="en-US" sz="960" dirty="0"/>
          </a:p>
        </p:txBody>
      </p:sp>
      <p:sp>
        <p:nvSpPr>
          <p:cNvPr id="48" name="Shape 45"/>
          <p:cNvSpPr/>
          <p:nvPr/>
        </p:nvSpPr>
        <p:spPr>
          <a:xfrm>
            <a:off x="1229868" y="4811188"/>
            <a:ext cx="1234440" cy="329184"/>
          </a:xfrm>
          <a:prstGeom prst="rect">
            <a:avLst/>
          </a:prstGeom>
          <a:solidFill>
            <a:srgbClr val="F5F7FA"/>
          </a:solidFill>
          <a:ln w="6350">
            <a:solidFill>
              <a:srgbClr val="D9E2F3"/>
            </a:solidFill>
            <a:prstDash val="solid"/>
          </a:ln>
        </p:spPr>
        <p:txBody>
          <a:bodyPr/>
          <a:lstStyle/>
          <a:p>
            <a:endParaRPr lang="ko-KR" altLang="en-US"/>
          </a:p>
        </p:txBody>
      </p:sp>
      <p:sp>
        <p:nvSpPr>
          <p:cNvPr id="49" name="Text 46"/>
          <p:cNvSpPr/>
          <p:nvPr/>
        </p:nvSpPr>
        <p:spPr>
          <a:xfrm>
            <a:off x="1275588" y="4930060"/>
            <a:ext cx="1143000" cy="146304"/>
          </a:xfrm>
          <a:prstGeom prst="rect">
            <a:avLst/>
          </a:prstGeom>
          <a:noFill/>
          <a:ln/>
        </p:spPr>
        <p:txBody>
          <a:bodyPr wrap="square" lIns="0" tIns="0" rIns="0" bIns="0" rtlCol="0" anchor="ctr">
            <a:normAutofit/>
          </a:bodyPr>
          <a:lstStyle/>
          <a:p>
            <a:pPr marL="0" indent="0" algn="ctr">
              <a:buNone/>
            </a:pPr>
            <a:r>
              <a:rPr lang="en-US" sz="960" b="1" dirty="0">
                <a:solidFill>
                  <a:srgbClr val="222222"/>
                </a:solidFill>
                <a:latin typeface="Arial" pitchFamily="34" charset="0"/>
                <a:ea typeface="Arial" pitchFamily="34" charset="-122"/>
                <a:cs typeface="Arial" pitchFamily="34" charset="-120"/>
              </a:rPr>
              <a:t>010</a:t>
            </a:r>
            <a:endParaRPr lang="en-US" sz="960" dirty="0"/>
          </a:p>
        </p:txBody>
      </p:sp>
      <p:sp>
        <p:nvSpPr>
          <p:cNvPr id="50" name="Shape 47"/>
          <p:cNvSpPr/>
          <p:nvPr/>
        </p:nvSpPr>
        <p:spPr>
          <a:xfrm>
            <a:off x="2464308" y="4811188"/>
            <a:ext cx="868680" cy="329184"/>
          </a:xfrm>
          <a:prstGeom prst="rect">
            <a:avLst/>
          </a:prstGeom>
          <a:solidFill>
            <a:srgbClr val="F5F7FA"/>
          </a:solidFill>
          <a:ln w="6350">
            <a:solidFill>
              <a:srgbClr val="D9E2F3"/>
            </a:solidFill>
            <a:prstDash val="solid"/>
          </a:ln>
        </p:spPr>
        <p:txBody>
          <a:bodyPr/>
          <a:lstStyle/>
          <a:p>
            <a:endParaRPr lang="ko-KR" altLang="en-US"/>
          </a:p>
        </p:txBody>
      </p:sp>
      <p:sp>
        <p:nvSpPr>
          <p:cNvPr id="51" name="Text 48"/>
          <p:cNvSpPr/>
          <p:nvPr/>
        </p:nvSpPr>
        <p:spPr>
          <a:xfrm>
            <a:off x="2510028" y="4930060"/>
            <a:ext cx="777240" cy="146304"/>
          </a:xfrm>
          <a:prstGeom prst="rect">
            <a:avLst/>
          </a:prstGeom>
          <a:noFill/>
          <a:ln/>
        </p:spPr>
        <p:txBody>
          <a:bodyPr wrap="square" lIns="0" tIns="0" rIns="0" bIns="0" rtlCol="0" anchor="ctr">
            <a:normAutofit/>
          </a:bodyPr>
          <a:lstStyle/>
          <a:p>
            <a:pPr marL="0" indent="0" algn="ctr">
              <a:buNone/>
            </a:pPr>
            <a:r>
              <a:rPr lang="en-US" sz="960" dirty="0">
                <a:solidFill>
                  <a:srgbClr val="222222"/>
                </a:solidFill>
                <a:latin typeface="Arial" pitchFamily="34" charset="0"/>
                <a:ea typeface="Arial" pitchFamily="34" charset="-122"/>
                <a:cs typeface="Arial" pitchFamily="34" charset="-120"/>
              </a:rPr>
              <a:t>+x</a:t>
            </a:r>
            <a:endParaRPr lang="en-US" sz="960" dirty="0"/>
          </a:p>
        </p:txBody>
      </p:sp>
      <p:sp>
        <p:nvSpPr>
          <p:cNvPr id="52" name="Shape 49"/>
          <p:cNvSpPr/>
          <p:nvPr/>
        </p:nvSpPr>
        <p:spPr>
          <a:xfrm>
            <a:off x="3332988" y="4811188"/>
            <a:ext cx="868680" cy="329184"/>
          </a:xfrm>
          <a:prstGeom prst="rect">
            <a:avLst/>
          </a:prstGeom>
          <a:solidFill>
            <a:srgbClr val="F5F7FA"/>
          </a:solidFill>
          <a:ln w="6350">
            <a:solidFill>
              <a:srgbClr val="D9E2F3"/>
            </a:solidFill>
            <a:prstDash val="solid"/>
          </a:ln>
        </p:spPr>
        <p:txBody>
          <a:bodyPr/>
          <a:lstStyle/>
          <a:p>
            <a:endParaRPr lang="ko-KR" altLang="en-US"/>
          </a:p>
        </p:txBody>
      </p:sp>
      <p:sp>
        <p:nvSpPr>
          <p:cNvPr id="53" name="Text 50"/>
          <p:cNvSpPr/>
          <p:nvPr/>
        </p:nvSpPr>
        <p:spPr>
          <a:xfrm>
            <a:off x="3378708" y="4930060"/>
            <a:ext cx="777240" cy="146304"/>
          </a:xfrm>
          <a:prstGeom prst="rect">
            <a:avLst/>
          </a:prstGeom>
          <a:noFill/>
          <a:ln/>
        </p:spPr>
        <p:txBody>
          <a:bodyPr wrap="square" lIns="0" tIns="0" rIns="0" bIns="0" rtlCol="0" anchor="ctr">
            <a:normAutofit/>
          </a:bodyPr>
          <a:lstStyle/>
          <a:p>
            <a:pPr marL="0" indent="0" algn="ctr">
              <a:buNone/>
            </a:pPr>
            <a:r>
              <a:rPr lang="en-US" sz="960" dirty="0">
                <a:solidFill>
                  <a:srgbClr val="222222"/>
                </a:solidFill>
                <a:latin typeface="Arial" pitchFamily="34" charset="0"/>
                <a:ea typeface="Arial" pitchFamily="34" charset="-122"/>
                <a:cs typeface="Arial" pitchFamily="34" charset="-120"/>
              </a:rPr>
              <a:t>2</a:t>
            </a:r>
            <a:endParaRPr lang="en-US" sz="960" dirty="0"/>
          </a:p>
        </p:txBody>
      </p:sp>
      <p:sp>
        <p:nvSpPr>
          <p:cNvPr id="54" name="Shape 51"/>
          <p:cNvSpPr/>
          <p:nvPr/>
        </p:nvSpPr>
        <p:spPr>
          <a:xfrm>
            <a:off x="4201668" y="4811188"/>
            <a:ext cx="1417320" cy="329184"/>
          </a:xfrm>
          <a:prstGeom prst="rect">
            <a:avLst/>
          </a:prstGeom>
          <a:solidFill>
            <a:srgbClr val="F5F7FA"/>
          </a:solidFill>
          <a:ln w="6350">
            <a:solidFill>
              <a:srgbClr val="D9E2F3"/>
            </a:solidFill>
            <a:prstDash val="solid"/>
          </a:ln>
        </p:spPr>
        <p:txBody>
          <a:bodyPr/>
          <a:lstStyle/>
          <a:p>
            <a:endParaRPr lang="ko-KR" altLang="en-US"/>
          </a:p>
        </p:txBody>
      </p:sp>
      <p:sp>
        <p:nvSpPr>
          <p:cNvPr id="55" name="Text 52"/>
          <p:cNvSpPr/>
          <p:nvPr/>
        </p:nvSpPr>
        <p:spPr>
          <a:xfrm>
            <a:off x="4247388" y="4930060"/>
            <a:ext cx="1325880" cy="146304"/>
          </a:xfrm>
          <a:prstGeom prst="rect">
            <a:avLst/>
          </a:prstGeom>
          <a:noFill/>
          <a:ln/>
        </p:spPr>
        <p:txBody>
          <a:bodyPr wrap="square" lIns="0" tIns="0" rIns="0" bIns="0" rtlCol="0" anchor="ctr">
            <a:normAutofit/>
          </a:bodyPr>
          <a:lstStyle/>
          <a:p>
            <a:pPr marL="0" indent="0" algn="ctr">
              <a:buNone/>
            </a:pPr>
            <a:r>
              <a:rPr lang="en-US" sz="960" dirty="0">
                <a:solidFill>
                  <a:srgbClr val="222222"/>
                </a:solidFill>
                <a:latin typeface="Arial" pitchFamily="34" charset="0"/>
                <a:ea typeface="Arial" pitchFamily="34" charset="-122"/>
                <a:cs typeface="Arial" pitchFamily="34" charset="-120"/>
              </a:rPr>
              <a:t>+4</a:t>
            </a:r>
            <a:endParaRPr lang="en-US" sz="960" dirty="0"/>
          </a:p>
        </p:txBody>
      </p:sp>
      <p:sp>
        <p:nvSpPr>
          <p:cNvPr id="56" name="Shape 53"/>
          <p:cNvSpPr/>
          <p:nvPr/>
        </p:nvSpPr>
        <p:spPr>
          <a:xfrm>
            <a:off x="1229868" y="5140372"/>
            <a:ext cx="1234440" cy="329184"/>
          </a:xfrm>
          <a:prstGeom prst="rect">
            <a:avLst/>
          </a:prstGeom>
          <a:solidFill>
            <a:srgbClr val="FFFFFF"/>
          </a:solidFill>
          <a:ln w="6350">
            <a:solidFill>
              <a:srgbClr val="D9E2F3"/>
            </a:solidFill>
            <a:prstDash val="solid"/>
          </a:ln>
        </p:spPr>
        <p:txBody>
          <a:bodyPr/>
          <a:lstStyle/>
          <a:p>
            <a:endParaRPr lang="ko-KR" altLang="en-US"/>
          </a:p>
        </p:txBody>
      </p:sp>
      <p:sp>
        <p:nvSpPr>
          <p:cNvPr id="57" name="Text 54"/>
          <p:cNvSpPr/>
          <p:nvPr/>
        </p:nvSpPr>
        <p:spPr>
          <a:xfrm>
            <a:off x="1275588" y="5259244"/>
            <a:ext cx="1143000" cy="146304"/>
          </a:xfrm>
          <a:prstGeom prst="rect">
            <a:avLst/>
          </a:prstGeom>
          <a:noFill/>
          <a:ln/>
        </p:spPr>
        <p:txBody>
          <a:bodyPr wrap="square" lIns="0" tIns="0" rIns="0" bIns="0" rtlCol="0" anchor="ctr">
            <a:normAutofit/>
          </a:bodyPr>
          <a:lstStyle/>
          <a:p>
            <a:pPr marL="0" indent="0" algn="ctr">
              <a:buNone/>
            </a:pPr>
            <a:r>
              <a:rPr lang="en-US" sz="960" b="1" dirty="0">
                <a:solidFill>
                  <a:srgbClr val="222222"/>
                </a:solidFill>
                <a:latin typeface="Arial" pitchFamily="34" charset="0"/>
                <a:ea typeface="Arial" pitchFamily="34" charset="-122"/>
                <a:cs typeface="Arial" pitchFamily="34" charset="-120"/>
              </a:rPr>
              <a:t>010</a:t>
            </a:r>
            <a:endParaRPr lang="en-US" sz="960" dirty="0"/>
          </a:p>
        </p:txBody>
      </p:sp>
      <p:sp>
        <p:nvSpPr>
          <p:cNvPr id="58" name="Shape 55"/>
          <p:cNvSpPr/>
          <p:nvPr/>
        </p:nvSpPr>
        <p:spPr>
          <a:xfrm>
            <a:off x="2464308" y="5140372"/>
            <a:ext cx="868680" cy="329184"/>
          </a:xfrm>
          <a:prstGeom prst="rect">
            <a:avLst/>
          </a:prstGeom>
          <a:solidFill>
            <a:srgbClr val="FFFFFF"/>
          </a:solidFill>
          <a:ln w="6350">
            <a:solidFill>
              <a:srgbClr val="D9E2F3"/>
            </a:solidFill>
            <a:prstDash val="solid"/>
          </a:ln>
        </p:spPr>
        <p:txBody>
          <a:bodyPr/>
          <a:lstStyle/>
          <a:p>
            <a:endParaRPr lang="ko-KR" altLang="en-US"/>
          </a:p>
        </p:txBody>
      </p:sp>
      <p:sp>
        <p:nvSpPr>
          <p:cNvPr id="59" name="Text 56"/>
          <p:cNvSpPr/>
          <p:nvPr/>
        </p:nvSpPr>
        <p:spPr>
          <a:xfrm>
            <a:off x="2510028" y="5259244"/>
            <a:ext cx="777240" cy="146304"/>
          </a:xfrm>
          <a:prstGeom prst="rect">
            <a:avLst/>
          </a:prstGeom>
          <a:noFill/>
          <a:ln/>
        </p:spPr>
        <p:txBody>
          <a:bodyPr wrap="square" lIns="0" tIns="0" rIns="0" bIns="0" rtlCol="0" anchor="ctr">
            <a:normAutofit/>
          </a:bodyPr>
          <a:lstStyle/>
          <a:p>
            <a:pPr marL="0" indent="0" algn="ctr">
              <a:buNone/>
            </a:pPr>
            <a:r>
              <a:rPr lang="en-US" sz="960" dirty="0">
                <a:solidFill>
                  <a:srgbClr val="222222"/>
                </a:solidFill>
                <a:latin typeface="Arial" pitchFamily="34" charset="0"/>
                <a:ea typeface="Arial" pitchFamily="34" charset="-122"/>
                <a:cs typeface="Arial" pitchFamily="34" charset="-120"/>
              </a:rPr>
              <a:t>+x</a:t>
            </a:r>
            <a:endParaRPr lang="en-US" sz="960" dirty="0"/>
          </a:p>
        </p:txBody>
      </p:sp>
      <p:sp>
        <p:nvSpPr>
          <p:cNvPr id="60" name="Shape 57"/>
          <p:cNvSpPr/>
          <p:nvPr/>
        </p:nvSpPr>
        <p:spPr>
          <a:xfrm>
            <a:off x="3332988" y="5140372"/>
            <a:ext cx="868680" cy="329184"/>
          </a:xfrm>
          <a:prstGeom prst="rect">
            <a:avLst/>
          </a:prstGeom>
          <a:solidFill>
            <a:srgbClr val="FFFFFF"/>
          </a:solidFill>
          <a:ln w="6350">
            <a:solidFill>
              <a:srgbClr val="D9E2F3"/>
            </a:solidFill>
            <a:prstDash val="solid"/>
          </a:ln>
        </p:spPr>
        <p:txBody>
          <a:bodyPr/>
          <a:lstStyle/>
          <a:p>
            <a:endParaRPr lang="ko-KR" altLang="en-US"/>
          </a:p>
        </p:txBody>
      </p:sp>
      <p:sp>
        <p:nvSpPr>
          <p:cNvPr id="61" name="Text 58"/>
          <p:cNvSpPr/>
          <p:nvPr/>
        </p:nvSpPr>
        <p:spPr>
          <a:xfrm>
            <a:off x="3378708" y="5259244"/>
            <a:ext cx="777240" cy="146304"/>
          </a:xfrm>
          <a:prstGeom prst="rect">
            <a:avLst/>
          </a:prstGeom>
          <a:noFill/>
          <a:ln/>
        </p:spPr>
        <p:txBody>
          <a:bodyPr wrap="square" lIns="0" tIns="0" rIns="0" bIns="0" rtlCol="0" anchor="ctr">
            <a:normAutofit/>
          </a:bodyPr>
          <a:lstStyle/>
          <a:p>
            <a:pPr marL="0" indent="0" algn="ctr">
              <a:buNone/>
            </a:pPr>
            <a:r>
              <a:rPr lang="en-US" sz="960" dirty="0">
                <a:solidFill>
                  <a:srgbClr val="222222"/>
                </a:solidFill>
                <a:latin typeface="Arial" pitchFamily="34" charset="0"/>
                <a:ea typeface="Arial" pitchFamily="34" charset="-122"/>
                <a:cs typeface="Arial" pitchFamily="34" charset="-120"/>
              </a:rPr>
              <a:t>4</a:t>
            </a:r>
            <a:endParaRPr lang="en-US" sz="960" dirty="0"/>
          </a:p>
        </p:txBody>
      </p:sp>
      <p:sp>
        <p:nvSpPr>
          <p:cNvPr id="62" name="Shape 59"/>
          <p:cNvSpPr/>
          <p:nvPr/>
        </p:nvSpPr>
        <p:spPr>
          <a:xfrm>
            <a:off x="4201668" y="5140372"/>
            <a:ext cx="1417320" cy="329184"/>
          </a:xfrm>
          <a:prstGeom prst="rect">
            <a:avLst/>
          </a:prstGeom>
          <a:solidFill>
            <a:srgbClr val="FFFFFF"/>
          </a:solidFill>
          <a:ln w="6350">
            <a:solidFill>
              <a:srgbClr val="D9E2F3"/>
            </a:solidFill>
            <a:prstDash val="solid"/>
          </a:ln>
        </p:spPr>
        <p:txBody>
          <a:bodyPr/>
          <a:lstStyle/>
          <a:p>
            <a:endParaRPr lang="ko-KR" altLang="en-US"/>
          </a:p>
        </p:txBody>
      </p:sp>
      <p:sp>
        <p:nvSpPr>
          <p:cNvPr id="63" name="Text 60"/>
          <p:cNvSpPr/>
          <p:nvPr/>
        </p:nvSpPr>
        <p:spPr>
          <a:xfrm>
            <a:off x="4247388" y="5259244"/>
            <a:ext cx="1325880" cy="146304"/>
          </a:xfrm>
          <a:prstGeom prst="rect">
            <a:avLst/>
          </a:prstGeom>
          <a:noFill/>
          <a:ln/>
        </p:spPr>
        <p:txBody>
          <a:bodyPr wrap="square" lIns="0" tIns="0" rIns="0" bIns="0" rtlCol="0" anchor="ctr">
            <a:normAutofit/>
          </a:bodyPr>
          <a:lstStyle/>
          <a:p>
            <a:pPr marL="0" indent="0" algn="ctr">
              <a:buNone/>
            </a:pPr>
            <a:r>
              <a:rPr lang="en-US" sz="960" dirty="0">
                <a:solidFill>
                  <a:srgbClr val="222222"/>
                </a:solidFill>
                <a:latin typeface="Arial" pitchFamily="34" charset="0"/>
                <a:ea typeface="Arial" pitchFamily="34" charset="-122"/>
                <a:cs typeface="Arial" pitchFamily="34" charset="-120"/>
              </a:rPr>
              <a:t>+16</a:t>
            </a:r>
            <a:endParaRPr lang="en-US" sz="960" dirty="0"/>
          </a:p>
        </p:txBody>
      </p:sp>
      <p:sp>
        <p:nvSpPr>
          <p:cNvPr id="64" name="Shape 61"/>
          <p:cNvSpPr/>
          <p:nvPr/>
        </p:nvSpPr>
        <p:spPr>
          <a:xfrm>
            <a:off x="6492240" y="1463040"/>
            <a:ext cx="4709160" cy="4370832"/>
          </a:xfrm>
          <a:prstGeom prst="roundRect">
            <a:avLst>
              <a:gd name="adj" fmla="val 1519"/>
            </a:avLst>
          </a:prstGeom>
          <a:solidFill>
            <a:srgbClr val="E2F0D9"/>
          </a:solidFill>
          <a:ln w="13335">
            <a:solidFill>
              <a:srgbClr val="548235"/>
            </a:solidFill>
            <a:prstDash val="solid"/>
          </a:ln>
        </p:spPr>
        <p:txBody>
          <a:bodyPr/>
          <a:lstStyle/>
          <a:p>
            <a:endParaRPr lang="ko-KR" altLang="en-US"/>
          </a:p>
        </p:txBody>
      </p:sp>
      <p:sp>
        <p:nvSpPr>
          <p:cNvPr id="65" name="Text 62"/>
          <p:cNvSpPr/>
          <p:nvPr/>
        </p:nvSpPr>
        <p:spPr>
          <a:xfrm>
            <a:off x="6656832" y="1572768"/>
            <a:ext cx="43799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Result</a:t>
            </a:r>
            <a:endParaRPr lang="en-US" sz="1200" dirty="0"/>
          </a:p>
        </p:txBody>
      </p:sp>
      <p:sp>
        <p:nvSpPr>
          <p:cNvPr id="66" name="Text 63"/>
          <p:cNvSpPr/>
          <p:nvPr/>
        </p:nvSpPr>
        <p:spPr>
          <a:xfrm>
            <a:off x="6903720" y="1965960"/>
            <a:ext cx="3886200" cy="502920"/>
          </a:xfrm>
          <a:prstGeom prst="rect">
            <a:avLst/>
          </a:prstGeom>
          <a:noFill/>
          <a:ln/>
        </p:spPr>
        <p:txBody>
          <a:bodyPr wrap="square" lIns="0" tIns="0" rIns="0" bIns="0" rtlCol="0" anchor="ctr">
            <a:normAutofit/>
          </a:bodyPr>
          <a:lstStyle/>
          <a:p>
            <a:pPr marL="0" indent="0" algn="ctr">
              <a:buNone/>
            </a:pPr>
            <a:r>
              <a:rPr lang="en-US" sz="2100" b="1" dirty="0">
                <a:solidFill>
                  <a:srgbClr val="548235"/>
                </a:solidFill>
                <a:latin typeface="Cambria Math" pitchFamily="34" charset="0"/>
                <a:ea typeface="Cambria Math" pitchFamily="34" charset="-122"/>
                <a:cs typeface="Cambria Math" pitchFamily="34" charset="-120"/>
              </a:rPr>
              <a:t>21 = +16 +4 +1</a:t>
            </a:r>
            <a:endParaRPr lang="en-US" sz="2100" dirty="0"/>
          </a:p>
        </p:txBody>
      </p:sp>
      <p:sp>
        <p:nvSpPr>
          <p:cNvPr id="67" name="Text 64"/>
          <p:cNvSpPr/>
          <p:nvPr/>
        </p:nvSpPr>
        <p:spPr>
          <a:xfrm>
            <a:off x="6903720" y="2788920"/>
            <a:ext cx="3886200" cy="365760"/>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Only </a:t>
            </a:r>
            <a:r>
              <a:rPr lang="en-US" sz="1200" b="1" dirty="0">
                <a:solidFill>
                  <a:srgbClr val="FF0000"/>
                </a:solidFill>
                <a:latin typeface="Arial" pitchFamily="34" charset="0"/>
                <a:ea typeface="Arial" pitchFamily="34" charset="-122"/>
                <a:cs typeface="Arial" pitchFamily="34" charset="-120"/>
              </a:rPr>
              <a:t>three terms </a:t>
            </a:r>
            <a:r>
              <a:rPr lang="en-US" sz="1200" b="1" dirty="0">
                <a:solidFill>
                  <a:srgbClr val="222222"/>
                </a:solidFill>
                <a:latin typeface="Arial" pitchFamily="34" charset="0"/>
                <a:ea typeface="Arial" pitchFamily="34" charset="-122"/>
                <a:cs typeface="Arial" pitchFamily="34" charset="-120"/>
              </a:rPr>
              <a:t>are required because INT6 has three radix-4 groups.</a:t>
            </a:r>
            <a:endParaRPr lang="en-US" sz="1200" dirty="0"/>
          </a:p>
        </p:txBody>
      </p:sp>
      <p:sp>
        <p:nvSpPr>
          <p:cNvPr id="68" name="Shape 65"/>
          <p:cNvSpPr/>
          <p:nvPr/>
        </p:nvSpPr>
        <p:spPr>
          <a:xfrm>
            <a:off x="6739128" y="3465576"/>
            <a:ext cx="1371600" cy="384048"/>
          </a:xfrm>
          <a:prstGeom prst="rect">
            <a:avLst/>
          </a:prstGeom>
          <a:solidFill>
            <a:srgbClr val="00245D"/>
          </a:solidFill>
          <a:ln w="6350">
            <a:solidFill>
              <a:srgbClr val="D9E2F3"/>
            </a:solidFill>
            <a:prstDash val="solid"/>
          </a:ln>
        </p:spPr>
        <p:txBody>
          <a:bodyPr/>
          <a:lstStyle/>
          <a:p>
            <a:endParaRPr lang="ko-KR" altLang="en-US"/>
          </a:p>
        </p:txBody>
      </p:sp>
      <p:sp>
        <p:nvSpPr>
          <p:cNvPr id="69" name="Text 66"/>
          <p:cNvSpPr/>
          <p:nvPr/>
        </p:nvSpPr>
        <p:spPr>
          <a:xfrm>
            <a:off x="6775704" y="3584448"/>
            <a:ext cx="129844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Data Type</a:t>
            </a:r>
            <a:endParaRPr lang="en-US" sz="1050" dirty="0"/>
          </a:p>
        </p:txBody>
      </p:sp>
      <p:sp>
        <p:nvSpPr>
          <p:cNvPr id="70" name="Shape 67"/>
          <p:cNvSpPr/>
          <p:nvPr/>
        </p:nvSpPr>
        <p:spPr>
          <a:xfrm>
            <a:off x="8110728" y="3465576"/>
            <a:ext cx="2011680" cy="384048"/>
          </a:xfrm>
          <a:prstGeom prst="rect">
            <a:avLst/>
          </a:prstGeom>
          <a:solidFill>
            <a:srgbClr val="00245D"/>
          </a:solidFill>
          <a:ln w="6350">
            <a:solidFill>
              <a:srgbClr val="D9E2F3"/>
            </a:solidFill>
            <a:prstDash val="solid"/>
          </a:ln>
        </p:spPr>
        <p:txBody>
          <a:bodyPr/>
          <a:lstStyle/>
          <a:p>
            <a:endParaRPr lang="ko-KR" altLang="en-US"/>
          </a:p>
        </p:txBody>
      </p:sp>
      <p:sp>
        <p:nvSpPr>
          <p:cNvPr id="71" name="Text 68"/>
          <p:cNvSpPr/>
          <p:nvPr/>
        </p:nvSpPr>
        <p:spPr>
          <a:xfrm>
            <a:off x="8147304" y="3584448"/>
            <a:ext cx="193852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Bsig values</a:t>
            </a:r>
            <a:endParaRPr lang="en-US" sz="1050" dirty="0"/>
          </a:p>
        </p:txBody>
      </p:sp>
      <p:sp>
        <p:nvSpPr>
          <p:cNvPr id="72" name="Shape 69"/>
          <p:cNvSpPr/>
          <p:nvPr/>
        </p:nvSpPr>
        <p:spPr>
          <a:xfrm>
            <a:off x="10122408" y="3465576"/>
            <a:ext cx="914400" cy="384048"/>
          </a:xfrm>
          <a:prstGeom prst="rect">
            <a:avLst/>
          </a:prstGeom>
          <a:solidFill>
            <a:srgbClr val="00245D"/>
          </a:solidFill>
          <a:ln w="6350">
            <a:solidFill>
              <a:srgbClr val="D9E2F3"/>
            </a:solidFill>
            <a:prstDash val="solid"/>
          </a:ln>
        </p:spPr>
        <p:txBody>
          <a:bodyPr/>
          <a:lstStyle/>
          <a:p>
            <a:endParaRPr lang="ko-KR" altLang="en-US"/>
          </a:p>
        </p:txBody>
      </p:sp>
      <p:sp>
        <p:nvSpPr>
          <p:cNvPr id="73" name="Text 70"/>
          <p:cNvSpPr/>
          <p:nvPr/>
        </p:nvSpPr>
        <p:spPr>
          <a:xfrm>
            <a:off x="10158984" y="3584448"/>
            <a:ext cx="84124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Terms</a:t>
            </a:r>
            <a:endParaRPr lang="en-US" sz="1050" dirty="0"/>
          </a:p>
        </p:txBody>
      </p:sp>
      <p:sp>
        <p:nvSpPr>
          <p:cNvPr id="74" name="Shape 71"/>
          <p:cNvSpPr/>
          <p:nvPr/>
        </p:nvSpPr>
        <p:spPr>
          <a:xfrm>
            <a:off x="6739128" y="3849624"/>
            <a:ext cx="1371600" cy="384048"/>
          </a:xfrm>
          <a:prstGeom prst="rect">
            <a:avLst/>
          </a:prstGeom>
          <a:solidFill>
            <a:srgbClr val="FFFFFF"/>
          </a:solidFill>
          <a:ln w="6350">
            <a:solidFill>
              <a:srgbClr val="D9E2F3"/>
            </a:solidFill>
            <a:prstDash val="solid"/>
          </a:ln>
        </p:spPr>
        <p:txBody>
          <a:bodyPr/>
          <a:lstStyle/>
          <a:p>
            <a:endParaRPr lang="ko-KR" altLang="en-US"/>
          </a:p>
        </p:txBody>
      </p:sp>
      <p:sp>
        <p:nvSpPr>
          <p:cNvPr id="75" name="Text 72"/>
          <p:cNvSpPr/>
          <p:nvPr/>
        </p:nvSpPr>
        <p:spPr>
          <a:xfrm>
            <a:off x="6784848" y="3968496"/>
            <a:ext cx="12801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INT8</a:t>
            </a:r>
            <a:endParaRPr lang="en-US" sz="1050" dirty="0"/>
          </a:p>
        </p:txBody>
      </p:sp>
      <p:sp>
        <p:nvSpPr>
          <p:cNvPr id="76" name="Shape 73"/>
          <p:cNvSpPr/>
          <p:nvPr/>
        </p:nvSpPr>
        <p:spPr>
          <a:xfrm>
            <a:off x="8110728" y="3849624"/>
            <a:ext cx="2011680" cy="384048"/>
          </a:xfrm>
          <a:prstGeom prst="rect">
            <a:avLst/>
          </a:prstGeom>
          <a:solidFill>
            <a:srgbClr val="FFFFFF"/>
          </a:solidFill>
          <a:ln w="6350">
            <a:solidFill>
              <a:srgbClr val="D9E2F3"/>
            </a:solidFill>
            <a:prstDash val="solid"/>
          </a:ln>
        </p:spPr>
        <p:txBody>
          <a:bodyPr/>
          <a:lstStyle/>
          <a:p>
            <a:endParaRPr lang="ko-KR" altLang="en-US"/>
          </a:p>
        </p:txBody>
      </p:sp>
      <p:sp>
        <p:nvSpPr>
          <p:cNvPr id="77" name="Text 74"/>
          <p:cNvSpPr/>
          <p:nvPr/>
        </p:nvSpPr>
        <p:spPr>
          <a:xfrm>
            <a:off x="8156448" y="3968496"/>
            <a:ext cx="19202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6, 4, 2, 0</a:t>
            </a:r>
            <a:endParaRPr lang="en-US" sz="1050" dirty="0"/>
          </a:p>
        </p:txBody>
      </p:sp>
      <p:sp>
        <p:nvSpPr>
          <p:cNvPr id="78" name="Shape 75"/>
          <p:cNvSpPr/>
          <p:nvPr/>
        </p:nvSpPr>
        <p:spPr>
          <a:xfrm>
            <a:off x="10122408" y="3849624"/>
            <a:ext cx="914400" cy="384048"/>
          </a:xfrm>
          <a:prstGeom prst="rect">
            <a:avLst/>
          </a:prstGeom>
          <a:solidFill>
            <a:srgbClr val="FFFFFF"/>
          </a:solidFill>
          <a:ln w="6350">
            <a:solidFill>
              <a:srgbClr val="D9E2F3"/>
            </a:solidFill>
            <a:prstDash val="solid"/>
          </a:ln>
        </p:spPr>
        <p:txBody>
          <a:bodyPr/>
          <a:lstStyle/>
          <a:p>
            <a:endParaRPr lang="ko-KR" altLang="en-US"/>
          </a:p>
        </p:txBody>
      </p:sp>
      <p:sp>
        <p:nvSpPr>
          <p:cNvPr id="79" name="Text 76"/>
          <p:cNvSpPr/>
          <p:nvPr/>
        </p:nvSpPr>
        <p:spPr>
          <a:xfrm>
            <a:off x="10168128" y="3968496"/>
            <a:ext cx="82296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4</a:t>
            </a:r>
            <a:endParaRPr lang="en-US" sz="1050" dirty="0"/>
          </a:p>
        </p:txBody>
      </p:sp>
      <p:sp>
        <p:nvSpPr>
          <p:cNvPr id="80" name="Shape 77"/>
          <p:cNvSpPr/>
          <p:nvPr/>
        </p:nvSpPr>
        <p:spPr>
          <a:xfrm>
            <a:off x="6739128" y="4233672"/>
            <a:ext cx="1371600" cy="384048"/>
          </a:xfrm>
          <a:prstGeom prst="rect">
            <a:avLst/>
          </a:prstGeom>
          <a:solidFill>
            <a:srgbClr val="F5F7FA"/>
          </a:solidFill>
          <a:ln w="6350">
            <a:solidFill>
              <a:srgbClr val="D9E2F3"/>
            </a:solidFill>
            <a:prstDash val="solid"/>
          </a:ln>
        </p:spPr>
        <p:txBody>
          <a:bodyPr/>
          <a:lstStyle/>
          <a:p>
            <a:endParaRPr lang="ko-KR" altLang="en-US"/>
          </a:p>
        </p:txBody>
      </p:sp>
      <p:sp>
        <p:nvSpPr>
          <p:cNvPr id="81" name="Text 78"/>
          <p:cNvSpPr/>
          <p:nvPr/>
        </p:nvSpPr>
        <p:spPr>
          <a:xfrm>
            <a:off x="6784848" y="4352544"/>
            <a:ext cx="12801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INT6</a:t>
            </a:r>
            <a:endParaRPr lang="en-US" sz="1050" dirty="0"/>
          </a:p>
        </p:txBody>
      </p:sp>
      <p:sp>
        <p:nvSpPr>
          <p:cNvPr id="82" name="Shape 79"/>
          <p:cNvSpPr/>
          <p:nvPr/>
        </p:nvSpPr>
        <p:spPr>
          <a:xfrm>
            <a:off x="8110728" y="4233672"/>
            <a:ext cx="2011680" cy="384048"/>
          </a:xfrm>
          <a:prstGeom prst="rect">
            <a:avLst/>
          </a:prstGeom>
          <a:solidFill>
            <a:srgbClr val="F5F7FA"/>
          </a:solidFill>
          <a:ln w="6350">
            <a:solidFill>
              <a:srgbClr val="D9E2F3"/>
            </a:solidFill>
            <a:prstDash val="solid"/>
          </a:ln>
        </p:spPr>
        <p:txBody>
          <a:bodyPr/>
          <a:lstStyle/>
          <a:p>
            <a:endParaRPr lang="ko-KR" altLang="en-US"/>
          </a:p>
        </p:txBody>
      </p:sp>
      <p:sp>
        <p:nvSpPr>
          <p:cNvPr id="83" name="Text 80"/>
          <p:cNvSpPr/>
          <p:nvPr/>
        </p:nvSpPr>
        <p:spPr>
          <a:xfrm>
            <a:off x="8156448" y="4352544"/>
            <a:ext cx="19202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4, 2, 0</a:t>
            </a:r>
            <a:endParaRPr lang="en-US" sz="1050" dirty="0"/>
          </a:p>
        </p:txBody>
      </p:sp>
      <p:sp>
        <p:nvSpPr>
          <p:cNvPr id="84" name="Shape 81"/>
          <p:cNvSpPr/>
          <p:nvPr/>
        </p:nvSpPr>
        <p:spPr>
          <a:xfrm>
            <a:off x="10122408" y="4233672"/>
            <a:ext cx="914400" cy="384048"/>
          </a:xfrm>
          <a:prstGeom prst="rect">
            <a:avLst/>
          </a:prstGeom>
          <a:solidFill>
            <a:srgbClr val="F5F7FA"/>
          </a:solidFill>
          <a:ln w="6350">
            <a:solidFill>
              <a:srgbClr val="D9E2F3"/>
            </a:solidFill>
            <a:prstDash val="solid"/>
          </a:ln>
        </p:spPr>
        <p:txBody>
          <a:bodyPr/>
          <a:lstStyle/>
          <a:p>
            <a:endParaRPr lang="ko-KR" altLang="en-US"/>
          </a:p>
        </p:txBody>
      </p:sp>
      <p:sp>
        <p:nvSpPr>
          <p:cNvPr id="85" name="Text 82"/>
          <p:cNvSpPr/>
          <p:nvPr/>
        </p:nvSpPr>
        <p:spPr>
          <a:xfrm>
            <a:off x="10168128" y="4352544"/>
            <a:ext cx="82296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3</a:t>
            </a:r>
            <a:endParaRPr lang="en-US" sz="1050" dirty="0"/>
          </a:p>
        </p:txBody>
      </p:sp>
      <p:sp>
        <p:nvSpPr>
          <p:cNvPr id="86" name="Text 83"/>
          <p:cNvSpPr/>
          <p:nvPr/>
        </p:nvSpPr>
        <p:spPr>
          <a:xfrm>
            <a:off x="6812280" y="5029200"/>
            <a:ext cx="4069080" cy="347472"/>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00245D"/>
                </a:solidFill>
                <a:latin typeface="Arial" pitchFamily="34" charset="0"/>
                <a:ea typeface="Arial" pitchFamily="34" charset="-122"/>
                <a:cs typeface="Arial" pitchFamily="34" charset="-120"/>
              </a:rPr>
              <a:t>Takeaway: lower integer precision directly </a:t>
            </a:r>
            <a:r>
              <a:rPr lang="en-US" sz="1250" b="1" dirty="0">
                <a:solidFill>
                  <a:srgbClr val="FF0000"/>
                </a:solidFill>
                <a:latin typeface="Arial" pitchFamily="34" charset="0"/>
                <a:ea typeface="Arial" pitchFamily="34" charset="-122"/>
                <a:cs typeface="Arial" pitchFamily="34" charset="-120"/>
              </a:rPr>
              <a:t>reduces bit-serial cycles</a:t>
            </a:r>
            <a:r>
              <a:rPr lang="en-US" sz="1250" b="1" dirty="0">
                <a:solidFill>
                  <a:srgbClr val="00245D"/>
                </a:solidFill>
                <a:latin typeface="Arial" pitchFamily="34" charset="0"/>
                <a:ea typeface="Arial" pitchFamily="34" charset="-122"/>
                <a:cs typeface="Arial" pitchFamily="34" charset="-120"/>
              </a:rPr>
              <a:t>.</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Booth Truth Table: how INT bits become Sign / Exp / Man</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cs typeface="Arial" pitchFamily="34" charset="-120"/>
              </a:rPr>
              <a:t>59</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A 3-bit Booth string is decoded into one of five simple operations: 0, +x, −x, +2x, −2x.</a:t>
            </a:r>
            <a:endParaRPr lang="en-US" sz="1300" dirty="0"/>
          </a:p>
        </p:txBody>
      </p:sp>
      <p:sp>
        <p:nvSpPr>
          <p:cNvPr id="9" name="Shape 6"/>
          <p:cNvSpPr/>
          <p:nvPr/>
        </p:nvSpPr>
        <p:spPr>
          <a:xfrm>
            <a:off x="777240" y="1682496"/>
            <a:ext cx="1828800" cy="420624"/>
          </a:xfrm>
          <a:prstGeom prst="rect">
            <a:avLst/>
          </a:prstGeom>
          <a:solidFill>
            <a:srgbClr val="00245D"/>
          </a:solidFill>
          <a:ln w="6350">
            <a:solidFill>
              <a:srgbClr val="D9E2F3"/>
            </a:solidFill>
            <a:prstDash val="solid"/>
          </a:ln>
        </p:spPr>
        <p:txBody>
          <a:bodyPr/>
          <a:lstStyle/>
          <a:p>
            <a:endParaRPr lang="ko-KR" altLang="en-US"/>
          </a:p>
        </p:txBody>
      </p:sp>
      <p:sp>
        <p:nvSpPr>
          <p:cNvPr id="10" name="Text 7"/>
          <p:cNvSpPr/>
          <p:nvPr/>
        </p:nvSpPr>
        <p:spPr>
          <a:xfrm>
            <a:off x="813816" y="1801368"/>
            <a:ext cx="175564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3-bit String</a:t>
            </a:r>
            <a:endParaRPr lang="en-US" sz="1050" dirty="0"/>
          </a:p>
        </p:txBody>
      </p:sp>
      <p:sp>
        <p:nvSpPr>
          <p:cNvPr id="11" name="Shape 8"/>
          <p:cNvSpPr/>
          <p:nvPr/>
        </p:nvSpPr>
        <p:spPr>
          <a:xfrm>
            <a:off x="2606040" y="1682496"/>
            <a:ext cx="1234440" cy="420624"/>
          </a:xfrm>
          <a:prstGeom prst="rect">
            <a:avLst/>
          </a:prstGeom>
          <a:solidFill>
            <a:srgbClr val="00245D"/>
          </a:solidFill>
          <a:ln w="6350">
            <a:solidFill>
              <a:srgbClr val="D9E2F3"/>
            </a:solidFill>
            <a:prstDash val="solid"/>
          </a:ln>
        </p:spPr>
        <p:txBody>
          <a:bodyPr/>
          <a:lstStyle/>
          <a:p>
            <a:endParaRPr lang="ko-KR" altLang="en-US"/>
          </a:p>
        </p:txBody>
      </p:sp>
      <p:sp>
        <p:nvSpPr>
          <p:cNvPr id="12" name="Text 9"/>
          <p:cNvSpPr/>
          <p:nvPr/>
        </p:nvSpPr>
        <p:spPr>
          <a:xfrm>
            <a:off x="2642616" y="1801368"/>
            <a:ext cx="116128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Operation</a:t>
            </a:r>
            <a:endParaRPr lang="en-US" sz="1050" dirty="0"/>
          </a:p>
        </p:txBody>
      </p:sp>
      <p:sp>
        <p:nvSpPr>
          <p:cNvPr id="13" name="Shape 10"/>
          <p:cNvSpPr/>
          <p:nvPr/>
        </p:nvSpPr>
        <p:spPr>
          <a:xfrm>
            <a:off x="3840480" y="1682496"/>
            <a:ext cx="822960" cy="420624"/>
          </a:xfrm>
          <a:prstGeom prst="rect">
            <a:avLst/>
          </a:prstGeom>
          <a:solidFill>
            <a:srgbClr val="00245D"/>
          </a:solidFill>
          <a:ln w="6350">
            <a:solidFill>
              <a:srgbClr val="D9E2F3"/>
            </a:solidFill>
            <a:prstDash val="solid"/>
          </a:ln>
        </p:spPr>
        <p:txBody>
          <a:bodyPr/>
          <a:lstStyle/>
          <a:p>
            <a:endParaRPr lang="ko-KR" altLang="en-US"/>
          </a:p>
        </p:txBody>
      </p:sp>
      <p:sp>
        <p:nvSpPr>
          <p:cNvPr id="14" name="Text 11"/>
          <p:cNvSpPr/>
          <p:nvPr/>
        </p:nvSpPr>
        <p:spPr>
          <a:xfrm>
            <a:off x="3877056" y="1801368"/>
            <a:ext cx="74980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Sign</a:t>
            </a:r>
            <a:endParaRPr lang="en-US" sz="1050" dirty="0"/>
          </a:p>
        </p:txBody>
      </p:sp>
      <p:sp>
        <p:nvSpPr>
          <p:cNvPr id="15" name="Shape 12"/>
          <p:cNvSpPr/>
          <p:nvPr/>
        </p:nvSpPr>
        <p:spPr>
          <a:xfrm>
            <a:off x="4663440" y="1682496"/>
            <a:ext cx="822960" cy="420624"/>
          </a:xfrm>
          <a:prstGeom prst="rect">
            <a:avLst/>
          </a:prstGeom>
          <a:solidFill>
            <a:srgbClr val="00245D"/>
          </a:solidFill>
          <a:ln w="6350">
            <a:solidFill>
              <a:srgbClr val="D9E2F3"/>
            </a:solidFill>
            <a:prstDash val="solid"/>
          </a:ln>
        </p:spPr>
        <p:txBody>
          <a:bodyPr/>
          <a:lstStyle/>
          <a:p>
            <a:endParaRPr lang="ko-KR" altLang="en-US"/>
          </a:p>
        </p:txBody>
      </p:sp>
      <p:sp>
        <p:nvSpPr>
          <p:cNvPr id="16" name="Text 13"/>
          <p:cNvSpPr/>
          <p:nvPr/>
        </p:nvSpPr>
        <p:spPr>
          <a:xfrm>
            <a:off x="4700016" y="1801368"/>
            <a:ext cx="74980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Exp</a:t>
            </a:r>
            <a:endParaRPr lang="en-US" sz="1050" dirty="0"/>
          </a:p>
        </p:txBody>
      </p:sp>
      <p:sp>
        <p:nvSpPr>
          <p:cNvPr id="17" name="Shape 14"/>
          <p:cNvSpPr/>
          <p:nvPr/>
        </p:nvSpPr>
        <p:spPr>
          <a:xfrm>
            <a:off x="5486400" y="1682496"/>
            <a:ext cx="822960" cy="420624"/>
          </a:xfrm>
          <a:prstGeom prst="rect">
            <a:avLst/>
          </a:prstGeom>
          <a:solidFill>
            <a:srgbClr val="00245D"/>
          </a:solidFill>
          <a:ln w="6350">
            <a:solidFill>
              <a:srgbClr val="D9E2F3"/>
            </a:solidFill>
            <a:prstDash val="solid"/>
          </a:ln>
        </p:spPr>
        <p:txBody>
          <a:bodyPr/>
          <a:lstStyle/>
          <a:p>
            <a:endParaRPr lang="ko-KR" altLang="en-US"/>
          </a:p>
        </p:txBody>
      </p:sp>
      <p:sp>
        <p:nvSpPr>
          <p:cNvPr id="18" name="Text 15"/>
          <p:cNvSpPr/>
          <p:nvPr/>
        </p:nvSpPr>
        <p:spPr>
          <a:xfrm>
            <a:off x="5522976" y="1801368"/>
            <a:ext cx="74980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Man</a:t>
            </a:r>
            <a:endParaRPr lang="en-US" sz="1050" dirty="0"/>
          </a:p>
        </p:txBody>
      </p:sp>
      <p:sp>
        <p:nvSpPr>
          <p:cNvPr id="19" name="Shape 16"/>
          <p:cNvSpPr/>
          <p:nvPr/>
        </p:nvSpPr>
        <p:spPr>
          <a:xfrm>
            <a:off x="777240" y="2103120"/>
            <a:ext cx="1828800" cy="420624"/>
          </a:xfrm>
          <a:prstGeom prst="rect">
            <a:avLst/>
          </a:prstGeom>
          <a:solidFill>
            <a:srgbClr val="FFFFFF"/>
          </a:solidFill>
          <a:ln w="6350">
            <a:solidFill>
              <a:srgbClr val="D9E2F3"/>
            </a:solidFill>
            <a:prstDash val="solid"/>
          </a:ln>
        </p:spPr>
        <p:txBody>
          <a:bodyPr/>
          <a:lstStyle/>
          <a:p>
            <a:endParaRPr lang="ko-KR" altLang="en-US"/>
          </a:p>
        </p:txBody>
      </p:sp>
      <p:sp>
        <p:nvSpPr>
          <p:cNvPr id="20" name="Text 17"/>
          <p:cNvSpPr/>
          <p:nvPr/>
        </p:nvSpPr>
        <p:spPr>
          <a:xfrm>
            <a:off x="822960" y="2221992"/>
            <a:ext cx="17373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000 / 111</a:t>
            </a:r>
            <a:endParaRPr lang="en-US" sz="1050" dirty="0"/>
          </a:p>
        </p:txBody>
      </p:sp>
      <p:sp>
        <p:nvSpPr>
          <p:cNvPr id="21" name="Shape 18"/>
          <p:cNvSpPr/>
          <p:nvPr/>
        </p:nvSpPr>
        <p:spPr>
          <a:xfrm>
            <a:off x="2606040" y="2103120"/>
            <a:ext cx="1234440" cy="420624"/>
          </a:xfrm>
          <a:prstGeom prst="rect">
            <a:avLst/>
          </a:prstGeom>
          <a:solidFill>
            <a:srgbClr val="FFFFFF"/>
          </a:solidFill>
          <a:ln w="6350">
            <a:solidFill>
              <a:srgbClr val="D9E2F3"/>
            </a:solidFill>
            <a:prstDash val="solid"/>
          </a:ln>
        </p:spPr>
        <p:txBody>
          <a:bodyPr/>
          <a:lstStyle/>
          <a:p>
            <a:endParaRPr lang="ko-KR" altLang="en-US"/>
          </a:p>
        </p:txBody>
      </p:sp>
      <p:sp>
        <p:nvSpPr>
          <p:cNvPr id="22" name="Text 19"/>
          <p:cNvSpPr/>
          <p:nvPr/>
        </p:nvSpPr>
        <p:spPr>
          <a:xfrm>
            <a:off x="2651760" y="2221992"/>
            <a:ext cx="11430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23" name="Shape 20"/>
          <p:cNvSpPr/>
          <p:nvPr/>
        </p:nvSpPr>
        <p:spPr>
          <a:xfrm>
            <a:off x="3840480" y="2103120"/>
            <a:ext cx="822960" cy="420624"/>
          </a:xfrm>
          <a:prstGeom prst="rect">
            <a:avLst/>
          </a:prstGeom>
          <a:solidFill>
            <a:srgbClr val="FFFFFF"/>
          </a:solidFill>
          <a:ln w="6350">
            <a:solidFill>
              <a:srgbClr val="D9E2F3"/>
            </a:solidFill>
            <a:prstDash val="solid"/>
          </a:ln>
        </p:spPr>
        <p:txBody>
          <a:bodyPr/>
          <a:lstStyle/>
          <a:p>
            <a:endParaRPr lang="ko-KR" altLang="en-US"/>
          </a:p>
        </p:txBody>
      </p:sp>
      <p:sp>
        <p:nvSpPr>
          <p:cNvPr id="24" name="Text 21"/>
          <p:cNvSpPr/>
          <p:nvPr/>
        </p:nvSpPr>
        <p:spPr>
          <a:xfrm>
            <a:off x="3886200" y="2221992"/>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25" name="Shape 22"/>
          <p:cNvSpPr/>
          <p:nvPr/>
        </p:nvSpPr>
        <p:spPr>
          <a:xfrm>
            <a:off x="4663440" y="2103120"/>
            <a:ext cx="822960" cy="420624"/>
          </a:xfrm>
          <a:prstGeom prst="rect">
            <a:avLst/>
          </a:prstGeom>
          <a:solidFill>
            <a:srgbClr val="FFFFFF"/>
          </a:solidFill>
          <a:ln w="6350">
            <a:solidFill>
              <a:srgbClr val="D9E2F3"/>
            </a:solidFill>
            <a:prstDash val="solid"/>
          </a:ln>
        </p:spPr>
        <p:txBody>
          <a:bodyPr/>
          <a:lstStyle/>
          <a:p>
            <a:endParaRPr lang="ko-KR" altLang="en-US"/>
          </a:p>
        </p:txBody>
      </p:sp>
      <p:sp>
        <p:nvSpPr>
          <p:cNvPr id="26" name="Text 23"/>
          <p:cNvSpPr/>
          <p:nvPr/>
        </p:nvSpPr>
        <p:spPr>
          <a:xfrm>
            <a:off x="4709160" y="2221992"/>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27" name="Shape 24"/>
          <p:cNvSpPr/>
          <p:nvPr/>
        </p:nvSpPr>
        <p:spPr>
          <a:xfrm>
            <a:off x="5486400" y="2103120"/>
            <a:ext cx="822960" cy="420624"/>
          </a:xfrm>
          <a:prstGeom prst="rect">
            <a:avLst/>
          </a:prstGeom>
          <a:solidFill>
            <a:srgbClr val="FFFFFF"/>
          </a:solidFill>
          <a:ln w="6350">
            <a:solidFill>
              <a:srgbClr val="D9E2F3"/>
            </a:solidFill>
            <a:prstDash val="solid"/>
          </a:ln>
        </p:spPr>
        <p:txBody>
          <a:bodyPr/>
          <a:lstStyle/>
          <a:p>
            <a:endParaRPr lang="ko-KR" altLang="en-US"/>
          </a:p>
        </p:txBody>
      </p:sp>
      <p:sp>
        <p:nvSpPr>
          <p:cNvPr id="28" name="Text 25"/>
          <p:cNvSpPr/>
          <p:nvPr/>
        </p:nvSpPr>
        <p:spPr>
          <a:xfrm>
            <a:off x="5532120" y="2221992"/>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29" name="Shape 26"/>
          <p:cNvSpPr/>
          <p:nvPr/>
        </p:nvSpPr>
        <p:spPr>
          <a:xfrm>
            <a:off x="777240" y="2523744"/>
            <a:ext cx="1828800" cy="420624"/>
          </a:xfrm>
          <a:prstGeom prst="rect">
            <a:avLst/>
          </a:prstGeom>
          <a:solidFill>
            <a:srgbClr val="F5F7FA"/>
          </a:solidFill>
          <a:ln w="6350">
            <a:solidFill>
              <a:srgbClr val="D9E2F3"/>
            </a:solidFill>
            <a:prstDash val="solid"/>
          </a:ln>
        </p:spPr>
        <p:txBody>
          <a:bodyPr/>
          <a:lstStyle/>
          <a:p>
            <a:endParaRPr lang="ko-KR" altLang="en-US"/>
          </a:p>
        </p:txBody>
      </p:sp>
      <p:sp>
        <p:nvSpPr>
          <p:cNvPr id="30" name="Text 27"/>
          <p:cNvSpPr/>
          <p:nvPr/>
        </p:nvSpPr>
        <p:spPr>
          <a:xfrm>
            <a:off x="822960" y="2642616"/>
            <a:ext cx="17373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001 / 010</a:t>
            </a:r>
            <a:endParaRPr lang="en-US" sz="1050" dirty="0"/>
          </a:p>
        </p:txBody>
      </p:sp>
      <p:sp>
        <p:nvSpPr>
          <p:cNvPr id="31" name="Shape 28"/>
          <p:cNvSpPr/>
          <p:nvPr/>
        </p:nvSpPr>
        <p:spPr>
          <a:xfrm>
            <a:off x="2606040" y="2523744"/>
            <a:ext cx="1234440" cy="420624"/>
          </a:xfrm>
          <a:prstGeom prst="rect">
            <a:avLst/>
          </a:prstGeom>
          <a:solidFill>
            <a:srgbClr val="F5F7FA"/>
          </a:solidFill>
          <a:ln w="6350">
            <a:solidFill>
              <a:srgbClr val="D9E2F3"/>
            </a:solidFill>
            <a:prstDash val="solid"/>
          </a:ln>
        </p:spPr>
        <p:txBody>
          <a:bodyPr/>
          <a:lstStyle/>
          <a:p>
            <a:endParaRPr lang="ko-KR" altLang="en-US"/>
          </a:p>
        </p:txBody>
      </p:sp>
      <p:sp>
        <p:nvSpPr>
          <p:cNvPr id="32" name="Text 29"/>
          <p:cNvSpPr/>
          <p:nvPr/>
        </p:nvSpPr>
        <p:spPr>
          <a:xfrm>
            <a:off x="2651760" y="2642616"/>
            <a:ext cx="11430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+x</a:t>
            </a:r>
            <a:endParaRPr lang="en-US" sz="1050" dirty="0"/>
          </a:p>
        </p:txBody>
      </p:sp>
      <p:sp>
        <p:nvSpPr>
          <p:cNvPr id="33" name="Shape 30"/>
          <p:cNvSpPr/>
          <p:nvPr/>
        </p:nvSpPr>
        <p:spPr>
          <a:xfrm>
            <a:off x="3840480" y="2523744"/>
            <a:ext cx="822960" cy="420624"/>
          </a:xfrm>
          <a:prstGeom prst="rect">
            <a:avLst/>
          </a:prstGeom>
          <a:solidFill>
            <a:srgbClr val="F5F7FA"/>
          </a:solidFill>
          <a:ln w="6350">
            <a:solidFill>
              <a:srgbClr val="D9E2F3"/>
            </a:solidFill>
            <a:prstDash val="solid"/>
          </a:ln>
        </p:spPr>
        <p:txBody>
          <a:bodyPr/>
          <a:lstStyle/>
          <a:p>
            <a:endParaRPr lang="ko-KR" altLang="en-US"/>
          </a:p>
        </p:txBody>
      </p:sp>
      <p:sp>
        <p:nvSpPr>
          <p:cNvPr id="34" name="Text 31"/>
          <p:cNvSpPr/>
          <p:nvPr/>
        </p:nvSpPr>
        <p:spPr>
          <a:xfrm>
            <a:off x="3886200" y="2642616"/>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35" name="Shape 32"/>
          <p:cNvSpPr/>
          <p:nvPr/>
        </p:nvSpPr>
        <p:spPr>
          <a:xfrm>
            <a:off x="4663440" y="2523744"/>
            <a:ext cx="822960" cy="420624"/>
          </a:xfrm>
          <a:prstGeom prst="rect">
            <a:avLst/>
          </a:prstGeom>
          <a:solidFill>
            <a:srgbClr val="F5F7FA"/>
          </a:solidFill>
          <a:ln w="6350">
            <a:solidFill>
              <a:srgbClr val="D9E2F3"/>
            </a:solidFill>
            <a:prstDash val="solid"/>
          </a:ln>
        </p:spPr>
        <p:txBody>
          <a:bodyPr/>
          <a:lstStyle/>
          <a:p>
            <a:endParaRPr lang="ko-KR" altLang="en-US"/>
          </a:p>
        </p:txBody>
      </p:sp>
      <p:sp>
        <p:nvSpPr>
          <p:cNvPr id="36" name="Text 33"/>
          <p:cNvSpPr/>
          <p:nvPr/>
        </p:nvSpPr>
        <p:spPr>
          <a:xfrm>
            <a:off x="4709160" y="2642616"/>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37" name="Shape 34"/>
          <p:cNvSpPr/>
          <p:nvPr/>
        </p:nvSpPr>
        <p:spPr>
          <a:xfrm>
            <a:off x="5486400" y="2523744"/>
            <a:ext cx="822960" cy="420624"/>
          </a:xfrm>
          <a:prstGeom prst="rect">
            <a:avLst/>
          </a:prstGeom>
          <a:solidFill>
            <a:srgbClr val="F5F7FA"/>
          </a:solidFill>
          <a:ln w="6350">
            <a:solidFill>
              <a:srgbClr val="D9E2F3"/>
            </a:solidFill>
            <a:prstDash val="solid"/>
          </a:ln>
        </p:spPr>
        <p:txBody>
          <a:bodyPr/>
          <a:lstStyle/>
          <a:p>
            <a:endParaRPr lang="ko-KR" altLang="en-US"/>
          </a:p>
        </p:txBody>
      </p:sp>
      <p:sp>
        <p:nvSpPr>
          <p:cNvPr id="38" name="Text 35"/>
          <p:cNvSpPr/>
          <p:nvPr/>
        </p:nvSpPr>
        <p:spPr>
          <a:xfrm>
            <a:off x="5532120" y="2642616"/>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1</a:t>
            </a:r>
            <a:endParaRPr lang="en-US" sz="1050" dirty="0"/>
          </a:p>
        </p:txBody>
      </p:sp>
      <p:sp>
        <p:nvSpPr>
          <p:cNvPr id="39" name="Shape 36"/>
          <p:cNvSpPr/>
          <p:nvPr/>
        </p:nvSpPr>
        <p:spPr>
          <a:xfrm>
            <a:off x="777240" y="2944368"/>
            <a:ext cx="1828800" cy="420624"/>
          </a:xfrm>
          <a:prstGeom prst="rect">
            <a:avLst/>
          </a:prstGeom>
          <a:solidFill>
            <a:srgbClr val="FFFFFF"/>
          </a:solidFill>
          <a:ln w="6350">
            <a:solidFill>
              <a:srgbClr val="D9E2F3"/>
            </a:solidFill>
            <a:prstDash val="solid"/>
          </a:ln>
        </p:spPr>
        <p:txBody>
          <a:bodyPr/>
          <a:lstStyle/>
          <a:p>
            <a:endParaRPr lang="ko-KR" altLang="en-US"/>
          </a:p>
        </p:txBody>
      </p:sp>
      <p:sp>
        <p:nvSpPr>
          <p:cNvPr id="40" name="Text 37"/>
          <p:cNvSpPr/>
          <p:nvPr/>
        </p:nvSpPr>
        <p:spPr>
          <a:xfrm>
            <a:off x="822960" y="3063240"/>
            <a:ext cx="17373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110 / 101</a:t>
            </a:r>
            <a:endParaRPr lang="en-US" sz="1050" dirty="0"/>
          </a:p>
        </p:txBody>
      </p:sp>
      <p:sp>
        <p:nvSpPr>
          <p:cNvPr id="41" name="Shape 38"/>
          <p:cNvSpPr/>
          <p:nvPr/>
        </p:nvSpPr>
        <p:spPr>
          <a:xfrm>
            <a:off x="2606040" y="2944368"/>
            <a:ext cx="1234440" cy="420624"/>
          </a:xfrm>
          <a:prstGeom prst="rect">
            <a:avLst/>
          </a:prstGeom>
          <a:solidFill>
            <a:srgbClr val="FFFFFF"/>
          </a:solidFill>
          <a:ln w="6350">
            <a:solidFill>
              <a:srgbClr val="D9E2F3"/>
            </a:solidFill>
            <a:prstDash val="solid"/>
          </a:ln>
        </p:spPr>
        <p:txBody>
          <a:bodyPr/>
          <a:lstStyle/>
          <a:p>
            <a:endParaRPr lang="ko-KR" altLang="en-US"/>
          </a:p>
        </p:txBody>
      </p:sp>
      <p:sp>
        <p:nvSpPr>
          <p:cNvPr id="42" name="Text 39"/>
          <p:cNvSpPr/>
          <p:nvPr/>
        </p:nvSpPr>
        <p:spPr>
          <a:xfrm>
            <a:off x="2651760" y="3063240"/>
            <a:ext cx="11430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−x</a:t>
            </a:r>
            <a:endParaRPr lang="en-US" sz="1050" dirty="0"/>
          </a:p>
        </p:txBody>
      </p:sp>
      <p:sp>
        <p:nvSpPr>
          <p:cNvPr id="43" name="Shape 40"/>
          <p:cNvSpPr/>
          <p:nvPr/>
        </p:nvSpPr>
        <p:spPr>
          <a:xfrm>
            <a:off x="3840480" y="2944368"/>
            <a:ext cx="822960" cy="420624"/>
          </a:xfrm>
          <a:prstGeom prst="rect">
            <a:avLst/>
          </a:prstGeom>
          <a:solidFill>
            <a:srgbClr val="FFFFFF"/>
          </a:solidFill>
          <a:ln w="6350">
            <a:solidFill>
              <a:srgbClr val="D9E2F3"/>
            </a:solidFill>
            <a:prstDash val="solid"/>
          </a:ln>
        </p:spPr>
        <p:txBody>
          <a:bodyPr/>
          <a:lstStyle/>
          <a:p>
            <a:endParaRPr lang="ko-KR" altLang="en-US"/>
          </a:p>
        </p:txBody>
      </p:sp>
      <p:sp>
        <p:nvSpPr>
          <p:cNvPr id="44" name="Text 41"/>
          <p:cNvSpPr/>
          <p:nvPr/>
        </p:nvSpPr>
        <p:spPr>
          <a:xfrm>
            <a:off x="3886200" y="3063240"/>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1</a:t>
            </a:r>
            <a:endParaRPr lang="en-US" sz="1050" dirty="0"/>
          </a:p>
        </p:txBody>
      </p:sp>
      <p:sp>
        <p:nvSpPr>
          <p:cNvPr id="45" name="Shape 42"/>
          <p:cNvSpPr/>
          <p:nvPr/>
        </p:nvSpPr>
        <p:spPr>
          <a:xfrm>
            <a:off x="4663440" y="2944368"/>
            <a:ext cx="822960" cy="420624"/>
          </a:xfrm>
          <a:prstGeom prst="rect">
            <a:avLst/>
          </a:prstGeom>
          <a:solidFill>
            <a:srgbClr val="FFFFFF"/>
          </a:solidFill>
          <a:ln w="6350">
            <a:solidFill>
              <a:srgbClr val="D9E2F3"/>
            </a:solidFill>
            <a:prstDash val="solid"/>
          </a:ln>
        </p:spPr>
        <p:txBody>
          <a:bodyPr/>
          <a:lstStyle/>
          <a:p>
            <a:endParaRPr lang="ko-KR" altLang="en-US"/>
          </a:p>
        </p:txBody>
      </p:sp>
      <p:sp>
        <p:nvSpPr>
          <p:cNvPr id="46" name="Text 43"/>
          <p:cNvSpPr/>
          <p:nvPr/>
        </p:nvSpPr>
        <p:spPr>
          <a:xfrm>
            <a:off x="4709160" y="3063240"/>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47" name="Shape 44"/>
          <p:cNvSpPr/>
          <p:nvPr/>
        </p:nvSpPr>
        <p:spPr>
          <a:xfrm>
            <a:off x="5486400" y="2944368"/>
            <a:ext cx="822960" cy="420624"/>
          </a:xfrm>
          <a:prstGeom prst="rect">
            <a:avLst/>
          </a:prstGeom>
          <a:solidFill>
            <a:srgbClr val="FFFFFF"/>
          </a:solidFill>
          <a:ln w="6350">
            <a:solidFill>
              <a:srgbClr val="D9E2F3"/>
            </a:solidFill>
            <a:prstDash val="solid"/>
          </a:ln>
        </p:spPr>
        <p:txBody>
          <a:bodyPr/>
          <a:lstStyle/>
          <a:p>
            <a:endParaRPr lang="ko-KR" altLang="en-US"/>
          </a:p>
        </p:txBody>
      </p:sp>
      <p:sp>
        <p:nvSpPr>
          <p:cNvPr id="48" name="Text 45"/>
          <p:cNvSpPr/>
          <p:nvPr/>
        </p:nvSpPr>
        <p:spPr>
          <a:xfrm>
            <a:off x="5532120" y="3063240"/>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1</a:t>
            </a:r>
            <a:endParaRPr lang="en-US" sz="1050" dirty="0"/>
          </a:p>
        </p:txBody>
      </p:sp>
      <p:sp>
        <p:nvSpPr>
          <p:cNvPr id="49" name="Shape 46"/>
          <p:cNvSpPr/>
          <p:nvPr/>
        </p:nvSpPr>
        <p:spPr>
          <a:xfrm>
            <a:off x="777240" y="3364992"/>
            <a:ext cx="1828800" cy="420624"/>
          </a:xfrm>
          <a:prstGeom prst="rect">
            <a:avLst/>
          </a:prstGeom>
          <a:solidFill>
            <a:srgbClr val="F5F7FA"/>
          </a:solidFill>
          <a:ln w="6350">
            <a:solidFill>
              <a:srgbClr val="D9E2F3"/>
            </a:solidFill>
            <a:prstDash val="solid"/>
          </a:ln>
        </p:spPr>
        <p:txBody>
          <a:bodyPr/>
          <a:lstStyle/>
          <a:p>
            <a:endParaRPr lang="ko-KR" altLang="en-US"/>
          </a:p>
        </p:txBody>
      </p:sp>
      <p:sp>
        <p:nvSpPr>
          <p:cNvPr id="50" name="Text 47"/>
          <p:cNvSpPr/>
          <p:nvPr/>
        </p:nvSpPr>
        <p:spPr>
          <a:xfrm>
            <a:off x="822960" y="3483864"/>
            <a:ext cx="17373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011</a:t>
            </a:r>
            <a:endParaRPr lang="en-US" sz="1050" dirty="0"/>
          </a:p>
        </p:txBody>
      </p:sp>
      <p:sp>
        <p:nvSpPr>
          <p:cNvPr id="51" name="Shape 48"/>
          <p:cNvSpPr/>
          <p:nvPr/>
        </p:nvSpPr>
        <p:spPr>
          <a:xfrm>
            <a:off x="2606040" y="3364992"/>
            <a:ext cx="1234440" cy="420624"/>
          </a:xfrm>
          <a:prstGeom prst="rect">
            <a:avLst/>
          </a:prstGeom>
          <a:solidFill>
            <a:srgbClr val="F5F7FA"/>
          </a:solidFill>
          <a:ln w="6350">
            <a:solidFill>
              <a:srgbClr val="D9E2F3"/>
            </a:solidFill>
            <a:prstDash val="solid"/>
          </a:ln>
        </p:spPr>
        <p:txBody>
          <a:bodyPr/>
          <a:lstStyle/>
          <a:p>
            <a:endParaRPr lang="ko-KR" altLang="en-US"/>
          </a:p>
        </p:txBody>
      </p:sp>
      <p:sp>
        <p:nvSpPr>
          <p:cNvPr id="52" name="Text 49"/>
          <p:cNvSpPr/>
          <p:nvPr/>
        </p:nvSpPr>
        <p:spPr>
          <a:xfrm>
            <a:off x="2651760" y="3483864"/>
            <a:ext cx="11430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+2x</a:t>
            </a:r>
            <a:endParaRPr lang="en-US" sz="1050" dirty="0"/>
          </a:p>
        </p:txBody>
      </p:sp>
      <p:sp>
        <p:nvSpPr>
          <p:cNvPr id="53" name="Shape 50"/>
          <p:cNvSpPr/>
          <p:nvPr/>
        </p:nvSpPr>
        <p:spPr>
          <a:xfrm>
            <a:off x="3840480" y="3364992"/>
            <a:ext cx="822960" cy="420624"/>
          </a:xfrm>
          <a:prstGeom prst="rect">
            <a:avLst/>
          </a:prstGeom>
          <a:solidFill>
            <a:srgbClr val="F5F7FA"/>
          </a:solidFill>
          <a:ln w="6350">
            <a:solidFill>
              <a:srgbClr val="D9E2F3"/>
            </a:solidFill>
            <a:prstDash val="solid"/>
          </a:ln>
        </p:spPr>
        <p:txBody>
          <a:bodyPr/>
          <a:lstStyle/>
          <a:p>
            <a:endParaRPr lang="ko-KR" altLang="en-US"/>
          </a:p>
        </p:txBody>
      </p:sp>
      <p:sp>
        <p:nvSpPr>
          <p:cNvPr id="54" name="Text 51"/>
          <p:cNvSpPr/>
          <p:nvPr/>
        </p:nvSpPr>
        <p:spPr>
          <a:xfrm>
            <a:off x="3886200" y="3483864"/>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0</a:t>
            </a:r>
            <a:endParaRPr lang="en-US" sz="1050" dirty="0"/>
          </a:p>
        </p:txBody>
      </p:sp>
      <p:sp>
        <p:nvSpPr>
          <p:cNvPr id="55" name="Shape 52"/>
          <p:cNvSpPr/>
          <p:nvPr/>
        </p:nvSpPr>
        <p:spPr>
          <a:xfrm>
            <a:off x="4663440" y="3364992"/>
            <a:ext cx="822960" cy="420624"/>
          </a:xfrm>
          <a:prstGeom prst="rect">
            <a:avLst/>
          </a:prstGeom>
          <a:solidFill>
            <a:srgbClr val="F5F7FA"/>
          </a:solidFill>
          <a:ln w="6350">
            <a:solidFill>
              <a:srgbClr val="D9E2F3"/>
            </a:solidFill>
            <a:prstDash val="solid"/>
          </a:ln>
        </p:spPr>
        <p:txBody>
          <a:bodyPr/>
          <a:lstStyle/>
          <a:p>
            <a:endParaRPr lang="ko-KR" altLang="en-US"/>
          </a:p>
        </p:txBody>
      </p:sp>
      <p:sp>
        <p:nvSpPr>
          <p:cNvPr id="56" name="Text 53"/>
          <p:cNvSpPr/>
          <p:nvPr/>
        </p:nvSpPr>
        <p:spPr>
          <a:xfrm>
            <a:off x="4709160" y="3483864"/>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1</a:t>
            </a:r>
            <a:endParaRPr lang="en-US" sz="1050" dirty="0"/>
          </a:p>
        </p:txBody>
      </p:sp>
      <p:sp>
        <p:nvSpPr>
          <p:cNvPr id="57" name="Shape 54"/>
          <p:cNvSpPr/>
          <p:nvPr/>
        </p:nvSpPr>
        <p:spPr>
          <a:xfrm>
            <a:off x="5486400" y="3364992"/>
            <a:ext cx="822960" cy="420624"/>
          </a:xfrm>
          <a:prstGeom prst="rect">
            <a:avLst/>
          </a:prstGeom>
          <a:solidFill>
            <a:srgbClr val="F5F7FA"/>
          </a:solidFill>
          <a:ln w="6350">
            <a:solidFill>
              <a:srgbClr val="D9E2F3"/>
            </a:solidFill>
            <a:prstDash val="solid"/>
          </a:ln>
        </p:spPr>
        <p:txBody>
          <a:bodyPr/>
          <a:lstStyle/>
          <a:p>
            <a:endParaRPr lang="ko-KR" altLang="en-US"/>
          </a:p>
        </p:txBody>
      </p:sp>
      <p:sp>
        <p:nvSpPr>
          <p:cNvPr id="58" name="Text 55"/>
          <p:cNvSpPr/>
          <p:nvPr/>
        </p:nvSpPr>
        <p:spPr>
          <a:xfrm>
            <a:off x="5532120" y="3483864"/>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1</a:t>
            </a:r>
            <a:endParaRPr lang="en-US" sz="1050" dirty="0"/>
          </a:p>
        </p:txBody>
      </p:sp>
      <p:sp>
        <p:nvSpPr>
          <p:cNvPr id="59" name="Shape 56"/>
          <p:cNvSpPr/>
          <p:nvPr/>
        </p:nvSpPr>
        <p:spPr>
          <a:xfrm>
            <a:off x="777240" y="3785616"/>
            <a:ext cx="1828800" cy="420624"/>
          </a:xfrm>
          <a:prstGeom prst="rect">
            <a:avLst/>
          </a:prstGeom>
          <a:solidFill>
            <a:srgbClr val="FFFFFF"/>
          </a:solidFill>
          <a:ln w="6350">
            <a:solidFill>
              <a:srgbClr val="D9E2F3"/>
            </a:solidFill>
            <a:prstDash val="solid"/>
          </a:ln>
        </p:spPr>
        <p:txBody>
          <a:bodyPr/>
          <a:lstStyle/>
          <a:p>
            <a:endParaRPr lang="ko-KR" altLang="en-US"/>
          </a:p>
        </p:txBody>
      </p:sp>
      <p:sp>
        <p:nvSpPr>
          <p:cNvPr id="60" name="Text 57"/>
          <p:cNvSpPr/>
          <p:nvPr/>
        </p:nvSpPr>
        <p:spPr>
          <a:xfrm>
            <a:off x="822960" y="3904488"/>
            <a:ext cx="17373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100</a:t>
            </a:r>
            <a:endParaRPr lang="en-US" sz="1050" dirty="0"/>
          </a:p>
        </p:txBody>
      </p:sp>
      <p:sp>
        <p:nvSpPr>
          <p:cNvPr id="61" name="Shape 58"/>
          <p:cNvSpPr/>
          <p:nvPr/>
        </p:nvSpPr>
        <p:spPr>
          <a:xfrm>
            <a:off x="2606040" y="3785616"/>
            <a:ext cx="1234440" cy="420624"/>
          </a:xfrm>
          <a:prstGeom prst="rect">
            <a:avLst/>
          </a:prstGeom>
          <a:solidFill>
            <a:srgbClr val="FFFFFF"/>
          </a:solidFill>
          <a:ln w="6350">
            <a:solidFill>
              <a:srgbClr val="D9E2F3"/>
            </a:solidFill>
            <a:prstDash val="solid"/>
          </a:ln>
        </p:spPr>
        <p:txBody>
          <a:bodyPr/>
          <a:lstStyle/>
          <a:p>
            <a:endParaRPr lang="ko-KR" altLang="en-US"/>
          </a:p>
        </p:txBody>
      </p:sp>
      <p:sp>
        <p:nvSpPr>
          <p:cNvPr id="62" name="Text 59"/>
          <p:cNvSpPr/>
          <p:nvPr/>
        </p:nvSpPr>
        <p:spPr>
          <a:xfrm>
            <a:off x="2651760" y="3904488"/>
            <a:ext cx="11430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−2x</a:t>
            </a:r>
            <a:endParaRPr lang="en-US" sz="1050" dirty="0"/>
          </a:p>
        </p:txBody>
      </p:sp>
      <p:sp>
        <p:nvSpPr>
          <p:cNvPr id="63" name="Shape 60"/>
          <p:cNvSpPr/>
          <p:nvPr/>
        </p:nvSpPr>
        <p:spPr>
          <a:xfrm>
            <a:off x="3840480" y="3785616"/>
            <a:ext cx="822960" cy="420624"/>
          </a:xfrm>
          <a:prstGeom prst="rect">
            <a:avLst/>
          </a:prstGeom>
          <a:solidFill>
            <a:srgbClr val="FFFFFF"/>
          </a:solidFill>
          <a:ln w="6350">
            <a:solidFill>
              <a:srgbClr val="D9E2F3"/>
            </a:solidFill>
            <a:prstDash val="solid"/>
          </a:ln>
        </p:spPr>
        <p:txBody>
          <a:bodyPr/>
          <a:lstStyle/>
          <a:p>
            <a:endParaRPr lang="ko-KR" altLang="en-US"/>
          </a:p>
        </p:txBody>
      </p:sp>
      <p:sp>
        <p:nvSpPr>
          <p:cNvPr id="64" name="Text 61"/>
          <p:cNvSpPr/>
          <p:nvPr/>
        </p:nvSpPr>
        <p:spPr>
          <a:xfrm>
            <a:off x="3886200" y="3904488"/>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1</a:t>
            </a:r>
            <a:endParaRPr lang="en-US" sz="1050" dirty="0"/>
          </a:p>
        </p:txBody>
      </p:sp>
      <p:sp>
        <p:nvSpPr>
          <p:cNvPr id="65" name="Shape 62"/>
          <p:cNvSpPr/>
          <p:nvPr/>
        </p:nvSpPr>
        <p:spPr>
          <a:xfrm>
            <a:off x="4663440" y="3785616"/>
            <a:ext cx="822960" cy="420624"/>
          </a:xfrm>
          <a:prstGeom prst="rect">
            <a:avLst/>
          </a:prstGeom>
          <a:solidFill>
            <a:srgbClr val="FFFFFF"/>
          </a:solidFill>
          <a:ln w="6350">
            <a:solidFill>
              <a:srgbClr val="D9E2F3"/>
            </a:solidFill>
            <a:prstDash val="solid"/>
          </a:ln>
        </p:spPr>
        <p:txBody>
          <a:bodyPr/>
          <a:lstStyle/>
          <a:p>
            <a:endParaRPr lang="ko-KR" altLang="en-US"/>
          </a:p>
        </p:txBody>
      </p:sp>
      <p:sp>
        <p:nvSpPr>
          <p:cNvPr id="66" name="Text 63"/>
          <p:cNvSpPr/>
          <p:nvPr/>
        </p:nvSpPr>
        <p:spPr>
          <a:xfrm>
            <a:off x="4709160" y="3904488"/>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1</a:t>
            </a:r>
            <a:endParaRPr lang="en-US" sz="1050" dirty="0"/>
          </a:p>
        </p:txBody>
      </p:sp>
      <p:sp>
        <p:nvSpPr>
          <p:cNvPr id="67" name="Shape 64"/>
          <p:cNvSpPr/>
          <p:nvPr/>
        </p:nvSpPr>
        <p:spPr>
          <a:xfrm>
            <a:off x="5486400" y="3785616"/>
            <a:ext cx="822960" cy="420624"/>
          </a:xfrm>
          <a:prstGeom prst="rect">
            <a:avLst/>
          </a:prstGeom>
          <a:solidFill>
            <a:srgbClr val="FFFFFF"/>
          </a:solidFill>
          <a:ln w="6350">
            <a:solidFill>
              <a:srgbClr val="D9E2F3"/>
            </a:solidFill>
            <a:prstDash val="solid"/>
          </a:ln>
        </p:spPr>
        <p:txBody>
          <a:bodyPr/>
          <a:lstStyle/>
          <a:p>
            <a:endParaRPr lang="ko-KR" altLang="en-US"/>
          </a:p>
        </p:txBody>
      </p:sp>
      <p:sp>
        <p:nvSpPr>
          <p:cNvPr id="68" name="Text 65"/>
          <p:cNvSpPr/>
          <p:nvPr/>
        </p:nvSpPr>
        <p:spPr>
          <a:xfrm>
            <a:off x="5532120" y="3904488"/>
            <a:ext cx="73152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1</a:t>
            </a:r>
            <a:endParaRPr lang="en-US" sz="1050" dirty="0"/>
          </a:p>
        </p:txBody>
      </p:sp>
      <p:sp>
        <p:nvSpPr>
          <p:cNvPr id="69" name="Shape 66"/>
          <p:cNvSpPr/>
          <p:nvPr/>
        </p:nvSpPr>
        <p:spPr>
          <a:xfrm>
            <a:off x="6629400" y="1508760"/>
            <a:ext cx="4526280" cy="1508760"/>
          </a:xfrm>
          <a:prstGeom prst="roundRect">
            <a:avLst>
              <a:gd name="adj" fmla="val 3636"/>
            </a:avLst>
          </a:prstGeom>
          <a:solidFill>
            <a:srgbClr val="F3F8FF"/>
          </a:solidFill>
          <a:ln w="13335">
            <a:solidFill>
              <a:srgbClr val="9EADCC"/>
            </a:solidFill>
            <a:prstDash val="solid"/>
          </a:ln>
        </p:spPr>
        <p:txBody>
          <a:bodyPr/>
          <a:lstStyle/>
          <a:p>
            <a:endParaRPr lang="ko-KR" altLang="en-US"/>
          </a:p>
        </p:txBody>
      </p:sp>
      <p:sp>
        <p:nvSpPr>
          <p:cNvPr id="70" name="Text 67"/>
          <p:cNvSpPr/>
          <p:nvPr/>
        </p:nvSpPr>
        <p:spPr>
          <a:xfrm>
            <a:off x="6793992" y="1618488"/>
            <a:ext cx="41970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1: 011</a:t>
            </a:r>
            <a:endParaRPr lang="en-US" sz="1200" dirty="0"/>
          </a:p>
        </p:txBody>
      </p:sp>
      <p:sp>
        <p:nvSpPr>
          <p:cNvPr id="71" name="Text 68"/>
          <p:cNvSpPr/>
          <p:nvPr/>
        </p:nvSpPr>
        <p:spPr>
          <a:xfrm>
            <a:off x="6903720" y="2029968"/>
            <a:ext cx="3977640" cy="347472"/>
          </a:xfrm>
          <a:prstGeom prst="rect">
            <a:avLst/>
          </a:prstGeom>
          <a:noFill/>
          <a:ln/>
        </p:spPr>
        <p:txBody>
          <a:bodyPr wrap="square" lIns="0" tIns="0" rIns="0" bIns="0" rtlCol="0" anchor="ctr">
            <a:normAutofit/>
          </a:bodyPr>
          <a:lstStyle/>
          <a:p>
            <a:pPr marL="0" indent="0" algn="ctr">
              <a:buNone/>
            </a:pPr>
            <a:r>
              <a:rPr lang="en-US" sz="1800" b="1" dirty="0">
                <a:solidFill>
                  <a:srgbClr val="00245D"/>
                </a:solidFill>
                <a:latin typeface="Cambria Math" pitchFamily="34" charset="0"/>
                <a:ea typeface="Cambria Math" pitchFamily="34" charset="-122"/>
                <a:cs typeface="Cambria Math" pitchFamily="34" charset="-120"/>
              </a:rPr>
              <a:t>011 → +2x</a:t>
            </a:r>
            <a:endParaRPr lang="en-US" sz="1800" dirty="0"/>
          </a:p>
        </p:txBody>
      </p:sp>
      <p:sp>
        <p:nvSpPr>
          <p:cNvPr id="72" name="Text 69"/>
          <p:cNvSpPr/>
          <p:nvPr/>
        </p:nvSpPr>
        <p:spPr>
          <a:xfrm>
            <a:off x="6903720" y="2514600"/>
            <a:ext cx="3977640" cy="237744"/>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Sign = 0, Exp = 1, Man = 1</a:t>
            </a:r>
            <a:endParaRPr lang="en-US" sz="1200" dirty="0"/>
          </a:p>
        </p:txBody>
      </p:sp>
      <p:sp>
        <p:nvSpPr>
          <p:cNvPr id="73" name="Shape 70"/>
          <p:cNvSpPr/>
          <p:nvPr/>
        </p:nvSpPr>
        <p:spPr>
          <a:xfrm>
            <a:off x="6629400" y="3246120"/>
            <a:ext cx="4526280" cy="1508760"/>
          </a:xfrm>
          <a:prstGeom prst="roundRect">
            <a:avLst>
              <a:gd name="adj" fmla="val 3636"/>
            </a:avLst>
          </a:prstGeom>
          <a:solidFill>
            <a:srgbClr val="FDECEC"/>
          </a:solidFill>
          <a:ln w="13335">
            <a:solidFill>
              <a:srgbClr val="E6B8B7"/>
            </a:solidFill>
            <a:prstDash val="solid"/>
          </a:ln>
        </p:spPr>
        <p:txBody>
          <a:bodyPr/>
          <a:lstStyle/>
          <a:p>
            <a:endParaRPr lang="ko-KR" altLang="en-US"/>
          </a:p>
        </p:txBody>
      </p:sp>
      <p:sp>
        <p:nvSpPr>
          <p:cNvPr id="74" name="Text 71"/>
          <p:cNvSpPr/>
          <p:nvPr/>
        </p:nvSpPr>
        <p:spPr>
          <a:xfrm>
            <a:off x="6793992" y="3355848"/>
            <a:ext cx="41970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2: 100</a:t>
            </a:r>
            <a:endParaRPr lang="en-US" sz="1200" dirty="0"/>
          </a:p>
        </p:txBody>
      </p:sp>
      <p:sp>
        <p:nvSpPr>
          <p:cNvPr id="75" name="Text 72"/>
          <p:cNvSpPr/>
          <p:nvPr/>
        </p:nvSpPr>
        <p:spPr>
          <a:xfrm>
            <a:off x="6903720" y="3767328"/>
            <a:ext cx="3977640" cy="347472"/>
          </a:xfrm>
          <a:prstGeom prst="rect">
            <a:avLst/>
          </a:prstGeom>
          <a:noFill/>
          <a:ln/>
        </p:spPr>
        <p:txBody>
          <a:bodyPr wrap="square" lIns="0" tIns="0" rIns="0" bIns="0" rtlCol="0" anchor="ctr">
            <a:normAutofit/>
          </a:bodyPr>
          <a:lstStyle/>
          <a:p>
            <a:pPr marL="0" indent="0" algn="ctr">
              <a:buNone/>
            </a:pPr>
            <a:r>
              <a:rPr lang="en-US" sz="1800" b="1" dirty="0">
                <a:solidFill>
                  <a:srgbClr val="C00000"/>
                </a:solidFill>
                <a:latin typeface="Cambria Math" pitchFamily="34" charset="0"/>
                <a:ea typeface="Cambria Math" pitchFamily="34" charset="-122"/>
                <a:cs typeface="Cambria Math" pitchFamily="34" charset="-120"/>
              </a:rPr>
              <a:t>100 → −2x</a:t>
            </a:r>
            <a:endParaRPr lang="en-US" sz="1800" dirty="0"/>
          </a:p>
        </p:txBody>
      </p:sp>
      <p:sp>
        <p:nvSpPr>
          <p:cNvPr id="76" name="Text 73"/>
          <p:cNvSpPr/>
          <p:nvPr/>
        </p:nvSpPr>
        <p:spPr>
          <a:xfrm>
            <a:off x="6903720" y="4251960"/>
            <a:ext cx="3977640" cy="237744"/>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Sign = 1, Exp = 1, Man = 1</a:t>
            </a:r>
            <a:endParaRPr lang="en-US" sz="1200" dirty="0"/>
          </a:p>
        </p:txBody>
      </p:sp>
      <p:sp>
        <p:nvSpPr>
          <p:cNvPr id="77" name="Shape 74"/>
          <p:cNvSpPr/>
          <p:nvPr/>
        </p:nvSpPr>
        <p:spPr>
          <a:xfrm>
            <a:off x="777240" y="4983480"/>
            <a:ext cx="10378440" cy="868680"/>
          </a:xfrm>
          <a:prstGeom prst="roundRect">
            <a:avLst>
              <a:gd name="adj" fmla="val 6316"/>
            </a:avLst>
          </a:prstGeom>
          <a:solidFill>
            <a:srgbClr val="FFFDF2"/>
          </a:solidFill>
          <a:ln w="13335">
            <a:solidFill>
              <a:srgbClr val="D6B656"/>
            </a:solidFill>
            <a:prstDash val="solid"/>
          </a:ln>
        </p:spPr>
        <p:txBody>
          <a:bodyPr/>
          <a:lstStyle/>
          <a:p>
            <a:endParaRPr lang="ko-KR" altLang="en-US"/>
          </a:p>
        </p:txBody>
      </p:sp>
      <p:sp>
        <p:nvSpPr>
          <p:cNvPr id="78" name="Text 75"/>
          <p:cNvSpPr/>
          <p:nvPr/>
        </p:nvSpPr>
        <p:spPr>
          <a:xfrm>
            <a:off x="941832" y="5093208"/>
            <a:ext cx="100492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Bsig is the second scale inside the term</a:t>
            </a:r>
            <a:endParaRPr lang="en-US" sz="1200" dirty="0"/>
          </a:p>
        </p:txBody>
      </p:sp>
      <mc:AlternateContent xmlns:mc="http://schemas.openxmlformats.org/markup-compatibility/2006" xmlns:a14="http://schemas.microsoft.com/office/drawing/2010/main">
        <mc:Choice Requires="a14">
          <p:sp>
            <p:nvSpPr>
              <p:cNvPr id="79" name="Text 76"/>
              <p:cNvSpPr/>
              <p:nvPr/>
            </p:nvSpPr>
            <p:spPr>
              <a:xfrm>
                <a:off x="1051560" y="5321808"/>
                <a:ext cx="4754880" cy="292608"/>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
                      <m:sSub>
                        <m:sSubPr>
                          <m:ctrlPr>
                            <a:rPr lang="ko-KR" altLang="en-US" sz="1600" b="1" i="1" dirty="0" smtClean="0">
                              <a:solidFill>
                                <a:srgbClr val="00245D"/>
                              </a:solidFill>
                              <a:latin typeface="Cambria Math" panose="02040503050406030204" pitchFamily="18" charset="0"/>
                            </a:rPr>
                          </m:ctrlPr>
                        </m:sSubPr>
                        <m:e>
                          <m:r>
                            <a:rPr lang="ko-KR" altLang="en-US" sz="1600" b="1" i="1" dirty="0" smtClean="0">
                              <a:solidFill>
                                <a:srgbClr val="00245D"/>
                              </a:solidFill>
                              <a:latin typeface="Cambria Math" panose="02040503050406030204" pitchFamily="18" charset="0"/>
                            </a:rPr>
                            <m:t>𝑉</m:t>
                          </m:r>
                        </m:e>
                        <m:sub>
                          <m:r>
                            <a:rPr lang="ko-KR" altLang="en-US" sz="1600" b="1" i="1" dirty="0" smtClean="0">
                              <a:solidFill>
                                <a:srgbClr val="00245D"/>
                              </a:solidFill>
                              <a:latin typeface="Cambria Math" panose="02040503050406030204" pitchFamily="18" charset="0"/>
                            </a:rPr>
                            <m:t>𝑡𝑒𝑟𝑚</m:t>
                          </m:r>
                        </m:sub>
                      </m:sSub>
                      <m:r>
                        <a:rPr lang="en-US" altLang="ko-KR" sz="1600" b="1" i="0" dirty="0" smtClean="0">
                          <a:solidFill>
                            <a:srgbClr val="00245D"/>
                          </a:solidFill>
                          <a:latin typeface="Cambria Math" panose="02040503050406030204" pitchFamily="18" charset="0"/>
                          <a:ea typeface="Cambria Math" pitchFamily="34" charset="-122"/>
                        </a:rPr>
                        <m:t>=</m:t>
                      </m:r>
                      <m:sSup>
                        <m:sSupPr>
                          <m:ctrlPr>
                            <a:rPr lang="en-US" altLang="ko-KR" sz="1600" b="1" i="1" dirty="0" smtClean="0">
                              <a:solidFill>
                                <a:srgbClr val="00245D"/>
                              </a:solidFill>
                              <a:latin typeface="Cambria Math" panose="02040503050406030204" pitchFamily="18" charset="0"/>
                              <a:ea typeface="Cambria Math" pitchFamily="34" charset="-122"/>
                            </a:rPr>
                          </m:ctrlPr>
                        </m:sSupPr>
                        <m:e>
                          <m:d>
                            <m:dPr>
                              <m:ctrlPr>
                                <a:rPr lang="en-US" altLang="ko-KR" sz="1600" b="1" i="0" dirty="0" smtClean="0">
                                  <a:solidFill>
                                    <a:srgbClr val="00245D"/>
                                  </a:solidFill>
                                  <a:latin typeface="Cambria Math" panose="02040503050406030204" pitchFamily="18" charset="0"/>
                                  <a:ea typeface="Cambria Math" pitchFamily="34" charset="-122"/>
                                </a:rPr>
                              </m:ctrlPr>
                            </m:dPr>
                            <m:e>
                              <m:r>
                                <a:rPr lang="en-US" altLang="ko-KR" sz="1600" b="1" i="0" dirty="0" smtClean="0">
                                  <a:solidFill>
                                    <a:srgbClr val="00245D"/>
                                  </a:solidFill>
                                  <a:latin typeface="Cambria Math" panose="02040503050406030204" pitchFamily="18" charset="0"/>
                                  <a:ea typeface="Cambria Math" pitchFamily="34" charset="-122"/>
                                </a:rPr>
                                <m:t>−1</m:t>
                              </m:r>
                            </m:e>
                          </m:d>
                        </m:e>
                        <m:sup>
                          <m:r>
                            <a:rPr lang="ko-KR" altLang="en-US" sz="1600" b="1" i="1" dirty="0" smtClean="0">
                              <a:solidFill>
                                <a:srgbClr val="00245D"/>
                              </a:solidFill>
                              <a:latin typeface="Cambria Math" panose="02040503050406030204" pitchFamily="18" charset="0"/>
                            </a:rPr>
                            <m:t>𝑆𝑖𝑔𝑛</m:t>
                          </m:r>
                        </m:sup>
                      </m:sSup>
                      <m:r>
                        <a:rPr lang="en-US" altLang="ko-KR" sz="1600" b="1" i="0" dirty="0" smtClean="0">
                          <a:solidFill>
                            <a:srgbClr val="00245D"/>
                          </a:solidFill>
                          <a:latin typeface="Cambria Math" panose="02040503050406030204" pitchFamily="18" charset="0"/>
                          <a:ea typeface="Cambria Math" pitchFamily="34" charset="-122"/>
                        </a:rPr>
                        <m:t>×</m:t>
                      </m:r>
                      <m:sSup>
                        <m:sSupPr>
                          <m:ctrlPr>
                            <a:rPr lang="en-US" altLang="ko-KR" sz="1600" b="1" i="0" dirty="0" smtClean="0">
                              <a:solidFill>
                                <a:srgbClr val="00245D"/>
                              </a:solidFill>
                              <a:latin typeface="Cambria Math" panose="02040503050406030204" pitchFamily="18" charset="0"/>
                              <a:ea typeface="Cambria Math" pitchFamily="34" charset="-122"/>
                            </a:rPr>
                          </m:ctrlPr>
                        </m:sSupPr>
                        <m:e>
                          <m:r>
                            <a:rPr lang="en-US" altLang="ko-KR" sz="1600" b="1" i="0" dirty="0" smtClean="0">
                              <a:solidFill>
                                <a:srgbClr val="00245D"/>
                              </a:solidFill>
                              <a:latin typeface="Cambria Math" panose="02040503050406030204" pitchFamily="18" charset="0"/>
                              <a:ea typeface="Cambria Math" pitchFamily="34" charset="-122"/>
                            </a:rPr>
                            <m:t>2</m:t>
                          </m:r>
                        </m:e>
                        <m:sup>
                          <m:r>
                            <a:rPr lang="ko-KR" altLang="en-US" sz="1600" b="1" i="1" dirty="0" smtClean="0">
                              <a:solidFill>
                                <a:srgbClr val="00245D"/>
                              </a:solidFill>
                              <a:latin typeface="Cambria Math" panose="02040503050406030204" pitchFamily="18" charset="0"/>
                            </a:rPr>
                            <m:t>𝐸𝑥𝑝</m:t>
                          </m:r>
                        </m:sup>
                      </m:sSup>
                      <m:r>
                        <a:rPr lang="en-US" altLang="ko-KR" sz="1600" b="1" i="0" dirty="0" smtClean="0">
                          <a:solidFill>
                            <a:srgbClr val="00245D"/>
                          </a:solidFill>
                          <a:latin typeface="Cambria Math" panose="02040503050406030204" pitchFamily="18" charset="0"/>
                          <a:ea typeface="Cambria Math" pitchFamily="34" charset="-122"/>
                        </a:rPr>
                        <m:t>×</m:t>
                      </m:r>
                      <m:r>
                        <a:rPr lang="ko-KR" altLang="en-US" sz="1600" b="1" i="1" dirty="0" smtClean="0">
                          <a:solidFill>
                            <a:srgbClr val="00245D"/>
                          </a:solidFill>
                          <a:latin typeface="Cambria Math" panose="02040503050406030204" pitchFamily="18" charset="0"/>
                        </a:rPr>
                        <m:t>𝑀𝑎𝑛</m:t>
                      </m:r>
                      <m:r>
                        <a:rPr lang="en-US" altLang="ko-KR" sz="1600" b="1" i="0" dirty="0" smtClean="0">
                          <a:solidFill>
                            <a:srgbClr val="00245D"/>
                          </a:solidFill>
                          <a:latin typeface="Cambria Math" panose="02040503050406030204" pitchFamily="18" charset="0"/>
                          <a:ea typeface="Cambria Math" pitchFamily="34" charset="-122"/>
                        </a:rPr>
                        <m:t>×</m:t>
                      </m:r>
                      <m:sSup>
                        <m:sSupPr>
                          <m:ctrlPr>
                            <a:rPr lang="en-US" altLang="ko-KR" sz="1600" b="1" i="0" dirty="0" smtClean="0">
                              <a:solidFill>
                                <a:srgbClr val="00245D"/>
                              </a:solidFill>
                              <a:latin typeface="Cambria Math" panose="02040503050406030204" pitchFamily="18" charset="0"/>
                              <a:ea typeface="Cambria Math" pitchFamily="34" charset="-122"/>
                            </a:rPr>
                          </m:ctrlPr>
                        </m:sSupPr>
                        <m:e>
                          <m:r>
                            <a:rPr lang="en-US" altLang="ko-KR" sz="1600" b="1" i="0" dirty="0" smtClean="0">
                              <a:solidFill>
                                <a:srgbClr val="00245D"/>
                              </a:solidFill>
                              <a:latin typeface="Cambria Math" panose="02040503050406030204" pitchFamily="18" charset="0"/>
                              <a:ea typeface="Cambria Math" pitchFamily="34" charset="-122"/>
                            </a:rPr>
                            <m:t>2</m:t>
                          </m:r>
                        </m:e>
                        <m:sup>
                          <m:r>
                            <a:rPr lang="ko-KR" altLang="en-US" sz="1600" b="1" i="1" dirty="0" smtClean="0">
                              <a:solidFill>
                                <a:srgbClr val="00245D"/>
                              </a:solidFill>
                              <a:latin typeface="Cambria Math" panose="02040503050406030204" pitchFamily="18" charset="0"/>
                            </a:rPr>
                            <m:t>𝐵𝑠𝑖𝑔</m:t>
                          </m:r>
                        </m:sup>
                      </m:sSup>
                    </m:oMath>
                  </m:oMathPara>
                </a14:m>
                <a:endParaRPr lang="en-US" sz="1600" dirty="0"/>
              </a:p>
            </p:txBody>
          </p:sp>
        </mc:Choice>
        <mc:Fallback xmlns="">
          <p:sp>
            <p:nvSpPr>
              <p:cNvPr id="79" name="Text 76"/>
              <p:cNvSpPr>
                <a:spLocks noRot="1" noChangeAspect="1" noMove="1" noResize="1" noEditPoints="1" noAdjustHandles="1" noChangeArrowheads="1" noChangeShapeType="1" noTextEdit="1"/>
              </p:cNvSpPr>
              <p:nvPr/>
            </p:nvSpPr>
            <p:spPr>
              <a:xfrm>
                <a:off x="1051560" y="5321808"/>
                <a:ext cx="4754880" cy="292608"/>
              </a:xfrm>
              <a:prstGeom prst="rect">
                <a:avLst/>
              </a:prstGeom>
              <a:blipFill>
                <a:blip r:embed="rId4"/>
                <a:stretch>
                  <a:fillRect b="-8333"/>
                </a:stretch>
              </a:blipFill>
              <a:ln/>
            </p:spPr>
            <p:txBody>
              <a:bodyPr/>
              <a:lstStyle/>
              <a:p>
                <a:r>
                  <a:rPr lang="ko-KR" altLang="en-US">
                    <a:noFill/>
                  </a:rPr>
                  <a:t> </a:t>
                </a:r>
              </a:p>
            </p:txBody>
          </p:sp>
        </mc:Fallback>
      </mc:AlternateContent>
      <p:sp>
        <p:nvSpPr>
          <p:cNvPr id="80" name="Text 77"/>
          <p:cNvSpPr/>
          <p:nvPr/>
        </p:nvSpPr>
        <p:spPr>
          <a:xfrm>
            <a:off x="6172200" y="5285232"/>
            <a:ext cx="4526280" cy="347472"/>
          </a:xfrm>
          <a:prstGeom prst="rect">
            <a:avLst/>
          </a:prstGeom>
          <a:noFill/>
          <a:ln/>
        </p:spPr>
        <p:txBody>
          <a:bodyPr wrap="square" lIns="0" tIns="0" rIns="0" bIns="0" rtlCol="0" anchor="ctr">
            <a:normAutofit/>
          </a:bodyPr>
          <a:lstStyle/>
          <a:p>
            <a:pPr marL="0" indent="0" algn="ctr">
              <a:buNone/>
            </a:pPr>
            <a:r>
              <a:rPr lang="en-US" sz="1140" b="1" dirty="0">
                <a:solidFill>
                  <a:srgbClr val="222222"/>
                </a:solidFill>
                <a:latin typeface="Arial" pitchFamily="34" charset="0"/>
                <a:ea typeface="Arial" pitchFamily="34" charset="-122"/>
                <a:cs typeface="Arial" pitchFamily="34" charset="-120"/>
              </a:rPr>
              <a:t>Same +x has different contribution when Bsig changes: +x·2⁰, +x·2², +x·2⁴, ...</a:t>
            </a:r>
            <a:endParaRPr lang="en-US" sz="114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Case 3 — FP4: FP → Fixed, then LOD</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60</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FP4 cannot use the integer Booth path directly, so BitMoD first converts FP4 to a sign-magnitude fixed-point value.</a:t>
            </a:r>
            <a:endParaRPr lang="en-US" sz="1300" dirty="0"/>
          </a:p>
        </p:txBody>
      </p:sp>
      <p:sp>
        <p:nvSpPr>
          <p:cNvPr id="9" name="Shape 6"/>
          <p:cNvSpPr/>
          <p:nvPr/>
        </p:nvSpPr>
        <p:spPr>
          <a:xfrm>
            <a:off x="685800" y="1463040"/>
            <a:ext cx="5349240" cy="1828800"/>
          </a:xfrm>
          <a:prstGeom prst="roundRect">
            <a:avLst>
              <a:gd name="adj" fmla="val 3000"/>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50392" y="1572768"/>
            <a:ext cx="50200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FP4 input format</a:t>
            </a:r>
            <a:endParaRPr lang="en-US" sz="1200" dirty="0"/>
          </a:p>
        </p:txBody>
      </p:sp>
      <p:sp>
        <p:nvSpPr>
          <p:cNvPr id="11" name="Shape 8"/>
          <p:cNvSpPr/>
          <p:nvPr/>
        </p:nvSpPr>
        <p:spPr>
          <a:xfrm>
            <a:off x="703841" y="2144268"/>
            <a:ext cx="535898" cy="457200"/>
          </a:xfrm>
          <a:prstGeom prst="rect">
            <a:avLst/>
          </a:prstGeom>
          <a:solidFill>
            <a:srgbClr val="FCE4D6"/>
          </a:solidFill>
          <a:ln w="8890">
            <a:solidFill>
              <a:srgbClr val="D9E2F3"/>
            </a:solidFill>
            <a:prstDash val="solid"/>
          </a:ln>
        </p:spPr>
        <p:txBody>
          <a:bodyPr/>
          <a:lstStyle/>
          <a:p>
            <a:endParaRPr lang="ko-KR" altLang="en-US"/>
          </a:p>
        </p:txBody>
      </p:sp>
      <p:sp>
        <p:nvSpPr>
          <p:cNvPr id="12" name="Text 9"/>
          <p:cNvSpPr/>
          <p:nvPr/>
        </p:nvSpPr>
        <p:spPr>
          <a:xfrm>
            <a:off x="722129" y="2217420"/>
            <a:ext cx="502920"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S</a:t>
            </a:r>
            <a:endParaRPr lang="en-US" sz="1050" dirty="0"/>
          </a:p>
        </p:txBody>
      </p:sp>
      <p:sp>
        <p:nvSpPr>
          <p:cNvPr id="13" name="Shape 10"/>
          <p:cNvSpPr/>
          <p:nvPr/>
        </p:nvSpPr>
        <p:spPr>
          <a:xfrm>
            <a:off x="1226009" y="2144268"/>
            <a:ext cx="535898" cy="457200"/>
          </a:xfrm>
          <a:prstGeom prst="rect">
            <a:avLst/>
          </a:prstGeom>
          <a:solidFill>
            <a:srgbClr val="BDD7EE"/>
          </a:solidFill>
          <a:ln w="8890">
            <a:solidFill>
              <a:srgbClr val="D9E2F3"/>
            </a:solidFill>
            <a:prstDash val="solid"/>
          </a:ln>
        </p:spPr>
        <p:txBody>
          <a:bodyPr/>
          <a:lstStyle/>
          <a:p>
            <a:endParaRPr lang="ko-KR" altLang="en-US"/>
          </a:p>
        </p:txBody>
      </p:sp>
      <p:sp>
        <p:nvSpPr>
          <p:cNvPr id="14" name="Text 11"/>
          <p:cNvSpPr/>
          <p:nvPr/>
        </p:nvSpPr>
        <p:spPr>
          <a:xfrm>
            <a:off x="1244297" y="2217420"/>
            <a:ext cx="502920"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E₁</a:t>
            </a:r>
            <a:endParaRPr lang="en-US" sz="1050" dirty="0"/>
          </a:p>
        </p:txBody>
      </p:sp>
      <p:sp>
        <p:nvSpPr>
          <p:cNvPr id="15" name="Shape 12"/>
          <p:cNvSpPr/>
          <p:nvPr/>
        </p:nvSpPr>
        <p:spPr>
          <a:xfrm>
            <a:off x="1760209" y="2144268"/>
            <a:ext cx="535898" cy="457200"/>
          </a:xfrm>
          <a:prstGeom prst="rect">
            <a:avLst/>
          </a:prstGeom>
          <a:solidFill>
            <a:srgbClr val="BDD7EE"/>
          </a:solidFill>
          <a:ln w="8890">
            <a:solidFill>
              <a:srgbClr val="D9E2F3"/>
            </a:solidFill>
            <a:prstDash val="solid"/>
          </a:ln>
        </p:spPr>
        <p:txBody>
          <a:bodyPr/>
          <a:lstStyle/>
          <a:p>
            <a:endParaRPr lang="ko-KR" altLang="en-US"/>
          </a:p>
        </p:txBody>
      </p:sp>
      <p:sp>
        <p:nvSpPr>
          <p:cNvPr id="16" name="Text 13"/>
          <p:cNvSpPr/>
          <p:nvPr/>
        </p:nvSpPr>
        <p:spPr>
          <a:xfrm>
            <a:off x="1778497" y="2217420"/>
            <a:ext cx="502920"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E₀</a:t>
            </a:r>
            <a:endParaRPr lang="en-US" sz="1050" dirty="0"/>
          </a:p>
        </p:txBody>
      </p:sp>
      <p:sp>
        <p:nvSpPr>
          <p:cNvPr id="17" name="Shape 14"/>
          <p:cNvSpPr/>
          <p:nvPr/>
        </p:nvSpPr>
        <p:spPr>
          <a:xfrm>
            <a:off x="2288393" y="2144268"/>
            <a:ext cx="535898" cy="457200"/>
          </a:xfrm>
          <a:prstGeom prst="rect">
            <a:avLst/>
          </a:prstGeom>
          <a:solidFill>
            <a:srgbClr val="E2F0D9"/>
          </a:solidFill>
          <a:ln w="8890">
            <a:solidFill>
              <a:srgbClr val="D9E2F3"/>
            </a:solidFill>
            <a:prstDash val="solid"/>
          </a:ln>
        </p:spPr>
        <p:txBody>
          <a:bodyPr/>
          <a:lstStyle/>
          <a:p>
            <a:endParaRPr lang="ko-KR" altLang="en-US"/>
          </a:p>
        </p:txBody>
      </p:sp>
      <p:sp>
        <p:nvSpPr>
          <p:cNvPr id="18" name="Text 15"/>
          <p:cNvSpPr/>
          <p:nvPr/>
        </p:nvSpPr>
        <p:spPr>
          <a:xfrm>
            <a:off x="2306681" y="2217420"/>
            <a:ext cx="502920"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M</a:t>
            </a:r>
            <a:endParaRPr lang="en-US" sz="1050" dirty="0"/>
          </a:p>
        </p:txBody>
      </p:sp>
      <p:sp>
        <p:nvSpPr>
          <p:cNvPr id="19" name="Shape 16"/>
          <p:cNvSpPr/>
          <p:nvPr/>
        </p:nvSpPr>
        <p:spPr>
          <a:xfrm>
            <a:off x="2863514" y="2377440"/>
            <a:ext cx="731520" cy="0"/>
          </a:xfrm>
          <a:prstGeom prst="line">
            <a:avLst/>
          </a:prstGeom>
          <a:noFill/>
          <a:ln w="15240">
            <a:solidFill>
              <a:srgbClr val="00245D"/>
            </a:solidFill>
            <a:prstDash val="solid"/>
            <a:tailEnd type="triangle"/>
          </a:ln>
        </p:spPr>
        <p:txBody>
          <a:bodyPr/>
          <a:lstStyle/>
          <a:p>
            <a:endParaRPr lang="ko-KR" altLang="en-US"/>
          </a:p>
        </p:txBody>
      </p:sp>
      <p:sp>
        <p:nvSpPr>
          <p:cNvPr id="20" name="Shape 17"/>
          <p:cNvSpPr/>
          <p:nvPr/>
        </p:nvSpPr>
        <p:spPr>
          <a:xfrm>
            <a:off x="3621744" y="2144268"/>
            <a:ext cx="393192" cy="457200"/>
          </a:xfrm>
          <a:prstGeom prst="rect">
            <a:avLst/>
          </a:prstGeom>
          <a:solidFill>
            <a:srgbClr val="FCE4D6"/>
          </a:solidFill>
          <a:ln w="8890">
            <a:solidFill>
              <a:srgbClr val="D9E2F3"/>
            </a:solidFill>
            <a:prstDash val="solid"/>
          </a:ln>
        </p:spPr>
        <p:txBody>
          <a:bodyPr/>
          <a:lstStyle/>
          <a:p>
            <a:endParaRPr lang="ko-KR" altLang="en-US"/>
          </a:p>
        </p:txBody>
      </p:sp>
      <p:sp>
        <p:nvSpPr>
          <p:cNvPr id="21" name="Text 18"/>
          <p:cNvSpPr/>
          <p:nvPr/>
        </p:nvSpPr>
        <p:spPr>
          <a:xfrm>
            <a:off x="3640032" y="2217420"/>
            <a:ext cx="356616"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S</a:t>
            </a:r>
            <a:endParaRPr lang="en-US" sz="1050" dirty="0"/>
          </a:p>
        </p:txBody>
      </p:sp>
      <p:sp>
        <p:nvSpPr>
          <p:cNvPr id="22" name="Shape 19"/>
          <p:cNvSpPr/>
          <p:nvPr/>
        </p:nvSpPr>
        <p:spPr>
          <a:xfrm>
            <a:off x="4014936" y="2144268"/>
            <a:ext cx="393192" cy="457200"/>
          </a:xfrm>
          <a:prstGeom prst="rect">
            <a:avLst/>
          </a:prstGeom>
          <a:solidFill>
            <a:srgbClr val="F4CCCC"/>
          </a:solidFill>
          <a:ln w="8890">
            <a:solidFill>
              <a:srgbClr val="D9E2F3"/>
            </a:solidFill>
            <a:prstDash val="solid"/>
          </a:ln>
        </p:spPr>
        <p:txBody>
          <a:bodyPr/>
          <a:lstStyle/>
          <a:p>
            <a:endParaRPr lang="ko-KR" altLang="en-US"/>
          </a:p>
        </p:txBody>
      </p:sp>
      <p:sp>
        <p:nvSpPr>
          <p:cNvPr id="23" name="Text 20"/>
          <p:cNvSpPr/>
          <p:nvPr/>
        </p:nvSpPr>
        <p:spPr>
          <a:xfrm>
            <a:off x="4033224" y="2217420"/>
            <a:ext cx="356616"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I₃</a:t>
            </a:r>
            <a:endParaRPr lang="en-US" sz="1050" dirty="0"/>
          </a:p>
        </p:txBody>
      </p:sp>
      <p:sp>
        <p:nvSpPr>
          <p:cNvPr id="24" name="Shape 21"/>
          <p:cNvSpPr/>
          <p:nvPr/>
        </p:nvSpPr>
        <p:spPr>
          <a:xfrm>
            <a:off x="4408128" y="2144268"/>
            <a:ext cx="393192" cy="457200"/>
          </a:xfrm>
          <a:prstGeom prst="rect">
            <a:avLst/>
          </a:prstGeom>
          <a:solidFill>
            <a:srgbClr val="F4CCCC"/>
          </a:solidFill>
          <a:ln w="8890">
            <a:solidFill>
              <a:srgbClr val="D9E2F3"/>
            </a:solidFill>
            <a:prstDash val="solid"/>
          </a:ln>
        </p:spPr>
        <p:txBody>
          <a:bodyPr/>
          <a:lstStyle/>
          <a:p>
            <a:endParaRPr lang="ko-KR" altLang="en-US"/>
          </a:p>
        </p:txBody>
      </p:sp>
      <p:sp>
        <p:nvSpPr>
          <p:cNvPr id="25" name="Text 22"/>
          <p:cNvSpPr/>
          <p:nvPr/>
        </p:nvSpPr>
        <p:spPr>
          <a:xfrm>
            <a:off x="4426416" y="2217420"/>
            <a:ext cx="356616"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I₂</a:t>
            </a:r>
            <a:endParaRPr lang="en-US" sz="1050" dirty="0"/>
          </a:p>
        </p:txBody>
      </p:sp>
      <p:sp>
        <p:nvSpPr>
          <p:cNvPr id="26" name="Shape 23"/>
          <p:cNvSpPr/>
          <p:nvPr/>
        </p:nvSpPr>
        <p:spPr>
          <a:xfrm>
            <a:off x="4801320" y="2144268"/>
            <a:ext cx="393192" cy="457200"/>
          </a:xfrm>
          <a:prstGeom prst="rect">
            <a:avLst/>
          </a:prstGeom>
          <a:solidFill>
            <a:srgbClr val="F4CCCC"/>
          </a:solidFill>
          <a:ln w="8890">
            <a:solidFill>
              <a:srgbClr val="D9E2F3"/>
            </a:solidFill>
            <a:prstDash val="solid"/>
          </a:ln>
        </p:spPr>
        <p:txBody>
          <a:bodyPr/>
          <a:lstStyle/>
          <a:p>
            <a:endParaRPr lang="ko-KR" altLang="en-US"/>
          </a:p>
        </p:txBody>
      </p:sp>
      <p:sp>
        <p:nvSpPr>
          <p:cNvPr id="27" name="Text 24"/>
          <p:cNvSpPr/>
          <p:nvPr/>
        </p:nvSpPr>
        <p:spPr>
          <a:xfrm>
            <a:off x="4819608" y="2217420"/>
            <a:ext cx="356616"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I₁</a:t>
            </a:r>
            <a:endParaRPr lang="en-US" sz="1050" dirty="0"/>
          </a:p>
        </p:txBody>
      </p:sp>
      <p:sp>
        <p:nvSpPr>
          <p:cNvPr id="28" name="Shape 25"/>
          <p:cNvSpPr/>
          <p:nvPr/>
        </p:nvSpPr>
        <p:spPr>
          <a:xfrm>
            <a:off x="5194512" y="2144268"/>
            <a:ext cx="393192" cy="457200"/>
          </a:xfrm>
          <a:prstGeom prst="rect">
            <a:avLst/>
          </a:prstGeom>
          <a:solidFill>
            <a:srgbClr val="F4CCCC"/>
          </a:solidFill>
          <a:ln w="8890">
            <a:solidFill>
              <a:srgbClr val="D9E2F3"/>
            </a:solidFill>
            <a:prstDash val="solid"/>
          </a:ln>
        </p:spPr>
        <p:txBody>
          <a:bodyPr/>
          <a:lstStyle/>
          <a:p>
            <a:endParaRPr lang="ko-KR" altLang="en-US"/>
          </a:p>
        </p:txBody>
      </p:sp>
      <p:sp>
        <p:nvSpPr>
          <p:cNvPr id="29" name="Text 26"/>
          <p:cNvSpPr/>
          <p:nvPr/>
        </p:nvSpPr>
        <p:spPr>
          <a:xfrm>
            <a:off x="5212800" y="2217420"/>
            <a:ext cx="356616"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I₀</a:t>
            </a:r>
            <a:endParaRPr lang="en-US" sz="1050" dirty="0"/>
          </a:p>
        </p:txBody>
      </p:sp>
      <p:sp>
        <p:nvSpPr>
          <p:cNvPr id="30" name="Shape 27"/>
          <p:cNvSpPr/>
          <p:nvPr/>
        </p:nvSpPr>
        <p:spPr>
          <a:xfrm>
            <a:off x="5587704" y="2144268"/>
            <a:ext cx="393192" cy="457200"/>
          </a:xfrm>
          <a:prstGeom prst="rect">
            <a:avLst/>
          </a:prstGeom>
          <a:solidFill>
            <a:srgbClr val="D9EAD3"/>
          </a:solidFill>
          <a:ln w="8890">
            <a:solidFill>
              <a:srgbClr val="D9E2F3"/>
            </a:solidFill>
            <a:prstDash val="solid"/>
          </a:ln>
        </p:spPr>
        <p:txBody>
          <a:bodyPr/>
          <a:lstStyle/>
          <a:p>
            <a:endParaRPr lang="ko-KR" altLang="en-US"/>
          </a:p>
        </p:txBody>
      </p:sp>
      <p:sp>
        <p:nvSpPr>
          <p:cNvPr id="31" name="Text 28"/>
          <p:cNvSpPr/>
          <p:nvPr/>
        </p:nvSpPr>
        <p:spPr>
          <a:xfrm>
            <a:off x="5605992" y="2217420"/>
            <a:ext cx="356616" cy="36576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F₀</a:t>
            </a:r>
            <a:endParaRPr lang="en-US" sz="1050" dirty="0"/>
          </a:p>
        </p:txBody>
      </p:sp>
      <p:sp>
        <p:nvSpPr>
          <p:cNvPr id="32" name="Text 29"/>
          <p:cNvSpPr/>
          <p:nvPr/>
        </p:nvSpPr>
        <p:spPr>
          <a:xfrm>
            <a:off x="3813768" y="2702052"/>
            <a:ext cx="2240280" cy="164592"/>
          </a:xfrm>
          <a:prstGeom prst="rect">
            <a:avLst/>
          </a:prstGeom>
          <a:noFill/>
          <a:ln/>
        </p:spPr>
        <p:txBody>
          <a:bodyPr wrap="square" lIns="0" tIns="0" rIns="0" bIns="0" rtlCol="0" anchor="ctr">
            <a:normAutofit/>
          </a:bodyPr>
          <a:lstStyle/>
          <a:p>
            <a:pPr marL="0" indent="0" algn="ctr">
              <a:buNone/>
            </a:pPr>
            <a:r>
              <a:rPr lang="en-US" sz="830" dirty="0">
                <a:solidFill>
                  <a:srgbClr val="666666"/>
                </a:solidFill>
                <a:latin typeface="Arial" pitchFamily="34" charset="0"/>
                <a:ea typeface="Arial" pitchFamily="34" charset="-122"/>
                <a:cs typeface="Arial" pitchFamily="34" charset="-120"/>
              </a:rPr>
              <a:t>8    4    2    1    0.5</a:t>
            </a:r>
            <a:endParaRPr lang="en-US" sz="830" dirty="0"/>
          </a:p>
        </p:txBody>
      </p:sp>
      <p:sp>
        <p:nvSpPr>
          <p:cNvPr id="33" name="Shape 30"/>
          <p:cNvSpPr/>
          <p:nvPr/>
        </p:nvSpPr>
        <p:spPr>
          <a:xfrm>
            <a:off x="6446520" y="1463040"/>
            <a:ext cx="4892040" cy="1828800"/>
          </a:xfrm>
          <a:prstGeom prst="roundRect">
            <a:avLst>
              <a:gd name="adj" fmla="val 3000"/>
            </a:avLst>
          </a:prstGeom>
          <a:solidFill>
            <a:srgbClr val="E2F0D9"/>
          </a:solidFill>
          <a:ln w="13335">
            <a:solidFill>
              <a:srgbClr val="548235"/>
            </a:solidFill>
            <a:prstDash val="solid"/>
          </a:ln>
        </p:spPr>
        <p:txBody>
          <a:bodyPr/>
          <a:lstStyle/>
          <a:p>
            <a:endParaRPr lang="ko-KR" altLang="en-US"/>
          </a:p>
        </p:txBody>
      </p:sp>
      <p:sp>
        <p:nvSpPr>
          <p:cNvPr id="34" name="Text 31"/>
          <p:cNvSpPr/>
          <p:nvPr/>
        </p:nvSpPr>
        <p:spPr>
          <a:xfrm>
            <a:off x="6611112" y="1572768"/>
            <a:ext cx="45628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Why these bits?</a:t>
            </a:r>
            <a:endParaRPr lang="en-US" sz="1200" dirty="0"/>
          </a:p>
        </p:txBody>
      </p:sp>
      <p:sp>
        <p:nvSpPr>
          <p:cNvPr id="35" name="Text 32"/>
          <p:cNvSpPr/>
          <p:nvPr/>
        </p:nvSpPr>
        <p:spPr>
          <a:xfrm>
            <a:off x="6728460" y="1956816"/>
            <a:ext cx="4251960" cy="329184"/>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I₃ is needed for FP4-EA special value ±8.</a:t>
            </a:r>
            <a:endParaRPr lang="en-US" sz="1200" dirty="0"/>
          </a:p>
        </p:txBody>
      </p:sp>
      <p:sp>
        <p:nvSpPr>
          <p:cNvPr id="36" name="Text 33"/>
          <p:cNvSpPr/>
          <p:nvPr/>
        </p:nvSpPr>
        <p:spPr>
          <a:xfrm>
            <a:off x="6728460" y="2487168"/>
            <a:ext cx="4251960" cy="329184"/>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F₀ is needed for values such as ±0.5 and ±1.5.</a:t>
            </a:r>
            <a:endParaRPr lang="en-US" sz="1200" dirty="0"/>
          </a:p>
        </p:txBody>
      </p:sp>
      <p:sp>
        <p:nvSpPr>
          <p:cNvPr id="37" name="Shape 34"/>
          <p:cNvSpPr/>
          <p:nvPr/>
        </p:nvSpPr>
        <p:spPr>
          <a:xfrm>
            <a:off x="685800" y="3703320"/>
            <a:ext cx="5349240" cy="1691640"/>
          </a:xfrm>
          <a:prstGeom prst="roundRect">
            <a:avLst>
              <a:gd name="adj" fmla="val 3243"/>
            </a:avLst>
          </a:prstGeom>
          <a:solidFill>
            <a:srgbClr val="FFFDF2"/>
          </a:solidFill>
          <a:ln w="13335">
            <a:solidFill>
              <a:srgbClr val="D6B656"/>
            </a:solidFill>
            <a:prstDash val="solid"/>
          </a:ln>
        </p:spPr>
        <p:txBody>
          <a:bodyPr/>
          <a:lstStyle/>
          <a:p>
            <a:endParaRPr lang="ko-KR" altLang="en-US"/>
          </a:p>
        </p:txBody>
      </p:sp>
      <p:sp>
        <p:nvSpPr>
          <p:cNvPr id="38" name="Text 35"/>
          <p:cNvSpPr/>
          <p:nvPr/>
        </p:nvSpPr>
        <p:spPr>
          <a:xfrm>
            <a:off x="850392" y="3813048"/>
            <a:ext cx="50200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FP4 value 6</a:t>
            </a:r>
            <a:endParaRPr lang="en-US" sz="1200" dirty="0"/>
          </a:p>
        </p:txBody>
      </p:sp>
      <p:sp>
        <p:nvSpPr>
          <p:cNvPr id="39" name="Text 36"/>
          <p:cNvSpPr/>
          <p:nvPr/>
        </p:nvSpPr>
        <p:spPr>
          <a:xfrm>
            <a:off x="1005840" y="4160520"/>
            <a:ext cx="2011680" cy="347472"/>
          </a:xfrm>
          <a:prstGeom prst="rect">
            <a:avLst/>
          </a:prstGeom>
          <a:noFill/>
          <a:ln/>
        </p:spPr>
        <p:txBody>
          <a:bodyPr wrap="square" lIns="0" tIns="0" rIns="0" bIns="0" rtlCol="0" anchor="ctr">
            <a:normAutofit/>
          </a:bodyPr>
          <a:lstStyle/>
          <a:p>
            <a:pPr marL="0" indent="0" algn="ctr">
              <a:buNone/>
            </a:pPr>
            <a:r>
              <a:rPr lang="en-US" sz="1800" b="1" dirty="0">
                <a:solidFill>
                  <a:srgbClr val="548235"/>
                </a:solidFill>
                <a:latin typeface="Cambria Math" pitchFamily="34" charset="0"/>
                <a:ea typeface="Cambria Math" pitchFamily="34" charset="-122"/>
                <a:cs typeface="Cambria Math" pitchFamily="34" charset="-120"/>
              </a:rPr>
              <a:t>6 = 4 + 2</a:t>
            </a:r>
            <a:endParaRPr lang="en-US" sz="1800" dirty="0"/>
          </a:p>
        </p:txBody>
      </p:sp>
      <p:sp>
        <p:nvSpPr>
          <p:cNvPr id="40" name="Shape 37"/>
          <p:cNvSpPr/>
          <p:nvPr/>
        </p:nvSpPr>
        <p:spPr>
          <a:xfrm>
            <a:off x="3200400" y="4178808"/>
            <a:ext cx="411480" cy="384048"/>
          </a:xfrm>
          <a:prstGeom prst="rect">
            <a:avLst/>
          </a:prstGeom>
          <a:solidFill>
            <a:srgbClr val="FCE4D6"/>
          </a:solidFill>
          <a:ln w="8890">
            <a:solidFill>
              <a:srgbClr val="D9E2F3"/>
            </a:solidFill>
            <a:prstDash val="solid"/>
          </a:ln>
        </p:spPr>
        <p:txBody>
          <a:bodyPr/>
          <a:lstStyle/>
          <a:p>
            <a:endParaRPr lang="ko-KR" altLang="en-US"/>
          </a:p>
        </p:txBody>
      </p:sp>
      <p:sp>
        <p:nvSpPr>
          <p:cNvPr id="41" name="Text 38"/>
          <p:cNvSpPr/>
          <p:nvPr/>
        </p:nvSpPr>
        <p:spPr>
          <a:xfrm>
            <a:off x="3218688" y="4251960"/>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42" name="Shape 39"/>
          <p:cNvSpPr/>
          <p:nvPr/>
        </p:nvSpPr>
        <p:spPr>
          <a:xfrm>
            <a:off x="3611880" y="4178808"/>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43" name="Text 40"/>
          <p:cNvSpPr/>
          <p:nvPr/>
        </p:nvSpPr>
        <p:spPr>
          <a:xfrm>
            <a:off x="3630168" y="4251960"/>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44" name="Shape 41"/>
          <p:cNvSpPr/>
          <p:nvPr/>
        </p:nvSpPr>
        <p:spPr>
          <a:xfrm>
            <a:off x="4023360" y="4178808"/>
            <a:ext cx="411480" cy="384048"/>
          </a:xfrm>
          <a:prstGeom prst="rect">
            <a:avLst/>
          </a:prstGeom>
          <a:solidFill>
            <a:srgbClr val="E2F0D9"/>
          </a:solidFill>
          <a:ln w="8890">
            <a:solidFill>
              <a:srgbClr val="D9E2F3"/>
            </a:solidFill>
            <a:prstDash val="solid"/>
          </a:ln>
        </p:spPr>
        <p:txBody>
          <a:bodyPr/>
          <a:lstStyle/>
          <a:p>
            <a:endParaRPr lang="ko-KR" altLang="en-US"/>
          </a:p>
        </p:txBody>
      </p:sp>
      <p:sp>
        <p:nvSpPr>
          <p:cNvPr id="45" name="Text 42"/>
          <p:cNvSpPr/>
          <p:nvPr/>
        </p:nvSpPr>
        <p:spPr>
          <a:xfrm>
            <a:off x="4041648" y="4251960"/>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46" name="Shape 43"/>
          <p:cNvSpPr/>
          <p:nvPr/>
        </p:nvSpPr>
        <p:spPr>
          <a:xfrm>
            <a:off x="4434840" y="4178808"/>
            <a:ext cx="411480" cy="384048"/>
          </a:xfrm>
          <a:prstGeom prst="rect">
            <a:avLst/>
          </a:prstGeom>
          <a:solidFill>
            <a:srgbClr val="E2F0D9"/>
          </a:solidFill>
          <a:ln w="8890">
            <a:solidFill>
              <a:srgbClr val="D9E2F3"/>
            </a:solidFill>
            <a:prstDash val="solid"/>
          </a:ln>
        </p:spPr>
        <p:txBody>
          <a:bodyPr/>
          <a:lstStyle/>
          <a:p>
            <a:endParaRPr lang="ko-KR" altLang="en-US"/>
          </a:p>
        </p:txBody>
      </p:sp>
      <p:sp>
        <p:nvSpPr>
          <p:cNvPr id="47" name="Text 44"/>
          <p:cNvSpPr/>
          <p:nvPr/>
        </p:nvSpPr>
        <p:spPr>
          <a:xfrm>
            <a:off x="4453128" y="4251960"/>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48" name="Shape 45"/>
          <p:cNvSpPr/>
          <p:nvPr/>
        </p:nvSpPr>
        <p:spPr>
          <a:xfrm>
            <a:off x="4846320" y="4178808"/>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49" name="Text 46"/>
          <p:cNvSpPr/>
          <p:nvPr/>
        </p:nvSpPr>
        <p:spPr>
          <a:xfrm>
            <a:off x="4864608" y="4251960"/>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50" name="Shape 47"/>
          <p:cNvSpPr/>
          <p:nvPr/>
        </p:nvSpPr>
        <p:spPr>
          <a:xfrm>
            <a:off x="5257800" y="4178808"/>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51" name="Text 48"/>
          <p:cNvSpPr/>
          <p:nvPr/>
        </p:nvSpPr>
        <p:spPr>
          <a:xfrm>
            <a:off x="5276088" y="4251960"/>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52" name="Text 49"/>
          <p:cNvSpPr/>
          <p:nvPr/>
        </p:nvSpPr>
        <p:spPr>
          <a:xfrm>
            <a:off x="3200400" y="4700016"/>
            <a:ext cx="2468880" cy="182880"/>
          </a:xfrm>
          <a:prstGeom prst="rect">
            <a:avLst/>
          </a:prstGeom>
          <a:noFill/>
          <a:ln/>
        </p:spPr>
        <p:txBody>
          <a:bodyPr wrap="square" lIns="0" tIns="0" rIns="0" bIns="0" rtlCol="0" anchor="ctr">
            <a:normAutofit/>
          </a:bodyPr>
          <a:lstStyle/>
          <a:p>
            <a:pPr marL="0" indent="0" algn="ctr">
              <a:buNone/>
            </a:pPr>
            <a:r>
              <a:rPr lang="en-US" sz="880" dirty="0">
                <a:solidFill>
                  <a:srgbClr val="666666"/>
                </a:solidFill>
                <a:latin typeface="Arial" pitchFamily="34" charset="0"/>
                <a:ea typeface="Arial" pitchFamily="34" charset="-122"/>
                <a:cs typeface="Arial" pitchFamily="34" charset="-120"/>
              </a:rPr>
              <a:t>S | I₃ I₂ I₁ I₀ | F₀</a:t>
            </a:r>
            <a:endParaRPr lang="en-US" sz="880" dirty="0"/>
          </a:p>
        </p:txBody>
      </p:sp>
      <p:sp>
        <p:nvSpPr>
          <p:cNvPr id="53" name="Shape 50"/>
          <p:cNvSpPr/>
          <p:nvPr/>
        </p:nvSpPr>
        <p:spPr>
          <a:xfrm>
            <a:off x="6446520" y="3703320"/>
            <a:ext cx="4892040" cy="1691640"/>
          </a:xfrm>
          <a:prstGeom prst="roundRect">
            <a:avLst>
              <a:gd name="adj" fmla="val 3243"/>
            </a:avLst>
          </a:prstGeom>
          <a:solidFill>
            <a:srgbClr val="FFFDF2"/>
          </a:solidFill>
          <a:ln w="13335">
            <a:solidFill>
              <a:srgbClr val="D6B656"/>
            </a:solidFill>
            <a:prstDash val="solid"/>
          </a:ln>
        </p:spPr>
        <p:txBody>
          <a:bodyPr/>
          <a:lstStyle/>
          <a:p>
            <a:endParaRPr lang="ko-KR" altLang="en-US"/>
          </a:p>
        </p:txBody>
      </p:sp>
      <p:sp>
        <p:nvSpPr>
          <p:cNvPr id="54" name="Text 51"/>
          <p:cNvSpPr/>
          <p:nvPr/>
        </p:nvSpPr>
        <p:spPr>
          <a:xfrm>
            <a:off x="6611112" y="3813048"/>
            <a:ext cx="45628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FP4 value 1.5</a:t>
            </a:r>
            <a:endParaRPr lang="en-US" sz="1200" dirty="0"/>
          </a:p>
        </p:txBody>
      </p:sp>
      <p:sp>
        <p:nvSpPr>
          <p:cNvPr id="55" name="Text 52"/>
          <p:cNvSpPr/>
          <p:nvPr/>
        </p:nvSpPr>
        <p:spPr>
          <a:xfrm>
            <a:off x="6385560" y="4160520"/>
            <a:ext cx="2103120" cy="347472"/>
          </a:xfrm>
          <a:prstGeom prst="rect">
            <a:avLst/>
          </a:prstGeom>
          <a:noFill/>
          <a:ln/>
        </p:spPr>
        <p:txBody>
          <a:bodyPr wrap="square" lIns="0" tIns="0" rIns="0" bIns="0" rtlCol="0" anchor="ctr">
            <a:normAutofit/>
          </a:bodyPr>
          <a:lstStyle/>
          <a:p>
            <a:pPr marL="0" indent="0" algn="ctr">
              <a:buNone/>
            </a:pPr>
            <a:r>
              <a:rPr lang="en-US" sz="1800" b="1" dirty="0">
                <a:solidFill>
                  <a:srgbClr val="548235"/>
                </a:solidFill>
                <a:latin typeface="Cambria Math" pitchFamily="34" charset="0"/>
                <a:ea typeface="Cambria Math" pitchFamily="34" charset="-122"/>
                <a:cs typeface="Cambria Math" pitchFamily="34" charset="-120"/>
              </a:rPr>
              <a:t>1.5 = 1 + 0.5</a:t>
            </a:r>
            <a:endParaRPr lang="en-US" sz="1800" dirty="0"/>
          </a:p>
        </p:txBody>
      </p:sp>
      <p:sp>
        <p:nvSpPr>
          <p:cNvPr id="56" name="Shape 53"/>
          <p:cNvSpPr/>
          <p:nvPr/>
        </p:nvSpPr>
        <p:spPr>
          <a:xfrm>
            <a:off x="8717280" y="4096512"/>
            <a:ext cx="411480" cy="384048"/>
          </a:xfrm>
          <a:prstGeom prst="rect">
            <a:avLst/>
          </a:prstGeom>
          <a:solidFill>
            <a:srgbClr val="FCE4D6"/>
          </a:solidFill>
          <a:ln w="8890">
            <a:solidFill>
              <a:srgbClr val="D9E2F3"/>
            </a:solidFill>
            <a:prstDash val="solid"/>
          </a:ln>
        </p:spPr>
        <p:txBody>
          <a:bodyPr/>
          <a:lstStyle/>
          <a:p>
            <a:endParaRPr lang="ko-KR" altLang="en-US"/>
          </a:p>
        </p:txBody>
      </p:sp>
      <p:sp>
        <p:nvSpPr>
          <p:cNvPr id="57" name="Text 54"/>
          <p:cNvSpPr/>
          <p:nvPr/>
        </p:nvSpPr>
        <p:spPr>
          <a:xfrm>
            <a:off x="8735568" y="4169664"/>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58" name="Shape 55"/>
          <p:cNvSpPr/>
          <p:nvPr/>
        </p:nvSpPr>
        <p:spPr>
          <a:xfrm>
            <a:off x="9128760" y="4096512"/>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59" name="Text 56"/>
          <p:cNvSpPr/>
          <p:nvPr/>
        </p:nvSpPr>
        <p:spPr>
          <a:xfrm>
            <a:off x="9147048" y="4169664"/>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60" name="Shape 57"/>
          <p:cNvSpPr/>
          <p:nvPr/>
        </p:nvSpPr>
        <p:spPr>
          <a:xfrm>
            <a:off x="9540240" y="4096512"/>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61" name="Text 58"/>
          <p:cNvSpPr/>
          <p:nvPr/>
        </p:nvSpPr>
        <p:spPr>
          <a:xfrm>
            <a:off x="9558528" y="4169664"/>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62" name="Shape 59"/>
          <p:cNvSpPr/>
          <p:nvPr/>
        </p:nvSpPr>
        <p:spPr>
          <a:xfrm>
            <a:off x="9951720" y="4096512"/>
            <a:ext cx="411480" cy="384048"/>
          </a:xfrm>
          <a:prstGeom prst="rect">
            <a:avLst/>
          </a:prstGeom>
          <a:solidFill>
            <a:srgbClr val="FFFFFF"/>
          </a:solidFill>
          <a:ln w="8890">
            <a:solidFill>
              <a:srgbClr val="D9E2F3"/>
            </a:solidFill>
            <a:prstDash val="solid"/>
          </a:ln>
        </p:spPr>
        <p:txBody>
          <a:bodyPr/>
          <a:lstStyle/>
          <a:p>
            <a:endParaRPr lang="ko-KR" altLang="en-US"/>
          </a:p>
        </p:txBody>
      </p:sp>
      <p:sp>
        <p:nvSpPr>
          <p:cNvPr id="63" name="Text 60"/>
          <p:cNvSpPr/>
          <p:nvPr/>
        </p:nvSpPr>
        <p:spPr>
          <a:xfrm>
            <a:off x="9970008" y="4169664"/>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0</a:t>
            </a:r>
            <a:endParaRPr lang="en-US" sz="1050" dirty="0"/>
          </a:p>
        </p:txBody>
      </p:sp>
      <p:sp>
        <p:nvSpPr>
          <p:cNvPr id="64" name="Shape 61"/>
          <p:cNvSpPr/>
          <p:nvPr/>
        </p:nvSpPr>
        <p:spPr>
          <a:xfrm>
            <a:off x="10363200" y="4096512"/>
            <a:ext cx="411480" cy="384048"/>
          </a:xfrm>
          <a:prstGeom prst="rect">
            <a:avLst/>
          </a:prstGeom>
          <a:solidFill>
            <a:srgbClr val="E2F0D9"/>
          </a:solidFill>
          <a:ln w="8890">
            <a:solidFill>
              <a:srgbClr val="D9E2F3"/>
            </a:solidFill>
            <a:prstDash val="solid"/>
          </a:ln>
        </p:spPr>
        <p:txBody>
          <a:bodyPr/>
          <a:lstStyle/>
          <a:p>
            <a:endParaRPr lang="ko-KR" altLang="en-US"/>
          </a:p>
        </p:txBody>
      </p:sp>
      <p:sp>
        <p:nvSpPr>
          <p:cNvPr id="65" name="Text 62"/>
          <p:cNvSpPr/>
          <p:nvPr/>
        </p:nvSpPr>
        <p:spPr>
          <a:xfrm>
            <a:off x="10381488" y="4169664"/>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66" name="Shape 63"/>
          <p:cNvSpPr/>
          <p:nvPr/>
        </p:nvSpPr>
        <p:spPr>
          <a:xfrm>
            <a:off x="10774680" y="4096512"/>
            <a:ext cx="411480" cy="384048"/>
          </a:xfrm>
          <a:prstGeom prst="rect">
            <a:avLst/>
          </a:prstGeom>
          <a:solidFill>
            <a:srgbClr val="E2F0D9"/>
          </a:solidFill>
          <a:ln w="8890">
            <a:solidFill>
              <a:srgbClr val="D9E2F3"/>
            </a:solidFill>
            <a:prstDash val="solid"/>
          </a:ln>
        </p:spPr>
        <p:txBody>
          <a:bodyPr/>
          <a:lstStyle/>
          <a:p>
            <a:endParaRPr lang="ko-KR" altLang="en-US"/>
          </a:p>
        </p:txBody>
      </p:sp>
      <p:sp>
        <p:nvSpPr>
          <p:cNvPr id="67" name="Text 64"/>
          <p:cNvSpPr/>
          <p:nvPr/>
        </p:nvSpPr>
        <p:spPr>
          <a:xfrm>
            <a:off x="10792968" y="4169664"/>
            <a:ext cx="374904" cy="292608"/>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1</a:t>
            </a:r>
            <a:endParaRPr lang="en-US" sz="1050" dirty="0"/>
          </a:p>
        </p:txBody>
      </p:sp>
      <p:sp>
        <p:nvSpPr>
          <p:cNvPr id="68" name="Text 65"/>
          <p:cNvSpPr/>
          <p:nvPr/>
        </p:nvSpPr>
        <p:spPr>
          <a:xfrm>
            <a:off x="8717280" y="4617720"/>
            <a:ext cx="2468880" cy="182880"/>
          </a:xfrm>
          <a:prstGeom prst="rect">
            <a:avLst/>
          </a:prstGeom>
          <a:noFill/>
          <a:ln/>
        </p:spPr>
        <p:txBody>
          <a:bodyPr wrap="square" lIns="0" tIns="0" rIns="0" bIns="0" rtlCol="0" anchor="ctr">
            <a:normAutofit/>
          </a:bodyPr>
          <a:lstStyle/>
          <a:p>
            <a:pPr marL="0" indent="0" algn="ctr">
              <a:buNone/>
            </a:pPr>
            <a:r>
              <a:rPr lang="en-US" sz="880" dirty="0">
                <a:solidFill>
                  <a:srgbClr val="666666"/>
                </a:solidFill>
                <a:latin typeface="Arial" pitchFamily="34" charset="0"/>
                <a:ea typeface="Arial" pitchFamily="34" charset="-122"/>
                <a:cs typeface="Arial" pitchFamily="34" charset="-120"/>
              </a:rPr>
              <a:t>S | I₃ I₂ I₁ I₀ | F₀</a:t>
            </a:r>
            <a:endParaRPr lang="en-US" sz="8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Case 4 — FP4 Special Value: −0 triggers SV_reg</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61</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The redundant negative-zero encoding is not treated as zero; it becomes a group-specific Special Value selected by metadata.</a:t>
            </a:r>
            <a:endParaRPr lang="en-US" sz="1300" dirty="0"/>
          </a:p>
        </p:txBody>
      </p:sp>
      <p:sp>
        <p:nvSpPr>
          <p:cNvPr id="9" name="Shape 6"/>
          <p:cNvSpPr/>
          <p:nvPr/>
        </p:nvSpPr>
        <p:spPr>
          <a:xfrm>
            <a:off x="822960" y="1874520"/>
            <a:ext cx="1508760" cy="658368"/>
          </a:xfrm>
          <a:prstGeom prst="roundRect">
            <a:avLst>
              <a:gd name="adj" fmla="val 6944"/>
            </a:avLst>
          </a:prstGeom>
          <a:solidFill>
            <a:srgbClr val="FDECEC"/>
          </a:solidFill>
          <a:ln w="12700">
            <a:solidFill>
              <a:srgbClr val="E6B8B7"/>
            </a:solidFill>
            <a:prstDash val="solid"/>
          </a:ln>
        </p:spPr>
        <p:txBody>
          <a:bodyPr/>
          <a:lstStyle/>
          <a:p>
            <a:endParaRPr lang="ko-KR" altLang="en-US"/>
          </a:p>
        </p:txBody>
      </p:sp>
      <p:sp>
        <p:nvSpPr>
          <p:cNvPr id="10" name="Text 7"/>
          <p:cNvSpPr/>
          <p:nvPr/>
        </p:nvSpPr>
        <p:spPr>
          <a:xfrm>
            <a:off x="896112" y="1929384"/>
            <a:ext cx="1362456" cy="566928"/>
          </a:xfrm>
          <a:prstGeom prst="rect">
            <a:avLst/>
          </a:prstGeom>
          <a:noFill/>
          <a:ln/>
        </p:spPr>
        <p:txBody>
          <a:bodyPr wrap="square" lIns="254" tIns="254" rIns="254" bIns="254" rtlCol="0" anchor="ctr">
            <a:normAutofit/>
          </a:bodyPr>
          <a:lstStyle/>
          <a:p>
            <a:pPr marL="0" indent="0" algn="ctr">
              <a:buNone/>
            </a:pPr>
            <a:r>
              <a:rPr lang="en-US" sz="1050" b="1" dirty="0">
                <a:solidFill>
                  <a:srgbClr val="C00000"/>
                </a:solidFill>
                <a:latin typeface="Arial" pitchFamily="34" charset="0"/>
                <a:ea typeface="Arial" pitchFamily="34" charset="-122"/>
                <a:cs typeface="Arial" pitchFamily="34" charset="-120"/>
              </a:rPr>
              <a:t>Stored FP4</a:t>
            </a:r>
            <a:endParaRPr lang="en-US" sz="1050" dirty="0"/>
          </a:p>
          <a:p>
            <a:pPr marL="0" indent="0" algn="ctr">
              <a:buNone/>
            </a:pPr>
            <a:r>
              <a:rPr lang="en-US" sz="1050" b="1" dirty="0">
                <a:solidFill>
                  <a:srgbClr val="C00000"/>
                </a:solidFill>
                <a:latin typeface="Arial" pitchFamily="34" charset="0"/>
                <a:ea typeface="Arial" pitchFamily="34" charset="-122"/>
                <a:cs typeface="Arial" pitchFamily="34" charset="-120"/>
              </a:rPr>
              <a:t>−0 pattern</a:t>
            </a:r>
            <a:endParaRPr lang="en-US" sz="1050" dirty="0"/>
          </a:p>
        </p:txBody>
      </p:sp>
      <p:sp>
        <p:nvSpPr>
          <p:cNvPr id="11" name="Shape 8"/>
          <p:cNvSpPr/>
          <p:nvPr/>
        </p:nvSpPr>
        <p:spPr>
          <a:xfrm>
            <a:off x="2423160" y="2203704"/>
            <a:ext cx="640080" cy="0"/>
          </a:xfrm>
          <a:prstGeom prst="line">
            <a:avLst/>
          </a:prstGeom>
          <a:noFill/>
          <a:ln w="15240">
            <a:solidFill>
              <a:srgbClr val="00245D"/>
            </a:solidFill>
            <a:prstDash val="solid"/>
            <a:tailEnd type="triangle"/>
          </a:ln>
        </p:spPr>
        <p:txBody>
          <a:bodyPr/>
          <a:lstStyle/>
          <a:p>
            <a:endParaRPr lang="ko-KR" altLang="en-US"/>
          </a:p>
        </p:txBody>
      </p:sp>
      <p:sp>
        <p:nvSpPr>
          <p:cNvPr id="12" name="Shape 9"/>
          <p:cNvSpPr/>
          <p:nvPr/>
        </p:nvSpPr>
        <p:spPr>
          <a:xfrm>
            <a:off x="3063240" y="1874520"/>
            <a:ext cx="1143000" cy="658368"/>
          </a:xfrm>
          <a:prstGeom prst="roundRect">
            <a:avLst>
              <a:gd name="adj" fmla="val 6944"/>
            </a:avLst>
          </a:prstGeom>
          <a:solidFill>
            <a:srgbClr val="FFF2CC"/>
          </a:solidFill>
          <a:ln w="12700">
            <a:solidFill>
              <a:srgbClr val="D6B656"/>
            </a:solidFill>
            <a:prstDash val="solid"/>
          </a:ln>
        </p:spPr>
        <p:txBody>
          <a:bodyPr/>
          <a:lstStyle/>
          <a:p>
            <a:endParaRPr lang="ko-KR" altLang="en-US"/>
          </a:p>
        </p:txBody>
      </p:sp>
      <p:sp>
        <p:nvSpPr>
          <p:cNvPr id="13" name="Text 10"/>
          <p:cNvSpPr/>
          <p:nvPr/>
        </p:nvSpPr>
        <p:spPr>
          <a:xfrm>
            <a:off x="3136392" y="1929384"/>
            <a:ext cx="996696" cy="566928"/>
          </a:xfrm>
          <a:prstGeom prst="rect">
            <a:avLst/>
          </a:prstGeom>
          <a:noFill/>
          <a:ln/>
        </p:spPr>
        <p:txBody>
          <a:bodyPr wrap="square" lIns="254" tIns="254" rIns="254" bIns="254" rtlCol="0" anchor="ctr">
            <a:normAutofit/>
          </a:bodyPr>
          <a:lstStyle/>
          <a:p>
            <a:pPr marL="0" indent="0" algn="ctr">
              <a:buNone/>
            </a:pPr>
            <a:r>
              <a:rPr lang="en-US" sz="1100" b="1" dirty="0">
                <a:solidFill>
                  <a:srgbClr val="00245D"/>
                </a:solidFill>
                <a:latin typeface="Arial" pitchFamily="34" charset="0"/>
                <a:ea typeface="Arial" pitchFamily="34" charset="-122"/>
                <a:cs typeface="Arial" pitchFamily="34" charset="-120"/>
              </a:rPr>
              <a:t>eq</a:t>
            </a:r>
            <a:endParaRPr lang="en-US" sz="1100" dirty="0"/>
          </a:p>
          <a:p>
            <a:pPr marL="0" indent="0" algn="ctr">
              <a:buNone/>
            </a:pPr>
            <a:r>
              <a:rPr lang="en-US" sz="1100" b="1" dirty="0">
                <a:solidFill>
                  <a:srgbClr val="00245D"/>
                </a:solidFill>
                <a:latin typeface="Arial" pitchFamily="34" charset="0"/>
                <a:ea typeface="Arial" pitchFamily="34" charset="-122"/>
                <a:cs typeface="Arial" pitchFamily="34" charset="-120"/>
              </a:rPr>
              <a:t>TRUE</a:t>
            </a:r>
            <a:endParaRPr lang="en-US" sz="1100" dirty="0"/>
          </a:p>
        </p:txBody>
      </p:sp>
      <p:sp>
        <p:nvSpPr>
          <p:cNvPr id="14" name="Shape 11"/>
          <p:cNvSpPr/>
          <p:nvPr/>
        </p:nvSpPr>
        <p:spPr>
          <a:xfrm>
            <a:off x="4297680" y="2203704"/>
            <a:ext cx="640080" cy="0"/>
          </a:xfrm>
          <a:prstGeom prst="line">
            <a:avLst/>
          </a:prstGeom>
          <a:noFill/>
          <a:ln w="15240">
            <a:solidFill>
              <a:srgbClr val="00245D"/>
            </a:solidFill>
            <a:prstDash val="solid"/>
            <a:tailEnd type="triangle"/>
          </a:ln>
        </p:spPr>
        <p:txBody>
          <a:bodyPr/>
          <a:lstStyle/>
          <a:p>
            <a:endParaRPr lang="ko-KR" altLang="en-US"/>
          </a:p>
        </p:txBody>
      </p:sp>
      <p:sp>
        <p:nvSpPr>
          <p:cNvPr id="15" name="Shape 12"/>
          <p:cNvSpPr/>
          <p:nvPr/>
        </p:nvSpPr>
        <p:spPr>
          <a:xfrm>
            <a:off x="4937760" y="1874520"/>
            <a:ext cx="1783080" cy="658368"/>
          </a:xfrm>
          <a:prstGeom prst="roundRect">
            <a:avLst>
              <a:gd name="adj" fmla="val 6944"/>
            </a:avLst>
          </a:prstGeom>
          <a:solidFill>
            <a:srgbClr val="EAF2FF"/>
          </a:solidFill>
          <a:ln w="12700">
            <a:solidFill>
              <a:srgbClr val="9EADCC"/>
            </a:solidFill>
            <a:prstDash val="solid"/>
          </a:ln>
        </p:spPr>
        <p:txBody>
          <a:bodyPr/>
          <a:lstStyle/>
          <a:p>
            <a:endParaRPr lang="ko-KR" altLang="en-US"/>
          </a:p>
        </p:txBody>
      </p:sp>
      <p:sp>
        <p:nvSpPr>
          <p:cNvPr id="16" name="Text 13"/>
          <p:cNvSpPr/>
          <p:nvPr/>
        </p:nvSpPr>
        <p:spPr>
          <a:xfrm>
            <a:off x="5010912" y="1929384"/>
            <a:ext cx="1636776" cy="566928"/>
          </a:xfrm>
          <a:prstGeom prst="rect">
            <a:avLst/>
          </a:prstGeom>
          <a:noFill/>
          <a:ln/>
        </p:spPr>
        <p:txBody>
          <a:bodyPr wrap="square" lIns="254" tIns="254" rIns="254" bIns="254"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Group metadata</a:t>
            </a:r>
            <a:endParaRPr lang="en-US" sz="1050" dirty="0"/>
          </a:p>
          <a:p>
            <a:pPr marL="0" indent="0" algn="ctr">
              <a:buNone/>
            </a:pPr>
            <a:r>
              <a:rPr lang="en-US" sz="1050" b="1" dirty="0">
                <a:solidFill>
                  <a:srgbClr val="00245D"/>
                </a:solidFill>
                <a:latin typeface="Arial" pitchFamily="34" charset="0"/>
                <a:ea typeface="Arial" pitchFamily="34" charset="-122"/>
                <a:cs typeface="Arial" pitchFamily="34" charset="-120"/>
              </a:rPr>
              <a:t>2 bits</a:t>
            </a:r>
            <a:endParaRPr lang="en-US" sz="1050" dirty="0"/>
          </a:p>
        </p:txBody>
      </p:sp>
      <p:sp>
        <p:nvSpPr>
          <p:cNvPr id="17" name="Shape 14"/>
          <p:cNvSpPr/>
          <p:nvPr/>
        </p:nvSpPr>
        <p:spPr>
          <a:xfrm>
            <a:off x="6812280" y="2203704"/>
            <a:ext cx="640080" cy="0"/>
          </a:xfrm>
          <a:prstGeom prst="line">
            <a:avLst/>
          </a:prstGeom>
          <a:noFill/>
          <a:ln w="15240">
            <a:solidFill>
              <a:srgbClr val="00245D"/>
            </a:solidFill>
            <a:prstDash val="solid"/>
            <a:tailEnd type="triangle"/>
          </a:ln>
        </p:spPr>
        <p:txBody>
          <a:bodyPr/>
          <a:lstStyle/>
          <a:p>
            <a:endParaRPr lang="ko-KR" altLang="en-US"/>
          </a:p>
        </p:txBody>
      </p:sp>
      <p:sp>
        <p:nvSpPr>
          <p:cNvPr id="18" name="Shape 15"/>
          <p:cNvSpPr/>
          <p:nvPr/>
        </p:nvSpPr>
        <p:spPr>
          <a:xfrm>
            <a:off x="7452360" y="1874520"/>
            <a:ext cx="1691640" cy="658368"/>
          </a:xfrm>
          <a:prstGeom prst="roundRect">
            <a:avLst>
              <a:gd name="adj" fmla="val 6944"/>
            </a:avLst>
          </a:prstGeom>
          <a:solidFill>
            <a:srgbClr val="E2F0D9"/>
          </a:solidFill>
          <a:ln w="12700">
            <a:solidFill>
              <a:srgbClr val="548235"/>
            </a:solidFill>
            <a:prstDash val="solid"/>
          </a:ln>
        </p:spPr>
        <p:txBody>
          <a:bodyPr/>
          <a:lstStyle/>
          <a:p>
            <a:endParaRPr lang="ko-KR" altLang="en-US"/>
          </a:p>
        </p:txBody>
      </p:sp>
      <p:sp>
        <p:nvSpPr>
          <p:cNvPr id="19" name="Text 16"/>
          <p:cNvSpPr/>
          <p:nvPr/>
        </p:nvSpPr>
        <p:spPr>
          <a:xfrm>
            <a:off x="7525512" y="1929384"/>
            <a:ext cx="1545336" cy="566928"/>
          </a:xfrm>
          <a:prstGeom prst="rect">
            <a:avLst/>
          </a:prstGeom>
          <a:noFill/>
          <a:ln/>
        </p:spPr>
        <p:txBody>
          <a:bodyPr wrap="square" lIns="254" tIns="254" rIns="254" bIns="254"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SV_reg</a:t>
            </a:r>
            <a:endParaRPr lang="en-US" sz="1050" dirty="0"/>
          </a:p>
          <a:p>
            <a:pPr marL="0" indent="0" algn="ctr">
              <a:buNone/>
            </a:pPr>
            <a:r>
              <a:rPr lang="en-US" sz="1050" b="1" dirty="0">
                <a:solidFill>
                  <a:srgbClr val="00245D"/>
                </a:solidFill>
                <a:latin typeface="Arial" pitchFamily="34" charset="0"/>
                <a:ea typeface="Arial" pitchFamily="34" charset="-122"/>
                <a:cs typeface="Arial" pitchFamily="34" charset="-120"/>
              </a:rPr>
              <a:t>SV0..SV3</a:t>
            </a:r>
            <a:endParaRPr lang="en-US" sz="1050" dirty="0"/>
          </a:p>
        </p:txBody>
      </p:sp>
      <p:sp>
        <p:nvSpPr>
          <p:cNvPr id="20" name="Shape 17"/>
          <p:cNvSpPr/>
          <p:nvPr/>
        </p:nvSpPr>
        <p:spPr>
          <a:xfrm>
            <a:off x="9235440" y="2203704"/>
            <a:ext cx="640080" cy="0"/>
          </a:xfrm>
          <a:prstGeom prst="line">
            <a:avLst/>
          </a:prstGeom>
          <a:noFill/>
          <a:ln w="15240">
            <a:solidFill>
              <a:srgbClr val="00245D"/>
            </a:solidFill>
            <a:prstDash val="solid"/>
            <a:tailEnd type="triangle"/>
          </a:ln>
        </p:spPr>
        <p:txBody>
          <a:bodyPr/>
          <a:lstStyle/>
          <a:p>
            <a:endParaRPr lang="ko-KR" altLang="en-US"/>
          </a:p>
        </p:txBody>
      </p:sp>
      <p:sp>
        <p:nvSpPr>
          <p:cNvPr id="21" name="Shape 18"/>
          <p:cNvSpPr/>
          <p:nvPr/>
        </p:nvSpPr>
        <p:spPr>
          <a:xfrm>
            <a:off x="9875520" y="1874520"/>
            <a:ext cx="1417320" cy="658368"/>
          </a:xfrm>
          <a:prstGeom prst="roundRect">
            <a:avLst>
              <a:gd name="adj" fmla="val 6944"/>
            </a:avLst>
          </a:prstGeom>
          <a:solidFill>
            <a:srgbClr val="EAF2FF"/>
          </a:solidFill>
          <a:ln w="12700">
            <a:solidFill>
              <a:srgbClr val="9EADCC"/>
            </a:solidFill>
            <a:prstDash val="solid"/>
          </a:ln>
        </p:spPr>
        <p:txBody>
          <a:bodyPr/>
          <a:lstStyle/>
          <a:p>
            <a:endParaRPr lang="ko-KR" altLang="en-US"/>
          </a:p>
        </p:txBody>
      </p:sp>
      <p:sp>
        <p:nvSpPr>
          <p:cNvPr id="22" name="Text 19"/>
          <p:cNvSpPr/>
          <p:nvPr/>
        </p:nvSpPr>
        <p:spPr>
          <a:xfrm>
            <a:off x="9948672" y="1929384"/>
            <a:ext cx="1271016" cy="566928"/>
          </a:xfrm>
          <a:prstGeom prst="rect">
            <a:avLst/>
          </a:prstGeom>
          <a:noFill/>
          <a:ln/>
        </p:spPr>
        <p:txBody>
          <a:bodyPr wrap="square" lIns="254" tIns="254" rIns="254" bIns="254"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Selected</a:t>
            </a:r>
            <a:endParaRPr lang="en-US" sz="1050" dirty="0"/>
          </a:p>
          <a:p>
            <a:pPr marL="0" indent="0" algn="ctr">
              <a:buNone/>
            </a:pPr>
            <a:r>
              <a:rPr lang="en-US" sz="1050" b="1" dirty="0">
                <a:solidFill>
                  <a:srgbClr val="00245D"/>
                </a:solidFill>
                <a:latin typeface="Arial" pitchFamily="34" charset="0"/>
                <a:ea typeface="Arial" pitchFamily="34" charset="-122"/>
                <a:cs typeface="Arial" pitchFamily="34" charset="-120"/>
              </a:rPr>
              <a:t>SV</a:t>
            </a:r>
            <a:endParaRPr lang="en-US" sz="1050" dirty="0"/>
          </a:p>
        </p:txBody>
      </p:sp>
      <p:sp>
        <p:nvSpPr>
          <p:cNvPr id="23" name="Shape 20"/>
          <p:cNvSpPr/>
          <p:nvPr/>
        </p:nvSpPr>
        <p:spPr>
          <a:xfrm>
            <a:off x="822960" y="3246119"/>
            <a:ext cx="4846320" cy="2360593"/>
          </a:xfrm>
          <a:prstGeom prst="roundRect">
            <a:avLst>
              <a:gd name="adj" fmla="val 2927"/>
            </a:avLst>
          </a:prstGeom>
          <a:solidFill>
            <a:srgbClr val="F3F8FF"/>
          </a:solidFill>
          <a:ln w="13335">
            <a:solidFill>
              <a:srgbClr val="9EADCC"/>
            </a:solidFill>
            <a:prstDash val="solid"/>
          </a:ln>
        </p:spPr>
        <p:txBody>
          <a:bodyPr/>
          <a:lstStyle/>
          <a:p>
            <a:endParaRPr lang="ko-KR" altLang="en-US"/>
          </a:p>
        </p:txBody>
      </p:sp>
      <p:sp>
        <p:nvSpPr>
          <p:cNvPr id="24" name="Text 21"/>
          <p:cNvSpPr/>
          <p:nvPr/>
        </p:nvSpPr>
        <p:spPr>
          <a:xfrm>
            <a:off x="987552" y="3355848"/>
            <a:ext cx="45171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mapping in FP4</a:t>
            </a:r>
            <a:endParaRPr lang="en-US" sz="1200" dirty="0"/>
          </a:p>
        </p:txBody>
      </p:sp>
      <p:sp>
        <p:nvSpPr>
          <p:cNvPr id="25" name="Shape 22"/>
          <p:cNvSpPr/>
          <p:nvPr/>
        </p:nvSpPr>
        <p:spPr>
          <a:xfrm>
            <a:off x="1549908" y="3776469"/>
            <a:ext cx="1508760" cy="310896"/>
          </a:xfrm>
          <a:prstGeom prst="rect">
            <a:avLst/>
          </a:prstGeom>
          <a:solidFill>
            <a:srgbClr val="00245D"/>
          </a:solidFill>
          <a:ln w="6350">
            <a:solidFill>
              <a:srgbClr val="D9E2F3"/>
            </a:solidFill>
            <a:prstDash val="solid"/>
          </a:ln>
        </p:spPr>
        <p:txBody>
          <a:bodyPr/>
          <a:lstStyle/>
          <a:p>
            <a:endParaRPr lang="ko-KR" altLang="en-US"/>
          </a:p>
        </p:txBody>
      </p:sp>
      <p:sp>
        <p:nvSpPr>
          <p:cNvPr id="26" name="Text 23"/>
          <p:cNvSpPr/>
          <p:nvPr/>
        </p:nvSpPr>
        <p:spPr>
          <a:xfrm>
            <a:off x="1586484" y="3895341"/>
            <a:ext cx="143560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2-bit ID</a:t>
            </a:r>
            <a:endParaRPr lang="en-US" sz="1050" dirty="0"/>
          </a:p>
        </p:txBody>
      </p:sp>
      <p:sp>
        <p:nvSpPr>
          <p:cNvPr id="27" name="Shape 24"/>
          <p:cNvSpPr/>
          <p:nvPr/>
        </p:nvSpPr>
        <p:spPr>
          <a:xfrm>
            <a:off x="3058668" y="3776469"/>
            <a:ext cx="2148840" cy="310896"/>
          </a:xfrm>
          <a:prstGeom prst="rect">
            <a:avLst/>
          </a:prstGeom>
          <a:solidFill>
            <a:srgbClr val="00245D"/>
          </a:solidFill>
          <a:ln w="6350">
            <a:solidFill>
              <a:srgbClr val="D9E2F3"/>
            </a:solidFill>
            <a:prstDash val="solid"/>
          </a:ln>
        </p:spPr>
        <p:txBody>
          <a:bodyPr/>
          <a:lstStyle/>
          <a:p>
            <a:endParaRPr lang="ko-KR" altLang="en-US"/>
          </a:p>
        </p:txBody>
      </p:sp>
      <p:sp>
        <p:nvSpPr>
          <p:cNvPr id="28" name="Text 25"/>
          <p:cNvSpPr/>
          <p:nvPr/>
        </p:nvSpPr>
        <p:spPr>
          <a:xfrm>
            <a:off x="3095244" y="3895341"/>
            <a:ext cx="207568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Selected SV</a:t>
            </a:r>
            <a:endParaRPr lang="en-US" sz="1050" dirty="0"/>
          </a:p>
        </p:txBody>
      </p:sp>
      <p:sp>
        <p:nvSpPr>
          <p:cNvPr id="29" name="Shape 26"/>
          <p:cNvSpPr/>
          <p:nvPr/>
        </p:nvSpPr>
        <p:spPr>
          <a:xfrm>
            <a:off x="1549908" y="4087365"/>
            <a:ext cx="1508760" cy="310896"/>
          </a:xfrm>
          <a:prstGeom prst="rect">
            <a:avLst/>
          </a:prstGeom>
          <a:solidFill>
            <a:srgbClr val="FFFFFF"/>
          </a:solidFill>
          <a:ln w="6350">
            <a:solidFill>
              <a:srgbClr val="D9E2F3"/>
            </a:solidFill>
            <a:prstDash val="solid"/>
          </a:ln>
        </p:spPr>
        <p:txBody>
          <a:bodyPr/>
          <a:lstStyle/>
          <a:p>
            <a:endParaRPr lang="ko-KR" altLang="en-US"/>
          </a:p>
        </p:txBody>
      </p:sp>
      <p:sp>
        <p:nvSpPr>
          <p:cNvPr id="30" name="Text 27"/>
          <p:cNvSpPr/>
          <p:nvPr/>
        </p:nvSpPr>
        <p:spPr>
          <a:xfrm>
            <a:off x="1595628" y="4206237"/>
            <a:ext cx="141732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00</a:t>
            </a:r>
            <a:endParaRPr lang="en-US" sz="1050" dirty="0"/>
          </a:p>
        </p:txBody>
      </p:sp>
      <p:sp>
        <p:nvSpPr>
          <p:cNvPr id="31" name="Shape 28"/>
          <p:cNvSpPr/>
          <p:nvPr/>
        </p:nvSpPr>
        <p:spPr>
          <a:xfrm>
            <a:off x="3058668" y="4087365"/>
            <a:ext cx="2148840" cy="310896"/>
          </a:xfrm>
          <a:prstGeom prst="rect">
            <a:avLst/>
          </a:prstGeom>
          <a:solidFill>
            <a:srgbClr val="FFFFFF"/>
          </a:solidFill>
          <a:ln w="6350">
            <a:solidFill>
              <a:srgbClr val="D9E2F3"/>
            </a:solidFill>
            <a:prstDash val="solid"/>
          </a:ln>
        </p:spPr>
        <p:txBody>
          <a:bodyPr/>
          <a:lstStyle/>
          <a:p>
            <a:endParaRPr lang="ko-KR" altLang="en-US"/>
          </a:p>
        </p:txBody>
      </p:sp>
      <p:sp>
        <p:nvSpPr>
          <p:cNvPr id="32" name="Text 29"/>
          <p:cNvSpPr/>
          <p:nvPr/>
        </p:nvSpPr>
        <p:spPr>
          <a:xfrm>
            <a:off x="3104388" y="4206237"/>
            <a:ext cx="20574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−5</a:t>
            </a:r>
            <a:endParaRPr lang="en-US" sz="1050" dirty="0"/>
          </a:p>
        </p:txBody>
      </p:sp>
      <p:sp>
        <p:nvSpPr>
          <p:cNvPr id="33" name="Shape 30"/>
          <p:cNvSpPr/>
          <p:nvPr/>
        </p:nvSpPr>
        <p:spPr>
          <a:xfrm>
            <a:off x="1549908" y="4398261"/>
            <a:ext cx="1508760" cy="310896"/>
          </a:xfrm>
          <a:prstGeom prst="rect">
            <a:avLst/>
          </a:prstGeom>
          <a:solidFill>
            <a:srgbClr val="F5F7FA"/>
          </a:solidFill>
          <a:ln w="6350">
            <a:solidFill>
              <a:srgbClr val="D9E2F3"/>
            </a:solidFill>
            <a:prstDash val="solid"/>
          </a:ln>
        </p:spPr>
        <p:txBody>
          <a:bodyPr/>
          <a:lstStyle/>
          <a:p>
            <a:endParaRPr lang="ko-KR" altLang="en-US"/>
          </a:p>
        </p:txBody>
      </p:sp>
      <p:sp>
        <p:nvSpPr>
          <p:cNvPr id="34" name="Text 31"/>
          <p:cNvSpPr/>
          <p:nvPr/>
        </p:nvSpPr>
        <p:spPr>
          <a:xfrm>
            <a:off x="1595628" y="4517133"/>
            <a:ext cx="141732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01</a:t>
            </a:r>
            <a:endParaRPr lang="en-US" sz="1050" dirty="0"/>
          </a:p>
        </p:txBody>
      </p:sp>
      <p:sp>
        <p:nvSpPr>
          <p:cNvPr id="35" name="Shape 32"/>
          <p:cNvSpPr/>
          <p:nvPr/>
        </p:nvSpPr>
        <p:spPr>
          <a:xfrm>
            <a:off x="3058668" y="4398261"/>
            <a:ext cx="2148840" cy="310896"/>
          </a:xfrm>
          <a:prstGeom prst="rect">
            <a:avLst/>
          </a:prstGeom>
          <a:solidFill>
            <a:srgbClr val="F5F7FA"/>
          </a:solidFill>
          <a:ln w="6350">
            <a:solidFill>
              <a:srgbClr val="D9E2F3"/>
            </a:solidFill>
            <a:prstDash val="solid"/>
          </a:ln>
        </p:spPr>
        <p:txBody>
          <a:bodyPr/>
          <a:lstStyle/>
          <a:p>
            <a:endParaRPr lang="ko-KR" altLang="en-US"/>
          </a:p>
        </p:txBody>
      </p:sp>
      <p:sp>
        <p:nvSpPr>
          <p:cNvPr id="36" name="Text 33"/>
          <p:cNvSpPr/>
          <p:nvPr/>
        </p:nvSpPr>
        <p:spPr>
          <a:xfrm>
            <a:off x="3104388" y="4517133"/>
            <a:ext cx="20574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+5</a:t>
            </a:r>
            <a:endParaRPr lang="en-US" sz="1050" dirty="0"/>
          </a:p>
        </p:txBody>
      </p:sp>
      <p:sp>
        <p:nvSpPr>
          <p:cNvPr id="37" name="Shape 34"/>
          <p:cNvSpPr/>
          <p:nvPr/>
        </p:nvSpPr>
        <p:spPr>
          <a:xfrm>
            <a:off x="1549908" y="4709157"/>
            <a:ext cx="1508760" cy="310896"/>
          </a:xfrm>
          <a:prstGeom prst="rect">
            <a:avLst/>
          </a:prstGeom>
          <a:solidFill>
            <a:srgbClr val="FFFFFF"/>
          </a:solidFill>
          <a:ln w="6350">
            <a:solidFill>
              <a:srgbClr val="D9E2F3"/>
            </a:solidFill>
            <a:prstDash val="solid"/>
          </a:ln>
        </p:spPr>
        <p:txBody>
          <a:bodyPr/>
          <a:lstStyle/>
          <a:p>
            <a:endParaRPr lang="ko-KR" altLang="en-US"/>
          </a:p>
        </p:txBody>
      </p:sp>
      <p:sp>
        <p:nvSpPr>
          <p:cNvPr id="38" name="Text 35"/>
          <p:cNvSpPr/>
          <p:nvPr/>
        </p:nvSpPr>
        <p:spPr>
          <a:xfrm>
            <a:off x="1595628" y="4828029"/>
            <a:ext cx="141732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10</a:t>
            </a:r>
            <a:endParaRPr lang="en-US" sz="1050" dirty="0"/>
          </a:p>
        </p:txBody>
      </p:sp>
      <p:sp>
        <p:nvSpPr>
          <p:cNvPr id="39" name="Shape 36"/>
          <p:cNvSpPr/>
          <p:nvPr/>
        </p:nvSpPr>
        <p:spPr>
          <a:xfrm>
            <a:off x="3058668" y="4709157"/>
            <a:ext cx="2148840" cy="310896"/>
          </a:xfrm>
          <a:prstGeom prst="rect">
            <a:avLst/>
          </a:prstGeom>
          <a:solidFill>
            <a:srgbClr val="FFFFFF"/>
          </a:solidFill>
          <a:ln w="6350">
            <a:solidFill>
              <a:srgbClr val="D9E2F3"/>
            </a:solidFill>
            <a:prstDash val="solid"/>
          </a:ln>
        </p:spPr>
        <p:txBody>
          <a:bodyPr/>
          <a:lstStyle/>
          <a:p>
            <a:endParaRPr lang="ko-KR" altLang="en-US"/>
          </a:p>
        </p:txBody>
      </p:sp>
      <p:sp>
        <p:nvSpPr>
          <p:cNvPr id="40" name="Text 37"/>
          <p:cNvSpPr/>
          <p:nvPr/>
        </p:nvSpPr>
        <p:spPr>
          <a:xfrm>
            <a:off x="3104388" y="4828029"/>
            <a:ext cx="20574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−8</a:t>
            </a:r>
            <a:endParaRPr lang="en-US" sz="1050" dirty="0"/>
          </a:p>
        </p:txBody>
      </p:sp>
      <p:sp>
        <p:nvSpPr>
          <p:cNvPr id="41" name="Shape 38"/>
          <p:cNvSpPr/>
          <p:nvPr/>
        </p:nvSpPr>
        <p:spPr>
          <a:xfrm>
            <a:off x="1549908" y="5020053"/>
            <a:ext cx="1508760" cy="310896"/>
          </a:xfrm>
          <a:prstGeom prst="rect">
            <a:avLst/>
          </a:prstGeom>
          <a:solidFill>
            <a:srgbClr val="F5F7FA"/>
          </a:solidFill>
          <a:ln w="6350">
            <a:solidFill>
              <a:srgbClr val="D9E2F3"/>
            </a:solidFill>
            <a:prstDash val="solid"/>
          </a:ln>
        </p:spPr>
        <p:txBody>
          <a:bodyPr/>
          <a:lstStyle/>
          <a:p>
            <a:endParaRPr lang="ko-KR" altLang="en-US"/>
          </a:p>
        </p:txBody>
      </p:sp>
      <p:sp>
        <p:nvSpPr>
          <p:cNvPr id="42" name="Text 39"/>
          <p:cNvSpPr/>
          <p:nvPr/>
        </p:nvSpPr>
        <p:spPr>
          <a:xfrm>
            <a:off x="1595628" y="5138925"/>
            <a:ext cx="141732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11</a:t>
            </a:r>
            <a:endParaRPr lang="en-US" sz="1050" dirty="0"/>
          </a:p>
        </p:txBody>
      </p:sp>
      <p:sp>
        <p:nvSpPr>
          <p:cNvPr id="43" name="Shape 40"/>
          <p:cNvSpPr/>
          <p:nvPr/>
        </p:nvSpPr>
        <p:spPr>
          <a:xfrm>
            <a:off x="3058668" y="5020053"/>
            <a:ext cx="2148840" cy="310896"/>
          </a:xfrm>
          <a:prstGeom prst="rect">
            <a:avLst/>
          </a:prstGeom>
          <a:solidFill>
            <a:srgbClr val="F5F7FA"/>
          </a:solidFill>
          <a:ln w="6350">
            <a:solidFill>
              <a:srgbClr val="D9E2F3"/>
            </a:solidFill>
            <a:prstDash val="solid"/>
          </a:ln>
        </p:spPr>
        <p:txBody>
          <a:bodyPr/>
          <a:lstStyle/>
          <a:p>
            <a:endParaRPr lang="ko-KR" altLang="en-US"/>
          </a:p>
        </p:txBody>
      </p:sp>
      <p:sp>
        <p:nvSpPr>
          <p:cNvPr id="44" name="Text 41"/>
          <p:cNvSpPr/>
          <p:nvPr/>
        </p:nvSpPr>
        <p:spPr>
          <a:xfrm>
            <a:off x="3104388" y="5138925"/>
            <a:ext cx="20574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+8</a:t>
            </a:r>
            <a:endParaRPr lang="en-US" sz="1050" dirty="0"/>
          </a:p>
        </p:txBody>
      </p:sp>
      <p:sp>
        <p:nvSpPr>
          <p:cNvPr id="45" name="Shape 42"/>
          <p:cNvSpPr/>
          <p:nvPr/>
        </p:nvSpPr>
        <p:spPr>
          <a:xfrm>
            <a:off x="6263640" y="3246119"/>
            <a:ext cx="4983480" cy="2360591"/>
          </a:xfrm>
          <a:prstGeom prst="roundRect">
            <a:avLst>
              <a:gd name="adj" fmla="val 2927"/>
            </a:avLst>
          </a:prstGeom>
          <a:solidFill>
            <a:srgbClr val="FFFDF2"/>
          </a:solidFill>
          <a:ln w="13335">
            <a:solidFill>
              <a:srgbClr val="D6B656"/>
            </a:solidFill>
            <a:prstDash val="solid"/>
          </a:ln>
        </p:spPr>
        <p:txBody>
          <a:bodyPr/>
          <a:lstStyle/>
          <a:p>
            <a:endParaRPr lang="ko-KR" altLang="en-US"/>
          </a:p>
        </p:txBody>
      </p:sp>
      <p:sp>
        <p:nvSpPr>
          <p:cNvPr id="46" name="Text 43"/>
          <p:cNvSpPr/>
          <p:nvPr/>
        </p:nvSpPr>
        <p:spPr>
          <a:xfrm>
            <a:off x="6428232" y="3355848"/>
            <a:ext cx="46542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Important distinction</a:t>
            </a:r>
            <a:endParaRPr lang="en-US" sz="1200" dirty="0"/>
          </a:p>
        </p:txBody>
      </p:sp>
      <p:sp>
        <p:nvSpPr>
          <p:cNvPr id="47" name="Text 44"/>
          <p:cNvSpPr/>
          <p:nvPr/>
        </p:nvSpPr>
        <p:spPr>
          <a:xfrm>
            <a:off x="6583680" y="3749040"/>
            <a:ext cx="4343400" cy="310896"/>
          </a:xfrm>
          <a:prstGeom prst="rect">
            <a:avLst/>
          </a:prstGeom>
          <a:noFill/>
          <a:ln/>
        </p:spPr>
        <p:txBody>
          <a:bodyPr wrap="square" lIns="0" tIns="0" rIns="0" bIns="0" rtlCol="0" anchor="ctr">
            <a:normAutofit/>
          </a:bodyPr>
          <a:lstStyle/>
          <a:p>
            <a:pPr marL="0" indent="0" algn="ctr">
              <a:buNone/>
            </a:pPr>
            <a:r>
              <a:rPr lang="en-US" sz="1230" b="1" dirty="0">
                <a:solidFill>
                  <a:srgbClr val="00245D"/>
                </a:solidFill>
                <a:latin typeface="Arial" pitchFamily="34" charset="0"/>
                <a:ea typeface="Arial" pitchFamily="34" charset="-122"/>
                <a:cs typeface="Arial" pitchFamily="34" charset="-120"/>
              </a:rPr>
              <a:t>Algorithm 1 already selected the best SV offline.</a:t>
            </a:r>
            <a:endParaRPr lang="en-US" sz="1230" dirty="0"/>
          </a:p>
        </p:txBody>
      </p:sp>
      <p:sp>
        <p:nvSpPr>
          <p:cNvPr id="48" name="Text 45"/>
          <p:cNvSpPr/>
          <p:nvPr/>
        </p:nvSpPr>
        <p:spPr>
          <a:xfrm>
            <a:off x="6583680" y="4343400"/>
            <a:ext cx="4343400" cy="365760"/>
          </a:xfrm>
          <a:prstGeom prst="rect">
            <a:avLst/>
          </a:prstGeom>
          <a:noFill/>
          <a:ln/>
        </p:spPr>
        <p:txBody>
          <a:bodyPr wrap="square" lIns="0" tIns="0" rIns="0" bIns="0" rtlCol="0" anchor="ctr">
            <a:normAutofit/>
          </a:bodyPr>
          <a:lstStyle/>
          <a:p>
            <a:pPr marL="0" indent="0" algn="ctr">
              <a:buNone/>
            </a:pPr>
            <a:r>
              <a:rPr lang="en-US" sz="1200" dirty="0">
                <a:solidFill>
                  <a:srgbClr val="222222"/>
                </a:solidFill>
                <a:latin typeface="Arial" pitchFamily="34" charset="0"/>
                <a:ea typeface="Arial" pitchFamily="34" charset="-122"/>
                <a:cs typeface="Arial" pitchFamily="34" charset="-120"/>
              </a:rPr>
              <a:t>Figure 4 only uses the stored metadata to choose one value from SV_reg.</a:t>
            </a:r>
            <a:endParaRPr lang="en-US" sz="1200" dirty="0"/>
          </a:p>
        </p:txBody>
      </p:sp>
      <p:sp>
        <p:nvSpPr>
          <p:cNvPr id="49" name="Text 46"/>
          <p:cNvSpPr/>
          <p:nvPr/>
        </p:nvSpPr>
        <p:spPr>
          <a:xfrm>
            <a:off x="6583680" y="4846320"/>
            <a:ext cx="4343400" cy="201168"/>
          </a:xfrm>
          <a:prstGeom prst="rect">
            <a:avLst/>
          </a:prstGeom>
          <a:noFill/>
          <a:ln/>
        </p:spPr>
        <p:txBody>
          <a:bodyPr wrap="square" lIns="0" tIns="0" rIns="0" bIns="0" rtlCol="0" anchor="ctr">
            <a:normAutofit/>
          </a:bodyPr>
          <a:lstStyle/>
          <a:p>
            <a:pPr marL="0" indent="0" algn="ctr">
              <a:buNone/>
            </a:pPr>
            <a:r>
              <a:rPr lang="en-US" sz="1150" b="1" dirty="0">
                <a:solidFill>
                  <a:srgbClr val="C00000"/>
                </a:solidFill>
                <a:latin typeface="Arial" pitchFamily="34" charset="0"/>
                <a:ea typeface="Arial" pitchFamily="34" charset="-122"/>
                <a:cs typeface="Arial" pitchFamily="34" charset="-120"/>
              </a:rPr>
              <a:t>No MSE search happens inside this decoder.</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Case 5 — LOD converts FP4 fixed value into at most two terms</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62</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Extended FP4 values have at most two 1-bits after fixed-point conversion, so two LOD blocks are enough.</a:t>
            </a:r>
            <a:endParaRPr lang="en-US" sz="1300" dirty="0"/>
          </a:p>
        </p:txBody>
      </p:sp>
      <p:sp>
        <p:nvSpPr>
          <p:cNvPr id="9" name="Shape 6"/>
          <p:cNvSpPr/>
          <p:nvPr/>
        </p:nvSpPr>
        <p:spPr>
          <a:xfrm>
            <a:off x="731520" y="1417320"/>
            <a:ext cx="5303520" cy="1965960"/>
          </a:xfrm>
          <a:prstGeom prst="roundRect">
            <a:avLst>
              <a:gd name="adj" fmla="val 2791"/>
            </a:avLst>
          </a:prstGeom>
          <a:solidFill>
            <a:srgbClr val="FFFDF2"/>
          </a:solidFill>
          <a:ln w="13335">
            <a:solidFill>
              <a:srgbClr val="D6B656"/>
            </a:solidFill>
            <a:prstDash val="solid"/>
          </a:ln>
        </p:spPr>
        <p:txBody>
          <a:bodyPr/>
          <a:lstStyle/>
          <a:p>
            <a:endParaRPr lang="ko-KR" altLang="en-US"/>
          </a:p>
        </p:txBody>
      </p:sp>
      <p:sp>
        <p:nvSpPr>
          <p:cNvPr id="10" name="Text 7"/>
          <p:cNvSpPr/>
          <p:nvPr/>
        </p:nvSpPr>
        <p:spPr>
          <a:xfrm>
            <a:off x="896112" y="1527048"/>
            <a:ext cx="49743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+6</a:t>
            </a:r>
            <a:endParaRPr lang="en-US" sz="1200" dirty="0"/>
          </a:p>
        </p:txBody>
      </p:sp>
      <p:sp>
        <p:nvSpPr>
          <p:cNvPr id="11" name="Shape 8"/>
          <p:cNvSpPr/>
          <p:nvPr/>
        </p:nvSpPr>
        <p:spPr>
          <a:xfrm>
            <a:off x="1815084" y="2116836"/>
            <a:ext cx="475488" cy="411480"/>
          </a:xfrm>
          <a:prstGeom prst="rect">
            <a:avLst/>
          </a:prstGeom>
          <a:solidFill>
            <a:srgbClr val="FCE4D6"/>
          </a:solidFill>
          <a:ln w="8890">
            <a:solidFill>
              <a:srgbClr val="D9E2F3"/>
            </a:solidFill>
            <a:prstDash val="solid"/>
          </a:ln>
        </p:spPr>
        <p:txBody>
          <a:bodyPr/>
          <a:lstStyle/>
          <a:p>
            <a:endParaRPr lang="ko-KR" altLang="en-US"/>
          </a:p>
        </p:txBody>
      </p:sp>
      <p:sp>
        <p:nvSpPr>
          <p:cNvPr id="12" name="Text 9"/>
          <p:cNvSpPr/>
          <p:nvPr/>
        </p:nvSpPr>
        <p:spPr>
          <a:xfrm>
            <a:off x="1833372" y="2189988"/>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S</a:t>
            </a:r>
            <a:endParaRPr lang="en-US" sz="1050" dirty="0"/>
          </a:p>
        </p:txBody>
      </p:sp>
      <p:sp>
        <p:nvSpPr>
          <p:cNvPr id="13" name="Shape 10"/>
          <p:cNvSpPr/>
          <p:nvPr/>
        </p:nvSpPr>
        <p:spPr>
          <a:xfrm>
            <a:off x="2290572" y="2116836"/>
            <a:ext cx="475488" cy="411480"/>
          </a:xfrm>
          <a:prstGeom prst="rect">
            <a:avLst/>
          </a:prstGeom>
          <a:solidFill>
            <a:srgbClr val="FFFFFF"/>
          </a:solidFill>
          <a:ln w="8890">
            <a:solidFill>
              <a:srgbClr val="D9E2F3"/>
            </a:solidFill>
            <a:prstDash val="solid"/>
          </a:ln>
        </p:spPr>
        <p:txBody>
          <a:bodyPr/>
          <a:lstStyle/>
          <a:p>
            <a:endParaRPr lang="ko-KR" altLang="en-US"/>
          </a:p>
        </p:txBody>
      </p:sp>
      <p:sp>
        <p:nvSpPr>
          <p:cNvPr id="14" name="Text 11"/>
          <p:cNvSpPr/>
          <p:nvPr/>
        </p:nvSpPr>
        <p:spPr>
          <a:xfrm>
            <a:off x="2308860" y="2189988"/>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I₃</a:t>
            </a:r>
            <a:endParaRPr lang="en-US" sz="1050" dirty="0"/>
          </a:p>
        </p:txBody>
      </p:sp>
      <p:sp>
        <p:nvSpPr>
          <p:cNvPr id="15" name="Shape 12"/>
          <p:cNvSpPr/>
          <p:nvPr/>
        </p:nvSpPr>
        <p:spPr>
          <a:xfrm>
            <a:off x="2766060" y="2116836"/>
            <a:ext cx="475488" cy="411480"/>
          </a:xfrm>
          <a:prstGeom prst="rect">
            <a:avLst/>
          </a:prstGeom>
          <a:solidFill>
            <a:srgbClr val="E2F0D9"/>
          </a:solidFill>
          <a:ln w="8890">
            <a:solidFill>
              <a:srgbClr val="D9E2F3"/>
            </a:solidFill>
            <a:prstDash val="solid"/>
          </a:ln>
        </p:spPr>
        <p:txBody>
          <a:bodyPr/>
          <a:lstStyle/>
          <a:p>
            <a:endParaRPr lang="ko-KR" altLang="en-US"/>
          </a:p>
        </p:txBody>
      </p:sp>
      <p:sp>
        <p:nvSpPr>
          <p:cNvPr id="16" name="Text 13"/>
          <p:cNvSpPr/>
          <p:nvPr/>
        </p:nvSpPr>
        <p:spPr>
          <a:xfrm>
            <a:off x="2784348" y="2189988"/>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I₂</a:t>
            </a:r>
            <a:endParaRPr lang="en-US" sz="1050" dirty="0"/>
          </a:p>
        </p:txBody>
      </p:sp>
      <p:sp>
        <p:nvSpPr>
          <p:cNvPr id="17" name="Shape 14"/>
          <p:cNvSpPr/>
          <p:nvPr/>
        </p:nvSpPr>
        <p:spPr>
          <a:xfrm>
            <a:off x="3241548" y="2116836"/>
            <a:ext cx="475488" cy="411480"/>
          </a:xfrm>
          <a:prstGeom prst="rect">
            <a:avLst/>
          </a:prstGeom>
          <a:solidFill>
            <a:srgbClr val="E2F0D9"/>
          </a:solidFill>
          <a:ln w="8890">
            <a:solidFill>
              <a:srgbClr val="D9E2F3"/>
            </a:solidFill>
            <a:prstDash val="solid"/>
          </a:ln>
        </p:spPr>
        <p:txBody>
          <a:bodyPr/>
          <a:lstStyle/>
          <a:p>
            <a:endParaRPr lang="ko-KR" altLang="en-US"/>
          </a:p>
        </p:txBody>
      </p:sp>
      <p:sp>
        <p:nvSpPr>
          <p:cNvPr id="18" name="Text 15"/>
          <p:cNvSpPr/>
          <p:nvPr/>
        </p:nvSpPr>
        <p:spPr>
          <a:xfrm>
            <a:off x="3259836" y="2189988"/>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I₁</a:t>
            </a:r>
            <a:endParaRPr lang="en-US" sz="1050" dirty="0"/>
          </a:p>
        </p:txBody>
      </p:sp>
      <p:sp>
        <p:nvSpPr>
          <p:cNvPr id="19" name="Shape 16"/>
          <p:cNvSpPr/>
          <p:nvPr/>
        </p:nvSpPr>
        <p:spPr>
          <a:xfrm>
            <a:off x="3717036" y="2116836"/>
            <a:ext cx="475488" cy="411480"/>
          </a:xfrm>
          <a:prstGeom prst="rect">
            <a:avLst/>
          </a:prstGeom>
          <a:solidFill>
            <a:srgbClr val="FFFFFF"/>
          </a:solidFill>
          <a:ln w="8890">
            <a:solidFill>
              <a:srgbClr val="D9E2F3"/>
            </a:solidFill>
            <a:prstDash val="solid"/>
          </a:ln>
        </p:spPr>
        <p:txBody>
          <a:bodyPr/>
          <a:lstStyle/>
          <a:p>
            <a:endParaRPr lang="ko-KR" altLang="en-US"/>
          </a:p>
        </p:txBody>
      </p:sp>
      <p:sp>
        <p:nvSpPr>
          <p:cNvPr id="20" name="Text 17"/>
          <p:cNvSpPr/>
          <p:nvPr/>
        </p:nvSpPr>
        <p:spPr>
          <a:xfrm>
            <a:off x="3735324" y="2189988"/>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I₀</a:t>
            </a:r>
            <a:endParaRPr lang="en-US" sz="1050" dirty="0"/>
          </a:p>
        </p:txBody>
      </p:sp>
      <p:sp>
        <p:nvSpPr>
          <p:cNvPr id="21" name="Shape 18"/>
          <p:cNvSpPr/>
          <p:nvPr/>
        </p:nvSpPr>
        <p:spPr>
          <a:xfrm>
            <a:off x="4192524" y="2116836"/>
            <a:ext cx="475488" cy="411480"/>
          </a:xfrm>
          <a:prstGeom prst="rect">
            <a:avLst/>
          </a:prstGeom>
          <a:solidFill>
            <a:srgbClr val="FFFFFF"/>
          </a:solidFill>
          <a:ln w="8890">
            <a:solidFill>
              <a:srgbClr val="D9E2F3"/>
            </a:solidFill>
            <a:prstDash val="solid"/>
          </a:ln>
        </p:spPr>
        <p:txBody>
          <a:bodyPr/>
          <a:lstStyle/>
          <a:p>
            <a:endParaRPr lang="ko-KR" altLang="en-US"/>
          </a:p>
        </p:txBody>
      </p:sp>
      <p:sp>
        <p:nvSpPr>
          <p:cNvPr id="22" name="Text 19"/>
          <p:cNvSpPr/>
          <p:nvPr/>
        </p:nvSpPr>
        <p:spPr>
          <a:xfrm>
            <a:off x="4210812" y="2189988"/>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F₀</a:t>
            </a:r>
            <a:endParaRPr lang="en-US" sz="1050" dirty="0"/>
          </a:p>
        </p:txBody>
      </p:sp>
      <p:sp>
        <p:nvSpPr>
          <p:cNvPr id="23" name="Text 20"/>
          <p:cNvSpPr/>
          <p:nvPr/>
        </p:nvSpPr>
        <p:spPr>
          <a:xfrm>
            <a:off x="1815084" y="2711196"/>
            <a:ext cx="2971800" cy="164592"/>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0 | 0 1 1 0 | 0</a:t>
            </a:r>
            <a:endParaRPr lang="en-US" sz="1050" dirty="0"/>
          </a:p>
        </p:txBody>
      </p:sp>
      <p:sp>
        <p:nvSpPr>
          <p:cNvPr id="25" name="Text 22"/>
          <p:cNvSpPr/>
          <p:nvPr/>
        </p:nvSpPr>
        <p:spPr>
          <a:xfrm>
            <a:off x="1097280" y="2971800"/>
            <a:ext cx="4480560" cy="347472"/>
          </a:xfrm>
          <a:prstGeom prst="rect">
            <a:avLst/>
          </a:prstGeom>
          <a:noFill/>
          <a:ln/>
        </p:spPr>
        <p:txBody>
          <a:bodyPr wrap="square" lIns="0" tIns="0" rIns="0" bIns="0" rtlCol="0" anchor="ctr">
            <a:normAutofit/>
          </a:bodyPr>
          <a:lstStyle/>
          <a:p>
            <a:pPr marL="0" indent="0" algn="ctr">
              <a:buNone/>
            </a:pPr>
            <a:r>
              <a:rPr lang="en-US" sz="1200" b="1" dirty="0">
                <a:solidFill>
                  <a:srgbClr val="548235"/>
                </a:solidFill>
                <a:latin typeface="Arial" pitchFamily="34" charset="0"/>
                <a:ea typeface="Arial" pitchFamily="34" charset="-122"/>
                <a:cs typeface="Arial" pitchFamily="34" charset="-120"/>
              </a:rPr>
              <a:t>LOD finds I₂ and I₁ → Term 1 = 4, Term 2 = 2</a:t>
            </a:r>
            <a:endParaRPr lang="en-US" sz="1200" dirty="0"/>
          </a:p>
        </p:txBody>
      </p:sp>
      <p:sp>
        <p:nvSpPr>
          <p:cNvPr id="26" name="Shape 23"/>
          <p:cNvSpPr/>
          <p:nvPr/>
        </p:nvSpPr>
        <p:spPr>
          <a:xfrm>
            <a:off x="6446520" y="1417320"/>
            <a:ext cx="4892040" cy="1965960"/>
          </a:xfrm>
          <a:prstGeom prst="roundRect">
            <a:avLst>
              <a:gd name="adj" fmla="val 2791"/>
            </a:avLst>
          </a:prstGeom>
          <a:solidFill>
            <a:srgbClr val="FFFDF2"/>
          </a:solidFill>
          <a:ln w="13335">
            <a:solidFill>
              <a:srgbClr val="D6B656"/>
            </a:solidFill>
            <a:prstDash val="solid"/>
          </a:ln>
        </p:spPr>
        <p:txBody>
          <a:bodyPr/>
          <a:lstStyle/>
          <a:p>
            <a:endParaRPr lang="ko-KR" altLang="en-US"/>
          </a:p>
        </p:txBody>
      </p:sp>
      <p:sp>
        <p:nvSpPr>
          <p:cNvPr id="27" name="Text 24"/>
          <p:cNvSpPr/>
          <p:nvPr/>
        </p:nvSpPr>
        <p:spPr>
          <a:xfrm>
            <a:off x="6611112" y="1527048"/>
            <a:ext cx="45628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+1.5</a:t>
            </a:r>
            <a:endParaRPr lang="en-US" sz="1200" dirty="0"/>
          </a:p>
        </p:txBody>
      </p:sp>
      <p:sp>
        <p:nvSpPr>
          <p:cNvPr id="28" name="Shape 25"/>
          <p:cNvSpPr/>
          <p:nvPr/>
        </p:nvSpPr>
        <p:spPr>
          <a:xfrm>
            <a:off x="7505700" y="2098548"/>
            <a:ext cx="475488" cy="411480"/>
          </a:xfrm>
          <a:prstGeom prst="rect">
            <a:avLst/>
          </a:prstGeom>
          <a:solidFill>
            <a:srgbClr val="FCE4D6"/>
          </a:solidFill>
          <a:ln w="8890">
            <a:solidFill>
              <a:srgbClr val="D9E2F3"/>
            </a:solidFill>
            <a:prstDash val="solid"/>
          </a:ln>
        </p:spPr>
        <p:txBody>
          <a:bodyPr/>
          <a:lstStyle/>
          <a:p>
            <a:endParaRPr lang="ko-KR" altLang="en-US"/>
          </a:p>
        </p:txBody>
      </p:sp>
      <p:sp>
        <p:nvSpPr>
          <p:cNvPr id="29" name="Text 26"/>
          <p:cNvSpPr/>
          <p:nvPr/>
        </p:nvSpPr>
        <p:spPr>
          <a:xfrm>
            <a:off x="7523988" y="2171700"/>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S</a:t>
            </a:r>
            <a:endParaRPr lang="en-US" sz="1050" dirty="0"/>
          </a:p>
        </p:txBody>
      </p:sp>
      <p:sp>
        <p:nvSpPr>
          <p:cNvPr id="30" name="Shape 27"/>
          <p:cNvSpPr/>
          <p:nvPr/>
        </p:nvSpPr>
        <p:spPr>
          <a:xfrm>
            <a:off x="7981188" y="2098548"/>
            <a:ext cx="475488" cy="411480"/>
          </a:xfrm>
          <a:prstGeom prst="rect">
            <a:avLst/>
          </a:prstGeom>
          <a:solidFill>
            <a:srgbClr val="FFFFFF"/>
          </a:solidFill>
          <a:ln w="8890">
            <a:solidFill>
              <a:srgbClr val="D9E2F3"/>
            </a:solidFill>
            <a:prstDash val="solid"/>
          </a:ln>
        </p:spPr>
        <p:txBody>
          <a:bodyPr/>
          <a:lstStyle/>
          <a:p>
            <a:endParaRPr lang="ko-KR" altLang="en-US"/>
          </a:p>
        </p:txBody>
      </p:sp>
      <p:sp>
        <p:nvSpPr>
          <p:cNvPr id="31" name="Text 28"/>
          <p:cNvSpPr/>
          <p:nvPr/>
        </p:nvSpPr>
        <p:spPr>
          <a:xfrm>
            <a:off x="7999476" y="2171700"/>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I₃</a:t>
            </a:r>
            <a:endParaRPr lang="en-US" sz="1050" dirty="0"/>
          </a:p>
        </p:txBody>
      </p:sp>
      <p:sp>
        <p:nvSpPr>
          <p:cNvPr id="32" name="Shape 29"/>
          <p:cNvSpPr/>
          <p:nvPr/>
        </p:nvSpPr>
        <p:spPr>
          <a:xfrm>
            <a:off x="8456676" y="2098548"/>
            <a:ext cx="475488" cy="411480"/>
          </a:xfrm>
          <a:prstGeom prst="rect">
            <a:avLst/>
          </a:prstGeom>
          <a:solidFill>
            <a:srgbClr val="FFFFFF"/>
          </a:solidFill>
          <a:ln w="8890">
            <a:solidFill>
              <a:srgbClr val="D9E2F3"/>
            </a:solidFill>
            <a:prstDash val="solid"/>
          </a:ln>
        </p:spPr>
        <p:txBody>
          <a:bodyPr/>
          <a:lstStyle/>
          <a:p>
            <a:endParaRPr lang="ko-KR" altLang="en-US"/>
          </a:p>
        </p:txBody>
      </p:sp>
      <p:sp>
        <p:nvSpPr>
          <p:cNvPr id="33" name="Text 30"/>
          <p:cNvSpPr/>
          <p:nvPr/>
        </p:nvSpPr>
        <p:spPr>
          <a:xfrm>
            <a:off x="8474964" y="2171700"/>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I₂</a:t>
            </a:r>
            <a:endParaRPr lang="en-US" sz="1050" dirty="0"/>
          </a:p>
        </p:txBody>
      </p:sp>
      <p:sp>
        <p:nvSpPr>
          <p:cNvPr id="34" name="Shape 31"/>
          <p:cNvSpPr/>
          <p:nvPr/>
        </p:nvSpPr>
        <p:spPr>
          <a:xfrm>
            <a:off x="8932164" y="2098548"/>
            <a:ext cx="475488" cy="411480"/>
          </a:xfrm>
          <a:prstGeom prst="rect">
            <a:avLst/>
          </a:prstGeom>
          <a:solidFill>
            <a:srgbClr val="FFFFFF"/>
          </a:solidFill>
          <a:ln w="8890">
            <a:solidFill>
              <a:srgbClr val="D9E2F3"/>
            </a:solidFill>
            <a:prstDash val="solid"/>
          </a:ln>
        </p:spPr>
        <p:txBody>
          <a:bodyPr/>
          <a:lstStyle/>
          <a:p>
            <a:endParaRPr lang="ko-KR" altLang="en-US"/>
          </a:p>
        </p:txBody>
      </p:sp>
      <p:sp>
        <p:nvSpPr>
          <p:cNvPr id="35" name="Text 32"/>
          <p:cNvSpPr/>
          <p:nvPr/>
        </p:nvSpPr>
        <p:spPr>
          <a:xfrm>
            <a:off x="8950452" y="2171700"/>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I₁</a:t>
            </a:r>
            <a:endParaRPr lang="en-US" sz="1050" dirty="0"/>
          </a:p>
        </p:txBody>
      </p:sp>
      <p:sp>
        <p:nvSpPr>
          <p:cNvPr id="36" name="Shape 33"/>
          <p:cNvSpPr/>
          <p:nvPr/>
        </p:nvSpPr>
        <p:spPr>
          <a:xfrm>
            <a:off x="9407652" y="2098548"/>
            <a:ext cx="475488" cy="411480"/>
          </a:xfrm>
          <a:prstGeom prst="rect">
            <a:avLst/>
          </a:prstGeom>
          <a:solidFill>
            <a:srgbClr val="E2F0D9"/>
          </a:solidFill>
          <a:ln w="8890">
            <a:solidFill>
              <a:srgbClr val="D9E2F3"/>
            </a:solidFill>
            <a:prstDash val="solid"/>
          </a:ln>
        </p:spPr>
        <p:txBody>
          <a:bodyPr/>
          <a:lstStyle/>
          <a:p>
            <a:endParaRPr lang="ko-KR" altLang="en-US"/>
          </a:p>
        </p:txBody>
      </p:sp>
      <p:sp>
        <p:nvSpPr>
          <p:cNvPr id="37" name="Text 34"/>
          <p:cNvSpPr/>
          <p:nvPr/>
        </p:nvSpPr>
        <p:spPr>
          <a:xfrm>
            <a:off x="9425940" y="2171700"/>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I₀</a:t>
            </a:r>
            <a:endParaRPr lang="en-US" sz="1050" dirty="0"/>
          </a:p>
        </p:txBody>
      </p:sp>
      <p:sp>
        <p:nvSpPr>
          <p:cNvPr id="38" name="Shape 35"/>
          <p:cNvSpPr/>
          <p:nvPr/>
        </p:nvSpPr>
        <p:spPr>
          <a:xfrm>
            <a:off x="9883140" y="2098548"/>
            <a:ext cx="475488" cy="411480"/>
          </a:xfrm>
          <a:prstGeom prst="rect">
            <a:avLst/>
          </a:prstGeom>
          <a:solidFill>
            <a:srgbClr val="E2F0D9"/>
          </a:solidFill>
          <a:ln w="8890">
            <a:solidFill>
              <a:srgbClr val="D9E2F3"/>
            </a:solidFill>
            <a:prstDash val="solid"/>
          </a:ln>
        </p:spPr>
        <p:txBody>
          <a:bodyPr/>
          <a:lstStyle/>
          <a:p>
            <a:endParaRPr lang="ko-KR" altLang="en-US"/>
          </a:p>
        </p:txBody>
      </p:sp>
      <p:sp>
        <p:nvSpPr>
          <p:cNvPr id="39" name="Text 36"/>
          <p:cNvSpPr/>
          <p:nvPr/>
        </p:nvSpPr>
        <p:spPr>
          <a:xfrm>
            <a:off x="9901428" y="2171700"/>
            <a:ext cx="438912" cy="320040"/>
          </a:xfrm>
          <a:prstGeom prst="rect">
            <a:avLst/>
          </a:prstGeom>
          <a:noFill/>
          <a:ln/>
        </p:spPr>
        <p:txBody>
          <a:bodyPr wrap="square" lIns="0" tIns="0" rIns="0" bIns="0" rtlCol="0" anchor="ctr">
            <a:normAutofit/>
          </a:bodyPr>
          <a:lstStyle/>
          <a:p>
            <a:pPr marL="0" indent="0" algn="ctr">
              <a:buNone/>
            </a:pPr>
            <a:r>
              <a:rPr lang="en-US" sz="1050" b="1" dirty="0">
                <a:solidFill>
                  <a:srgbClr val="222222"/>
                </a:solidFill>
                <a:latin typeface="Arial" pitchFamily="34" charset="0"/>
                <a:ea typeface="Arial" pitchFamily="34" charset="-122"/>
                <a:cs typeface="Arial" pitchFamily="34" charset="-120"/>
              </a:rPr>
              <a:t>F₀</a:t>
            </a:r>
            <a:endParaRPr lang="en-US" sz="1050" dirty="0"/>
          </a:p>
        </p:txBody>
      </p:sp>
      <p:sp>
        <p:nvSpPr>
          <p:cNvPr id="40" name="Text 37"/>
          <p:cNvSpPr/>
          <p:nvPr/>
        </p:nvSpPr>
        <p:spPr>
          <a:xfrm>
            <a:off x="7505700" y="2692908"/>
            <a:ext cx="2971800" cy="164592"/>
          </a:xfrm>
          <a:prstGeom prst="rect">
            <a:avLst/>
          </a:prstGeom>
          <a:noFill/>
          <a:ln/>
        </p:spPr>
        <p:txBody>
          <a:bodyPr wrap="square" lIns="0" tIns="0" rIns="0" bIns="0" rtlCol="0" anchor="ctr">
            <a:normAutofit/>
          </a:bodyPr>
          <a:lstStyle/>
          <a:p>
            <a:pPr marL="0" indent="0" algn="ctr">
              <a:buNone/>
            </a:pPr>
            <a:r>
              <a:rPr lang="en-US" sz="1050" b="1" dirty="0">
                <a:solidFill>
                  <a:srgbClr val="00245D"/>
                </a:solidFill>
                <a:latin typeface="Arial" pitchFamily="34" charset="0"/>
                <a:ea typeface="Arial" pitchFamily="34" charset="-122"/>
                <a:cs typeface="Arial" pitchFamily="34" charset="-120"/>
              </a:rPr>
              <a:t>0 | 0 0 0 1 | 1</a:t>
            </a:r>
            <a:endParaRPr lang="en-US" sz="1050" dirty="0"/>
          </a:p>
        </p:txBody>
      </p:sp>
      <p:sp>
        <p:nvSpPr>
          <p:cNvPr id="41" name="Text 38"/>
          <p:cNvSpPr/>
          <p:nvPr/>
        </p:nvSpPr>
        <p:spPr>
          <a:xfrm>
            <a:off x="6812280" y="2971800"/>
            <a:ext cx="4206240" cy="347472"/>
          </a:xfrm>
          <a:prstGeom prst="rect">
            <a:avLst/>
          </a:prstGeom>
          <a:noFill/>
          <a:ln/>
        </p:spPr>
        <p:txBody>
          <a:bodyPr wrap="square" lIns="0" tIns="0" rIns="0" bIns="0" rtlCol="0" anchor="ctr">
            <a:normAutofit/>
          </a:bodyPr>
          <a:lstStyle/>
          <a:p>
            <a:pPr marL="0" indent="0" algn="ctr">
              <a:buNone/>
            </a:pPr>
            <a:r>
              <a:rPr lang="en-US" sz="1200" b="1" dirty="0">
                <a:solidFill>
                  <a:srgbClr val="548235"/>
                </a:solidFill>
                <a:latin typeface="Arial" pitchFamily="34" charset="0"/>
                <a:ea typeface="Arial" pitchFamily="34" charset="-122"/>
                <a:cs typeface="Arial" pitchFamily="34" charset="-120"/>
              </a:rPr>
              <a:t>LOD finds I₀ and F₀ → Term 1 = 1, Term 2 = 0.5</a:t>
            </a:r>
            <a:endParaRPr lang="en-US" sz="1200" dirty="0"/>
          </a:p>
        </p:txBody>
      </p:sp>
      <p:sp>
        <p:nvSpPr>
          <p:cNvPr id="42" name="Shape 39"/>
          <p:cNvSpPr/>
          <p:nvPr/>
        </p:nvSpPr>
        <p:spPr>
          <a:xfrm>
            <a:off x="1097280" y="4023360"/>
            <a:ext cx="9921240" cy="1354756"/>
          </a:xfrm>
          <a:prstGeom prst="roundRect">
            <a:avLst>
              <a:gd name="adj" fmla="val 5217"/>
            </a:avLst>
          </a:prstGeom>
          <a:solidFill>
            <a:srgbClr val="E2F0D9"/>
          </a:solidFill>
          <a:ln w="13335">
            <a:solidFill>
              <a:srgbClr val="548235"/>
            </a:solidFill>
            <a:prstDash val="solid"/>
          </a:ln>
        </p:spPr>
        <p:txBody>
          <a:bodyPr/>
          <a:lstStyle/>
          <a:p>
            <a:endParaRPr lang="ko-KR" altLang="en-US"/>
          </a:p>
        </p:txBody>
      </p:sp>
      <p:sp>
        <p:nvSpPr>
          <p:cNvPr id="43" name="Text 40"/>
          <p:cNvSpPr/>
          <p:nvPr/>
        </p:nvSpPr>
        <p:spPr>
          <a:xfrm>
            <a:off x="1261872" y="4133088"/>
            <a:ext cx="95920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Why two LOD blocks?</a:t>
            </a:r>
            <a:endParaRPr lang="en-US" sz="1200" dirty="0"/>
          </a:p>
        </p:txBody>
      </p:sp>
      <p:sp>
        <p:nvSpPr>
          <p:cNvPr id="44" name="Text 41"/>
          <p:cNvSpPr/>
          <p:nvPr/>
        </p:nvSpPr>
        <p:spPr>
          <a:xfrm>
            <a:off x="1417320" y="4462272"/>
            <a:ext cx="4434840" cy="256032"/>
          </a:xfrm>
          <a:prstGeom prst="rect">
            <a:avLst/>
          </a:prstGeom>
          <a:noFill/>
          <a:ln/>
        </p:spPr>
        <p:txBody>
          <a:bodyPr wrap="square" lIns="0" tIns="0" rIns="0" bIns="0" rtlCol="0" anchor="ctr">
            <a:normAutofit/>
          </a:bodyPr>
          <a:lstStyle/>
          <a:p>
            <a:pPr marL="0" indent="0" algn="ctr">
              <a:buNone/>
            </a:pPr>
            <a:r>
              <a:rPr lang="en-US" sz="1230" b="1" dirty="0">
                <a:solidFill>
                  <a:srgbClr val="00245D"/>
                </a:solidFill>
                <a:latin typeface="Arial" pitchFamily="34" charset="0"/>
                <a:ea typeface="Arial" pitchFamily="34" charset="-122"/>
                <a:cs typeface="Arial" pitchFamily="34" charset="-120"/>
              </a:rPr>
              <a:t>LOD 1 checks {I₃, I₂, I₁, I₀}</a:t>
            </a:r>
            <a:endParaRPr lang="en-US" sz="1230" dirty="0"/>
          </a:p>
        </p:txBody>
      </p:sp>
      <p:sp>
        <p:nvSpPr>
          <p:cNvPr id="45" name="Text 42"/>
          <p:cNvSpPr/>
          <p:nvPr/>
        </p:nvSpPr>
        <p:spPr>
          <a:xfrm>
            <a:off x="5989320" y="4462272"/>
            <a:ext cx="4434840" cy="256032"/>
          </a:xfrm>
          <a:prstGeom prst="rect">
            <a:avLst/>
          </a:prstGeom>
          <a:noFill/>
          <a:ln/>
        </p:spPr>
        <p:txBody>
          <a:bodyPr wrap="square" lIns="0" tIns="0" rIns="0" bIns="0" rtlCol="0" anchor="ctr">
            <a:normAutofit/>
          </a:bodyPr>
          <a:lstStyle/>
          <a:p>
            <a:pPr marL="0" indent="0" algn="ctr">
              <a:buNone/>
            </a:pPr>
            <a:r>
              <a:rPr lang="en-US" sz="1230" b="1" dirty="0">
                <a:solidFill>
                  <a:srgbClr val="00245D"/>
                </a:solidFill>
                <a:latin typeface="Arial" pitchFamily="34" charset="0"/>
                <a:ea typeface="Arial" pitchFamily="34" charset="-122"/>
                <a:cs typeface="Arial" pitchFamily="34" charset="-120"/>
              </a:rPr>
              <a:t>LOD 2 checks {I₂, I₁, I₀, F₀}</a:t>
            </a:r>
            <a:endParaRPr lang="en-US" sz="1230" dirty="0"/>
          </a:p>
        </p:txBody>
      </p:sp>
      <p:sp>
        <p:nvSpPr>
          <p:cNvPr id="46" name="Text 43"/>
          <p:cNvSpPr/>
          <p:nvPr/>
        </p:nvSpPr>
        <p:spPr>
          <a:xfrm>
            <a:off x="1417320" y="5010912"/>
            <a:ext cx="9098280" cy="201168"/>
          </a:xfrm>
          <a:prstGeom prst="rect">
            <a:avLst/>
          </a:prstGeom>
          <a:noFill/>
          <a:ln/>
        </p:spPr>
        <p:txBody>
          <a:bodyPr wrap="square" lIns="0" tIns="0" rIns="0" bIns="0" rtlCol="0" anchor="ctr">
            <a:normAutofit/>
          </a:bodyPr>
          <a:lstStyle/>
          <a:p>
            <a:pPr marL="0" indent="0" algn="ctr">
              <a:buNone/>
            </a:pPr>
            <a:r>
              <a:rPr lang="en-US" sz="1150" dirty="0">
                <a:solidFill>
                  <a:srgbClr val="222222"/>
                </a:solidFill>
                <a:latin typeface="Arial" pitchFamily="34" charset="0"/>
                <a:ea typeface="Arial" pitchFamily="34" charset="-122"/>
                <a:cs typeface="Arial" pitchFamily="34" charset="-120"/>
              </a:rPr>
              <a:t>Each detected 1-bit becomes a Sign / Exp / Man term sent to the PE.</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Case 6 — FP3: reuse the FP4 decoder</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63</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Extended FP3 values are a subset of the values representable by the FP4 fixed-point decoder.</a:t>
            </a:r>
            <a:endParaRPr lang="en-US" sz="1300" dirty="0"/>
          </a:p>
        </p:txBody>
      </p:sp>
      <p:sp>
        <p:nvSpPr>
          <p:cNvPr id="9" name="Shape 6"/>
          <p:cNvSpPr/>
          <p:nvPr/>
        </p:nvSpPr>
        <p:spPr>
          <a:xfrm>
            <a:off x="731520" y="1417320"/>
            <a:ext cx="5212080" cy="1874520"/>
          </a:xfrm>
          <a:prstGeom prst="roundRect">
            <a:avLst>
              <a:gd name="adj" fmla="val 2927"/>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96112" y="1527048"/>
            <a:ext cx="48828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Basic FP3</a:t>
            </a:r>
            <a:endParaRPr lang="en-US" sz="1200" dirty="0"/>
          </a:p>
        </p:txBody>
      </p:sp>
      <p:sp>
        <p:nvSpPr>
          <p:cNvPr id="11" name="Text 8"/>
          <p:cNvSpPr/>
          <p:nvPr/>
        </p:nvSpPr>
        <p:spPr>
          <a:xfrm>
            <a:off x="1097280" y="1901952"/>
            <a:ext cx="4434840" cy="384048"/>
          </a:xfrm>
          <a:prstGeom prst="rect">
            <a:avLst/>
          </a:prstGeom>
          <a:noFill/>
          <a:ln/>
        </p:spPr>
        <p:txBody>
          <a:bodyPr wrap="square" lIns="0" tIns="0" rIns="0" bIns="0" rtlCol="0" anchor="ctr">
            <a:normAutofit/>
          </a:bodyPr>
          <a:lstStyle/>
          <a:p>
            <a:pPr marL="0" indent="0" algn="ctr">
              <a:buNone/>
            </a:pPr>
            <a:r>
              <a:rPr lang="en-US" sz="1800" b="1" dirty="0">
                <a:solidFill>
                  <a:srgbClr val="00245D"/>
                </a:solidFill>
                <a:latin typeface="Cambria Math" pitchFamily="34" charset="0"/>
                <a:ea typeface="Cambria Math" pitchFamily="34" charset="-122"/>
                <a:cs typeface="Cambria Math" pitchFamily="34" charset="-120"/>
              </a:rPr>
              <a:t>{0, ±1, ±2, ±4}</a:t>
            </a:r>
            <a:endParaRPr lang="en-US" sz="1800" dirty="0"/>
          </a:p>
        </p:txBody>
      </p:sp>
      <p:sp>
        <p:nvSpPr>
          <p:cNvPr id="12" name="Text 9"/>
          <p:cNvSpPr/>
          <p:nvPr/>
        </p:nvSpPr>
        <p:spPr>
          <a:xfrm>
            <a:off x="1097280" y="2542032"/>
            <a:ext cx="4434840" cy="292608"/>
          </a:xfrm>
          <a:prstGeom prst="rect">
            <a:avLst/>
          </a:prstGeom>
          <a:noFill/>
          <a:ln/>
        </p:spPr>
        <p:txBody>
          <a:bodyPr wrap="square" lIns="0" tIns="0" rIns="0" bIns="0" rtlCol="0" anchor="ctr">
            <a:normAutofit/>
          </a:bodyPr>
          <a:lstStyle/>
          <a:p>
            <a:pPr marL="0" indent="0" algn="ctr">
              <a:buNone/>
            </a:pPr>
            <a:r>
              <a:rPr lang="en-US" sz="1120" b="1" dirty="0">
                <a:solidFill>
                  <a:srgbClr val="222222"/>
                </a:solidFill>
                <a:latin typeface="Arial" pitchFamily="34" charset="0"/>
                <a:ea typeface="Arial" pitchFamily="34" charset="-122"/>
                <a:cs typeface="Arial" pitchFamily="34" charset="-120"/>
              </a:rPr>
              <a:t>Example: +4 → fixed bits 0 | 0 1 0 0 | 0 → one active term</a:t>
            </a:r>
            <a:endParaRPr lang="en-US" sz="1120" dirty="0"/>
          </a:p>
        </p:txBody>
      </p:sp>
      <p:sp>
        <p:nvSpPr>
          <p:cNvPr id="13" name="Shape 10"/>
          <p:cNvSpPr/>
          <p:nvPr/>
        </p:nvSpPr>
        <p:spPr>
          <a:xfrm>
            <a:off x="6355080" y="1417320"/>
            <a:ext cx="5074920" cy="1874520"/>
          </a:xfrm>
          <a:prstGeom prst="roundRect">
            <a:avLst>
              <a:gd name="adj" fmla="val 2927"/>
            </a:avLst>
          </a:prstGeom>
          <a:solidFill>
            <a:srgbClr val="FFFDF2"/>
          </a:solidFill>
          <a:ln w="13335">
            <a:solidFill>
              <a:srgbClr val="D6B656"/>
            </a:solidFill>
            <a:prstDash val="solid"/>
          </a:ln>
        </p:spPr>
        <p:txBody>
          <a:bodyPr/>
          <a:lstStyle/>
          <a:p>
            <a:endParaRPr lang="ko-KR" altLang="en-US"/>
          </a:p>
        </p:txBody>
      </p:sp>
      <p:sp>
        <p:nvSpPr>
          <p:cNvPr id="14" name="Text 11"/>
          <p:cNvSpPr/>
          <p:nvPr/>
        </p:nvSpPr>
        <p:spPr>
          <a:xfrm>
            <a:off x="6519672" y="1527048"/>
            <a:ext cx="474573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FP3 Special Values</a:t>
            </a:r>
            <a:endParaRPr lang="en-US" sz="1200" dirty="0"/>
          </a:p>
        </p:txBody>
      </p:sp>
      <p:sp>
        <p:nvSpPr>
          <p:cNvPr id="15" name="Text 12"/>
          <p:cNvSpPr/>
          <p:nvPr/>
        </p:nvSpPr>
        <p:spPr>
          <a:xfrm>
            <a:off x="6675120" y="1901952"/>
            <a:ext cx="4434840" cy="384048"/>
          </a:xfrm>
          <a:prstGeom prst="rect">
            <a:avLst/>
          </a:prstGeom>
          <a:noFill/>
          <a:ln/>
        </p:spPr>
        <p:txBody>
          <a:bodyPr wrap="square" lIns="0" tIns="0" rIns="0" bIns="0" rtlCol="0" anchor="ctr">
            <a:normAutofit/>
          </a:bodyPr>
          <a:lstStyle/>
          <a:p>
            <a:pPr marL="0" indent="0" algn="ctr">
              <a:buNone/>
            </a:pPr>
            <a:r>
              <a:rPr lang="en-US" sz="1600" b="1" dirty="0">
                <a:solidFill>
                  <a:srgbClr val="00245D"/>
                </a:solidFill>
                <a:latin typeface="Cambria Math" pitchFamily="34" charset="0"/>
                <a:ea typeface="Cambria Math" pitchFamily="34" charset="-122"/>
                <a:cs typeface="Cambria Math" pitchFamily="34" charset="-120"/>
              </a:rPr>
              <a:t>FP3-ER: ±3     FP3-EA: ±6</a:t>
            </a:r>
            <a:endParaRPr lang="en-US" sz="1600" dirty="0"/>
          </a:p>
        </p:txBody>
      </p:sp>
      <p:sp>
        <p:nvSpPr>
          <p:cNvPr id="16" name="Text 13"/>
          <p:cNvSpPr/>
          <p:nvPr/>
        </p:nvSpPr>
        <p:spPr>
          <a:xfrm>
            <a:off x="6675120" y="2542032"/>
            <a:ext cx="4434840" cy="292608"/>
          </a:xfrm>
          <a:prstGeom prst="rect">
            <a:avLst/>
          </a:prstGeom>
          <a:noFill/>
          <a:ln/>
        </p:spPr>
        <p:txBody>
          <a:bodyPr wrap="square" lIns="0" tIns="0" rIns="0" bIns="0" rtlCol="0" anchor="ctr">
            <a:normAutofit/>
          </a:bodyPr>
          <a:lstStyle/>
          <a:p>
            <a:pPr marL="0" indent="0" algn="ctr">
              <a:buNone/>
            </a:pPr>
            <a:r>
              <a:rPr lang="en-US" sz="1120" b="1" dirty="0">
                <a:solidFill>
                  <a:srgbClr val="222222"/>
                </a:solidFill>
                <a:latin typeface="Arial" pitchFamily="34" charset="0"/>
                <a:ea typeface="Arial" pitchFamily="34" charset="-122"/>
                <a:cs typeface="Arial" pitchFamily="34" charset="-120"/>
              </a:rPr>
              <a:t>Example: +6 → same FP4 fixed path → 4 + 2</a:t>
            </a:r>
            <a:endParaRPr lang="en-US" sz="1120" dirty="0"/>
          </a:p>
        </p:txBody>
      </p:sp>
      <p:sp>
        <p:nvSpPr>
          <p:cNvPr id="17" name="Shape 14"/>
          <p:cNvSpPr/>
          <p:nvPr/>
        </p:nvSpPr>
        <p:spPr>
          <a:xfrm>
            <a:off x="1234440" y="3840480"/>
            <a:ext cx="9784080" cy="1280160"/>
          </a:xfrm>
          <a:prstGeom prst="roundRect">
            <a:avLst>
              <a:gd name="adj" fmla="val 4286"/>
            </a:avLst>
          </a:prstGeom>
          <a:solidFill>
            <a:srgbClr val="E2F0D9"/>
          </a:solidFill>
          <a:ln w="13335">
            <a:solidFill>
              <a:srgbClr val="548235"/>
            </a:solidFill>
            <a:prstDash val="solid"/>
          </a:ln>
        </p:spPr>
        <p:txBody>
          <a:bodyPr/>
          <a:lstStyle/>
          <a:p>
            <a:endParaRPr lang="ko-KR" altLang="en-US"/>
          </a:p>
        </p:txBody>
      </p:sp>
      <p:sp>
        <p:nvSpPr>
          <p:cNvPr id="18" name="Text 15"/>
          <p:cNvSpPr/>
          <p:nvPr/>
        </p:nvSpPr>
        <p:spPr>
          <a:xfrm>
            <a:off x="1399032" y="3950208"/>
            <a:ext cx="945489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Hardware implication</a:t>
            </a:r>
            <a:endParaRPr lang="en-US" sz="1200" dirty="0"/>
          </a:p>
        </p:txBody>
      </p:sp>
      <p:sp>
        <p:nvSpPr>
          <p:cNvPr id="19" name="Text 16"/>
          <p:cNvSpPr/>
          <p:nvPr/>
        </p:nvSpPr>
        <p:spPr>
          <a:xfrm>
            <a:off x="1600200" y="4325112"/>
            <a:ext cx="9052560" cy="219456"/>
          </a:xfrm>
          <a:prstGeom prst="rect">
            <a:avLst/>
          </a:prstGeom>
          <a:noFill/>
          <a:ln/>
        </p:spPr>
        <p:txBody>
          <a:bodyPr wrap="square" lIns="0" tIns="0" rIns="0" bIns="0" rtlCol="0" anchor="ctr">
            <a:normAutofit lnSpcReduction="10000"/>
          </a:bodyPr>
          <a:lstStyle/>
          <a:p>
            <a:pPr marL="0" indent="0" algn="ctr">
              <a:buNone/>
            </a:pPr>
            <a:r>
              <a:rPr lang="en-US" sz="1500" b="1" dirty="0">
                <a:solidFill>
                  <a:srgbClr val="548235"/>
                </a:solidFill>
                <a:latin typeface="Arial" pitchFamily="34" charset="0"/>
                <a:ea typeface="Arial" pitchFamily="34" charset="-122"/>
                <a:cs typeface="Arial" pitchFamily="34" charset="-120"/>
              </a:rPr>
              <a:t>No separate FP3 decoder is needed.</a:t>
            </a:r>
            <a:endParaRPr lang="en-US" sz="1500" dirty="0"/>
          </a:p>
        </p:txBody>
      </p:sp>
      <p:sp>
        <p:nvSpPr>
          <p:cNvPr id="20" name="Text 17"/>
          <p:cNvSpPr/>
          <p:nvPr/>
        </p:nvSpPr>
        <p:spPr>
          <a:xfrm>
            <a:off x="1600200" y="4754880"/>
            <a:ext cx="9052560" cy="219456"/>
          </a:xfrm>
          <a:prstGeom prst="rect">
            <a:avLst/>
          </a:prstGeom>
          <a:noFill/>
          <a:ln/>
        </p:spPr>
        <p:txBody>
          <a:bodyPr wrap="square" lIns="0" tIns="0" rIns="0" bIns="0" rtlCol="0" anchor="ctr">
            <a:normAutofit/>
          </a:bodyPr>
          <a:lstStyle/>
          <a:p>
            <a:pPr marL="0" indent="0" algn="ctr">
              <a:buNone/>
            </a:pPr>
            <a:r>
              <a:rPr lang="en-US" sz="1220" dirty="0">
                <a:solidFill>
                  <a:srgbClr val="222222"/>
                </a:solidFill>
                <a:latin typeface="Arial" pitchFamily="34" charset="0"/>
                <a:ea typeface="Arial" pitchFamily="34" charset="-122"/>
                <a:cs typeface="Arial" pitchFamily="34" charset="-120"/>
              </a:rPr>
              <a:t>FP3 and FP4 </a:t>
            </a:r>
            <a:r>
              <a:rPr lang="en-US" sz="1220" dirty="0">
                <a:solidFill>
                  <a:srgbClr val="FF0000"/>
                </a:solidFill>
                <a:latin typeface="Arial" pitchFamily="34" charset="0"/>
                <a:ea typeface="Arial" pitchFamily="34" charset="-122"/>
                <a:cs typeface="Arial" pitchFamily="34" charset="-120"/>
              </a:rPr>
              <a:t>share the same FP </a:t>
            </a:r>
            <a:r>
              <a:rPr lang="en-US" sz="1220" dirty="0">
                <a:solidFill>
                  <a:srgbClr val="222222"/>
                </a:solidFill>
                <a:latin typeface="Arial" pitchFamily="34" charset="0"/>
                <a:ea typeface="Arial" pitchFamily="34" charset="-122"/>
                <a:cs typeface="Arial" pitchFamily="34" charset="-120"/>
              </a:rPr>
              <a:t>→ Fixed + LOD hardware and both produce at most 2 terms.</a:t>
            </a:r>
            <a:endParaRPr lang="en-US" sz="122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Programmable Special Value: fixed hardware, flexible candidate values</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64</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SV_reg does not have to permanently store only one hard-coded set of values; it can be programmed for the target model.</a:t>
            </a:r>
            <a:endParaRPr lang="en-US" sz="1300" dirty="0"/>
          </a:p>
        </p:txBody>
      </p:sp>
      <p:sp>
        <p:nvSpPr>
          <p:cNvPr id="9" name="Shape 6"/>
          <p:cNvSpPr/>
          <p:nvPr/>
        </p:nvSpPr>
        <p:spPr>
          <a:xfrm>
            <a:off x="731520" y="1463040"/>
            <a:ext cx="5166360" cy="4206240"/>
          </a:xfrm>
          <a:prstGeom prst="roundRect">
            <a:avLst>
              <a:gd name="adj" fmla="val 1304"/>
            </a:avLst>
          </a:prstGeom>
          <a:solidFill>
            <a:srgbClr val="F3F8FF"/>
          </a:solidFill>
          <a:ln w="13335">
            <a:solidFill>
              <a:srgbClr val="9EADCC"/>
            </a:solidFill>
            <a:prstDash val="solid"/>
          </a:ln>
        </p:spPr>
        <p:txBody>
          <a:bodyPr/>
          <a:lstStyle/>
          <a:p>
            <a:endParaRPr lang="ko-KR" altLang="en-US"/>
          </a:p>
        </p:txBody>
      </p:sp>
      <p:sp>
        <p:nvSpPr>
          <p:cNvPr id="10" name="Text 7"/>
          <p:cNvSpPr/>
          <p:nvPr/>
        </p:nvSpPr>
        <p:spPr>
          <a:xfrm>
            <a:off x="896112" y="1572768"/>
            <a:ext cx="48371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Default candidates in the paper</a:t>
            </a:r>
            <a:endParaRPr lang="en-US" sz="1200" dirty="0"/>
          </a:p>
        </p:txBody>
      </p:sp>
      <p:sp>
        <p:nvSpPr>
          <p:cNvPr id="11" name="Shape 8"/>
          <p:cNvSpPr/>
          <p:nvPr/>
        </p:nvSpPr>
        <p:spPr>
          <a:xfrm>
            <a:off x="1219200" y="2203704"/>
            <a:ext cx="1417320" cy="438912"/>
          </a:xfrm>
          <a:prstGeom prst="rect">
            <a:avLst/>
          </a:prstGeom>
          <a:solidFill>
            <a:srgbClr val="00245D"/>
          </a:solidFill>
          <a:ln w="6350">
            <a:solidFill>
              <a:srgbClr val="D9E2F3"/>
            </a:solidFill>
            <a:prstDash val="solid"/>
          </a:ln>
        </p:spPr>
        <p:txBody>
          <a:bodyPr/>
          <a:lstStyle/>
          <a:p>
            <a:endParaRPr lang="ko-KR" altLang="en-US"/>
          </a:p>
        </p:txBody>
      </p:sp>
      <p:sp>
        <p:nvSpPr>
          <p:cNvPr id="12" name="Text 9"/>
          <p:cNvSpPr/>
          <p:nvPr/>
        </p:nvSpPr>
        <p:spPr>
          <a:xfrm>
            <a:off x="1255776" y="2322576"/>
            <a:ext cx="134416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Precision</a:t>
            </a:r>
            <a:endParaRPr lang="en-US" sz="1100" dirty="0"/>
          </a:p>
        </p:txBody>
      </p:sp>
      <p:sp>
        <p:nvSpPr>
          <p:cNvPr id="13" name="Shape 10"/>
          <p:cNvSpPr/>
          <p:nvPr/>
        </p:nvSpPr>
        <p:spPr>
          <a:xfrm>
            <a:off x="2636520" y="2203704"/>
            <a:ext cx="2697480" cy="438912"/>
          </a:xfrm>
          <a:prstGeom prst="rect">
            <a:avLst/>
          </a:prstGeom>
          <a:solidFill>
            <a:srgbClr val="00245D"/>
          </a:solidFill>
          <a:ln w="6350">
            <a:solidFill>
              <a:srgbClr val="D9E2F3"/>
            </a:solidFill>
            <a:prstDash val="solid"/>
          </a:ln>
        </p:spPr>
        <p:txBody>
          <a:bodyPr/>
          <a:lstStyle/>
          <a:p>
            <a:endParaRPr lang="ko-KR" altLang="en-US"/>
          </a:p>
        </p:txBody>
      </p:sp>
      <p:sp>
        <p:nvSpPr>
          <p:cNvPr id="14" name="Text 11"/>
          <p:cNvSpPr/>
          <p:nvPr/>
        </p:nvSpPr>
        <p:spPr>
          <a:xfrm>
            <a:off x="2673096" y="2322576"/>
            <a:ext cx="2624328"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FFFFFF"/>
                </a:solidFill>
                <a:latin typeface="Arial" pitchFamily="34" charset="0"/>
                <a:ea typeface="Arial" pitchFamily="34" charset="-122"/>
                <a:cs typeface="Arial" pitchFamily="34" charset="-120"/>
              </a:rPr>
              <a:t>SV candidates</a:t>
            </a:r>
            <a:endParaRPr lang="en-US" sz="1100" dirty="0"/>
          </a:p>
        </p:txBody>
      </p:sp>
      <p:sp>
        <p:nvSpPr>
          <p:cNvPr id="15" name="Shape 12"/>
          <p:cNvSpPr/>
          <p:nvPr/>
        </p:nvSpPr>
        <p:spPr>
          <a:xfrm>
            <a:off x="1219200" y="2642616"/>
            <a:ext cx="1417320" cy="438912"/>
          </a:xfrm>
          <a:prstGeom prst="rect">
            <a:avLst/>
          </a:prstGeom>
          <a:solidFill>
            <a:srgbClr val="FFFFFF"/>
          </a:solidFill>
          <a:ln w="6350">
            <a:solidFill>
              <a:srgbClr val="D9E2F3"/>
            </a:solidFill>
            <a:prstDash val="solid"/>
          </a:ln>
        </p:spPr>
        <p:txBody>
          <a:bodyPr/>
          <a:lstStyle/>
          <a:p>
            <a:endParaRPr lang="ko-KR" altLang="en-US"/>
          </a:p>
        </p:txBody>
      </p:sp>
      <p:sp>
        <p:nvSpPr>
          <p:cNvPr id="16" name="Text 13"/>
          <p:cNvSpPr/>
          <p:nvPr/>
        </p:nvSpPr>
        <p:spPr>
          <a:xfrm>
            <a:off x="1264920" y="2761488"/>
            <a:ext cx="1325880"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222222"/>
                </a:solidFill>
                <a:latin typeface="Arial" pitchFamily="34" charset="0"/>
                <a:ea typeface="Arial" pitchFamily="34" charset="-122"/>
                <a:cs typeface="Arial" pitchFamily="34" charset="-120"/>
              </a:rPr>
              <a:t>FP3</a:t>
            </a:r>
            <a:endParaRPr lang="en-US" sz="1100" dirty="0"/>
          </a:p>
        </p:txBody>
      </p:sp>
      <p:sp>
        <p:nvSpPr>
          <p:cNvPr id="17" name="Shape 14"/>
          <p:cNvSpPr/>
          <p:nvPr/>
        </p:nvSpPr>
        <p:spPr>
          <a:xfrm>
            <a:off x="2636520" y="2642616"/>
            <a:ext cx="2697480" cy="438912"/>
          </a:xfrm>
          <a:prstGeom prst="rect">
            <a:avLst/>
          </a:prstGeom>
          <a:solidFill>
            <a:srgbClr val="FFFFFF"/>
          </a:solidFill>
          <a:ln w="6350">
            <a:solidFill>
              <a:srgbClr val="D9E2F3"/>
            </a:solidFill>
            <a:prstDash val="solid"/>
          </a:ln>
        </p:spPr>
        <p:txBody>
          <a:bodyPr/>
          <a:lstStyle/>
          <a:p>
            <a:endParaRPr lang="ko-KR" altLang="en-US"/>
          </a:p>
        </p:txBody>
      </p:sp>
      <p:sp>
        <p:nvSpPr>
          <p:cNvPr id="18" name="Text 15"/>
          <p:cNvSpPr/>
          <p:nvPr/>
        </p:nvSpPr>
        <p:spPr>
          <a:xfrm>
            <a:off x="2682240" y="2761488"/>
            <a:ext cx="26060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−3, +3, −6, +6</a:t>
            </a:r>
            <a:endParaRPr lang="en-US" sz="1100" dirty="0"/>
          </a:p>
        </p:txBody>
      </p:sp>
      <p:sp>
        <p:nvSpPr>
          <p:cNvPr id="19" name="Shape 16"/>
          <p:cNvSpPr/>
          <p:nvPr/>
        </p:nvSpPr>
        <p:spPr>
          <a:xfrm>
            <a:off x="1219200" y="3081528"/>
            <a:ext cx="1417320" cy="438912"/>
          </a:xfrm>
          <a:prstGeom prst="rect">
            <a:avLst/>
          </a:prstGeom>
          <a:solidFill>
            <a:srgbClr val="F5F7FA"/>
          </a:solidFill>
          <a:ln w="6350">
            <a:solidFill>
              <a:srgbClr val="D9E2F3"/>
            </a:solidFill>
            <a:prstDash val="solid"/>
          </a:ln>
        </p:spPr>
        <p:txBody>
          <a:bodyPr/>
          <a:lstStyle/>
          <a:p>
            <a:endParaRPr lang="ko-KR" altLang="en-US"/>
          </a:p>
        </p:txBody>
      </p:sp>
      <p:sp>
        <p:nvSpPr>
          <p:cNvPr id="20" name="Text 17"/>
          <p:cNvSpPr/>
          <p:nvPr/>
        </p:nvSpPr>
        <p:spPr>
          <a:xfrm>
            <a:off x="1264920" y="3200400"/>
            <a:ext cx="1325880" cy="146304"/>
          </a:xfrm>
          <a:prstGeom prst="rect">
            <a:avLst/>
          </a:prstGeom>
          <a:noFill/>
          <a:ln/>
        </p:spPr>
        <p:txBody>
          <a:bodyPr wrap="square" lIns="0" tIns="0" rIns="0" bIns="0" rtlCol="0" anchor="ctr">
            <a:normAutofit fontScale="92500" lnSpcReduction="10000"/>
          </a:bodyPr>
          <a:lstStyle/>
          <a:p>
            <a:pPr marL="0" indent="0" algn="ctr">
              <a:buNone/>
            </a:pPr>
            <a:r>
              <a:rPr lang="en-US" sz="1100" b="1" dirty="0">
                <a:solidFill>
                  <a:srgbClr val="222222"/>
                </a:solidFill>
                <a:latin typeface="Arial" pitchFamily="34" charset="0"/>
                <a:ea typeface="Arial" pitchFamily="34" charset="-122"/>
                <a:cs typeface="Arial" pitchFamily="34" charset="-120"/>
              </a:rPr>
              <a:t>FP4</a:t>
            </a:r>
            <a:endParaRPr lang="en-US" sz="1100" dirty="0"/>
          </a:p>
        </p:txBody>
      </p:sp>
      <p:sp>
        <p:nvSpPr>
          <p:cNvPr id="21" name="Shape 18"/>
          <p:cNvSpPr/>
          <p:nvPr/>
        </p:nvSpPr>
        <p:spPr>
          <a:xfrm>
            <a:off x="2636520" y="3081528"/>
            <a:ext cx="2697480" cy="438912"/>
          </a:xfrm>
          <a:prstGeom prst="rect">
            <a:avLst/>
          </a:prstGeom>
          <a:solidFill>
            <a:srgbClr val="F5F7FA"/>
          </a:solidFill>
          <a:ln w="6350">
            <a:solidFill>
              <a:srgbClr val="D9E2F3"/>
            </a:solidFill>
            <a:prstDash val="solid"/>
          </a:ln>
        </p:spPr>
        <p:txBody>
          <a:bodyPr/>
          <a:lstStyle/>
          <a:p>
            <a:endParaRPr lang="ko-KR" altLang="en-US"/>
          </a:p>
        </p:txBody>
      </p:sp>
      <p:sp>
        <p:nvSpPr>
          <p:cNvPr id="22" name="Text 19"/>
          <p:cNvSpPr/>
          <p:nvPr/>
        </p:nvSpPr>
        <p:spPr>
          <a:xfrm>
            <a:off x="2682240" y="3200400"/>
            <a:ext cx="2606040" cy="146304"/>
          </a:xfrm>
          <a:prstGeom prst="rect">
            <a:avLst/>
          </a:prstGeom>
          <a:noFill/>
          <a:ln/>
        </p:spPr>
        <p:txBody>
          <a:bodyPr wrap="square" lIns="0" tIns="0" rIns="0" bIns="0" rtlCol="0" anchor="ctr">
            <a:normAutofit fontScale="92500" lnSpcReduction="10000"/>
          </a:bodyPr>
          <a:lstStyle/>
          <a:p>
            <a:pPr marL="0" indent="0" algn="ctr">
              <a:buNone/>
            </a:pPr>
            <a:r>
              <a:rPr lang="en-US" sz="1100" dirty="0">
                <a:solidFill>
                  <a:srgbClr val="222222"/>
                </a:solidFill>
                <a:latin typeface="Arial" pitchFamily="34" charset="0"/>
                <a:ea typeface="Arial" pitchFamily="34" charset="-122"/>
                <a:cs typeface="Arial" pitchFamily="34" charset="-120"/>
              </a:rPr>
              <a:t>−5, +5, −8, +8</a:t>
            </a:r>
            <a:endParaRPr lang="en-US" sz="1100" dirty="0"/>
          </a:p>
        </p:txBody>
      </p:sp>
      <p:sp>
        <p:nvSpPr>
          <p:cNvPr id="23" name="Text 20"/>
          <p:cNvSpPr/>
          <p:nvPr/>
        </p:nvSpPr>
        <p:spPr>
          <a:xfrm>
            <a:off x="1219200" y="3712464"/>
            <a:ext cx="4251960" cy="457200"/>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These four choices are selected so only </a:t>
            </a:r>
            <a:r>
              <a:rPr lang="en-US" sz="1200" b="1" dirty="0">
                <a:solidFill>
                  <a:srgbClr val="FF0000"/>
                </a:solidFill>
                <a:latin typeface="Arial" pitchFamily="34" charset="0"/>
                <a:ea typeface="Arial" pitchFamily="34" charset="-122"/>
                <a:cs typeface="Arial" pitchFamily="34" charset="-120"/>
              </a:rPr>
              <a:t>2-bit metadata </a:t>
            </a:r>
            <a:r>
              <a:rPr lang="en-US" sz="1200" b="1" dirty="0">
                <a:solidFill>
                  <a:srgbClr val="222222"/>
                </a:solidFill>
                <a:latin typeface="Arial" pitchFamily="34" charset="0"/>
                <a:ea typeface="Arial" pitchFamily="34" charset="-122"/>
                <a:cs typeface="Arial" pitchFamily="34" charset="-120"/>
              </a:rPr>
              <a:t>is needed per group.</a:t>
            </a:r>
            <a:endParaRPr lang="en-US" sz="1200" dirty="0"/>
          </a:p>
        </p:txBody>
      </p:sp>
      <p:sp>
        <p:nvSpPr>
          <p:cNvPr id="24" name="Shape 21"/>
          <p:cNvSpPr/>
          <p:nvPr/>
        </p:nvSpPr>
        <p:spPr>
          <a:xfrm>
            <a:off x="6446520" y="1463040"/>
            <a:ext cx="4892040" cy="4206240"/>
          </a:xfrm>
          <a:prstGeom prst="roundRect">
            <a:avLst>
              <a:gd name="adj" fmla="val 1304"/>
            </a:avLst>
          </a:prstGeom>
          <a:solidFill>
            <a:srgbClr val="FFFDF2"/>
          </a:solidFill>
          <a:ln w="13335">
            <a:solidFill>
              <a:srgbClr val="D6B656"/>
            </a:solidFill>
            <a:prstDash val="solid"/>
          </a:ln>
        </p:spPr>
        <p:txBody>
          <a:bodyPr/>
          <a:lstStyle/>
          <a:p>
            <a:endParaRPr lang="ko-KR" altLang="en-US"/>
          </a:p>
        </p:txBody>
      </p:sp>
      <p:sp>
        <p:nvSpPr>
          <p:cNvPr id="25" name="Text 22"/>
          <p:cNvSpPr/>
          <p:nvPr/>
        </p:nvSpPr>
        <p:spPr>
          <a:xfrm>
            <a:off x="6611112" y="1572768"/>
            <a:ext cx="456285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Example: if SV = 7 is desired</a:t>
            </a:r>
            <a:endParaRPr lang="en-US" sz="1200" dirty="0"/>
          </a:p>
        </p:txBody>
      </p:sp>
      <p:sp>
        <p:nvSpPr>
          <p:cNvPr id="26" name="Text 23"/>
          <p:cNvSpPr/>
          <p:nvPr/>
        </p:nvSpPr>
        <p:spPr>
          <a:xfrm>
            <a:off x="6812280" y="2057400"/>
            <a:ext cx="4160520" cy="292608"/>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Naïve decomposition</a:t>
            </a:r>
            <a:endParaRPr lang="en-US" sz="1200" dirty="0"/>
          </a:p>
        </p:txBody>
      </p:sp>
      <p:sp>
        <p:nvSpPr>
          <p:cNvPr id="27" name="Text 24"/>
          <p:cNvSpPr/>
          <p:nvPr/>
        </p:nvSpPr>
        <p:spPr>
          <a:xfrm>
            <a:off x="6812280" y="2450592"/>
            <a:ext cx="4160520" cy="310896"/>
          </a:xfrm>
          <a:prstGeom prst="rect">
            <a:avLst/>
          </a:prstGeom>
          <a:noFill/>
          <a:ln/>
        </p:spPr>
        <p:txBody>
          <a:bodyPr wrap="square" lIns="0" tIns="0" rIns="0" bIns="0" rtlCol="0" anchor="ctr">
            <a:normAutofit/>
          </a:bodyPr>
          <a:lstStyle/>
          <a:p>
            <a:pPr marL="0" indent="0" algn="ctr">
              <a:buNone/>
            </a:pPr>
            <a:r>
              <a:rPr lang="en-US" sz="1600" b="1" dirty="0">
                <a:solidFill>
                  <a:srgbClr val="C00000"/>
                </a:solidFill>
                <a:latin typeface="Cambria Math" pitchFamily="34" charset="0"/>
                <a:ea typeface="Cambria Math" pitchFamily="34" charset="-122"/>
                <a:cs typeface="Cambria Math" pitchFamily="34" charset="-120"/>
              </a:rPr>
              <a:t>7 = 4 + 2 + 1   → 3 terms</a:t>
            </a:r>
            <a:endParaRPr lang="en-US" sz="1600" dirty="0"/>
          </a:p>
        </p:txBody>
      </p:sp>
      <p:sp>
        <p:nvSpPr>
          <p:cNvPr id="28" name="Text 25"/>
          <p:cNvSpPr/>
          <p:nvPr/>
        </p:nvSpPr>
        <p:spPr>
          <a:xfrm>
            <a:off x="6812280" y="3108960"/>
            <a:ext cx="4160520" cy="292608"/>
          </a:xfrm>
          <a:prstGeom prst="rect">
            <a:avLst/>
          </a:prstGeom>
          <a:noFill/>
          <a:ln/>
        </p:spPr>
        <p:txBody>
          <a:bodyPr wrap="square" lIns="0" tIns="0" rIns="0" bIns="0" rtlCol="0" anchor="ctr">
            <a:normAutofit/>
          </a:bodyPr>
          <a:lstStyle/>
          <a:p>
            <a:pPr marL="0" indent="0" algn="ctr">
              <a:buNone/>
            </a:pPr>
            <a:r>
              <a:rPr lang="en-US" sz="1200" b="1" dirty="0">
                <a:solidFill>
                  <a:srgbClr val="222222"/>
                </a:solidFill>
                <a:latin typeface="Arial" pitchFamily="34" charset="0"/>
                <a:ea typeface="Arial" pitchFamily="34" charset="-122"/>
                <a:cs typeface="Arial" pitchFamily="34" charset="-120"/>
              </a:rPr>
              <a:t>Optimized decomposition</a:t>
            </a:r>
            <a:endParaRPr lang="en-US" sz="1200" dirty="0"/>
          </a:p>
        </p:txBody>
      </p:sp>
      <p:sp>
        <p:nvSpPr>
          <p:cNvPr id="29" name="Text 26"/>
          <p:cNvSpPr/>
          <p:nvPr/>
        </p:nvSpPr>
        <p:spPr>
          <a:xfrm>
            <a:off x="6812280" y="3502152"/>
            <a:ext cx="4160520" cy="310896"/>
          </a:xfrm>
          <a:prstGeom prst="rect">
            <a:avLst/>
          </a:prstGeom>
          <a:noFill/>
          <a:ln/>
        </p:spPr>
        <p:txBody>
          <a:bodyPr wrap="square" lIns="0" tIns="0" rIns="0" bIns="0" rtlCol="0" anchor="ctr">
            <a:normAutofit/>
          </a:bodyPr>
          <a:lstStyle/>
          <a:p>
            <a:pPr marL="0" indent="0" algn="ctr">
              <a:buNone/>
            </a:pPr>
            <a:r>
              <a:rPr lang="en-US" sz="1600" b="1" dirty="0">
                <a:solidFill>
                  <a:srgbClr val="548235"/>
                </a:solidFill>
                <a:latin typeface="Cambria Math" pitchFamily="34" charset="0"/>
                <a:ea typeface="Cambria Math" pitchFamily="34" charset="-122"/>
                <a:cs typeface="Cambria Math" pitchFamily="34" charset="-120"/>
              </a:rPr>
              <a:t>7 = 8 − 1   → 2 terms</a:t>
            </a:r>
            <a:endParaRPr lang="en-US" sz="1600" dirty="0"/>
          </a:p>
        </p:txBody>
      </p:sp>
      <p:sp>
        <p:nvSpPr>
          <p:cNvPr id="30" name="Text 27"/>
          <p:cNvSpPr/>
          <p:nvPr/>
        </p:nvSpPr>
        <p:spPr>
          <a:xfrm>
            <a:off x="6812280" y="4315968"/>
            <a:ext cx="4160520" cy="411480"/>
          </a:xfrm>
          <a:prstGeom prst="rect">
            <a:avLst/>
          </a:prstGeom>
          <a:noFill/>
          <a:ln/>
        </p:spPr>
        <p:txBody>
          <a:bodyPr wrap="square" lIns="0" tIns="0" rIns="0" bIns="0" rtlCol="0" anchor="ctr">
            <a:normAutofit/>
          </a:bodyPr>
          <a:lstStyle/>
          <a:p>
            <a:pPr marL="0" indent="0" algn="ctr">
              <a:buNone/>
            </a:pPr>
            <a:r>
              <a:rPr lang="en-US" sz="1150" dirty="0">
                <a:solidFill>
                  <a:srgbClr val="222222"/>
                </a:solidFill>
                <a:latin typeface="Arial" pitchFamily="34" charset="0"/>
                <a:ea typeface="Arial" pitchFamily="34" charset="-122"/>
                <a:cs typeface="Arial" pitchFamily="34" charset="-120"/>
              </a:rPr>
              <a:t>The decoder can be slightly modified to keep the number of bit-serial terms small.</a:t>
            </a:r>
            <a:endParaRPr lang="en-US" sz="11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0835640" cy="365760"/>
          </a:xfrm>
          <a:prstGeom prst="rect">
            <a:avLst/>
          </a:prstGeom>
          <a:noFill/>
          <a:ln/>
        </p:spPr>
        <p:txBody>
          <a:bodyPr wrap="square" lIns="0" tIns="0" rIns="0" bIns="0" rtlCol="0" anchor="ctr">
            <a:normAutofit/>
          </a:bodyPr>
          <a:lstStyle/>
          <a:p>
            <a:pPr marL="0" indent="0">
              <a:buNone/>
            </a:pPr>
            <a:r>
              <a:rPr lang="en-US" sz="2000" b="1" dirty="0">
                <a:solidFill>
                  <a:srgbClr val="222222"/>
                </a:solidFill>
                <a:latin typeface="Arial" pitchFamily="34" charset="0"/>
                <a:ea typeface="Arial" pitchFamily="34" charset="-122"/>
                <a:cs typeface="Arial" pitchFamily="34" charset="-120"/>
              </a:rPr>
              <a:t>Unified Representation Summary</a:t>
            </a:r>
            <a:endParaRPr lang="en-US" sz="2000" dirty="0"/>
          </a:p>
        </p:txBody>
      </p:sp>
      <p:sp>
        <p:nvSpPr>
          <p:cNvPr id="4" name="Shape 2"/>
          <p:cNvSpPr/>
          <p:nvPr/>
        </p:nvSpPr>
        <p:spPr>
          <a:xfrm>
            <a:off x="502920" y="841248"/>
            <a:ext cx="10972800" cy="0"/>
          </a:xfrm>
          <a:prstGeom prst="line">
            <a:avLst/>
          </a:prstGeom>
          <a:noFill/>
          <a:ln w="25400">
            <a:solidFill>
              <a:srgbClr val="00245D"/>
            </a:solidFill>
            <a:prstDash val="solid"/>
          </a:ln>
        </p:spPr>
        <p:txBody>
          <a:bodyPr/>
          <a:lstStyle/>
          <a:p>
            <a:endParaRPr lang="ko-KR" altLang="en-US"/>
          </a:p>
        </p:txBody>
      </p:sp>
      <p:sp>
        <p:nvSpPr>
          <p:cNvPr id="5" name="Shape 3"/>
          <p:cNvSpPr/>
          <p:nvPr/>
        </p:nvSpPr>
        <p:spPr>
          <a:xfrm>
            <a:off x="0" y="6537960"/>
            <a:ext cx="12191695" cy="320040"/>
          </a:xfrm>
          <a:prstGeom prst="rect">
            <a:avLst/>
          </a:prstGeom>
          <a:solidFill>
            <a:srgbClr val="00245D"/>
          </a:solidFill>
          <a:ln w="12700">
            <a:solidFill>
              <a:srgbClr val="00245D"/>
            </a:solidFill>
            <a:prstDash val="solid"/>
          </a:ln>
        </p:spPr>
        <p:txBody>
          <a:bodyPr/>
          <a:lstStyle/>
          <a:p>
            <a:endParaRPr lang="ko-KR" altLang="en-US"/>
          </a:p>
        </p:txBody>
      </p:sp>
      <p:pic>
        <p:nvPicPr>
          <p:cNvPr id="6" name="Image 0" descr="/mnt/data/template_media/ppt/media/image3.png"/>
          <p:cNvPicPr>
            <a:picLocks noChangeAspect="1"/>
          </p:cNvPicPr>
          <p:nvPr/>
        </p:nvPicPr>
        <p:blipFill>
          <a:blip r:embed="rId3"/>
          <a:stretch>
            <a:fillRect/>
          </a:stretch>
        </p:blipFill>
        <p:spPr>
          <a:xfrm>
            <a:off x="45720" y="6565392"/>
            <a:ext cx="1234440" cy="256032"/>
          </a:xfrm>
          <a:prstGeom prst="rect">
            <a:avLst/>
          </a:prstGeom>
        </p:spPr>
      </p:pic>
      <p:sp>
        <p:nvSpPr>
          <p:cNvPr id="7" name="Text 4"/>
          <p:cNvSpPr/>
          <p:nvPr/>
        </p:nvSpPr>
        <p:spPr>
          <a:xfrm>
            <a:off x="11567160" y="6565392"/>
            <a:ext cx="365760" cy="182880"/>
          </a:xfrm>
          <a:prstGeom prst="rect">
            <a:avLst/>
          </a:prstGeom>
          <a:noFill/>
          <a:ln/>
        </p:spPr>
        <p:txBody>
          <a:bodyPr wrap="square" lIns="0" tIns="0" rIns="0" bIns="0" rtlCol="0" anchor="ctr"/>
          <a:lstStyle/>
          <a:p>
            <a:pPr marL="0" indent="0" algn="r">
              <a:buNone/>
            </a:pPr>
            <a:r>
              <a:rPr lang="en-US" sz="1000" b="1" dirty="0">
                <a:solidFill>
                  <a:srgbClr val="FFFFFF"/>
                </a:solidFill>
                <a:latin typeface="Arial" pitchFamily="34" charset="0"/>
                <a:ea typeface="Arial" pitchFamily="34" charset="-122"/>
                <a:cs typeface="Arial" pitchFamily="34" charset="-120"/>
              </a:rPr>
              <a:t>65</a:t>
            </a:r>
            <a:endParaRPr lang="en-US" sz="1000" dirty="0"/>
          </a:p>
        </p:txBody>
      </p:sp>
      <p:sp>
        <p:nvSpPr>
          <p:cNvPr id="8" name="Text 5"/>
          <p:cNvSpPr/>
          <p:nvPr/>
        </p:nvSpPr>
        <p:spPr>
          <a:xfrm>
            <a:off x="594360" y="1024128"/>
            <a:ext cx="10881360" cy="274320"/>
          </a:xfrm>
          <a:prstGeom prst="rect">
            <a:avLst/>
          </a:prstGeom>
          <a:noFill/>
          <a:ln/>
        </p:spPr>
        <p:txBody>
          <a:bodyPr wrap="square" lIns="0" tIns="0" rIns="0" bIns="0" rtlCol="0" anchor="ctr">
            <a:normAutofit/>
          </a:bodyPr>
          <a:lstStyle/>
          <a:p>
            <a:pPr marL="0" indent="0" algn="l">
              <a:buNone/>
            </a:pPr>
            <a:r>
              <a:rPr lang="en-US" sz="1300" dirty="0">
                <a:solidFill>
                  <a:srgbClr val="222222"/>
                </a:solidFill>
                <a:latin typeface="Arial" pitchFamily="34" charset="0"/>
                <a:ea typeface="Arial" pitchFamily="34" charset="-122"/>
                <a:cs typeface="Arial" pitchFamily="34" charset="-120"/>
              </a:rPr>
              <a:t>The purpose of Figure 4 is to make every supported data type look the same to the BitMoD PE.</a:t>
            </a:r>
            <a:endParaRPr lang="en-US" sz="1300" dirty="0"/>
          </a:p>
        </p:txBody>
      </p:sp>
      <p:sp>
        <p:nvSpPr>
          <p:cNvPr id="9" name="Shape 6"/>
          <p:cNvSpPr/>
          <p:nvPr/>
        </p:nvSpPr>
        <p:spPr>
          <a:xfrm>
            <a:off x="2251108" y="1463040"/>
            <a:ext cx="1143000" cy="502920"/>
          </a:xfrm>
          <a:prstGeom prst="rect">
            <a:avLst/>
          </a:prstGeom>
          <a:solidFill>
            <a:srgbClr val="00245D"/>
          </a:solidFill>
          <a:ln w="6350">
            <a:solidFill>
              <a:srgbClr val="D9E2F3"/>
            </a:solidFill>
            <a:prstDash val="solid"/>
          </a:ln>
        </p:spPr>
        <p:txBody>
          <a:bodyPr/>
          <a:lstStyle/>
          <a:p>
            <a:endParaRPr lang="ko-KR" altLang="en-US"/>
          </a:p>
        </p:txBody>
      </p:sp>
      <p:sp>
        <p:nvSpPr>
          <p:cNvPr id="10" name="Text 7"/>
          <p:cNvSpPr/>
          <p:nvPr/>
        </p:nvSpPr>
        <p:spPr>
          <a:xfrm>
            <a:off x="2287684" y="1581912"/>
            <a:ext cx="106984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Case</a:t>
            </a:r>
            <a:endParaRPr lang="en-US" sz="1050" dirty="0"/>
          </a:p>
        </p:txBody>
      </p:sp>
      <p:sp>
        <p:nvSpPr>
          <p:cNvPr id="11" name="Shape 8"/>
          <p:cNvSpPr/>
          <p:nvPr/>
        </p:nvSpPr>
        <p:spPr>
          <a:xfrm>
            <a:off x="3394108" y="1463040"/>
            <a:ext cx="2240280" cy="502920"/>
          </a:xfrm>
          <a:prstGeom prst="rect">
            <a:avLst/>
          </a:prstGeom>
          <a:solidFill>
            <a:srgbClr val="00245D"/>
          </a:solidFill>
          <a:ln w="6350">
            <a:solidFill>
              <a:srgbClr val="D9E2F3"/>
            </a:solidFill>
            <a:prstDash val="solid"/>
          </a:ln>
        </p:spPr>
        <p:txBody>
          <a:bodyPr/>
          <a:lstStyle/>
          <a:p>
            <a:endParaRPr lang="ko-KR" altLang="en-US"/>
          </a:p>
        </p:txBody>
      </p:sp>
      <p:sp>
        <p:nvSpPr>
          <p:cNvPr id="12" name="Text 9"/>
          <p:cNvSpPr/>
          <p:nvPr/>
        </p:nvSpPr>
        <p:spPr>
          <a:xfrm>
            <a:off x="3430684" y="1581912"/>
            <a:ext cx="216712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Input representation</a:t>
            </a:r>
            <a:endParaRPr lang="en-US" sz="1050" dirty="0"/>
          </a:p>
        </p:txBody>
      </p:sp>
      <p:sp>
        <p:nvSpPr>
          <p:cNvPr id="13" name="Shape 10"/>
          <p:cNvSpPr/>
          <p:nvPr/>
        </p:nvSpPr>
        <p:spPr>
          <a:xfrm>
            <a:off x="5634388" y="1463040"/>
            <a:ext cx="3840480" cy="502920"/>
          </a:xfrm>
          <a:prstGeom prst="rect">
            <a:avLst/>
          </a:prstGeom>
          <a:solidFill>
            <a:srgbClr val="00245D"/>
          </a:solidFill>
          <a:ln w="6350">
            <a:solidFill>
              <a:srgbClr val="D9E2F3"/>
            </a:solidFill>
            <a:prstDash val="solid"/>
          </a:ln>
        </p:spPr>
        <p:txBody>
          <a:bodyPr/>
          <a:lstStyle/>
          <a:p>
            <a:endParaRPr lang="ko-KR" altLang="en-US"/>
          </a:p>
        </p:txBody>
      </p:sp>
      <p:sp>
        <p:nvSpPr>
          <p:cNvPr id="14" name="Text 11"/>
          <p:cNvSpPr/>
          <p:nvPr/>
        </p:nvSpPr>
        <p:spPr>
          <a:xfrm>
            <a:off x="5670964" y="1581912"/>
            <a:ext cx="376732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Conversion method</a:t>
            </a:r>
            <a:endParaRPr lang="en-US" sz="1050" dirty="0"/>
          </a:p>
        </p:txBody>
      </p:sp>
      <p:sp>
        <p:nvSpPr>
          <p:cNvPr id="15" name="Shape 12"/>
          <p:cNvSpPr/>
          <p:nvPr/>
        </p:nvSpPr>
        <p:spPr>
          <a:xfrm>
            <a:off x="9474868" y="1463040"/>
            <a:ext cx="1005840" cy="502920"/>
          </a:xfrm>
          <a:prstGeom prst="rect">
            <a:avLst/>
          </a:prstGeom>
          <a:solidFill>
            <a:srgbClr val="00245D"/>
          </a:solidFill>
          <a:ln w="6350">
            <a:solidFill>
              <a:srgbClr val="D9E2F3"/>
            </a:solidFill>
            <a:prstDash val="solid"/>
          </a:ln>
        </p:spPr>
        <p:txBody>
          <a:bodyPr/>
          <a:lstStyle/>
          <a:p>
            <a:endParaRPr lang="ko-KR" altLang="en-US"/>
          </a:p>
        </p:txBody>
      </p:sp>
      <p:sp>
        <p:nvSpPr>
          <p:cNvPr id="16" name="Text 13"/>
          <p:cNvSpPr/>
          <p:nvPr/>
        </p:nvSpPr>
        <p:spPr>
          <a:xfrm>
            <a:off x="9511444" y="1581912"/>
            <a:ext cx="932688"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rial" pitchFamily="34" charset="0"/>
                <a:ea typeface="Arial" pitchFamily="34" charset="-122"/>
                <a:cs typeface="Arial" pitchFamily="34" charset="-120"/>
              </a:rPr>
              <a:t>Terms</a:t>
            </a:r>
            <a:endParaRPr lang="en-US" sz="1050" dirty="0"/>
          </a:p>
        </p:txBody>
      </p:sp>
      <p:sp>
        <p:nvSpPr>
          <p:cNvPr id="17" name="Shape 14"/>
          <p:cNvSpPr/>
          <p:nvPr/>
        </p:nvSpPr>
        <p:spPr>
          <a:xfrm>
            <a:off x="2251108" y="1965960"/>
            <a:ext cx="1143000" cy="502920"/>
          </a:xfrm>
          <a:prstGeom prst="rect">
            <a:avLst/>
          </a:prstGeom>
          <a:solidFill>
            <a:srgbClr val="FFFFFF"/>
          </a:solidFill>
          <a:ln w="6350">
            <a:solidFill>
              <a:srgbClr val="D9E2F3"/>
            </a:solidFill>
            <a:prstDash val="solid"/>
          </a:ln>
        </p:spPr>
        <p:txBody>
          <a:bodyPr/>
          <a:lstStyle/>
          <a:p>
            <a:endParaRPr lang="ko-KR" altLang="en-US"/>
          </a:p>
        </p:txBody>
      </p:sp>
      <p:sp>
        <p:nvSpPr>
          <p:cNvPr id="18" name="Text 15"/>
          <p:cNvSpPr/>
          <p:nvPr/>
        </p:nvSpPr>
        <p:spPr>
          <a:xfrm>
            <a:off x="2296828" y="2084832"/>
            <a:ext cx="10515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INT8</a:t>
            </a:r>
            <a:endParaRPr lang="en-US" sz="1050" dirty="0"/>
          </a:p>
        </p:txBody>
      </p:sp>
      <p:sp>
        <p:nvSpPr>
          <p:cNvPr id="19" name="Shape 16"/>
          <p:cNvSpPr/>
          <p:nvPr/>
        </p:nvSpPr>
        <p:spPr>
          <a:xfrm>
            <a:off x="3394108" y="1965960"/>
            <a:ext cx="2240280" cy="502920"/>
          </a:xfrm>
          <a:prstGeom prst="rect">
            <a:avLst/>
          </a:prstGeom>
          <a:solidFill>
            <a:srgbClr val="FFFFFF"/>
          </a:solidFill>
          <a:ln w="6350">
            <a:solidFill>
              <a:srgbClr val="D9E2F3"/>
            </a:solidFill>
            <a:prstDash val="solid"/>
          </a:ln>
        </p:spPr>
        <p:txBody>
          <a:bodyPr/>
          <a:lstStyle/>
          <a:p>
            <a:endParaRPr lang="ko-KR" altLang="en-US"/>
          </a:p>
        </p:txBody>
      </p:sp>
      <p:sp>
        <p:nvSpPr>
          <p:cNvPr id="20" name="Text 17"/>
          <p:cNvSpPr/>
          <p:nvPr/>
        </p:nvSpPr>
        <p:spPr>
          <a:xfrm>
            <a:off x="3439828" y="2084832"/>
            <a:ext cx="21488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8-bit integer</a:t>
            </a:r>
            <a:endParaRPr lang="en-US" sz="1050" dirty="0"/>
          </a:p>
        </p:txBody>
      </p:sp>
      <p:sp>
        <p:nvSpPr>
          <p:cNvPr id="21" name="Shape 18"/>
          <p:cNvSpPr/>
          <p:nvPr/>
        </p:nvSpPr>
        <p:spPr>
          <a:xfrm>
            <a:off x="5634388" y="1965960"/>
            <a:ext cx="3840480" cy="502920"/>
          </a:xfrm>
          <a:prstGeom prst="rect">
            <a:avLst/>
          </a:prstGeom>
          <a:solidFill>
            <a:srgbClr val="FFFFFF"/>
          </a:solidFill>
          <a:ln w="6350">
            <a:solidFill>
              <a:srgbClr val="D9E2F3"/>
            </a:solidFill>
            <a:prstDash val="solid"/>
          </a:ln>
        </p:spPr>
        <p:txBody>
          <a:bodyPr/>
          <a:lstStyle/>
          <a:p>
            <a:endParaRPr lang="ko-KR" altLang="en-US"/>
          </a:p>
        </p:txBody>
      </p:sp>
      <p:sp>
        <p:nvSpPr>
          <p:cNvPr id="22" name="Text 19"/>
          <p:cNvSpPr/>
          <p:nvPr/>
        </p:nvSpPr>
        <p:spPr>
          <a:xfrm>
            <a:off x="5680108" y="2084832"/>
            <a:ext cx="37490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Booth Encoding</a:t>
            </a:r>
            <a:endParaRPr lang="en-US" sz="1050" dirty="0"/>
          </a:p>
        </p:txBody>
      </p:sp>
      <p:sp>
        <p:nvSpPr>
          <p:cNvPr id="23" name="Shape 20"/>
          <p:cNvSpPr/>
          <p:nvPr/>
        </p:nvSpPr>
        <p:spPr>
          <a:xfrm>
            <a:off x="9474868" y="1965960"/>
            <a:ext cx="1005840" cy="502920"/>
          </a:xfrm>
          <a:prstGeom prst="rect">
            <a:avLst/>
          </a:prstGeom>
          <a:solidFill>
            <a:srgbClr val="FFFFFF"/>
          </a:solidFill>
          <a:ln w="6350">
            <a:solidFill>
              <a:srgbClr val="D9E2F3"/>
            </a:solidFill>
            <a:prstDash val="solid"/>
          </a:ln>
        </p:spPr>
        <p:txBody>
          <a:bodyPr/>
          <a:lstStyle/>
          <a:p>
            <a:endParaRPr lang="ko-KR" altLang="en-US"/>
          </a:p>
        </p:txBody>
      </p:sp>
      <p:sp>
        <p:nvSpPr>
          <p:cNvPr id="24" name="Text 21"/>
          <p:cNvSpPr/>
          <p:nvPr/>
        </p:nvSpPr>
        <p:spPr>
          <a:xfrm>
            <a:off x="9520588" y="2084832"/>
            <a:ext cx="9144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4</a:t>
            </a:r>
            <a:endParaRPr lang="en-US" sz="1050" dirty="0"/>
          </a:p>
        </p:txBody>
      </p:sp>
      <p:sp>
        <p:nvSpPr>
          <p:cNvPr id="25" name="Shape 22"/>
          <p:cNvSpPr/>
          <p:nvPr/>
        </p:nvSpPr>
        <p:spPr>
          <a:xfrm>
            <a:off x="2251108" y="2468880"/>
            <a:ext cx="1143000" cy="502920"/>
          </a:xfrm>
          <a:prstGeom prst="rect">
            <a:avLst/>
          </a:prstGeom>
          <a:solidFill>
            <a:srgbClr val="F5F7FA"/>
          </a:solidFill>
          <a:ln w="6350">
            <a:solidFill>
              <a:srgbClr val="D9E2F3"/>
            </a:solidFill>
            <a:prstDash val="solid"/>
          </a:ln>
        </p:spPr>
        <p:txBody>
          <a:bodyPr/>
          <a:lstStyle/>
          <a:p>
            <a:endParaRPr lang="ko-KR" altLang="en-US"/>
          </a:p>
        </p:txBody>
      </p:sp>
      <p:sp>
        <p:nvSpPr>
          <p:cNvPr id="26" name="Text 23"/>
          <p:cNvSpPr/>
          <p:nvPr/>
        </p:nvSpPr>
        <p:spPr>
          <a:xfrm>
            <a:off x="2296828" y="2587752"/>
            <a:ext cx="10515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INT6</a:t>
            </a:r>
            <a:endParaRPr lang="en-US" sz="1050" dirty="0"/>
          </a:p>
        </p:txBody>
      </p:sp>
      <p:sp>
        <p:nvSpPr>
          <p:cNvPr id="27" name="Shape 24"/>
          <p:cNvSpPr/>
          <p:nvPr/>
        </p:nvSpPr>
        <p:spPr>
          <a:xfrm>
            <a:off x="3394108" y="2468880"/>
            <a:ext cx="2240280" cy="502920"/>
          </a:xfrm>
          <a:prstGeom prst="rect">
            <a:avLst/>
          </a:prstGeom>
          <a:solidFill>
            <a:srgbClr val="F5F7FA"/>
          </a:solidFill>
          <a:ln w="6350">
            <a:solidFill>
              <a:srgbClr val="D9E2F3"/>
            </a:solidFill>
            <a:prstDash val="solid"/>
          </a:ln>
        </p:spPr>
        <p:txBody>
          <a:bodyPr/>
          <a:lstStyle/>
          <a:p>
            <a:endParaRPr lang="ko-KR" altLang="en-US"/>
          </a:p>
        </p:txBody>
      </p:sp>
      <p:sp>
        <p:nvSpPr>
          <p:cNvPr id="28" name="Text 25"/>
          <p:cNvSpPr/>
          <p:nvPr/>
        </p:nvSpPr>
        <p:spPr>
          <a:xfrm>
            <a:off x="3439828" y="2587752"/>
            <a:ext cx="21488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6-bit integer</a:t>
            </a:r>
            <a:endParaRPr lang="en-US" sz="1050" dirty="0"/>
          </a:p>
        </p:txBody>
      </p:sp>
      <p:sp>
        <p:nvSpPr>
          <p:cNvPr id="29" name="Shape 26"/>
          <p:cNvSpPr/>
          <p:nvPr/>
        </p:nvSpPr>
        <p:spPr>
          <a:xfrm>
            <a:off x="5634388" y="2468880"/>
            <a:ext cx="3840480" cy="502920"/>
          </a:xfrm>
          <a:prstGeom prst="rect">
            <a:avLst/>
          </a:prstGeom>
          <a:solidFill>
            <a:srgbClr val="F5F7FA"/>
          </a:solidFill>
          <a:ln w="6350">
            <a:solidFill>
              <a:srgbClr val="D9E2F3"/>
            </a:solidFill>
            <a:prstDash val="solid"/>
          </a:ln>
        </p:spPr>
        <p:txBody>
          <a:bodyPr/>
          <a:lstStyle/>
          <a:p>
            <a:endParaRPr lang="ko-KR" altLang="en-US"/>
          </a:p>
        </p:txBody>
      </p:sp>
      <p:sp>
        <p:nvSpPr>
          <p:cNvPr id="30" name="Text 27"/>
          <p:cNvSpPr/>
          <p:nvPr/>
        </p:nvSpPr>
        <p:spPr>
          <a:xfrm>
            <a:off x="5680108" y="2587752"/>
            <a:ext cx="37490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Booth Encoding</a:t>
            </a:r>
            <a:endParaRPr lang="en-US" sz="1050" dirty="0"/>
          </a:p>
        </p:txBody>
      </p:sp>
      <p:sp>
        <p:nvSpPr>
          <p:cNvPr id="31" name="Shape 28"/>
          <p:cNvSpPr/>
          <p:nvPr/>
        </p:nvSpPr>
        <p:spPr>
          <a:xfrm>
            <a:off x="9474868" y="2468880"/>
            <a:ext cx="1005840" cy="502920"/>
          </a:xfrm>
          <a:prstGeom prst="rect">
            <a:avLst/>
          </a:prstGeom>
          <a:solidFill>
            <a:srgbClr val="F5F7FA"/>
          </a:solidFill>
          <a:ln w="6350">
            <a:solidFill>
              <a:srgbClr val="D9E2F3"/>
            </a:solidFill>
            <a:prstDash val="solid"/>
          </a:ln>
        </p:spPr>
        <p:txBody>
          <a:bodyPr/>
          <a:lstStyle/>
          <a:p>
            <a:endParaRPr lang="ko-KR" altLang="en-US"/>
          </a:p>
        </p:txBody>
      </p:sp>
      <p:sp>
        <p:nvSpPr>
          <p:cNvPr id="32" name="Text 29"/>
          <p:cNvSpPr/>
          <p:nvPr/>
        </p:nvSpPr>
        <p:spPr>
          <a:xfrm>
            <a:off x="9520588" y="2587752"/>
            <a:ext cx="9144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3</a:t>
            </a:r>
            <a:endParaRPr lang="en-US" sz="1050" dirty="0"/>
          </a:p>
        </p:txBody>
      </p:sp>
      <p:sp>
        <p:nvSpPr>
          <p:cNvPr id="33" name="Shape 30"/>
          <p:cNvSpPr/>
          <p:nvPr/>
        </p:nvSpPr>
        <p:spPr>
          <a:xfrm>
            <a:off x="2251108" y="2971800"/>
            <a:ext cx="1143000" cy="502920"/>
          </a:xfrm>
          <a:prstGeom prst="rect">
            <a:avLst/>
          </a:prstGeom>
          <a:solidFill>
            <a:srgbClr val="FFFFFF"/>
          </a:solidFill>
          <a:ln w="6350">
            <a:solidFill>
              <a:srgbClr val="D9E2F3"/>
            </a:solidFill>
            <a:prstDash val="solid"/>
          </a:ln>
        </p:spPr>
        <p:txBody>
          <a:bodyPr/>
          <a:lstStyle/>
          <a:p>
            <a:endParaRPr lang="ko-KR" altLang="en-US"/>
          </a:p>
        </p:txBody>
      </p:sp>
      <p:sp>
        <p:nvSpPr>
          <p:cNvPr id="34" name="Text 31"/>
          <p:cNvSpPr/>
          <p:nvPr/>
        </p:nvSpPr>
        <p:spPr>
          <a:xfrm>
            <a:off x="2296828" y="3090672"/>
            <a:ext cx="10515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FP4</a:t>
            </a:r>
            <a:endParaRPr lang="en-US" sz="1050" dirty="0"/>
          </a:p>
        </p:txBody>
      </p:sp>
      <p:sp>
        <p:nvSpPr>
          <p:cNvPr id="35" name="Shape 32"/>
          <p:cNvSpPr/>
          <p:nvPr/>
        </p:nvSpPr>
        <p:spPr>
          <a:xfrm>
            <a:off x="3394108" y="2971800"/>
            <a:ext cx="2240280" cy="502920"/>
          </a:xfrm>
          <a:prstGeom prst="rect">
            <a:avLst/>
          </a:prstGeom>
          <a:solidFill>
            <a:srgbClr val="FFFFFF"/>
          </a:solidFill>
          <a:ln w="6350">
            <a:solidFill>
              <a:srgbClr val="D9E2F3"/>
            </a:solidFill>
            <a:prstDash val="solid"/>
          </a:ln>
        </p:spPr>
        <p:txBody>
          <a:bodyPr/>
          <a:lstStyle/>
          <a:p>
            <a:endParaRPr lang="ko-KR" altLang="en-US"/>
          </a:p>
        </p:txBody>
      </p:sp>
      <p:sp>
        <p:nvSpPr>
          <p:cNvPr id="36" name="Text 33"/>
          <p:cNvSpPr/>
          <p:nvPr/>
        </p:nvSpPr>
        <p:spPr>
          <a:xfrm>
            <a:off x="3439828" y="3090672"/>
            <a:ext cx="21488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S | E₁E₀ | M</a:t>
            </a:r>
            <a:endParaRPr lang="en-US" sz="1050" dirty="0"/>
          </a:p>
        </p:txBody>
      </p:sp>
      <p:sp>
        <p:nvSpPr>
          <p:cNvPr id="37" name="Shape 34"/>
          <p:cNvSpPr/>
          <p:nvPr/>
        </p:nvSpPr>
        <p:spPr>
          <a:xfrm>
            <a:off x="5634388" y="2971800"/>
            <a:ext cx="3840480" cy="502920"/>
          </a:xfrm>
          <a:prstGeom prst="rect">
            <a:avLst/>
          </a:prstGeom>
          <a:solidFill>
            <a:srgbClr val="FFFFFF"/>
          </a:solidFill>
          <a:ln w="6350">
            <a:solidFill>
              <a:srgbClr val="D9E2F3"/>
            </a:solidFill>
            <a:prstDash val="solid"/>
          </a:ln>
        </p:spPr>
        <p:txBody>
          <a:bodyPr/>
          <a:lstStyle/>
          <a:p>
            <a:endParaRPr lang="ko-KR" altLang="en-US"/>
          </a:p>
        </p:txBody>
      </p:sp>
      <p:sp>
        <p:nvSpPr>
          <p:cNvPr id="38" name="Text 35"/>
          <p:cNvSpPr/>
          <p:nvPr/>
        </p:nvSpPr>
        <p:spPr>
          <a:xfrm>
            <a:off x="5680108" y="3090672"/>
            <a:ext cx="37490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FP→Fixed + −0/SV + LOD</a:t>
            </a:r>
            <a:endParaRPr lang="en-US" sz="1050" dirty="0"/>
          </a:p>
        </p:txBody>
      </p:sp>
      <p:sp>
        <p:nvSpPr>
          <p:cNvPr id="39" name="Shape 36"/>
          <p:cNvSpPr/>
          <p:nvPr/>
        </p:nvSpPr>
        <p:spPr>
          <a:xfrm>
            <a:off x="9474868" y="2971800"/>
            <a:ext cx="1005840" cy="502920"/>
          </a:xfrm>
          <a:prstGeom prst="rect">
            <a:avLst/>
          </a:prstGeom>
          <a:solidFill>
            <a:srgbClr val="FFFFFF"/>
          </a:solidFill>
          <a:ln w="6350">
            <a:solidFill>
              <a:srgbClr val="D9E2F3"/>
            </a:solidFill>
            <a:prstDash val="solid"/>
          </a:ln>
        </p:spPr>
        <p:txBody>
          <a:bodyPr/>
          <a:lstStyle/>
          <a:p>
            <a:endParaRPr lang="ko-KR" altLang="en-US"/>
          </a:p>
        </p:txBody>
      </p:sp>
      <p:sp>
        <p:nvSpPr>
          <p:cNvPr id="40" name="Text 37"/>
          <p:cNvSpPr/>
          <p:nvPr/>
        </p:nvSpPr>
        <p:spPr>
          <a:xfrm>
            <a:off x="9520588" y="3090672"/>
            <a:ext cx="9144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≤2</a:t>
            </a:r>
            <a:endParaRPr lang="en-US" sz="1050" dirty="0"/>
          </a:p>
        </p:txBody>
      </p:sp>
      <p:sp>
        <p:nvSpPr>
          <p:cNvPr id="41" name="Shape 38"/>
          <p:cNvSpPr/>
          <p:nvPr/>
        </p:nvSpPr>
        <p:spPr>
          <a:xfrm>
            <a:off x="2251108" y="3474720"/>
            <a:ext cx="1143000" cy="502920"/>
          </a:xfrm>
          <a:prstGeom prst="rect">
            <a:avLst/>
          </a:prstGeom>
          <a:solidFill>
            <a:srgbClr val="F5F7FA"/>
          </a:solidFill>
          <a:ln w="6350">
            <a:solidFill>
              <a:srgbClr val="D9E2F3"/>
            </a:solidFill>
            <a:prstDash val="solid"/>
          </a:ln>
        </p:spPr>
        <p:txBody>
          <a:bodyPr/>
          <a:lstStyle/>
          <a:p>
            <a:endParaRPr lang="ko-KR" altLang="en-US"/>
          </a:p>
        </p:txBody>
      </p:sp>
      <p:sp>
        <p:nvSpPr>
          <p:cNvPr id="42" name="Text 39"/>
          <p:cNvSpPr/>
          <p:nvPr/>
        </p:nvSpPr>
        <p:spPr>
          <a:xfrm>
            <a:off x="2296828" y="3593592"/>
            <a:ext cx="105156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222222"/>
                </a:solidFill>
                <a:latin typeface="Arial" pitchFamily="34" charset="0"/>
                <a:ea typeface="Arial" pitchFamily="34" charset="-122"/>
                <a:cs typeface="Arial" pitchFamily="34" charset="-120"/>
              </a:rPr>
              <a:t>FP3</a:t>
            </a:r>
            <a:endParaRPr lang="en-US" sz="1050" dirty="0"/>
          </a:p>
        </p:txBody>
      </p:sp>
      <p:sp>
        <p:nvSpPr>
          <p:cNvPr id="43" name="Shape 40"/>
          <p:cNvSpPr/>
          <p:nvPr/>
        </p:nvSpPr>
        <p:spPr>
          <a:xfrm>
            <a:off x="3394108" y="3474720"/>
            <a:ext cx="2240280" cy="502920"/>
          </a:xfrm>
          <a:prstGeom prst="rect">
            <a:avLst/>
          </a:prstGeom>
          <a:solidFill>
            <a:srgbClr val="F5F7FA"/>
          </a:solidFill>
          <a:ln w="6350">
            <a:solidFill>
              <a:srgbClr val="D9E2F3"/>
            </a:solidFill>
            <a:prstDash val="solid"/>
          </a:ln>
        </p:spPr>
        <p:txBody>
          <a:bodyPr/>
          <a:lstStyle/>
          <a:p>
            <a:endParaRPr lang="ko-KR" altLang="en-US"/>
          </a:p>
        </p:txBody>
      </p:sp>
      <p:sp>
        <p:nvSpPr>
          <p:cNvPr id="44" name="Text 41"/>
          <p:cNvSpPr/>
          <p:nvPr/>
        </p:nvSpPr>
        <p:spPr>
          <a:xfrm>
            <a:off x="3439828" y="3593592"/>
            <a:ext cx="21488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subset of FP4</a:t>
            </a:r>
            <a:endParaRPr lang="en-US" sz="1050" dirty="0"/>
          </a:p>
        </p:txBody>
      </p:sp>
      <p:sp>
        <p:nvSpPr>
          <p:cNvPr id="45" name="Shape 42"/>
          <p:cNvSpPr/>
          <p:nvPr/>
        </p:nvSpPr>
        <p:spPr>
          <a:xfrm>
            <a:off x="5634388" y="3474720"/>
            <a:ext cx="3840480" cy="502920"/>
          </a:xfrm>
          <a:prstGeom prst="rect">
            <a:avLst/>
          </a:prstGeom>
          <a:solidFill>
            <a:srgbClr val="F5F7FA"/>
          </a:solidFill>
          <a:ln w="6350">
            <a:solidFill>
              <a:srgbClr val="D9E2F3"/>
            </a:solidFill>
            <a:prstDash val="solid"/>
          </a:ln>
        </p:spPr>
        <p:txBody>
          <a:bodyPr/>
          <a:lstStyle/>
          <a:p>
            <a:endParaRPr lang="ko-KR" altLang="en-US"/>
          </a:p>
        </p:txBody>
      </p:sp>
      <p:sp>
        <p:nvSpPr>
          <p:cNvPr id="46" name="Text 43"/>
          <p:cNvSpPr/>
          <p:nvPr/>
        </p:nvSpPr>
        <p:spPr>
          <a:xfrm>
            <a:off x="5680108" y="3593592"/>
            <a:ext cx="374904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reuse FP4 decoder</a:t>
            </a:r>
            <a:endParaRPr lang="en-US" sz="1050" dirty="0"/>
          </a:p>
        </p:txBody>
      </p:sp>
      <p:sp>
        <p:nvSpPr>
          <p:cNvPr id="47" name="Shape 44"/>
          <p:cNvSpPr/>
          <p:nvPr/>
        </p:nvSpPr>
        <p:spPr>
          <a:xfrm>
            <a:off x="9474868" y="3474720"/>
            <a:ext cx="1005840" cy="502920"/>
          </a:xfrm>
          <a:prstGeom prst="rect">
            <a:avLst/>
          </a:prstGeom>
          <a:solidFill>
            <a:srgbClr val="F5F7FA"/>
          </a:solidFill>
          <a:ln w="6350">
            <a:solidFill>
              <a:srgbClr val="D9E2F3"/>
            </a:solidFill>
            <a:prstDash val="solid"/>
          </a:ln>
        </p:spPr>
        <p:txBody>
          <a:bodyPr/>
          <a:lstStyle/>
          <a:p>
            <a:endParaRPr lang="ko-KR" altLang="en-US"/>
          </a:p>
        </p:txBody>
      </p:sp>
      <p:sp>
        <p:nvSpPr>
          <p:cNvPr id="48" name="Text 45"/>
          <p:cNvSpPr/>
          <p:nvPr/>
        </p:nvSpPr>
        <p:spPr>
          <a:xfrm>
            <a:off x="9520588" y="3593592"/>
            <a:ext cx="914400" cy="146304"/>
          </a:xfrm>
          <a:prstGeom prst="rect">
            <a:avLst/>
          </a:prstGeom>
          <a:noFill/>
          <a:ln/>
        </p:spPr>
        <p:txBody>
          <a:bodyPr wrap="square" lIns="0" tIns="0" rIns="0" bIns="0" rtlCol="0" anchor="ctr">
            <a:normAutofit lnSpcReduction="10000"/>
          </a:bodyPr>
          <a:lstStyle/>
          <a:p>
            <a:pPr marL="0" indent="0" algn="ctr">
              <a:buNone/>
            </a:pPr>
            <a:r>
              <a:rPr lang="en-US" sz="1050" dirty="0">
                <a:solidFill>
                  <a:srgbClr val="222222"/>
                </a:solidFill>
                <a:latin typeface="Arial" pitchFamily="34" charset="0"/>
                <a:ea typeface="Arial" pitchFamily="34" charset="-122"/>
                <a:cs typeface="Arial" pitchFamily="34" charset="-120"/>
              </a:rPr>
              <a:t>≤2</a:t>
            </a:r>
            <a:endParaRPr lang="en-US" sz="1050" dirty="0"/>
          </a:p>
        </p:txBody>
      </p:sp>
      <p:sp>
        <p:nvSpPr>
          <p:cNvPr id="49" name="Shape 46"/>
          <p:cNvSpPr/>
          <p:nvPr/>
        </p:nvSpPr>
        <p:spPr>
          <a:xfrm>
            <a:off x="868680" y="4251960"/>
            <a:ext cx="3337560" cy="1051560"/>
          </a:xfrm>
          <a:prstGeom prst="roundRect">
            <a:avLst>
              <a:gd name="adj" fmla="val 5217"/>
            </a:avLst>
          </a:prstGeom>
          <a:solidFill>
            <a:srgbClr val="F3F8FF"/>
          </a:solidFill>
          <a:ln w="13335">
            <a:solidFill>
              <a:srgbClr val="9EADCC"/>
            </a:solidFill>
            <a:prstDash val="solid"/>
          </a:ln>
        </p:spPr>
        <p:txBody>
          <a:bodyPr/>
          <a:lstStyle/>
          <a:p>
            <a:endParaRPr lang="ko-KR" altLang="en-US"/>
          </a:p>
        </p:txBody>
      </p:sp>
      <p:sp>
        <p:nvSpPr>
          <p:cNvPr id="50" name="Text 47"/>
          <p:cNvSpPr/>
          <p:nvPr/>
        </p:nvSpPr>
        <p:spPr>
          <a:xfrm>
            <a:off x="1033272" y="4361688"/>
            <a:ext cx="30083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Why this matters</a:t>
            </a:r>
            <a:endParaRPr lang="en-US" sz="1200" dirty="0"/>
          </a:p>
        </p:txBody>
      </p:sp>
      <p:sp>
        <p:nvSpPr>
          <p:cNvPr id="51" name="Text 48"/>
          <p:cNvSpPr/>
          <p:nvPr/>
        </p:nvSpPr>
        <p:spPr>
          <a:xfrm>
            <a:off x="1115568" y="4663440"/>
            <a:ext cx="2834640" cy="256032"/>
          </a:xfrm>
          <a:prstGeom prst="rect">
            <a:avLst/>
          </a:prstGeom>
          <a:noFill/>
          <a:ln/>
        </p:spPr>
        <p:txBody>
          <a:bodyPr wrap="square" lIns="0" tIns="0" rIns="0" bIns="0" rtlCol="0" anchor="ctr">
            <a:normAutofit fontScale="92500"/>
          </a:bodyPr>
          <a:lstStyle/>
          <a:p>
            <a:pPr marL="0" indent="0" algn="ctr">
              <a:buNone/>
            </a:pPr>
            <a:r>
              <a:rPr lang="en-US" sz="1220" b="1" dirty="0">
                <a:solidFill>
                  <a:srgbClr val="00245D"/>
                </a:solidFill>
                <a:latin typeface="Arial" pitchFamily="34" charset="0"/>
                <a:ea typeface="Arial" pitchFamily="34" charset="-122"/>
                <a:cs typeface="Arial" pitchFamily="34" charset="-120"/>
              </a:rPr>
              <a:t>One PE can support all target data types.</a:t>
            </a:r>
            <a:endParaRPr lang="en-US" sz="1220" dirty="0"/>
          </a:p>
        </p:txBody>
      </p:sp>
      <p:sp>
        <p:nvSpPr>
          <p:cNvPr id="52" name="Shape 49"/>
          <p:cNvSpPr/>
          <p:nvPr/>
        </p:nvSpPr>
        <p:spPr>
          <a:xfrm>
            <a:off x="4434840" y="4251960"/>
            <a:ext cx="3337560" cy="1051560"/>
          </a:xfrm>
          <a:prstGeom prst="roundRect">
            <a:avLst>
              <a:gd name="adj" fmla="val 5217"/>
            </a:avLst>
          </a:prstGeom>
          <a:solidFill>
            <a:srgbClr val="FFFDF2"/>
          </a:solidFill>
          <a:ln w="13335">
            <a:solidFill>
              <a:srgbClr val="D6B656"/>
            </a:solidFill>
            <a:prstDash val="solid"/>
          </a:ln>
        </p:spPr>
        <p:txBody>
          <a:bodyPr/>
          <a:lstStyle/>
          <a:p>
            <a:endParaRPr lang="ko-KR" altLang="en-US"/>
          </a:p>
        </p:txBody>
      </p:sp>
      <p:sp>
        <p:nvSpPr>
          <p:cNvPr id="53" name="Text 50"/>
          <p:cNvSpPr/>
          <p:nvPr/>
        </p:nvSpPr>
        <p:spPr>
          <a:xfrm>
            <a:off x="4599432" y="4361688"/>
            <a:ext cx="30083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Performance link</a:t>
            </a:r>
            <a:endParaRPr lang="en-US" sz="1200" dirty="0"/>
          </a:p>
        </p:txBody>
      </p:sp>
      <p:sp>
        <p:nvSpPr>
          <p:cNvPr id="54" name="Text 51"/>
          <p:cNvSpPr/>
          <p:nvPr/>
        </p:nvSpPr>
        <p:spPr>
          <a:xfrm>
            <a:off x="4681728" y="4663440"/>
            <a:ext cx="2834640" cy="256032"/>
          </a:xfrm>
          <a:prstGeom prst="rect">
            <a:avLst/>
          </a:prstGeom>
          <a:noFill/>
          <a:ln/>
        </p:spPr>
        <p:txBody>
          <a:bodyPr wrap="square" lIns="0" tIns="0" rIns="0" bIns="0" rtlCol="0" anchor="ctr">
            <a:normAutofit fontScale="92500"/>
          </a:bodyPr>
          <a:lstStyle/>
          <a:p>
            <a:pPr marL="0" indent="0" algn="ctr">
              <a:buNone/>
            </a:pPr>
            <a:r>
              <a:rPr lang="en-US" sz="1220" b="1" dirty="0">
                <a:solidFill>
                  <a:srgbClr val="00245D"/>
                </a:solidFill>
                <a:latin typeface="Arial" pitchFamily="34" charset="0"/>
                <a:ea typeface="Arial" pitchFamily="34" charset="-122"/>
                <a:cs typeface="Arial" pitchFamily="34" charset="-120"/>
              </a:rPr>
              <a:t>Fewer terms mean fewer bit-serial cycles.</a:t>
            </a:r>
            <a:endParaRPr lang="en-US" sz="1220" dirty="0"/>
          </a:p>
        </p:txBody>
      </p:sp>
      <p:sp>
        <p:nvSpPr>
          <p:cNvPr id="55" name="Shape 52"/>
          <p:cNvSpPr/>
          <p:nvPr/>
        </p:nvSpPr>
        <p:spPr>
          <a:xfrm>
            <a:off x="8001000" y="4251960"/>
            <a:ext cx="3337560" cy="1051560"/>
          </a:xfrm>
          <a:prstGeom prst="roundRect">
            <a:avLst>
              <a:gd name="adj" fmla="val 5217"/>
            </a:avLst>
          </a:prstGeom>
          <a:solidFill>
            <a:srgbClr val="E2F0D9"/>
          </a:solidFill>
          <a:ln w="13335">
            <a:solidFill>
              <a:srgbClr val="548235"/>
            </a:solidFill>
            <a:prstDash val="solid"/>
          </a:ln>
        </p:spPr>
        <p:txBody>
          <a:bodyPr/>
          <a:lstStyle/>
          <a:p>
            <a:endParaRPr lang="ko-KR" altLang="en-US"/>
          </a:p>
        </p:txBody>
      </p:sp>
      <p:sp>
        <p:nvSpPr>
          <p:cNvPr id="56" name="Text 53"/>
          <p:cNvSpPr/>
          <p:nvPr/>
        </p:nvSpPr>
        <p:spPr>
          <a:xfrm>
            <a:off x="8165592" y="4361688"/>
            <a:ext cx="3008376" cy="228600"/>
          </a:xfrm>
          <a:prstGeom prst="rect">
            <a:avLst/>
          </a:prstGeom>
          <a:noFill/>
          <a:ln/>
        </p:spPr>
        <p:txBody>
          <a:bodyPr wrap="square" lIns="0" tIns="0" rIns="0" bIns="0" rtlCol="0" anchor="ctr">
            <a:normAutofit/>
          </a:bodyPr>
          <a:lstStyle/>
          <a:p>
            <a:pPr marL="0" indent="0">
              <a:buNone/>
            </a:pPr>
            <a:r>
              <a:rPr lang="en-US" sz="1200" b="1" dirty="0">
                <a:solidFill>
                  <a:srgbClr val="00245D"/>
                </a:solidFill>
                <a:latin typeface="Arial" pitchFamily="34" charset="0"/>
                <a:ea typeface="Arial" pitchFamily="34" charset="-122"/>
                <a:cs typeface="Arial" pitchFamily="34" charset="-120"/>
              </a:rPr>
              <a:t>Next section</a:t>
            </a:r>
            <a:endParaRPr lang="en-US" sz="1200" dirty="0"/>
          </a:p>
        </p:txBody>
      </p:sp>
      <p:sp>
        <p:nvSpPr>
          <p:cNvPr id="57" name="Text 54"/>
          <p:cNvSpPr/>
          <p:nvPr/>
        </p:nvSpPr>
        <p:spPr>
          <a:xfrm>
            <a:off x="8247888" y="4663440"/>
            <a:ext cx="2834640" cy="256032"/>
          </a:xfrm>
          <a:prstGeom prst="rect">
            <a:avLst/>
          </a:prstGeom>
          <a:noFill/>
          <a:ln/>
        </p:spPr>
        <p:txBody>
          <a:bodyPr wrap="square" lIns="0" tIns="0" rIns="0" bIns="0" rtlCol="0" anchor="ctr">
            <a:normAutofit fontScale="85000" lnSpcReduction="20000"/>
          </a:bodyPr>
          <a:lstStyle/>
          <a:p>
            <a:pPr marL="0" indent="0" algn="ctr">
              <a:buNone/>
            </a:pPr>
            <a:r>
              <a:rPr lang="en-US" sz="1220" b="1" dirty="0">
                <a:solidFill>
                  <a:srgbClr val="548235"/>
                </a:solidFill>
                <a:latin typeface="Arial" pitchFamily="34" charset="0"/>
                <a:ea typeface="Arial" pitchFamily="34" charset="-122"/>
                <a:cs typeface="Arial" pitchFamily="34" charset="-120"/>
              </a:rPr>
              <a:t>BitMoD PE computes these terms with FP16 activations.</a:t>
            </a:r>
            <a:endParaRPr lang="en-US" sz="1220" dirty="0"/>
          </a:p>
        </p:txBody>
      </p:sp>
      <p:sp>
        <p:nvSpPr>
          <p:cNvPr id="58" name="Shape 55"/>
          <p:cNvSpPr/>
          <p:nvPr/>
        </p:nvSpPr>
        <p:spPr>
          <a:xfrm>
            <a:off x="1234440" y="5733288"/>
            <a:ext cx="9738360" cy="411480"/>
          </a:xfrm>
          <a:prstGeom prst="roundRect">
            <a:avLst>
              <a:gd name="adj" fmla="val 13333"/>
            </a:avLst>
          </a:prstGeom>
          <a:solidFill>
            <a:srgbClr val="EAF2FF"/>
          </a:solidFill>
          <a:ln w="12700">
            <a:solidFill>
              <a:srgbClr val="7EA6E0"/>
            </a:solidFill>
            <a:prstDash val="solid"/>
          </a:ln>
        </p:spPr>
        <p:txBody>
          <a:bodyPr/>
          <a:lstStyle/>
          <a:p>
            <a:endParaRPr lang="ko-KR" altLang="en-US"/>
          </a:p>
        </p:txBody>
      </p:sp>
      <p:sp>
        <p:nvSpPr>
          <p:cNvPr id="59" name="Text 56"/>
          <p:cNvSpPr/>
          <p:nvPr/>
        </p:nvSpPr>
        <p:spPr>
          <a:xfrm>
            <a:off x="1417320" y="5852160"/>
            <a:ext cx="9372600" cy="128016"/>
          </a:xfrm>
          <a:prstGeom prst="rect">
            <a:avLst/>
          </a:prstGeom>
          <a:noFill/>
          <a:ln/>
        </p:spPr>
        <p:txBody>
          <a:bodyPr wrap="square" lIns="0" tIns="0" rIns="0" bIns="0" rtlCol="0" anchor="ctr">
            <a:normAutofit fontScale="92500" lnSpcReduction="20000"/>
          </a:bodyPr>
          <a:lstStyle/>
          <a:p>
            <a:pPr marL="0" indent="0" algn="ctr">
              <a:buNone/>
            </a:pPr>
            <a:r>
              <a:rPr lang="en-US" sz="1050" b="1" dirty="0">
                <a:solidFill>
                  <a:srgbClr val="00245D"/>
                </a:solidFill>
                <a:latin typeface="Arial" pitchFamily="34" charset="0"/>
                <a:ea typeface="Arial" pitchFamily="34" charset="-122"/>
                <a:cs typeface="Arial" pitchFamily="34" charset="-120"/>
              </a:rPr>
              <a:t>Core message: low-bit data types become hardware-efficient only after they are converted into a common bit-serial form.</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3930884" cy="400110"/>
          </a:xfrm>
          <a:prstGeom prst="rect">
            <a:avLst/>
          </a:prstGeom>
          <a:noFill/>
        </p:spPr>
        <p:txBody>
          <a:bodyPr wrap="none">
            <a:spAutoFit/>
          </a:bodyPr>
          <a:lstStyle/>
          <a:p>
            <a:r>
              <a:rPr sz="2000" b="1" dirty="0">
                <a:solidFill>
                  <a:srgbClr val="000000"/>
                </a:solidFill>
                <a:latin typeface="Arial"/>
              </a:rPr>
              <a:t>B. </a:t>
            </a:r>
            <a:r>
              <a:rPr sz="2000" b="1" dirty="0" err="1">
                <a:solidFill>
                  <a:srgbClr val="000000"/>
                </a:solidFill>
                <a:latin typeface="Arial"/>
              </a:rPr>
              <a:t>BitMoD</a:t>
            </a:r>
            <a:r>
              <a:rPr sz="2000" b="1" dirty="0">
                <a:solidFill>
                  <a:srgbClr val="000000"/>
                </a:solidFill>
                <a:latin typeface="Arial"/>
              </a:rPr>
              <a:t> Processing Element</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66</a:t>
            </a:r>
            <a:endParaRPr sz="1000" b="1" dirty="0">
              <a:solidFill>
                <a:srgbClr val="FFFFFF"/>
              </a:solidFill>
              <a:latin typeface="Arial"/>
            </a:endParaRPr>
          </a:p>
        </p:txBody>
      </p:sp>
      <p:sp>
        <p:nvSpPr>
          <p:cNvPr id="8" name="TextBox 7"/>
          <p:cNvSpPr txBox="1"/>
          <p:nvPr/>
        </p:nvSpPr>
        <p:spPr>
          <a:xfrm>
            <a:off x="594360" y="932688"/>
            <a:ext cx="10698480" cy="274320"/>
          </a:xfrm>
          <a:prstGeom prst="rect">
            <a:avLst/>
          </a:prstGeom>
          <a:noFill/>
        </p:spPr>
        <p:txBody>
          <a:bodyPr wrap="square" lIns="0" tIns="0" rIns="0" bIns="0">
            <a:spAutoFit/>
          </a:bodyPr>
          <a:lstStyle/>
          <a:p>
            <a:pPr algn="l">
              <a:spcAft>
                <a:spcPts val="100"/>
              </a:spcAft>
            </a:pPr>
            <a:r>
              <a:rPr sz="1300" b="0">
                <a:solidFill>
                  <a:srgbClr val="2D2D2D"/>
                </a:solidFill>
                <a:latin typeface="Arial"/>
              </a:rPr>
              <a:t>BitMoD PE directly computes mixed-precision dot products between bit-serial low-precision weights and FP16 activations.</a:t>
            </a:r>
          </a:p>
        </p:txBody>
      </p:sp>
      <p:sp>
        <p:nvSpPr>
          <p:cNvPr id="9" name="Rounded Rectangle 8"/>
          <p:cNvSpPr/>
          <p:nvPr/>
        </p:nvSpPr>
        <p:spPr>
          <a:xfrm>
            <a:off x="427121" y="1417320"/>
            <a:ext cx="4709160" cy="416052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644236"/>
            <a:ext cx="4343400" cy="228600"/>
          </a:xfrm>
          <a:prstGeom prst="rect">
            <a:avLst/>
          </a:prstGeom>
          <a:noFill/>
        </p:spPr>
        <p:txBody>
          <a:bodyPr wrap="square" lIns="0" tIns="0" rIns="0" bIns="0">
            <a:spAutoFit/>
          </a:bodyPr>
          <a:lstStyle/>
          <a:p>
            <a:pPr algn="l">
              <a:spcAft>
                <a:spcPts val="100"/>
              </a:spcAft>
            </a:pPr>
            <a:r>
              <a:rPr sz="1200" b="1">
                <a:solidFill>
                  <a:srgbClr val="00245D"/>
                </a:solidFill>
                <a:latin typeface="Arial"/>
              </a:rPr>
              <a:t>PE input format</a:t>
            </a:r>
          </a:p>
        </p:txBody>
      </p:sp>
      <p:sp>
        <p:nvSpPr>
          <p:cNvPr id="11" name="TextBox 10"/>
          <p:cNvSpPr txBox="1"/>
          <p:nvPr/>
        </p:nvSpPr>
        <p:spPr>
          <a:xfrm>
            <a:off x="868680" y="2071840"/>
            <a:ext cx="4069080" cy="530352"/>
          </a:xfrm>
          <a:prstGeom prst="rect">
            <a:avLst/>
          </a:prstGeom>
          <a:noFill/>
        </p:spPr>
        <p:txBody>
          <a:bodyPr wrap="square" lIns="0" tIns="0" rIns="0" bIns="0">
            <a:spAutoFit/>
          </a:bodyPr>
          <a:lstStyle/>
          <a:p>
            <a:pPr algn="l">
              <a:spcAft>
                <a:spcPts val="100"/>
              </a:spcAft>
            </a:pPr>
            <a:r>
              <a:rPr sz="1150" b="1" dirty="0">
                <a:solidFill>
                  <a:srgbClr val="2D2D2D"/>
                </a:solidFill>
                <a:latin typeface="Arial"/>
              </a:rPr>
              <a:t>Weight term from Figure 4</a:t>
            </a:r>
          </a:p>
        </p:txBody>
      </p:sp>
      <mc:AlternateContent xmlns:mc="http://schemas.openxmlformats.org/markup-compatibility/2006" xmlns:a14="http://schemas.microsoft.com/office/drawing/2010/main">
        <mc:Choice Requires="a14">
          <p:sp>
            <p:nvSpPr>
              <p:cNvPr id="12" name="TextBox 11"/>
              <p:cNvSpPr txBox="1"/>
              <p:nvPr/>
            </p:nvSpPr>
            <p:spPr>
              <a:xfrm>
                <a:off x="1051560" y="2455888"/>
                <a:ext cx="3749039" cy="299569"/>
              </a:xfrm>
              <a:prstGeom prst="rect">
                <a:avLst/>
              </a:prstGeom>
              <a:noFill/>
            </p:spPr>
            <p:txBody>
              <a:bodyPr wrap="square" lIns="0" tIns="0" rIns="0" bIns="0">
                <a:spAutoFit/>
              </a:bodyPr>
              <a:lstStyle/>
              <a:p>
                <a:pPr algn="ctr">
                  <a:spcAft>
                    <a:spcPts val="100"/>
                  </a:spcAft>
                </a:pPr>
                <a14:m>
                  <m:oMath xmlns:m="http://schemas.openxmlformats.org/officeDocument/2006/math">
                    <m:r>
                      <a:rPr lang="ko-KR" altLang="en-US" sz="1800" b="0" i="1" dirty="0" smtClean="0">
                        <a:solidFill>
                          <a:srgbClr val="00245D"/>
                        </a:solidFill>
                        <a:latin typeface="Cambria Math" panose="02040503050406030204" pitchFamily="18" charset="0"/>
                      </a:rPr>
                      <m:t>𝑤</m:t>
                    </m:r>
                    <m:r>
                      <a:rPr lang="ko-KR" altLang="en-US" sz="1800" b="0" i="0" dirty="0">
                        <a:solidFill>
                          <a:srgbClr val="00245D"/>
                        </a:solidFill>
                        <a:latin typeface="Cambria Math" panose="02040503050406030204" pitchFamily="18" charset="0"/>
                      </a:rPr>
                      <m:t>=</m:t>
                    </m:r>
                  </m:oMath>
                </a14:m>
                <a:r>
                  <a:rPr sz="1800" b="0" dirty="0">
                    <a:solidFill>
                      <a:srgbClr val="00245D"/>
                    </a:solidFill>
                    <a:latin typeface="Cambria Math"/>
                  </a:rPr>
                  <a:t>( </a:t>
                </a:r>
                <a14:m>
                  <m:oMath xmlns:m="http://schemas.openxmlformats.org/officeDocument/2006/math">
                    <m:sSub>
                      <m:sSubPr>
                        <m:ctrlPr>
                          <a:rPr lang="ko-KR" altLang="en-US" sz="1800" b="0" i="1" dirty="0" err="1">
                            <a:solidFill>
                              <a:srgbClr val="00245D"/>
                            </a:solidFill>
                            <a:latin typeface="Cambria Math" panose="02040503050406030204" pitchFamily="18" charset="0"/>
                          </a:rPr>
                        </m:ctrlPr>
                      </m:sSubPr>
                      <m:e>
                        <m:r>
                          <a:rPr lang="ko-KR" altLang="en-US" sz="1800" b="0" i="1" dirty="0" err="1">
                            <a:solidFill>
                              <a:srgbClr val="00245D"/>
                            </a:solidFill>
                            <a:latin typeface="Cambria Math" panose="02040503050406030204" pitchFamily="18" charset="0"/>
                          </a:rPr>
                          <m:t>𝑤</m:t>
                        </m:r>
                      </m:e>
                      <m:sub>
                        <m:r>
                          <a:rPr lang="ko-KR" altLang="en-US" sz="1800" b="0" i="1" dirty="0" err="1">
                            <a:solidFill>
                              <a:srgbClr val="00245D"/>
                            </a:solidFill>
                            <a:latin typeface="Cambria Math" panose="02040503050406030204" pitchFamily="18" charset="0"/>
                          </a:rPr>
                          <m:t>𝑠</m:t>
                        </m:r>
                      </m:sub>
                    </m:sSub>
                    <m:r>
                      <a:rPr lang="ko-KR" altLang="en-US" sz="1800" b="0" i="0" dirty="0" err="1">
                        <a:solidFill>
                          <a:srgbClr val="00245D"/>
                        </a:solidFill>
                        <a:latin typeface="Cambria Math" panose="02040503050406030204" pitchFamily="18" charset="0"/>
                      </a:rPr>
                      <m:t>,</m:t>
                    </m:r>
                    <m:sSub>
                      <m:sSubPr>
                        <m:ctrlPr>
                          <a:rPr lang="ko-KR" altLang="en-US" sz="1800" b="0" i="1" dirty="0" err="1">
                            <a:solidFill>
                              <a:srgbClr val="00245D"/>
                            </a:solidFill>
                            <a:latin typeface="Cambria Math" panose="02040503050406030204" pitchFamily="18" charset="0"/>
                          </a:rPr>
                        </m:ctrlPr>
                      </m:sSubPr>
                      <m:e>
                        <m:r>
                          <a:rPr lang="ko-KR" altLang="en-US" sz="1800" b="0" i="1" dirty="0" err="1">
                            <a:solidFill>
                              <a:srgbClr val="00245D"/>
                            </a:solidFill>
                            <a:latin typeface="Cambria Math" panose="02040503050406030204" pitchFamily="18" charset="0"/>
                          </a:rPr>
                          <m:t>𝑤</m:t>
                        </m:r>
                      </m:e>
                      <m:sub>
                        <m:r>
                          <a:rPr lang="ko-KR" altLang="en-US" sz="1800" b="0" i="1" dirty="0" err="1">
                            <a:solidFill>
                              <a:srgbClr val="00245D"/>
                            </a:solidFill>
                            <a:latin typeface="Cambria Math" panose="02040503050406030204" pitchFamily="18" charset="0"/>
                          </a:rPr>
                          <m:t>𝑒</m:t>
                        </m:r>
                      </m:sub>
                    </m:sSub>
                    <m:r>
                      <a:rPr lang="ko-KR" altLang="en-US" sz="1800" b="0" i="0" dirty="0" err="1">
                        <a:solidFill>
                          <a:srgbClr val="00245D"/>
                        </a:solidFill>
                        <a:latin typeface="Cambria Math" panose="02040503050406030204" pitchFamily="18" charset="0"/>
                      </a:rPr>
                      <m:t>,</m:t>
                    </m:r>
                    <m:sSub>
                      <m:sSubPr>
                        <m:ctrlPr>
                          <a:rPr lang="ko-KR" altLang="en-US" sz="1800" b="0" i="1" dirty="0" err="1">
                            <a:solidFill>
                              <a:srgbClr val="00245D"/>
                            </a:solidFill>
                            <a:latin typeface="Cambria Math" panose="02040503050406030204" pitchFamily="18" charset="0"/>
                          </a:rPr>
                        </m:ctrlPr>
                      </m:sSubPr>
                      <m:e>
                        <m:r>
                          <a:rPr lang="ko-KR" altLang="en-US" sz="1800" b="0" i="1" dirty="0" err="1">
                            <a:solidFill>
                              <a:srgbClr val="00245D"/>
                            </a:solidFill>
                            <a:latin typeface="Cambria Math" panose="02040503050406030204" pitchFamily="18" charset="0"/>
                          </a:rPr>
                          <m:t>𝑤</m:t>
                        </m:r>
                      </m:e>
                      <m:sub>
                        <m:r>
                          <a:rPr lang="ko-KR" altLang="en-US" sz="1800" b="0" i="1" dirty="0" err="1">
                            <a:solidFill>
                              <a:srgbClr val="00245D"/>
                            </a:solidFill>
                            <a:latin typeface="Cambria Math" panose="02040503050406030204" pitchFamily="18" charset="0"/>
                          </a:rPr>
                          <m:t>𝑚</m:t>
                        </m:r>
                      </m:sub>
                    </m:sSub>
                    <m:r>
                      <a:rPr lang="ko-KR" altLang="en-US" sz="1800" b="0" i="0" dirty="0" err="1">
                        <a:solidFill>
                          <a:srgbClr val="00245D"/>
                        </a:solidFill>
                        <a:latin typeface="Cambria Math" panose="02040503050406030204" pitchFamily="18" charset="0"/>
                      </a:rPr>
                      <m:t>,</m:t>
                    </m:r>
                    <m:sSub>
                      <m:sSubPr>
                        <m:ctrlPr>
                          <a:rPr lang="ko-KR" altLang="en-US" sz="1800" b="0" i="1" dirty="0" err="1">
                            <a:solidFill>
                              <a:srgbClr val="00245D"/>
                            </a:solidFill>
                            <a:latin typeface="Cambria Math" panose="02040503050406030204" pitchFamily="18" charset="0"/>
                          </a:rPr>
                        </m:ctrlPr>
                      </m:sSubPr>
                      <m:e>
                        <m:r>
                          <a:rPr lang="ko-KR" altLang="en-US" sz="1800" b="0" i="1" dirty="0" err="1">
                            <a:solidFill>
                              <a:srgbClr val="00245D"/>
                            </a:solidFill>
                            <a:latin typeface="Cambria Math" panose="02040503050406030204" pitchFamily="18" charset="0"/>
                          </a:rPr>
                          <m:t>𝑤</m:t>
                        </m:r>
                      </m:e>
                      <m:sub>
                        <m:r>
                          <a:rPr lang="ko-KR" altLang="en-US" sz="1800" b="0" i="1" dirty="0" err="1">
                            <a:solidFill>
                              <a:srgbClr val="00245D"/>
                            </a:solidFill>
                            <a:latin typeface="Cambria Math" panose="02040503050406030204" pitchFamily="18" charset="0"/>
                          </a:rPr>
                          <m:t>𝑏𝑠𝑖𝑔</m:t>
                        </m:r>
                      </m:sub>
                    </m:sSub>
                  </m:oMath>
                </a14:m>
                <a:r>
                  <a:rPr sz="1800" b="0" dirty="0">
                    <a:solidFill>
                      <a:srgbClr val="00245D"/>
                    </a:solidFill>
                    <a:latin typeface="Cambria Math"/>
                  </a:rPr>
                  <a:t>)</a:t>
                </a:r>
              </a:p>
            </p:txBody>
          </p:sp>
        </mc:Choice>
        <mc:Fallback xmlns="">
          <p:sp>
            <p:nvSpPr>
              <p:cNvPr id="12" name="TextBox 11"/>
              <p:cNvSpPr txBox="1">
                <a:spLocks noRot="1" noChangeAspect="1" noMove="1" noResize="1" noEditPoints="1" noAdjustHandles="1" noChangeArrowheads="1" noChangeShapeType="1" noTextEdit="1"/>
              </p:cNvSpPr>
              <p:nvPr/>
            </p:nvSpPr>
            <p:spPr>
              <a:xfrm>
                <a:off x="1051560" y="2455888"/>
                <a:ext cx="3749039" cy="299569"/>
              </a:xfrm>
              <a:prstGeom prst="rect">
                <a:avLst/>
              </a:prstGeom>
              <a:blipFill>
                <a:blip r:embed="rId3"/>
                <a:stretch>
                  <a:fillRect t="-28571" b="-36735"/>
                </a:stretch>
              </a:blipFill>
            </p:spPr>
            <p:txBody>
              <a:bodyPr/>
              <a:lstStyle/>
              <a:p>
                <a:r>
                  <a:rPr lang="ko-KR" altLang="en-US">
                    <a:noFill/>
                  </a:rPr>
                  <a:t> </a:t>
                </a:r>
              </a:p>
            </p:txBody>
          </p:sp>
        </mc:Fallback>
      </mc:AlternateContent>
      <p:sp>
        <p:nvSpPr>
          <p:cNvPr id="13" name="TextBox 12"/>
          <p:cNvSpPr txBox="1"/>
          <p:nvPr/>
        </p:nvSpPr>
        <p:spPr>
          <a:xfrm>
            <a:off x="868680" y="2967952"/>
            <a:ext cx="4069080" cy="530352"/>
          </a:xfrm>
          <a:prstGeom prst="rect">
            <a:avLst/>
          </a:prstGeom>
          <a:noFill/>
        </p:spPr>
        <p:txBody>
          <a:bodyPr wrap="square" lIns="0" tIns="0" rIns="0" bIns="0">
            <a:spAutoFit/>
          </a:bodyPr>
          <a:lstStyle/>
          <a:p>
            <a:pPr algn="l">
              <a:spcAft>
                <a:spcPts val="100"/>
              </a:spcAft>
            </a:pPr>
            <a:r>
              <a:rPr sz="1150" b="1">
                <a:solidFill>
                  <a:srgbClr val="2D2D2D"/>
                </a:solidFill>
                <a:latin typeface="Arial"/>
              </a:rPr>
              <a:t>FP16 activation already has FP fields</a:t>
            </a:r>
          </a:p>
        </p:txBody>
      </p:sp>
      <mc:AlternateContent xmlns:mc="http://schemas.openxmlformats.org/markup-compatibility/2006" xmlns:a14="http://schemas.microsoft.com/office/drawing/2010/main">
        <mc:Choice Requires="a14">
          <p:sp>
            <p:nvSpPr>
              <p:cNvPr id="14" name="TextBox 13"/>
              <p:cNvSpPr txBox="1"/>
              <p:nvPr/>
            </p:nvSpPr>
            <p:spPr>
              <a:xfrm>
                <a:off x="1051560" y="3352000"/>
                <a:ext cx="3749039" cy="276999"/>
              </a:xfrm>
              <a:prstGeom prst="rect">
                <a:avLst/>
              </a:prstGeom>
              <a:noFill/>
            </p:spPr>
            <p:txBody>
              <a:bodyPr wrap="square" lIns="0" tIns="0" rIns="0" bIns="0">
                <a:spAutoFit/>
              </a:bodyPr>
              <a:lstStyle/>
              <a:p>
                <a:pPr algn="ctr">
                  <a:spcAft>
                    <a:spcPts val="100"/>
                  </a:spcAft>
                </a:pPr>
                <a14:m>
                  <m:oMath xmlns:m="http://schemas.openxmlformats.org/officeDocument/2006/math">
                    <m:r>
                      <a:rPr lang="ko-KR" altLang="en-US" sz="1800" b="0" i="1" dirty="0" smtClean="0">
                        <a:solidFill>
                          <a:srgbClr val="00245D"/>
                        </a:solidFill>
                        <a:latin typeface="Cambria Math" panose="02040503050406030204" pitchFamily="18" charset="0"/>
                      </a:rPr>
                      <m:t>𝑎</m:t>
                    </m:r>
                    <m:r>
                      <a:rPr lang="ko-KR" altLang="en-US" sz="1800" b="0" i="0" dirty="0">
                        <a:solidFill>
                          <a:srgbClr val="00245D"/>
                        </a:solidFill>
                        <a:latin typeface="Cambria Math" panose="02040503050406030204" pitchFamily="18" charset="0"/>
                      </a:rPr>
                      <m:t>=</m:t>
                    </m:r>
                  </m:oMath>
                </a14:m>
                <a:r>
                  <a:rPr sz="1800" b="0" dirty="0">
                    <a:solidFill>
                      <a:srgbClr val="00245D"/>
                    </a:solidFill>
                    <a:latin typeface="Cambria Math"/>
                  </a:rPr>
                  <a:t> ( </a:t>
                </a:r>
                <a14:m>
                  <m:oMath xmlns:m="http://schemas.openxmlformats.org/officeDocument/2006/math">
                    <m:sSub>
                      <m:sSubPr>
                        <m:ctrlPr>
                          <a:rPr lang="ko-KR" altLang="en-US" sz="1800" b="0" i="1" dirty="0" err="1">
                            <a:solidFill>
                              <a:srgbClr val="00245D"/>
                            </a:solidFill>
                            <a:latin typeface="Cambria Math" panose="02040503050406030204" pitchFamily="18" charset="0"/>
                          </a:rPr>
                        </m:ctrlPr>
                      </m:sSubPr>
                      <m:e>
                        <m:r>
                          <a:rPr lang="ko-KR" altLang="en-US" sz="1800" b="0" i="1" dirty="0" err="1">
                            <a:solidFill>
                              <a:srgbClr val="00245D"/>
                            </a:solidFill>
                            <a:latin typeface="Cambria Math" panose="02040503050406030204" pitchFamily="18" charset="0"/>
                          </a:rPr>
                          <m:t>𝑎</m:t>
                        </m:r>
                      </m:e>
                      <m:sub>
                        <m:r>
                          <a:rPr lang="ko-KR" altLang="en-US" sz="1800" b="0" i="1" dirty="0" err="1">
                            <a:solidFill>
                              <a:srgbClr val="00245D"/>
                            </a:solidFill>
                            <a:latin typeface="Cambria Math" panose="02040503050406030204" pitchFamily="18" charset="0"/>
                          </a:rPr>
                          <m:t>𝑠</m:t>
                        </m:r>
                      </m:sub>
                    </m:sSub>
                    <m:r>
                      <a:rPr lang="ko-KR" altLang="en-US" sz="1800" b="0" i="0" dirty="0" err="1">
                        <a:solidFill>
                          <a:srgbClr val="00245D"/>
                        </a:solidFill>
                        <a:latin typeface="Cambria Math" panose="02040503050406030204" pitchFamily="18" charset="0"/>
                      </a:rPr>
                      <m:t>,</m:t>
                    </m:r>
                    <m:sSub>
                      <m:sSubPr>
                        <m:ctrlPr>
                          <a:rPr lang="ko-KR" altLang="en-US" sz="1800" b="0" i="1" dirty="0" err="1">
                            <a:solidFill>
                              <a:srgbClr val="00245D"/>
                            </a:solidFill>
                            <a:latin typeface="Cambria Math" panose="02040503050406030204" pitchFamily="18" charset="0"/>
                          </a:rPr>
                        </m:ctrlPr>
                      </m:sSubPr>
                      <m:e>
                        <m:r>
                          <a:rPr lang="ko-KR" altLang="en-US" sz="1800" b="0" i="1" dirty="0" err="1">
                            <a:solidFill>
                              <a:srgbClr val="00245D"/>
                            </a:solidFill>
                            <a:latin typeface="Cambria Math" panose="02040503050406030204" pitchFamily="18" charset="0"/>
                          </a:rPr>
                          <m:t>𝑎</m:t>
                        </m:r>
                      </m:e>
                      <m:sub>
                        <m:r>
                          <a:rPr lang="ko-KR" altLang="en-US" sz="1800" b="0" i="1" dirty="0" err="1">
                            <a:solidFill>
                              <a:srgbClr val="00245D"/>
                            </a:solidFill>
                            <a:latin typeface="Cambria Math" panose="02040503050406030204" pitchFamily="18" charset="0"/>
                          </a:rPr>
                          <m:t>𝑒</m:t>
                        </m:r>
                      </m:sub>
                    </m:sSub>
                    <m:r>
                      <a:rPr lang="ko-KR" altLang="en-US" sz="1800" b="0" i="0" dirty="0" err="1">
                        <a:solidFill>
                          <a:srgbClr val="00245D"/>
                        </a:solidFill>
                        <a:latin typeface="Cambria Math" panose="02040503050406030204" pitchFamily="18" charset="0"/>
                      </a:rPr>
                      <m:t>,</m:t>
                    </m:r>
                    <m:sSub>
                      <m:sSubPr>
                        <m:ctrlPr>
                          <a:rPr lang="ko-KR" altLang="en-US" sz="1800" b="0" i="1" dirty="0" err="1">
                            <a:solidFill>
                              <a:srgbClr val="00245D"/>
                            </a:solidFill>
                            <a:latin typeface="Cambria Math" panose="02040503050406030204" pitchFamily="18" charset="0"/>
                          </a:rPr>
                        </m:ctrlPr>
                      </m:sSubPr>
                      <m:e>
                        <m:r>
                          <a:rPr lang="ko-KR" altLang="en-US" sz="1800" b="0" i="1" dirty="0" err="1">
                            <a:solidFill>
                              <a:srgbClr val="00245D"/>
                            </a:solidFill>
                            <a:latin typeface="Cambria Math" panose="02040503050406030204" pitchFamily="18" charset="0"/>
                          </a:rPr>
                          <m:t>𝑎</m:t>
                        </m:r>
                      </m:e>
                      <m:sub>
                        <m:r>
                          <a:rPr lang="ko-KR" altLang="en-US" sz="1800" b="0" i="1" dirty="0" err="1">
                            <a:solidFill>
                              <a:srgbClr val="00245D"/>
                            </a:solidFill>
                            <a:latin typeface="Cambria Math" panose="02040503050406030204" pitchFamily="18" charset="0"/>
                          </a:rPr>
                          <m:t>𝑚</m:t>
                        </m:r>
                      </m:sub>
                    </m:sSub>
                  </m:oMath>
                </a14:m>
                <a:r>
                  <a:rPr sz="1800" b="0" dirty="0">
                    <a:solidFill>
                      <a:srgbClr val="00245D"/>
                    </a:solidFill>
                    <a:latin typeface="Cambria Math"/>
                  </a:rPr>
                  <a:t> )</a:t>
                </a:r>
              </a:p>
            </p:txBody>
          </p:sp>
        </mc:Choice>
        <mc:Fallback xmlns="">
          <p:sp>
            <p:nvSpPr>
              <p:cNvPr id="14" name="TextBox 13"/>
              <p:cNvSpPr txBox="1">
                <a:spLocks noRot="1" noChangeAspect="1" noMove="1" noResize="1" noEditPoints="1" noAdjustHandles="1" noChangeArrowheads="1" noChangeShapeType="1" noTextEdit="1"/>
              </p:cNvSpPr>
              <p:nvPr/>
            </p:nvSpPr>
            <p:spPr>
              <a:xfrm>
                <a:off x="1051560" y="3352000"/>
                <a:ext cx="3749039" cy="276999"/>
              </a:xfrm>
              <a:prstGeom prst="rect">
                <a:avLst/>
              </a:prstGeom>
              <a:blipFill>
                <a:blip r:embed="rId4"/>
                <a:stretch>
                  <a:fillRect t="-31111" b="-48889"/>
                </a:stretch>
              </a:blipFill>
            </p:spPr>
            <p:txBody>
              <a:bodyPr/>
              <a:lstStyle/>
              <a:p>
                <a:r>
                  <a:rPr lang="ko-KR" altLang="en-US">
                    <a:noFill/>
                  </a:rPr>
                  <a:t> </a:t>
                </a:r>
              </a:p>
            </p:txBody>
          </p:sp>
        </mc:Fallback>
      </mc:AlternateContent>
      <p:sp>
        <p:nvSpPr>
          <p:cNvPr id="15" name="TextBox 14"/>
          <p:cNvSpPr txBox="1"/>
          <p:nvPr/>
        </p:nvSpPr>
        <p:spPr>
          <a:xfrm>
            <a:off x="868680" y="3900640"/>
            <a:ext cx="4114800" cy="868680"/>
          </a:xfrm>
          <a:prstGeom prst="rect">
            <a:avLst/>
          </a:prstGeom>
          <a:noFill/>
        </p:spPr>
        <p:txBody>
          <a:bodyPr wrap="square" lIns="0" tIns="0" rIns="0" bIns="0">
            <a:spAutoFit/>
          </a:bodyPr>
          <a:lstStyle/>
          <a:p>
            <a:pPr>
              <a:spcAft>
                <a:spcPts val="200"/>
              </a:spcAft>
            </a:pPr>
            <a:r>
              <a:rPr sz="1080">
                <a:solidFill>
                  <a:srgbClr val="2D2D2D"/>
                </a:solidFill>
                <a:latin typeface="Arial"/>
              </a:rPr>
              <a:t>• w_m is a 1-bit mantissa</a:t>
            </a:r>
          </a:p>
          <a:p>
            <a:pPr>
              <a:spcAft>
                <a:spcPts val="200"/>
              </a:spcAft>
            </a:pPr>
            <a:r>
              <a:rPr sz="1080">
                <a:solidFill>
                  <a:srgbClr val="2D2D2D"/>
                </a:solidFill>
                <a:latin typeface="Arial"/>
              </a:rPr>
              <a:t>• a_m is an 11-bit mantissa including hidden bit</a:t>
            </a:r>
          </a:p>
          <a:p>
            <a:pPr>
              <a:spcAft>
                <a:spcPts val="200"/>
              </a:spcAft>
            </a:pPr>
            <a:r>
              <a:rPr sz="1080">
                <a:solidFill>
                  <a:srgbClr val="2D2D2D"/>
                </a:solidFill>
                <a:latin typeface="Arial"/>
              </a:rPr>
              <a:t>• Every cycle: 4 weight terms × 4 activations</a:t>
            </a:r>
          </a:p>
        </p:txBody>
      </p:sp>
      <p:pic>
        <p:nvPicPr>
          <p:cNvPr id="20" name="그림 19">
            <a:extLst>
              <a:ext uri="{FF2B5EF4-FFF2-40B4-BE49-F238E27FC236}">
                <a16:creationId xmlns:a16="http://schemas.microsoft.com/office/drawing/2014/main" id="{E495DDED-5B75-CB88-A5C7-5D38340319D1}"/>
              </a:ext>
            </a:extLst>
          </p:cNvPr>
          <p:cNvPicPr>
            <a:picLocks noChangeAspect="1"/>
          </p:cNvPicPr>
          <p:nvPr/>
        </p:nvPicPr>
        <p:blipFill>
          <a:blip r:embed="rId5"/>
          <a:stretch>
            <a:fillRect/>
          </a:stretch>
        </p:blipFill>
        <p:spPr>
          <a:xfrm>
            <a:off x="5212080" y="2297963"/>
            <a:ext cx="6826912" cy="191309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332720" cy="292608"/>
          </a:xfrm>
          <a:prstGeom prst="rect">
            <a:avLst/>
          </a:prstGeom>
          <a:noFill/>
        </p:spPr>
        <p:txBody>
          <a:bodyPr wrap="none">
            <a:spAutoFit/>
          </a:bodyPr>
          <a:lstStyle/>
          <a:p>
            <a:r>
              <a:rPr sz="2000" b="1">
                <a:solidFill>
                  <a:srgbClr val="000000"/>
                </a:solidFill>
                <a:latin typeface="Arial"/>
              </a:rPr>
              <a:t>Weight Term and FP16 Activation Representation</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67</a:t>
            </a:r>
            <a:endParaRPr sz="1000" b="1" dirty="0">
              <a:solidFill>
                <a:srgbClr val="FFFFFF"/>
              </a:solidFill>
              <a:latin typeface="Arial"/>
            </a:endParaRPr>
          </a:p>
        </p:txBody>
      </p:sp>
      <p:sp>
        <p:nvSpPr>
          <p:cNvPr id="8" name="TextBox 7"/>
          <p:cNvSpPr txBox="1"/>
          <p:nvPr/>
        </p:nvSpPr>
        <p:spPr>
          <a:xfrm>
            <a:off x="594360" y="932688"/>
            <a:ext cx="10698480" cy="256032"/>
          </a:xfrm>
          <a:prstGeom prst="rect">
            <a:avLst/>
          </a:prstGeom>
          <a:noFill/>
        </p:spPr>
        <p:txBody>
          <a:bodyPr wrap="square" lIns="0" tIns="0" rIns="0" bIns="0">
            <a:spAutoFit/>
          </a:bodyPr>
          <a:lstStyle/>
          <a:p>
            <a:pPr algn="l">
              <a:spcAft>
                <a:spcPts val="100"/>
              </a:spcAft>
            </a:pPr>
            <a:r>
              <a:rPr sz="1300" b="0">
                <a:solidFill>
                  <a:srgbClr val="2D2D2D"/>
                </a:solidFill>
                <a:latin typeface="Arial"/>
              </a:rPr>
              <a:t>A key point: BitMoD does not create a new exponent for activations. FP16 activations already contain sign, exponent, and mantissa fields.</a:t>
            </a:r>
          </a:p>
        </p:txBody>
      </p:sp>
      <p:sp>
        <p:nvSpPr>
          <p:cNvPr id="9" name="Rounded Rectangle 8"/>
          <p:cNvSpPr/>
          <p:nvPr/>
        </p:nvSpPr>
        <p:spPr>
          <a:xfrm>
            <a:off x="685800" y="1417320"/>
            <a:ext cx="4983480" cy="416052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1703672"/>
            <a:ext cx="4526280" cy="210312"/>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Bit-serial weight term from Figure 4</a:t>
            </a:r>
          </a:p>
        </p:txBody>
      </p:sp>
      <mc:AlternateContent xmlns:mc="http://schemas.openxmlformats.org/markup-compatibility/2006" xmlns:a14="http://schemas.microsoft.com/office/drawing/2010/main">
        <mc:Choice Requires="a14">
          <p:sp>
            <p:nvSpPr>
              <p:cNvPr id="11" name="TextBox 10"/>
              <p:cNvSpPr txBox="1"/>
              <p:nvPr/>
            </p:nvSpPr>
            <p:spPr>
              <a:xfrm>
                <a:off x="960120" y="2093264"/>
                <a:ext cx="4343400" cy="367665"/>
              </a:xfrm>
              <a:prstGeom prst="rect">
                <a:avLst/>
              </a:prstGeom>
              <a:noFill/>
            </p:spPr>
            <p:txBody>
              <a:bodyPr wrap="square" lIns="0" tIns="0" rIns="0" bIns="0">
                <a:spAutoFit/>
              </a:bodyPr>
              <a:lstStyle/>
              <a:p>
                <a:pPr algn="ctr">
                  <a:spcAft>
                    <a:spcPts val="100"/>
                  </a:spcAft>
                </a:pPr>
                <a14:m>
                  <m:oMathPara xmlns:m="http://schemas.openxmlformats.org/officeDocument/2006/math">
                    <m:oMath>
                      <m:r>
                        <a:rPr lang="ko-KR" altLang="en-US" sz="2000" b="0" i="1" dirty="0" smtClean="0">
                          <a:solidFill>
                            <a:srgbClr val="00245D"/>
                          </a:solidFill>
                          <a:latin typeface="Cambria Math" panose="02040503050406030204" pitchFamily="18" charset="0"/>
                        </a:rPr>
                        <m:t>𝑤</m:t>
                      </m:r>
                      <m:r>
                        <a:rPr lang="ko-KR" altLang="en-US" sz="2000" b="0" i="0" dirty="0">
                          <a:solidFill>
                            <a:srgbClr val="00245D"/>
                          </a:solidFill>
                          <a:latin typeface="Cambria Math" panose="02040503050406030204" pitchFamily="18" charset="0"/>
                        </a:rPr>
                        <m:t>=</m:t>
                      </m:r>
                      <m:d>
                        <m:dPr>
                          <m:ctrlPr>
                            <a:rPr lang="ko-KR" altLang="en-US" sz="2000" b="0" i="1" dirty="0">
                              <a:solidFill>
                                <a:srgbClr val="00245D"/>
                              </a:solidFill>
                              <a:latin typeface="Cambria Math" panose="02040503050406030204" pitchFamily="18" charset="0"/>
                            </a:rPr>
                          </m:ctrlPr>
                        </m:dPr>
                        <m:e>
                          <m:sSub>
                            <m:sSubPr>
                              <m:ctrlPr>
                                <a:rPr lang="ko-KR" altLang="en-US" sz="2000" b="0" i="1" dirty="0">
                                  <a:solidFill>
                                    <a:srgbClr val="00245D"/>
                                  </a:solidFill>
                                  <a:latin typeface="Cambria Math" panose="02040503050406030204" pitchFamily="18" charset="0"/>
                                </a:rPr>
                              </m:ctrlPr>
                            </m:sSubPr>
                            <m:e>
                              <m:r>
                                <a:rPr lang="ko-KR" altLang="en-US" sz="2000" b="0" i="1" dirty="0">
                                  <a:solidFill>
                                    <a:srgbClr val="00245D"/>
                                  </a:solidFill>
                                  <a:latin typeface="Cambria Math" panose="02040503050406030204" pitchFamily="18" charset="0"/>
                                </a:rPr>
                                <m:t>𝑤</m:t>
                              </m:r>
                            </m:e>
                            <m:sub>
                              <m:r>
                                <a:rPr lang="ko-KR" altLang="en-US" sz="2000" b="0" i="1" dirty="0">
                                  <a:solidFill>
                                    <a:srgbClr val="00245D"/>
                                  </a:solidFill>
                                  <a:latin typeface="Cambria Math" panose="02040503050406030204" pitchFamily="18" charset="0"/>
                                </a:rPr>
                                <m:t>𝑠</m:t>
                              </m:r>
                            </m:sub>
                          </m:sSub>
                          <m:r>
                            <a:rPr lang="ko-KR" altLang="en-US" sz="2000" b="0" i="0" dirty="0">
                              <a:solidFill>
                                <a:srgbClr val="00245D"/>
                              </a:solidFill>
                              <a:latin typeface="Cambria Math" panose="02040503050406030204" pitchFamily="18" charset="0"/>
                            </a:rPr>
                            <m:t>,</m:t>
                          </m:r>
                          <m:sSub>
                            <m:sSubPr>
                              <m:ctrlPr>
                                <a:rPr lang="ko-KR" altLang="en-US" sz="2000" b="0" i="1" dirty="0">
                                  <a:solidFill>
                                    <a:srgbClr val="00245D"/>
                                  </a:solidFill>
                                  <a:latin typeface="Cambria Math" panose="02040503050406030204" pitchFamily="18" charset="0"/>
                                </a:rPr>
                              </m:ctrlPr>
                            </m:sSubPr>
                            <m:e>
                              <m:r>
                                <a:rPr lang="ko-KR" altLang="en-US" sz="2000" b="0" i="1" dirty="0">
                                  <a:solidFill>
                                    <a:srgbClr val="00245D"/>
                                  </a:solidFill>
                                  <a:latin typeface="Cambria Math" panose="02040503050406030204" pitchFamily="18" charset="0"/>
                                </a:rPr>
                                <m:t>𝑤</m:t>
                              </m:r>
                            </m:e>
                            <m:sub>
                              <m:r>
                                <a:rPr lang="ko-KR" altLang="en-US" sz="2000" b="0" i="1" dirty="0">
                                  <a:solidFill>
                                    <a:srgbClr val="00245D"/>
                                  </a:solidFill>
                                  <a:latin typeface="Cambria Math" panose="02040503050406030204" pitchFamily="18" charset="0"/>
                                </a:rPr>
                                <m:t>𝑒</m:t>
                              </m:r>
                            </m:sub>
                          </m:sSub>
                          <m:r>
                            <a:rPr lang="ko-KR" altLang="en-US" sz="2000" b="0" i="0" dirty="0">
                              <a:solidFill>
                                <a:srgbClr val="00245D"/>
                              </a:solidFill>
                              <a:latin typeface="Cambria Math" panose="02040503050406030204" pitchFamily="18" charset="0"/>
                            </a:rPr>
                            <m:t>,</m:t>
                          </m:r>
                          <m:sSub>
                            <m:sSubPr>
                              <m:ctrlPr>
                                <a:rPr lang="ko-KR" altLang="en-US" sz="2000" b="0" i="1" dirty="0">
                                  <a:solidFill>
                                    <a:srgbClr val="00245D"/>
                                  </a:solidFill>
                                  <a:latin typeface="Cambria Math" panose="02040503050406030204" pitchFamily="18" charset="0"/>
                                </a:rPr>
                              </m:ctrlPr>
                            </m:sSubPr>
                            <m:e>
                              <m:r>
                                <a:rPr lang="ko-KR" altLang="en-US" sz="2000" b="0" i="1" dirty="0">
                                  <a:solidFill>
                                    <a:srgbClr val="00245D"/>
                                  </a:solidFill>
                                  <a:latin typeface="Cambria Math" panose="02040503050406030204" pitchFamily="18" charset="0"/>
                                </a:rPr>
                                <m:t>𝑤</m:t>
                              </m:r>
                            </m:e>
                            <m:sub>
                              <m:r>
                                <a:rPr lang="ko-KR" altLang="en-US" sz="2000" b="0" i="1" dirty="0">
                                  <a:solidFill>
                                    <a:srgbClr val="00245D"/>
                                  </a:solidFill>
                                  <a:latin typeface="Cambria Math" panose="02040503050406030204" pitchFamily="18" charset="0"/>
                                </a:rPr>
                                <m:t>𝑚</m:t>
                              </m:r>
                            </m:sub>
                          </m:sSub>
                          <m:r>
                            <a:rPr lang="ko-KR" altLang="en-US" sz="2000" b="0" i="0" dirty="0">
                              <a:solidFill>
                                <a:srgbClr val="00245D"/>
                              </a:solidFill>
                              <a:latin typeface="Cambria Math" panose="02040503050406030204" pitchFamily="18" charset="0"/>
                            </a:rPr>
                            <m:t>,</m:t>
                          </m:r>
                          <m:sSub>
                            <m:sSubPr>
                              <m:ctrlPr>
                                <a:rPr lang="ko-KR" altLang="en-US" sz="2000" b="0" i="1" dirty="0">
                                  <a:solidFill>
                                    <a:srgbClr val="00245D"/>
                                  </a:solidFill>
                                  <a:latin typeface="Cambria Math" panose="02040503050406030204" pitchFamily="18" charset="0"/>
                                </a:rPr>
                              </m:ctrlPr>
                            </m:sSubPr>
                            <m:e>
                              <m:r>
                                <a:rPr lang="ko-KR" altLang="en-US" sz="2000" b="0" i="1" dirty="0">
                                  <a:solidFill>
                                    <a:srgbClr val="00245D"/>
                                  </a:solidFill>
                                  <a:latin typeface="Cambria Math" panose="02040503050406030204" pitchFamily="18" charset="0"/>
                                </a:rPr>
                                <m:t>𝑤</m:t>
                              </m:r>
                            </m:e>
                            <m:sub>
                              <m:r>
                                <a:rPr lang="ko-KR" altLang="en-US" sz="2000" b="0" i="1" dirty="0">
                                  <a:solidFill>
                                    <a:srgbClr val="00245D"/>
                                  </a:solidFill>
                                  <a:latin typeface="Cambria Math" panose="02040503050406030204" pitchFamily="18" charset="0"/>
                                </a:rPr>
                                <m:t>𝑏𝑠𝑖𝑔</m:t>
                              </m:r>
                            </m:sub>
                          </m:sSub>
                        </m:e>
                      </m:d>
                    </m:oMath>
                  </m:oMathPara>
                </a14:m>
                <a:endParaRPr sz="2000" b="0" dirty="0">
                  <a:solidFill>
                    <a:srgbClr val="00245D"/>
                  </a:solidFill>
                  <a:latin typeface="Cambria Math"/>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960120" y="2093264"/>
                <a:ext cx="4343400" cy="367665"/>
              </a:xfrm>
              <a:prstGeom prst="rect">
                <a:avLst/>
              </a:prstGeom>
              <a:blipFill>
                <a:blip r:embed="rId3"/>
                <a:stretch>
                  <a:fillRect b="-18033"/>
                </a:stretch>
              </a:blipFill>
            </p:spPr>
            <p:txBody>
              <a:bodyPr/>
              <a:lstStyle/>
              <a:p>
                <a:r>
                  <a:rPr lang="ko-KR" altLang="en-US">
                    <a:noFill/>
                  </a:rPr>
                  <a:t> </a:t>
                </a:r>
              </a:p>
            </p:txBody>
          </p:sp>
        </mc:Fallback>
      </mc:AlternateContent>
      <p:graphicFrame>
        <p:nvGraphicFramePr>
          <p:cNvPr id="12" name="Table 11"/>
          <p:cNvGraphicFramePr>
            <a:graphicFrameLocks noGrp="1"/>
          </p:cNvGraphicFramePr>
          <p:nvPr>
            <p:extLst>
              <p:ext uri="{D42A27DB-BD31-4B8C-83A1-F6EECF244321}">
                <p14:modId xmlns:p14="http://schemas.microsoft.com/office/powerpoint/2010/main" val="2617628306"/>
              </p:ext>
            </p:extLst>
          </p:nvPr>
        </p:nvGraphicFramePr>
        <p:xfrm>
          <a:off x="1411224" y="2742467"/>
          <a:ext cx="3520440" cy="19202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384048">
                <a:tc>
                  <a:txBody>
                    <a:bodyPr/>
                    <a:lstStyle/>
                    <a:p>
                      <a:pPr algn="ctr"/>
                      <a:r>
                        <a:rPr sz="1050" b="1">
                          <a:solidFill>
                            <a:srgbClr val="FFFFFF"/>
                          </a:solidFill>
                          <a:latin typeface="Arial"/>
                        </a:rPr>
                        <a:t>Symbol</a:t>
                      </a:r>
                    </a:p>
                  </a:txBody>
                  <a:tcPr marL="27432" marR="27432" marT="18288" marB="18288">
                    <a:solidFill>
                      <a:srgbClr val="00245D"/>
                    </a:solidFill>
                  </a:tcPr>
                </a:tc>
                <a:tc>
                  <a:txBody>
                    <a:bodyPr/>
                    <a:lstStyle/>
                    <a:p>
                      <a:pPr algn="ctr"/>
                      <a:r>
                        <a:rPr sz="1050" b="1">
                          <a:solidFill>
                            <a:srgbClr val="FFFFFF"/>
                          </a:solidFill>
                          <a:latin typeface="Arial"/>
                        </a:rPr>
                        <a:t>Meaning</a:t>
                      </a:r>
                    </a:p>
                  </a:txBody>
                  <a:tcPr marL="27432" marR="27432" marT="18288" marB="18288">
                    <a:solidFill>
                      <a:srgbClr val="00245D"/>
                    </a:solidFill>
                  </a:tcPr>
                </a:tc>
                <a:extLst>
                  <a:ext uri="{0D108BD9-81ED-4DB2-BD59-A6C34878D82A}">
                    <a16:rowId xmlns:a16="http://schemas.microsoft.com/office/drawing/2014/main" val="10000"/>
                  </a:ext>
                </a:extLst>
              </a:tr>
              <a:tr h="384048">
                <a:tc>
                  <a:txBody>
                    <a:bodyPr/>
                    <a:lstStyle/>
                    <a:p>
                      <a:pPr algn="ctr"/>
                      <a:r>
                        <a:rPr sz="1050" b="0">
                          <a:solidFill>
                            <a:srgbClr val="2D2D2D"/>
                          </a:solidFill>
                          <a:latin typeface="Arial"/>
                        </a:rPr>
                        <a:t>w_s</a:t>
                      </a:r>
                    </a:p>
                  </a:txBody>
                  <a:tcPr marL="27432" marR="27432" marT="18288" marB="18288">
                    <a:solidFill>
                      <a:srgbClr val="FFFFFF"/>
                    </a:solidFill>
                  </a:tcPr>
                </a:tc>
                <a:tc>
                  <a:txBody>
                    <a:bodyPr/>
                    <a:lstStyle/>
                    <a:p>
                      <a:pPr algn="ctr"/>
                      <a:r>
                        <a:rPr sz="1050" b="0">
                          <a:solidFill>
                            <a:srgbClr val="2D2D2D"/>
                          </a:solidFill>
                          <a:latin typeface="Arial"/>
                        </a:rPr>
                        <a:t>sign of weight term</a:t>
                      </a:r>
                    </a:p>
                  </a:txBody>
                  <a:tcPr marL="27432" marR="27432" marT="18288" marB="18288">
                    <a:solidFill>
                      <a:srgbClr val="FFFFFF"/>
                    </a:solidFill>
                  </a:tcPr>
                </a:tc>
                <a:extLst>
                  <a:ext uri="{0D108BD9-81ED-4DB2-BD59-A6C34878D82A}">
                    <a16:rowId xmlns:a16="http://schemas.microsoft.com/office/drawing/2014/main" val="10001"/>
                  </a:ext>
                </a:extLst>
              </a:tr>
              <a:tr h="384048">
                <a:tc>
                  <a:txBody>
                    <a:bodyPr/>
                    <a:lstStyle/>
                    <a:p>
                      <a:pPr algn="ctr"/>
                      <a:r>
                        <a:rPr sz="1050" b="0">
                          <a:solidFill>
                            <a:srgbClr val="2D2D2D"/>
                          </a:solidFill>
                          <a:latin typeface="Arial"/>
                        </a:rPr>
                        <a:t>w_e</a:t>
                      </a:r>
                    </a:p>
                  </a:txBody>
                  <a:tcPr marL="27432" marR="27432" marT="18288" marB="18288">
                    <a:solidFill>
                      <a:srgbClr val="F6F7F9"/>
                    </a:solidFill>
                  </a:tcPr>
                </a:tc>
                <a:tc>
                  <a:txBody>
                    <a:bodyPr/>
                    <a:lstStyle/>
                    <a:p>
                      <a:pPr algn="ctr"/>
                      <a:r>
                        <a:rPr sz="1050" b="0">
                          <a:solidFill>
                            <a:srgbClr val="2D2D2D"/>
                          </a:solidFill>
                          <a:latin typeface="Arial"/>
                        </a:rPr>
                        <a:t>exponent of term</a:t>
                      </a:r>
                    </a:p>
                  </a:txBody>
                  <a:tcPr marL="27432" marR="27432" marT="18288" marB="18288">
                    <a:solidFill>
                      <a:srgbClr val="F6F7F9"/>
                    </a:solidFill>
                  </a:tcPr>
                </a:tc>
                <a:extLst>
                  <a:ext uri="{0D108BD9-81ED-4DB2-BD59-A6C34878D82A}">
                    <a16:rowId xmlns:a16="http://schemas.microsoft.com/office/drawing/2014/main" val="10002"/>
                  </a:ext>
                </a:extLst>
              </a:tr>
              <a:tr h="384048">
                <a:tc>
                  <a:txBody>
                    <a:bodyPr/>
                    <a:lstStyle/>
                    <a:p>
                      <a:pPr algn="ctr"/>
                      <a:r>
                        <a:rPr sz="1050" b="0">
                          <a:solidFill>
                            <a:srgbClr val="2D2D2D"/>
                          </a:solidFill>
                          <a:latin typeface="Arial"/>
                        </a:rPr>
                        <a:t>w_m</a:t>
                      </a:r>
                    </a:p>
                  </a:txBody>
                  <a:tcPr marL="27432" marR="27432" marT="18288" marB="18288">
                    <a:solidFill>
                      <a:srgbClr val="FFFFFF"/>
                    </a:solidFill>
                  </a:tcPr>
                </a:tc>
                <a:tc>
                  <a:txBody>
                    <a:bodyPr/>
                    <a:lstStyle/>
                    <a:p>
                      <a:pPr algn="ctr"/>
                      <a:r>
                        <a:rPr sz="1050" b="0">
                          <a:solidFill>
                            <a:srgbClr val="2D2D2D"/>
                          </a:solidFill>
                          <a:latin typeface="Arial"/>
                        </a:rPr>
                        <a:t>1-bit mantissa</a:t>
                      </a:r>
                    </a:p>
                  </a:txBody>
                  <a:tcPr marL="27432" marR="27432" marT="18288" marB="18288">
                    <a:solidFill>
                      <a:srgbClr val="FFFFFF"/>
                    </a:solidFill>
                  </a:tcPr>
                </a:tc>
                <a:extLst>
                  <a:ext uri="{0D108BD9-81ED-4DB2-BD59-A6C34878D82A}">
                    <a16:rowId xmlns:a16="http://schemas.microsoft.com/office/drawing/2014/main" val="10003"/>
                  </a:ext>
                </a:extLst>
              </a:tr>
              <a:tr h="384048">
                <a:tc>
                  <a:txBody>
                    <a:bodyPr/>
                    <a:lstStyle/>
                    <a:p>
                      <a:pPr algn="ctr"/>
                      <a:r>
                        <a:rPr sz="1050" b="0">
                          <a:solidFill>
                            <a:srgbClr val="2D2D2D"/>
                          </a:solidFill>
                          <a:latin typeface="Arial"/>
                        </a:rPr>
                        <a:t>w_bsig</a:t>
                      </a:r>
                    </a:p>
                  </a:txBody>
                  <a:tcPr marL="27432" marR="27432" marT="18288" marB="18288">
                    <a:solidFill>
                      <a:srgbClr val="F6F7F9"/>
                    </a:solidFill>
                  </a:tcPr>
                </a:tc>
                <a:tc>
                  <a:txBody>
                    <a:bodyPr/>
                    <a:lstStyle/>
                    <a:p>
                      <a:pPr algn="ctr"/>
                      <a:r>
                        <a:rPr sz="1050" b="0" dirty="0">
                          <a:solidFill>
                            <a:srgbClr val="2D2D2D"/>
                          </a:solidFill>
                          <a:latin typeface="Arial"/>
                        </a:rPr>
                        <a:t>bit significance</a:t>
                      </a:r>
                    </a:p>
                  </a:txBody>
                  <a:tcPr marL="27432" marR="27432" marT="18288" marB="18288">
                    <a:solidFill>
                      <a:srgbClr val="F6F7F9"/>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1143000" y="4871094"/>
            <a:ext cx="4160520" cy="384048"/>
          </a:xfrm>
          <a:prstGeom prst="rect">
            <a:avLst/>
          </a:prstGeom>
          <a:solidFill>
            <a:srgbClr val="FFFF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80160" y="4980822"/>
            <a:ext cx="3886200" cy="146304"/>
          </a:xfrm>
          <a:prstGeom prst="rect">
            <a:avLst/>
          </a:prstGeom>
          <a:noFill/>
        </p:spPr>
        <p:txBody>
          <a:bodyPr wrap="square" lIns="0" tIns="0" rIns="0" bIns="0">
            <a:spAutoFit/>
          </a:bodyPr>
          <a:lstStyle/>
          <a:p>
            <a:pPr algn="ctr">
              <a:spcAft>
                <a:spcPts val="100"/>
              </a:spcAft>
            </a:pPr>
            <a:r>
              <a:rPr sz="980" b="1">
                <a:solidFill>
                  <a:srgbClr val="2D2D2D"/>
                </a:solidFill>
                <a:latin typeface="Arial"/>
              </a:rPr>
              <a:t>Generated by INT Booth or FP→Fixed + LOD decoder</a:t>
            </a:r>
          </a:p>
        </p:txBody>
      </p:sp>
      <p:sp>
        <p:nvSpPr>
          <p:cNvPr id="15" name="Rounded Rectangle 14"/>
          <p:cNvSpPr/>
          <p:nvPr/>
        </p:nvSpPr>
        <p:spPr>
          <a:xfrm>
            <a:off x="6080760" y="1417319"/>
            <a:ext cx="5337208" cy="4261585"/>
          </a:xfrm>
          <a:prstGeom prst="roundRect">
            <a:avLst/>
          </a:prstGeom>
          <a:solidFill>
            <a:srgbClr val="FFFAE6"/>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1764793"/>
            <a:ext cx="4709160" cy="210312"/>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FP16 activation fields</a:t>
            </a:r>
          </a:p>
        </p:txBody>
      </p:sp>
      <mc:AlternateContent xmlns:mc="http://schemas.openxmlformats.org/markup-compatibility/2006" xmlns:a14="http://schemas.microsoft.com/office/drawing/2010/main">
        <mc:Choice Requires="a14">
          <p:sp>
            <p:nvSpPr>
              <p:cNvPr id="17" name="TextBox 16"/>
              <p:cNvSpPr txBox="1"/>
              <p:nvPr/>
            </p:nvSpPr>
            <p:spPr>
              <a:xfrm>
                <a:off x="6492240" y="2103120"/>
                <a:ext cx="4343400" cy="307777"/>
              </a:xfrm>
              <a:prstGeom prst="rect">
                <a:avLst/>
              </a:prstGeom>
              <a:noFill/>
            </p:spPr>
            <p:txBody>
              <a:bodyPr wrap="square" lIns="0" tIns="0" rIns="0" bIns="0">
                <a:spAutoFit/>
              </a:bodyPr>
              <a:lstStyle/>
              <a:p>
                <a:pPr algn="ctr">
                  <a:spcAft>
                    <a:spcPts val="100"/>
                  </a:spcAft>
                </a:pPr>
                <a14:m>
                  <m:oMath xmlns:m="http://schemas.openxmlformats.org/officeDocument/2006/math">
                    <m:r>
                      <a:rPr lang="ko-KR" altLang="en-US" sz="2000" b="0" i="1" dirty="0" smtClean="0">
                        <a:solidFill>
                          <a:srgbClr val="00245D"/>
                        </a:solidFill>
                        <a:latin typeface="Cambria Math" panose="02040503050406030204" pitchFamily="18" charset="0"/>
                      </a:rPr>
                      <m:t>𝑎</m:t>
                    </m:r>
                  </m:oMath>
                </a14:m>
                <a:r>
                  <a:rPr sz="2000" b="0" dirty="0">
                    <a:solidFill>
                      <a:srgbClr val="00245D"/>
                    </a:solidFill>
                    <a:latin typeface="Cambria Math"/>
                  </a:rPr>
                  <a:t> = ( </a:t>
                </a:r>
                <a14:m>
                  <m:oMath xmlns:m="http://schemas.openxmlformats.org/officeDocument/2006/math">
                    <m:sSub>
                      <m:sSubPr>
                        <m:ctrlPr>
                          <a:rPr lang="ko-KR" altLang="en-US" sz="2000" b="0" i="1" dirty="0" err="1">
                            <a:solidFill>
                              <a:srgbClr val="00245D"/>
                            </a:solidFill>
                            <a:latin typeface="Cambria Math" panose="02040503050406030204" pitchFamily="18" charset="0"/>
                          </a:rPr>
                        </m:ctrlPr>
                      </m:sSubPr>
                      <m:e>
                        <m:r>
                          <a:rPr lang="ko-KR" altLang="en-US" sz="2000" b="0" i="1" dirty="0" err="1">
                            <a:solidFill>
                              <a:srgbClr val="00245D"/>
                            </a:solidFill>
                            <a:latin typeface="Cambria Math" panose="02040503050406030204" pitchFamily="18" charset="0"/>
                          </a:rPr>
                          <m:t>𝑎</m:t>
                        </m:r>
                      </m:e>
                      <m:sub>
                        <m:r>
                          <a:rPr lang="ko-KR" altLang="en-US" sz="2000" b="0" i="1" dirty="0" err="1">
                            <a:solidFill>
                              <a:srgbClr val="00245D"/>
                            </a:solidFill>
                            <a:latin typeface="Cambria Math" panose="02040503050406030204" pitchFamily="18" charset="0"/>
                          </a:rPr>
                          <m:t>𝑠</m:t>
                        </m:r>
                      </m:sub>
                    </m:sSub>
                    <m:r>
                      <a:rPr lang="ko-KR" altLang="en-US" sz="2000" b="0" i="0" dirty="0" err="1">
                        <a:solidFill>
                          <a:srgbClr val="00245D"/>
                        </a:solidFill>
                        <a:latin typeface="Cambria Math" panose="02040503050406030204" pitchFamily="18" charset="0"/>
                      </a:rPr>
                      <m:t>,</m:t>
                    </m:r>
                    <m:sSub>
                      <m:sSubPr>
                        <m:ctrlPr>
                          <a:rPr lang="ko-KR" altLang="en-US" sz="2000" b="0" i="1" dirty="0" err="1">
                            <a:solidFill>
                              <a:srgbClr val="00245D"/>
                            </a:solidFill>
                            <a:latin typeface="Cambria Math" panose="02040503050406030204" pitchFamily="18" charset="0"/>
                          </a:rPr>
                        </m:ctrlPr>
                      </m:sSubPr>
                      <m:e>
                        <m:r>
                          <a:rPr lang="ko-KR" altLang="en-US" sz="2000" b="0" i="1" dirty="0" err="1">
                            <a:solidFill>
                              <a:srgbClr val="00245D"/>
                            </a:solidFill>
                            <a:latin typeface="Cambria Math" panose="02040503050406030204" pitchFamily="18" charset="0"/>
                          </a:rPr>
                          <m:t>𝑎</m:t>
                        </m:r>
                      </m:e>
                      <m:sub>
                        <m:r>
                          <a:rPr lang="ko-KR" altLang="en-US" sz="2000" b="0" i="1" dirty="0" err="1">
                            <a:solidFill>
                              <a:srgbClr val="00245D"/>
                            </a:solidFill>
                            <a:latin typeface="Cambria Math" panose="02040503050406030204" pitchFamily="18" charset="0"/>
                          </a:rPr>
                          <m:t>𝑒</m:t>
                        </m:r>
                      </m:sub>
                    </m:sSub>
                    <m:r>
                      <a:rPr lang="ko-KR" altLang="en-US" sz="2000" b="0" i="0" dirty="0" err="1">
                        <a:solidFill>
                          <a:srgbClr val="00245D"/>
                        </a:solidFill>
                        <a:latin typeface="Cambria Math" panose="02040503050406030204" pitchFamily="18" charset="0"/>
                      </a:rPr>
                      <m:t>,</m:t>
                    </m:r>
                    <m:sSub>
                      <m:sSubPr>
                        <m:ctrlPr>
                          <a:rPr lang="ko-KR" altLang="en-US" sz="2000" b="0" i="1" dirty="0" err="1">
                            <a:solidFill>
                              <a:srgbClr val="00245D"/>
                            </a:solidFill>
                            <a:latin typeface="Cambria Math" panose="02040503050406030204" pitchFamily="18" charset="0"/>
                          </a:rPr>
                        </m:ctrlPr>
                      </m:sSubPr>
                      <m:e>
                        <m:r>
                          <a:rPr lang="ko-KR" altLang="en-US" sz="2000" b="0" i="1" dirty="0" err="1">
                            <a:solidFill>
                              <a:srgbClr val="00245D"/>
                            </a:solidFill>
                            <a:latin typeface="Cambria Math" panose="02040503050406030204" pitchFamily="18" charset="0"/>
                          </a:rPr>
                          <m:t>𝑎</m:t>
                        </m:r>
                      </m:e>
                      <m:sub>
                        <m:r>
                          <a:rPr lang="ko-KR" altLang="en-US" sz="2000" b="0" i="1" dirty="0" err="1">
                            <a:solidFill>
                              <a:srgbClr val="00245D"/>
                            </a:solidFill>
                            <a:latin typeface="Cambria Math" panose="02040503050406030204" pitchFamily="18" charset="0"/>
                          </a:rPr>
                          <m:t>𝑚</m:t>
                        </m:r>
                      </m:sub>
                    </m:sSub>
                  </m:oMath>
                </a14:m>
                <a:r>
                  <a:rPr sz="2000" b="0" dirty="0">
                    <a:solidFill>
                      <a:srgbClr val="00245D"/>
                    </a:solidFill>
                    <a:latin typeface="Cambria Math"/>
                  </a:rPr>
                  <a:t>)</a:t>
                </a:r>
              </a:p>
            </p:txBody>
          </p:sp>
        </mc:Choice>
        <mc:Fallback xmlns="">
          <p:sp>
            <p:nvSpPr>
              <p:cNvPr id="17" name="TextBox 16"/>
              <p:cNvSpPr txBox="1">
                <a:spLocks noRot="1" noChangeAspect="1" noMove="1" noResize="1" noEditPoints="1" noAdjustHandles="1" noChangeArrowheads="1" noChangeShapeType="1" noTextEdit="1"/>
              </p:cNvSpPr>
              <p:nvPr/>
            </p:nvSpPr>
            <p:spPr>
              <a:xfrm>
                <a:off x="6492240" y="2103120"/>
                <a:ext cx="4343400" cy="307777"/>
              </a:xfrm>
              <a:prstGeom prst="rect">
                <a:avLst/>
              </a:prstGeom>
              <a:blipFill>
                <a:blip r:embed="rId4"/>
                <a:stretch>
                  <a:fillRect t="-26000" b="-50000"/>
                </a:stretch>
              </a:blipFill>
            </p:spPr>
            <p:txBody>
              <a:bodyPr/>
              <a:lstStyle/>
              <a:p>
                <a:r>
                  <a:rPr lang="ko-KR" altLang="en-US">
                    <a:noFill/>
                  </a:rPr>
                  <a:t> </a:t>
                </a:r>
              </a:p>
            </p:txBody>
          </p:sp>
        </mc:Fallback>
      </mc:AlternateContent>
      <p:sp>
        <p:nvSpPr>
          <p:cNvPr id="18" name="Rectangle 17"/>
          <p:cNvSpPr/>
          <p:nvPr/>
        </p:nvSpPr>
        <p:spPr>
          <a:xfrm>
            <a:off x="6446520" y="2651760"/>
            <a:ext cx="914400" cy="658368"/>
          </a:xfrm>
          <a:prstGeom prst="rect">
            <a:avLst/>
          </a:prstGeom>
          <a:solidFill>
            <a:srgbClr val="FFEFE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2816352"/>
            <a:ext cx="822960" cy="237744"/>
          </a:xfrm>
          <a:prstGeom prst="rect">
            <a:avLst/>
          </a:prstGeom>
          <a:noFill/>
        </p:spPr>
        <p:txBody>
          <a:bodyPr wrap="square" lIns="0" tIns="0" rIns="0" bIns="0">
            <a:spAutoFit/>
          </a:bodyPr>
          <a:lstStyle/>
          <a:p>
            <a:pPr algn="ctr">
              <a:spcAft>
                <a:spcPts val="100"/>
              </a:spcAft>
            </a:pPr>
            <a:r>
              <a:rPr sz="1050" b="1">
                <a:solidFill>
                  <a:srgbClr val="00245D"/>
                </a:solidFill>
                <a:latin typeface="Arial"/>
              </a:rPr>
              <a:t>Sign</a:t>
            </a:r>
          </a:p>
          <a:p>
            <a:pPr algn="ctr">
              <a:spcAft>
                <a:spcPts val="100"/>
              </a:spcAft>
            </a:pPr>
            <a:r>
              <a:rPr sz="1050" b="1">
                <a:solidFill>
                  <a:srgbClr val="00245D"/>
                </a:solidFill>
                <a:latin typeface="Arial"/>
              </a:rPr>
              <a:t>1 bit</a:t>
            </a:r>
          </a:p>
        </p:txBody>
      </p:sp>
      <p:sp>
        <p:nvSpPr>
          <p:cNvPr id="20" name="Rectangle 19"/>
          <p:cNvSpPr/>
          <p:nvPr/>
        </p:nvSpPr>
        <p:spPr>
          <a:xfrm>
            <a:off x="7360920" y="2651760"/>
            <a:ext cx="1691640" cy="658368"/>
          </a:xfrm>
          <a:prstGeom prst="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0" y="2816352"/>
            <a:ext cx="1600200" cy="237744"/>
          </a:xfrm>
          <a:prstGeom prst="rect">
            <a:avLst/>
          </a:prstGeom>
          <a:noFill/>
        </p:spPr>
        <p:txBody>
          <a:bodyPr wrap="square" lIns="0" tIns="0" rIns="0" bIns="0">
            <a:spAutoFit/>
          </a:bodyPr>
          <a:lstStyle/>
          <a:p>
            <a:pPr algn="ctr">
              <a:spcAft>
                <a:spcPts val="100"/>
              </a:spcAft>
            </a:pPr>
            <a:r>
              <a:rPr sz="1050" b="1">
                <a:solidFill>
                  <a:srgbClr val="00245D"/>
                </a:solidFill>
                <a:latin typeface="Arial"/>
              </a:rPr>
              <a:t>Exponent</a:t>
            </a:r>
          </a:p>
          <a:p>
            <a:pPr algn="ctr">
              <a:spcAft>
                <a:spcPts val="100"/>
              </a:spcAft>
            </a:pPr>
            <a:r>
              <a:rPr sz="1050" b="1">
                <a:solidFill>
                  <a:srgbClr val="00245D"/>
                </a:solidFill>
                <a:latin typeface="Arial"/>
              </a:rPr>
              <a:t>5 bits</a:t>
            </a:r>
          </a:p>
        </p:txBody>
      </p:sp>
      <p:sp>
        <p:nvSpPr>
          <p:cNvPr id="22" name="Rectangle 21"/>
          <p:cNvSpPr/>
          <p:nvPr/>
        </p:nvSpPr>
        <p:spPr>
          <a:xfrm>
            <a:off x="9052560" y="2651760"/>
            <a:ext cx="2240280" cy="658368"/>
          </a:xfrm>
          <a:prstGeom prst="rect">
            <a:avLst/>
          </a:prstGeom>
          <a:solidFill>
            <a:srgbClr val="EEFAEE"/>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8280" y="2816352"/>
            <a:ext cx="2148840" cy="237744"/>
          </a:xfrm>
          <a:prstGeom prst="rect">
            <a:avLst/>
          </a:prstGeom>
          <a:noFill/>
        </p:spPr>
        <p:txBody>
          <a:bodyPr wrap="square" lIns="0" tIns="0" rIns="0" bIns="0">
            <a:spAutoFit/>
          </a:bodyPr>
          <a:lstStyle/>
          <a:p>
            <a:pPr algn="ctr">
              <a:spcAft>
                <a:spcPts val="100"/>
              </a:spcAft>
            </a:pPr>
            <a:r>
              <a:rPr sz="1050" b="1">
                <a:solidFill>
                  <a:srgbClr val="00245D"/>
                </a:solidFill>
                <a:latin typeface="Arial"/>
              </a:rPr>
              <a:t>Fraction</a:t>
            </a:r>
          </a:p>
          <a:p>
            <a:pPr algn="ctr">
              <a:spcAft>
                <a:spcPts val="100"/>
              </a:spcAft>
            </a:pPr>
            <a:r>
              <a:rPr sz="1050" b="1">
                <a:solidFill>
                  <a:srgbClr val="00245D"/>
                </a:solidFill>
                <a:latin typeface="Arial"/>
              </a:rPr>
              <a:t>10 bits</a:t>
            </a:r>
          </a:p>
        </p:txBody>
      </p:sp>
      <p:sp>
        <p:nvSpPr>
          <p:cNvPr id="24" name="TextBox 23"/>
          <p:cNvSpPr txBox="1"/>
          <p:nvPr/>
        </p:nvSpPr>
        <p:spPr>
          <a:xfrm>
            <a:off x="6446520" y="3671317"/>
            <a:ext cx="4526280" cy="256032"/>
          </a:xfrm>
          <a:prstGeom prst="rect">
            <a:avLst/>
          </a:prstGeom>
          <a:noFill/>
        </p:spPr>
        <p:txBody>
          <a:bodyPr wrap="square" lIns="0" tIns="0" rIns="0" bIns="0">
            <a:spAutoFit/>
          </a:bodyPr>
          <a:lstStyle/>
          <a:p>
            <a:pPr algn="ctr">
              <a:spcAft>
                <a:spcPts val="100"/>
              </a:spcAft>
            </a:pPr>
            <a:r>
              <a:rPr sz="1100" b="1">
                <a:solidFill>
                  <a:srgbClr val="2D2D2D"/>
                </a:solidFill>
                <a:latin typeface="Arial"/>
              </a:rPr>
              <a:t>Mantissa used in PE = hidden bit + fraction = 11 bits</a:t>
            </a:r>
          </a:p>
        </p:txBody>
      </p:sp>
      <p:sp>
        <p:nvSpPr>
          <p:cNvPr id="25" name="Rectangle 24"/>
          <p:cNvSpPr/>
          <p:nvPr/>
        </p:nvSpPr>
        <p:spPr>
          <a:xfrm>
            <a:off x="6492240" y="4251960"/>
            <a:ext cx="4434840" cy="384048"/>
          </a:xfrm>
          <a:prstGeom prst="rect">
            <a:avLst/>
          </a:prstGeom>
          <a:solidFill>
            <a:srgbClr val="FFFF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20256" y="4361688"/>
            <a:ext cx="4160520" cy="146304"/>
          </a:xfrm>
          <a:prstGeom prst="rect">
            <a:avLst/>
          </a:prstGeom>
          <a:noFill/>
        </p:spPr>
        <p:txBody>
          <a:bodyPr wrap="square" lIns="0" tIns="0" rIns="0" bIns="0">
            <a:spAutoFit/>
          </a:bodyPr>
          <a:lstStyle/>
          <a:p>
            <a:pPr algn="ctr">
              <a:spcAft>
                <a:spcPts val="100"/>
              </a:spcAft>
            </a:pPr>
            <a:r>
              <a:rPr sz="980" b="1">
                <a:solidFill>
                  <a:srgbClr val="2D2D2D"/>
                </a:solidFill>
                <a:latin typeface="Arial"/>
              </a:rPr>
              <a:t>PE computes a_e + w_e because FP multiplication adds exponents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332720" cy="292608"/>
          </a:xfrm>
          <a:prstGeom prst="rect">
            <a:avLst/>
          </a:prstGeom>
          <a:noFill/>
        </p:spPr>
        <p:txBody>
          <a:bodyPr wrap="none">
            <a:spAutoFit/>
          </a:bodyPr>
          <a:lstStyle/>
          <a:p>
            <a:r>
              <a:rPr sz="2000" b="1">
                <a:solidFill>
                  <a:srgbClr val="000000"/>
                </a:solidFill>
                <a:latin typeface="Arial"/>
              </a:rPr>
              <a:t>Step 1: Exponent Alignment</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68</a:t>
            </a:r>
            <a:endParaRPr sz="1000" b="1" dirty="0">
              <a:solidFill>
                <a:srgbClr val="FFFFFF"/>
              </a:solidFill>
              <a:latin typeface="Arial"/>
            </a:endParaRPr>
          </a:p>
        </p:txBody>
      </p:sp>
      <p:sp>
        <p:nvSpPr>
          <p:cNvPr id="8" name="TextBox 7"/>
          <p:cNvSpPr txBox="1"/>
          <p:nvPr/>
        </p:nvSpPr>
        <p:spPr>
          <a:xfrm>
            <a:off x="594360" y="932688"/>
            <a:ext cx="10698480" cy="200055"/>
          </a:xfrm>
          <a:prstGeom prst="rect">
            <a:avLst/>
          </a:prstGeom>
          <a:noFill/>
        </p:spPr>
        <p:txBody>
          <a:bodyPr wrap="square" lIns="0" tIns="0" rIns="0" bIns="0">
            <a:spAutoFit/>
          </a:bodyPr>
          <a:lstStyle/>
          <a:p>
            <a:pPr algn="l">
              <a:spcAft>
                <a:spcPts val="100"/>
              </a:spcAft>
            </a:pPr>
            <a:r>
              <a:rPr sz="1300" b="0" dirty="0">
                <a:solidFill>
                  <a:srgbClr val="2D2D2D"/>
                </a:solidFill>
                <a:latin typeface="Arial"/>
              </a:rPr>
              <a:t>Step 1 computes the </a:t>
            </a:r>
            <a:r>
              <a:rPr sz="1300" b="0" dirty="0">
                <a:solidFill>
                  <a:srgbClr val="FF0000"/>
                </a:solidFill>
                <a:latin typeface="Arial"/>
              </a:rPr>
              <a:t>product exponent and sign</a:t>
            </a:r>
            <a:r>
              <a:rPr sz="1300" b="0" dirty="0">
                <a:solidFill>
                  <a:srgbClr val="2D2D2D"/>
                </a:solidFill>
                <a:latin typeface="Arial"/>
              </a:rPr>
              <a:t>, then aligns the four products before the dot product is accumulated.</a:t>
            </a:r>
          </a:p>
        </p:txBody>
      </p:sp>
      <p:sp>
        <p:nvSpPr>
          <p:cNvPr id="9" name="Rounded Rectangle 8"/>
          <p:cNvSpPr/>
          <p:nvPr/>
        </p:nvSpPr>
        <p:spPr>
          <a:xfrm>
            <a:off x="685800" y="1355142"/>
            <a:ext cx="4983480" cy="425196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32550"/>
            <a:ext cx="4526280" cy="201168"/>
          </a:xfrm>
          <a:prstGeom prst="rect">
            <a:avLst/>
          </a:prstGeom>
          <a:noFill/>
        </p:spPr>
        <p:txBody>
          <a:bodyPr wrap="square" lIns="0" tIns="0" rIns="0" bIns="0">
            <a:spAutoFit/>
          </a:bodyPr>
          <a:lstStyle/>
          <a:p>
            <a:pPr algn="l">
              <a:spcAft>
                <a:spcPts val="100"/>
              </a:spcAft>
            </a:pPr>
            <a:r>
              <a:rPr sz="1200" b="1">
                <a:solidFill>
                  <a:srgbClr val="00245D"/>
                </a:solidFill>
                <a:latin typeface="Arial"/>
              </a:rPr>
              <a:t>What is computed?</a:t>
            </a:r>
          </a:p>
        </p:txBody>
      </p:sp>
      <mc:AlternateContent xmlns:mc="http://schemas.openxmlformats.org/markup-compatibility/2006" xmlns:a14="http://schemas.microsoft.com/office/drawing/2010/main">
        <mc:Choice Requires="a14">
          <p:sp>
            <p:nvSpPr>
              <p:cNvPr id="11" name="TextBox 10"/>
              <p:cNvSpPr txBox="1"/>
              <p:nvPr/>
            </p:nvSpPr>
            <p:spPr>
              <a:xfrm>
                <a:off x="232705" y="3217333"/>
                <a:ext cx="4160520" cy="344261"/>
              </a:xfrm>
              <a:prstGeom prst="rect">
                <a:avLst/>
              </a:prstGeom>
              <a:noFill/>
            </p:spPr>
            <p:txBody>
              <a:bodyPr wrap="square" lIns="0" tIns="0" rIns="0" bIns="0">
                <a:spAutoFit/>
              </a:bodyPr>
              <a:lstStyle/>
              <a:p>
                <a:pPr algn="ctr">
                  <a:spcAft>
                    <a:spcPts val="100"/>
                  </a:spcAft>
                </a:pPr>
                <a14:m>
                  <m:oMathPara xmlns:m="http://schemas.openxmlformats.org/officeDocument/2006/math">
                    <m:oMath>
                      <m:sSub>
                        <m:sSubPr>
                          <m:ctrlPr>
                            <a:rPr lang="ko-KR" altLang="en-US" sz="2000" b="0" i="1" dirty="0">
                              <a:solidFill>
                                <a:srgbClr val="00245D"/>
                              </a:solidFill>
                              <a:latin typeface="Cambria Math" panose="02040503050406030204" pitchFamily="18" charset="0"/>
                            </a:rPr>
                          </m:ctrlPr>
                        </m:sSubPr>
                        <m:e>
                          <m:r>
                            <a:rPr lang="ko-KR" altLang="en-US" sz="2000" b="0" i="1" dirty="0">
                              <a:solidFill>
                                <a:srgbClr val="00245D"/>
                              </a:solidFill>
                              <a:latin typeface="Cambria Math" panose="02040503050406030204" pitchFamily="18" charset="0"/>
                            </a:rPr>
                            <m:t>𝑒</m:t>
                          </m:r>
                        </m:e>
                        <m:sub>
                          <m:r>
                            <a:rPr lang="ko-KR" altLang="en-US" sz="2000" b="0" i="1" dirty="0">
                              <a:solidFill>
                                <a:srgbClr val="00245D"/>
                              </a:solidFill>
                              <a:latin typeface="Cambria Math" panose="02040503050406030204" pitchFamily="18" charset="0"/>
                            </a:rPr>
                            <m:t>𝑝𝑟𝑜𝑑𝑢𝑐𝑡</m:t>
                          </m:r>
                        </m:sub>
                      </m:sSub>
                      <m:r>
                        <a:rPr lang="ko-KR" altLang="en-US" sz="2000" b="0" i="0" dirty="0">
                          <a:solidFill>
                            <a:srgbClr val="00245D"/>
                          </a:solidFill>
                          <a:latin typeface="Cambria Math" panose="02040503050406030204" pitchFamily="18" charset="0"/>
                        </a:rPr>
                        <m:t>=</m:t>
                      </m:r>
                      <m:sSub>
                        <m:sSubPr>
                          <m:ctrlPr>
                            <a:rPr lang="ko-KR" altLang="en-US" sz="2000" b="0" i="1" dirty="0">
                              <a:solidFill>
                                <a:srgbClr val="00245D"/>
                              </a:solidFill>
                              <a:latin typeface="Cambria Math" panose="02040503050406030204" pitchFamily="18" charset="0"/>
                            </a:rPr>
                          </m:ctrlPr>
                        </m:sSubPr>
                        <m:e>
                          <m:r>
                            <a:rPr lang="ko-KR" altLang="en-US" sz="2000" b="0" i="1" dirty="0">
                              <a:solidFill>
                                <a:srgbClr val="00245D"/>
                              </a:solidFill>
                              <a:latin typeface="Cambria Math" panose="02040503050406030204" pitchFamily="18" charset="0"/>
                            </a:rPr>
                            <m:t>𝑎</m:t>
                          </m:r>
                        </m:e>
                        <m:sub>
                          <m:r>
                            <a:rPr lang="ko-KR" altLang="en-US" sz="2000" b="0" i="1" dirty="0">
                              <a:solidFill>
                                <a:srgbClr val="00245D"/>
                              </a:solidFill>
                              <a:latin typeface="Cambria Math" panose="02040503050406030204" pitchFamily="18" charset="0"/>
                            </a:rPr>
                            <m:t>𝑒</m:t>
                          </m:r>
                        </m:sub>
                      </m:sSub>
                      <m:r>
                        <a:rPr lang="ko-KR" altLang="en-US" sz="2000" b="0" i="0" dirty="0">
                          <a:solidFill>
                            <a:srgbClr val="00245D"/>
                          </a:solidFill>
                          <a:latin typeface="Cambria Math" panose="02040503050406030204" pitchFamily="18" charset="0"/>
                        </a:rPr>
                        <m:t>+</m:t>
                      </m:r>
                      <m:sSub>
                        <m:sSubPr>
                          <m:ctrlPr>
                            <a:rPr lang="ko-KR" altLang="en-US" sz="2000" b="0" i="1" dirty="0">
                              <a:solidFill>
                                <a:srgbClr val="00245D"/>
                              </a:solidFill>
                              <a:latin typeface="Cambria Math" panose="02040503050406030204" pitchFamily="18" charset="0"/>
                            </a:rPr>
                          </m:ctrlPr>
                        </m:sSubPr>
                        <m:e>
                          <m:r>
                            <a:rPr lang="ko-KR" altLang="en-US" sz="2000" b="0" i="1" dirty="0">
                              <a:solidFill>
                                <a:srgbClr val="00245D"/>
                              </a:solidFill>
                              <a:latin typeface="Cambria Math" panose="02040503050406030204" pitchFamily="18" charset="0"/>
                            </a:rPr>
                            <m:t>𝑤</m:t>
                          </m:r>
                        </m:e>
                        <m:sub>
                          <m:r>
                            <a:rPr lang="ko-KR" altLang="en-US" sz="2000" b="0" i="1" dirty="0">
                              <a:solidFill>
                                <a:srgbClr val="00245D"/>
                              </a:solidFill>
                              <a:latin typeface="Cambria Math" panose="02040503050406030204" pitchFamily="18" charset="0"/>
                            </a:rPr>
                            <m:t>𝑒</m:t>
                          </m:r>
                        </m:sub>
                      </m:sSub>
                    </m:oMath>
                  </m:oMathPara>
                </a14:m>
                <a:endParaRPr sz="2000" b="0" dirty="0">
                  <a:solidFill>
                    <a:srgbClr val="00245D"/>
                  </a:solidFill>
                  <a:latin typeface="Cambria Math"/>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232705" y="3217333"/>
                <a:ext cx="4160520" cy="344261"/>
              </a:xfrm>
              <a:prstGeom prst="rect">
                <a:avLst/>
              </a:prstGeom>
              <a:blipFill>
                <a:blip r:embed="rId3"/>
                <a:stretch>
                  <a:fillRect b="-2142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78425" y="3697149"/>
                <a:ext cx="4160520" cy="320601"/>
              </a:xfrm>
              <a:prstGeom prst="rect">
                <a:avLst/>
              </a:prstGeom>
              <a:noFill/>
            </p:spPr>
            <p:txBody>
              <a:bodyPr wrap="square" lIns="0" tIns="0" rIns="0" bIns="0">
                <a:spAutoFit/>
              </a:bodyPr>
              <a:lstStyle/>
              <a:p>
                <a:pPr algn="ctr">
                  <a:spcAft>
                    <a:spcPts val="100"/>
                  </a:spcAft>
                </a:pPr>
                <a14:m>
                  <m:oMathPara xmlns:m="http://schemas.openxmlformats.org/officeDocument/2006/math">
                    <m:oMath>
                      <m:sSub>
                        <m:sSubPr>
                          <m:ctrlPr>
                            <a:rPr lang="ko-KR" altLang="en-US" sz="2000" b="0" i="1" dirty="0" err="1">
                              <a:solidFill>
                                <a:srgbClr val="00245D"/>
                              </a:solidFill>
                              <a:latin typeface="Cambria Math" panose="02040503050406030204" pitchFamily="18" charset="0"/>
                            </a:rPr>
                          </m:ctrlPr>
                        </m:sSubPr>
                        <m:e>
                          <m:r>
                            <a:rPr lang="ko-KR" altLang="en-US" sz="2000" b="0" i="1" dirty="0" err="1">
                              <a:solidFill>
                                <a:srgbClr val="00245D"/>
                              </a:solidFill>
                              <a:latin typeface="Cambria Math" panose="02040503050406030204" pitchFamily="18" charset="0"/>
                            </a:rPr>
                            <m:t>𝑦</m:t>
                          </m:r>
                        </m:e>
                        <m:sub>
                          <m:r>
                            <a:rPr lang="ko-KR" altLang="en-US" sz="2000" b="0" i="1" dirty="0" err="1">
                              <a:solidFill>
                                <a:srgbClr val="00245D"/>
                              </a:solidFill>
                              <a:latin typeface="Cambria Math" panose="02040503050406030204" pitchFamily="18" charset="0"/>
                            </a:rPr>
                            <m:t>𝑠</m:t>
                          </m:r>
                        </m:sub>
                      </m:sSub>
                      <m:r>
                        <a:rPr lang="ko-KR" altLang="en-US" sz="2000" b="0" i="0" dirty="0" err="1">
                          <a:solidFill>
                            <a:srgbClr val="00245D"/>
                          </a:solidFill>
                          <a:latin typeface="Cambria Math" panose="02040503050406030204" pitchFamily="18" charset="0"/>
                        </a:rPr>
                        <m:t>=</m:t>
                      </m:r>
                      <m:sSub>
                        <m:sSubPr>
                          <m:ctrlPr>
                            <a:rPr lang="ko-KR" altLang="en-US" sz="2000" b="0" i="1" dirty="0" err="1">
                              <a:solidFill>
                                <a:srgbClr val="00245D"/>
                              </a:solidFill>
                              <a:latin typeface="Cambria Math" panose="02040503050406030204" pitchFamily="18" charset="0"/>
                            </a:rPr>
                          </m:ctrlPr>
                        </m:sSubPr>
                        <m:e>
                          <m:r>
                            <a:rPr lang="ko-KR" altLang="en-US" sz="2000" b="0" i="1" dirty="0" err="1">
                              <a:solidFill>
                                <a:srgbClr val="00245D"/>
                              </a:solidFill>
                              <a:latin typeface="Cambria Math" panose="02040503050406030204" pitchFamily="18" charset="0"/>
                            </a:rPr>
                            <m:t>𝑎</m:t>
                          </m:r>
                        </m:e>
                        <m:sub>
                          <m:r>
                            <a:rPr lang="ko-KR" altLang="en-US" sz="2000" b="0" i="1" dirty="0" err="1">
                              <a:solidFill>
                                <a:srgbClr val="00245D"/>
                              </a:solidFill>
                              <a:latin typeface="Cambria Math" panose="02040503050406030204" pitchFamily="18" charset="0"/>
                            </a:rPr>
                            <m:t>𝑠</m:t>
                          </m:r>
                        </m:sub>
                      </m:sSub>
                      <m:r>
                        <a:rPr lang="ko-KR" altLang="en-US" sz="2000" b="0" i="0" dirty="0" err="1">
                          <a:solidFill>
                            <a:srgbClr val="00245D"/>
                          </a:solidFill>
                          <a:latin typeface="Cambria Math" panose="02040503050406030204" pitchFamily="18" charset="0"/>
                        </a:rPr>
                        <m:t>⊕</m:t>
                      </m:r>
                      <m:sSub>
                        <m:sSubPr>
                          <m:ctrlPr>
                            <a:rPr lang="ko-KR" altLang="en-US" sz="2000" b="0" i="1" dirty="0" err="1">
                              <a:solidFill>
                                <a:srgbClr val="00245D"/>
                              </a:solidFill>
                              <a:latin typeface="Cambria Math" panose="02040503050406030204" pitchFamily="18" charset="0"/>
                            </a:rPr>
                          </m:ctrlPr>
                        </m:sSubPr>
                        <m:e>
                          <m:r>
                            <a:rPr lang="ko-KR" altLang="en-US" sz="2000" b="0" i="1" dirty="0" err="1">
                              <a:solidFill>
                                <a:srgbClr val="00245D"/>
                              </a:solidFill>
                              <a:latin typeface="Cambria Math" panose="02040503050406030204" pitchFamily="18" charset="0"/>
                            </a:rPr>
                            <m:t>𝑤</m:t>
                          </m:r>
                        </m:e>
                        <m:sub>
                          <m:r>
                            <a:rPr lang="ko-KR" altLang="en-US" sz="2000" b="0" i="1" dirty="0" err="1">
                              <a:solidFill>
                                <a:srgbClr val="00245D"/>
                              </a:solidFill>
                              <a:latin typeface="Cambria Math" panose="02040503050406030204" pitchFamily="18" charset="0"/>
                            </a:rPr>
                            <m:t>𝑠</m:t>
                          </m:r>
                        </m:sub>
                      </m:sSub>
                    </m:oMath>
                  </m:oMathPara>
                </a14:m>
                <a:endParaRPr sz="2000" b="0" dirty="0">
                  <a:solidFill>
                    <a:srgbClr val="00245D"/>
                  </a:solidFill>
                  <a:latin typeface="Cambria Math"/>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8425" y="3697149"/>
                <a:ext cx="4160520" cy="320601"/>
              </a:xfrm>
              <a:prstGeom prst="rect">
                <a:avLst/>
              </a:prstGeom>
              <a:blipFill>
                <a:blip r:embed="rId4"/>
                <a:stretch>
                  <a:fillRect b="-24528"/>
                </a:stretch>
              </a:blipFill>
            </p:spPr>
            <p:txBody>
              <a:bodyPr/>
              <a:lstStyle/>
              <a:p>
                <a:r>
                  <a:rPr lang="ko-KR" altLang="en-US">
                    <a:noFill/>
                  </a:rPr>
                  <a:t> </a:t>
                </a:r>
              </a:p>
            </p:txBody>
          </p:sp>
        </mc:Fallback>
      </mc:AlternateContent>
      <p:sp>
        <p:nvSpPr>
          <p:cNvPr id="13" name="TextBox 12"/>
          <p:cNvSpPr txBox="1"/>
          <p:nvPr/>
        </p:nvSpPr>
        <p:spPr>
          <a:xfrm>
            <a:off x="1036320" y="4526042"/>
            <a:ext cx="4343400" cy="1051560"/>
          </a:xfrm>
          <a:prstGeom prst="rect">
            <a:avLst/>
          </a:prstGeom>
          <a:noFill/>
        </p:spPr>
        <p:txBody>
          <a:bodyPr wrap="square" lIns="0" tIns="0" rIns="0" bIns="0">
            <a:spAutoFit/>
          </a:bodyPr>
          <a:lstStyle/>
          <a:p>
            <a:pPr>
              <a:spcAft>
                <a:spcPts val="200"/>
              </a:spcAft>
            </a:pPr>
            <a:r>
              <a:rPr sz="1100" dirty="0">
                <a:solidFill>
                  <a:srgbClr val="2D2D2D"/>
                </a:solidFill>
                <a:latin typeface="Arial"/>
              </a:rPr>
              <a:t>• Exponent addition follows FP multiplication</a:t>
            </a:r>
          </a:p>
          <a:p>
            <a:pPr>
              <a:spcAft>
                <a:spcPts val="200"/>
              </a:spcAft>
            </a:pPr>
            <a:r>
              <a:rPr sz="1100" dirty="0">
                <a:solidFill>
                  <a:srgbClr val="2D2D2D"/>
                </a:solidFill>
                <a:latin typeface="Arial"/>
              </a:rPr>
              <a:t>• Sign is computed by XOR</a:t>
            </a:r>
          </a:p>
          <a:p>
            <a:pPr>
              <a:spcAft>
                <a:spcPts val="200"/>
              </a:spcAft>
            </a:pPr>
            <a:r>
              <a:rPr sz="1100" dirty="0">
                <a:solidFill>
                  <a:srgbClr val="2D2D2D"/>
                </a:solidFill>
                <a:latin typeface="Arial"/>
              </a:rPr>
              <a:t>• The largest exponent becomes the alignment reference</a:t>
            </a:r>
          </a:p>
        </p:txBody>
      </p:sp>
      <p:sp>
        <p:nvSpPr>
          <p:cNvPr id="14" name="Rounded Rectangle 13"/>
          <p:cNvSpPr/>
          <p:nvPr/>
        </p:nvSpPr>
        <p:spPr>
          <a:xfrm>
            <a:off x="6080760" y="1371600"/>
            <a:ext cx="5074920" cy="4251960"/>
          </a:xfrm>
          <a:prstGeom prst="roundRect">
            <a:avLst/>
          </a:prstGeom>
          <a:solidFill>
            <a:srgbClr val="FFFAE6"/>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1732550"/>
            <a:ext cx="4663440" cy="201168"/>
          </a:xfrm>
          <a:prstGeom prst="rect">
            <a:avLst/>
          </a:prstGeom>
          <a:noFill/>
        </p:spPr>
        <p:txBody>
          <a:bodyPr wrap="square" lIns="0" tIns="0" rIns="0" bIns="0">
            <a:spAutoFit/>
          </a:bodyPr>
          <a:lstStyle/>
          <a:p>
            <a:pPr algn="l">
              <a:spcAft>
                <a:spcPts val="100"/>
              </a:spcAft>
            </a:pPr>
            <a:r>
              <a:rPr sz="1200" b="1">
                <a:solidFill>
                  <a:srgbClr val="00245D"/>
                </a:solidFill>
                <a:latin typeface="Arial"/>
              </a:rPr>
              <a:t>Detailed example</a:t>
            </a:r>
          </a:p>
        </p:txBody>
      </p:sp>
      <p:sp>
        <p:nvSpPr>
          <p:cNvPr id="16" name="TextBox 15"/>
          <p:cNvSpPr txBox="1"/>
          <p:nvPr/>
        </p:nvSpPr>
        <p:spPr>
          <a:xfrm>
            <a:off x="6446520" y="2189750"/>
            <a:ext cx="4343400" cy="274320"/>
          </a:xfrm>
          <a:prstGeom prst="rect">
            <a:avLst/>
          </a:prstGeom>
          <a:noFill/>
        </p:spPr>
        <p:txBody>
          <a:bodyPr wrap="square" lIns="0" tIns="0" rIns="0" bIns="0">
            <a:spAutoFit/>
          </a:bodyPr>
          <a:lstStyle/>
          <a:p>
            <a:pPr algn="ctr">
              <a:spcAft>
                <a:spcPts val="100"/>
              </a:spcAft>
            </a:pPr>
            <a:r>
              <a:rPr sz="1700" b="0">
                <a:solidFill>
                  <a:srgbClr val="00245D"/>
                </a:solidFill>
                <a:latin typeface="Cambria Math"/>
              </a:rPr>
              <a:t>Product exponents = [5, 3, 4, 5]</a:t>
            </a:r>
          </a:p>
        </p:txBody>
      </p:sp>
      <p:sp>
        <p:nvSpPr>
          <p:cNvPr id="17" name="TextBox 16"/>
          <p:cNvSpPr txBox="1"/>
          <p:nvPr/>
        </p:nvSpPr>
        <p:spPr>
          <a:xfrm>
            <a:off x="6629400" y="2738390"/>
            <a:ext cx="3977639" cy="274320"/>
          </a:xfrm>
          <a:prstGeom prst="rect">
            <a:avLst/>
          </a:prstGeom>
          <a:noFill/>
        </p:spPr>
        <p:txBody>
          <a:bodyPr wrap="square" lIns="0" tIns="0" rIns="0" bIns="0">
            <a:spAutoFit/>
          </a:bodyPr>
          <a:lstStyle/>
          <a:p>
            <a:pPr algn="ctr">
              <a:spcAft>
                <a:spcPts val="100"/>
              </a:spcAft>
            </a:pPr>
            <a:r>
              <a:rPr sz="1700" b="0">
                <a:solidFill>
                  <a:srgbClr val="C00000"/>
                </a:solidFill>
                <a:latin typeface="Cambria Math"/>
              </a:rPr>
              <a:t>e_max = 5</a:t>
            </a:r>
          </a:p>
        </p:txBody>
      </p:sp>
      <mc:AlternateContent xmlns:mc="http://schemas.openxmlformats.org/markup-compatibility/2006" xmlns:a14="http://schemas.microsoft.com/office/drawing/2010/main">
        <mc:Choice Requires="a14">
          <p:sp>
            <p:nvSpPr>
              <p:cNvPr id="18" name="TextBox 17"/>
              <p:cNvSpPr txBox="1"/>
              <p:nvPr/>
            </p:nvSpPr>
            <p:spPr>
              <a:xfrm>
                <a:off x="6446520" y="3287030"/>
                <a:ext cx="4343400" cy="274434"/>
              </a:xfrm>
              <a:prstGeom prst="rect">
                <a:avLst/>
              </a:prstGeom>
              <a:noFill/>
            </p:spPr>
            <p:txBody>
              <a:bodyPr wrap="square" lIns="0" tIns="0" rIns="0" bIns="0">
                <a:spAutoFit/>
              </a:bodyPr>
              <a:lstStyle/>
              <a:p>
                <a:pPr algn="ctr">
                  <a:spcAft>
                    <a:spcPts val="100"/>
                  </a:spcAft>
                </a:pPr>
                <a14:m>
                  <m:oMathPara xmlns:m="http://schemas.openxmlformats.org/officeDocument/2006/math">
                    <m:oMath>
                      <m:r>
                        <a:rPr lang="ko-KR" altLang="en-US" sz="1700" b="0" i="1" dirty="0" smtClean="0">
                          <a:solidFill>
                            <a:srgbClr val="00245D"/>
                          </a:solidFill>
                          <a:latin typeface="Cambria Math" panose="02040503050406030204" pitchFamily="18" charset="0"/>
                        </a:rPr>
                        <m:t>𝛿</m:t>
                      </m:r>
                      <m:sSub>
                        <m:sSubPr>
                          <m:ctrlPr>
                            <a:rPr lang="ko-KR" altLang="en-US" sz="1700" b="0" i="1" dirty="0" err="1">
                              <a:solidFill>
                                <a:srgbClr val="00245D"/>
                              </a:solidFill>
                              <a:latin typeface="Cambria Math" panose="02040503050406030204" pitchFamily="18" charset="0"/>
                            </a:rPr>
                          </m:ctrlPr>
                        </m:sSubPr>
                        <m:e>
                          <m:r>
                            <a:rPr lang="ko-KR" altLang="en-US" sz="1700" b="0" i="1" dirty="0" err="1">
                              <a:solidFill>
                                <a:srgbClr val="00245D"/>
                              </a:solidFill>
                              <a:latin typeface="Cambria Math" panose="02040503050406030204" pitchFamily="18" charset="0"/>
                            </a:rPr>
                            <m:t>𝑒</m:t>
                          </m:r>
                        </m:e>
                        <m:sub>
                          <m:r>
                            <a:rPr lang="ko-KR" altLang="en-US" sz="1700" b="0" i="1" dirty="0" err="1">
                              <a:solidFill>
                                <a:srgbClr val="00245D"/>
                              </a:solidFill>
                              <a:latin typeface="Cambria Math" panose="02040503050406030204" pitchFamily="18" charset="0"/>
                            </a:rPr>
                            <m:t>𝑖</m:t>
                          </m:r>
                        </m:sub>
                      </m:sSub>
                      <m:r>
                        <a:rPr lang="ko-KR" altLang="en-US" sz="1700" b="0" i="0" dirty="0" err="1">
                          <a:solidFill>
                            <a:srgbClr val="00245D"/>
                          </a:solidFill>
                          <a:latin typeface="Cambria Math" panose="02040503050406030204" pitchFamily="18" charset="0"/>
                        </a:rPr>
                        <m:t>=</m:t>
                      </m:r>
                      <m:sSub>
                        <m:sSubPr>
                          <m:ctrlPr>
                            <a:rPr lang="ko-KR" altLang="en-US" sz="1700" b="0" i="1" dirty="0" err="1">
                              <a:solidFill>
                                <a:srgbClr val="00245D"/>
                              </a:solidFill>
                              <a:latin typeface="Cambria Math" panose="02040503050406030204" pitchFamily="18" charset="0"/>
                            </a:rPr>
                          </m:ctrlPr>
                        </m:sSubPr>
                        <m:e>
                          <m:r>
                            <a:rPr lang="ko-KR" altLang="en-US" sz="1700" b="0" i="1" dirty="0" err="1">
                              <a:solidFill>
                                <a:srgbClr val="00245D"/>
                              </a:solidFill>
                              <a:latin typeface="Cambria Math" panose="02040503050406030204" pitchFamily="18" charset="0"/>
                            </a:rPr>
                            <m:t>𝑒</m:t>
                          </m:r>
                        </m:e>
                        <m:sub>
                          <m:r>
                            <a:rPr lang="ko-KR" altLang="en-US" sz="1700" b="0" i="1" dirty="0" err="1">
                              <a:solidFill>
                                <a:srgbClr val="00245D"/>
                              </a:solidFill>
                              <a:latin typeface="Cambria Math" panose="02040503050406030204" pitchFamily="18" charset="0"/>
                            </a:rPr>
                            <m:t>𝑚𝑎𝑥</m:t>
                          </m:r>
                        </m:sub>
                      </m:sSub>
                      <m:r>
                        <a:rPr lang="ko-KR" altLang="en-US" sz="1700" b="0" i="0" dirty="0" err="1">
                          <a:solidFill>
                            <a:srgbClr val="00245D"/>
                          </a:solidFill>
                          <a:latin typeface="Cambria Math" panose="02040503050406030204" pitchFamily="18" charset="0"/>
                        </a:rPr>
                        <m:t>−</m:t>
                      </m:r>
                      <m:sSub>
                        <m:sSubPr>
                          <m:ctrlPr>
                            <a:rPr lang="ko-KR" altLang="en-US" sz="1700" b="0" i="1" dirty="0" err="1">
                              <a:solidFill>
                                <a:srgbClr val="00245D"/>
                              </a:solidFill>
                              <a:latin typeface="Cambria Math" panose="02040503050406030204" pitchFamily="18" charset="0"/>
                            </a:rPr>
                          </m:ctrlPr>
                        </m:sSubPr>
                        <m:e>
                          <m:r>
                            <a:rPr lang="ko-KR" altLang="en-US" sz="1700" b="0" i="1" dirty="0" err="1">
                              <a:solidFill>
                                <a:srgbClr val="00245D"/>
                              </a:solidFill>
                              <a:latin typeface="Cambria Math" panose="02040503050406030204" pitchFamily="18" charset="0"/>
                            </a:rPr>
                            <m:t>𝑒</m:t>
                          </m:r>
                        </m:e>
                        <m:sub>
                          <m:r>
                            <a:rPr lang="ko-KR" altLang="en-US" sz="1700" b="0" i="1" dirty="0" err="1">
                              <a:solidFill>
                                <a:srgbClr val="00245D"/>
                              </a:solidFill>
                              <a:latin typeface="Cambria Math" panose="02040503050406030204" pitchFamily="18" charset="0"/>
                            </a:rPr>
                            <m:t>𝑖</m:t>
                          </m:r>
                        </m:sub>
                      </m:sSub>
                    </m:oMath>
                  </m:oMathPara>
                </a14:m>
                <a:endParaRPr sz="1700" b="0" dirty="0">
                  <a:solidFill>
                    <a:srgbClr val="00245D"/>
                  </a:solidFill>
                  <a:latin typeface="Cambria Math"/>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6446520" y="3287030"/>
                <a:ext cx="4343400" cy="274434"/>
              </a:xfrm>
              <a:prstGeom prst="rect">
                <a:avLst/>
              </a:prstGeom>
              <a:blipFill>
                <a:blip r:embed="rId5"/>
                <a:stretch>
                  <a:fillRect b="-13333"/>
                </a:stretch>
              </a:blipFill>
            </p:spPr>
            <p:txBody>
              <a:bodyPr/>
              <a:lstStyle/>
              <a:p>
                <a:r>
                  <a:rPr lang="ko-KR" altLang="en-US">
                    <a:noFill/>
                  </a:rPr>
                  <a:t> </a:t>
                </a:r>
              </a:p>
            </p:txBody>
          </p:sp>
        </mc:Fallback>
      </mc:AlternateContent>
      <p:sp>
        <p:nvSpPr>
          <p:cNvPr id="19" name="TextBox 18"/>
          <p:cNvSpPr txBox="1"/>
          <p:nvPr/>
        </p:nvSpPr>
        <p:spPr>
          <a:xfrm>
            <a:off x="6446520" y="3835670"/>
            <a:ext cx="4343400" cy="320040"/>
          </a:xfrm>
          <a:prstGeom prst="rect">
            <a:avLst/>
          </a:prstGeom>
          <a:noFill/>
        </p:spPr>
        <p:txBody>
          <a:bodyPr wrap="square" lIns="0" tIns="0" rIns="0" bIns="0">
            <a:spAutoFit/>
          </a:bodyPr>
          <a:lstStyle/>
          <a:p>
            <a:pPr algn="ctr">
              <a:spcAft>
                <a:spcPts val="100"/>
              </a:spcAft>
            </a:pPr>
            <a:r>
              <a:rPr sz="2000" b="1">
                <a:solidFill>
                  <a:srgbClr val="C00000"/>
                </a:solidFill>
                <a:latin typeface="Cambria Math"/>
              </a:rPr>
              <a:t>δe = [0, 2, 1, 0]</a:t>
            </a:r>
          </a:p>
        </p:txBody>
      </p:sp>
      <p:graphicFrame>
        <p:nvGraphicFramePr>
          <p:cNvPr id="20" name="Table 19"/>
          <p:cNvGraphicFramePr>
            <a:graphicFrameLocks noGrp="1"/>
          </p:cNvGraphicFramePr>
          <p:nvPr>
            <p:extLst>
              <p:ext uri="{D42A27DB-BD31-4B8C-83A1-F6EECF244321}">
                <p14:modId xmlns:p14="http://schemas.microsoft.com/office/powerpoint/2010/main" val="1223580818"/>
              </p:ext>
            </p:extLst>
          </p:nvPr>
        </p:nvGraphicFramePr>
        <p:xfrm>
          <a:off x="6583680" y="4430030"/>
          <a:ext cx="4389120" cy="621792"/>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10896">
                <a:tc>
                  <a:txBody>
                    <a:bodyPr/>
                    <a:lstStyle/>
                    <a:p>
                      <a:pPr algn="ctr"/>
                      <a:r>
                        <a:rPr sz="980" b="1">
                          <a:solidFill>
                            <a:srgbClr val="FFFFFF"/>
                          </a:solidFill>
                          <a:latin typeface="Arial"/>
                        </a:rPr>
                        <a:t>P0</a:t>
                      </a:r>
                    </a:p>
                  </a:txBody>
                  <a:tcPr marL="27432" marR="27432" marT="18288" marB="18288">
                    <a:solidFill>
                      <a:srgbClr val="00245D"/>
                    </a:solidFill>
                  </a:tcPr>
                </a:tc>
                <a:tc>
                  <a:txBody>
                    <a:bodyPr/>
                    <a:lstStyle/>
                    <a:p>
                      <a:pPr algn="ctr"/>
                      <a:r>
                        <a:rPr sz="980" b="1">
                          <a:solidFill>
                            <a:srgbClr val="FFFFFF"/>
                          </a:solidFill>
                          <a:latin typeface="Arial"/>
                        </a:rPr>
                        <a:t>P1</a:t>
                      </a:r>
                    </a:p>
                  </a:txBody>
                  <a:tcPr marL="27432" marR="27432" marT="18288" marB="18288">
                    <a:solidFill>
                      <a:srgbClr val="00245D"/>
                    </a:solidFill>
                  </a:tcPr>
                </a:tc>
                <a:tc>
                  <a:txBody>
                    <a:bodyPr/>
                    <a:lstStyle/>
                    <a:p>
                      <a:pPr algn="ctr"/>
                      <a:r>
                        <a:rPr sz="980" b="1">
                          <a:solidFill>
                            <a:srgbClr val="FFFFFF"/>
                          </a:solidFill>
                          <a:latin typeface="Arial"/>
                        </a:rPr>
                        <a:t>P2</a:t>
                      </a:r>
                    </a:p>
                  </a:txBody>
                  <a:tcPr marL="27432" marR="27432" marT="18288" marB="18288">
                    <a:solidFill>
                      <a:srgbClr val="00245D"/>
                    </a:solidFill>
                  </a:tcPr>
                </a:tc>
                <a:tc>
                  <a:txBody>
                    <a:bodyPr/>
                    <a:lstStyle/>
                    <a:p>
                      <a:pPr algn="ctr"/>
                      <a:r>
                        <a:rPr sz="980" b="1">
                          <a:solidFill>
                            <a:srgbClr val="FFFFFF"/>
                          </a:solidFill>
                          <a:latin typeface="Arial"/>
                        </a:rPr>
                        <a:t>P3</a:t>
                      </a:r>
                    </a:p>
                  </a:txBody>
                  <a:tcPr marL="27432" marR="27432" marT="18288" marB="18288">
                    <a:solidFill>
                      <a:srgbClr val="00245D"/>
                    </a:solidFill>
                  </a:tcPr>
                </a:tc>
                <a:extLst>
                  <a:ext uri="{0D108BD9-81ED-4DB2-BD59-A6C34878D82A}">
                    <a16:rowId xmlns:a16="http://schemas.microsoft.com/office/drawing/2014/main" val="10000"/>
                  </a:ext>
                </a:extLst>
              </a:tr>
              <a:tr h="310896">
                <a:tc>
                  <a:txBody>
                    <a:bodyPr/>
                    <a:lstStyle/>
                    <a:p>
                      <a:pPr algn="ctr"/>
                      <a:r>
                        <a:rPr sz="980" b="0">
                          <a:solidFill>
                            <a:srgbClr val="2D2D2D"/>
                          </a:solidFill>
                          <a:latin typeface="Arial"/>
                        </a:rPr>
                        <a:t>shift 0</a:t>
                      </a:r>
                    </a:p>
                  </a:txBody>
                  <a:tcPr marL="27432" marR="27432" marT="18288" marB="18288">
                    <a:solidFill>
                      <a:srgbClr val="FFFFFF"/>
                    </a:solidFill>
                  </a:tcPr>
                </a:tc>
                <a:tc>
                  <a:txBody>
                    <a:bodyPr/>
                    <a:lstStyle/>
                    <a:p>
                      <a:pPr algn="ctr"/>
                      <a:r>
                        <a:rPr sz="980" b="0">
                          <a:solidFill>
                            <a:srgbClr val="2D2D2D"/>
                          </a:solidFill>
                          <a:latin typeface="Arial"/>
                        </a:rPr>
                        <a:t>shift 2</a:t>
                      </a:r>
                    </a:p>
                  </a:txBody>
                  <a:tcPr marL="27432" marR="27432" marT="18288" marB="18288">
                    <a:solidFill>
                      <a:srgbClr val="FFFFFF"/>
                    </a:solidFill>
                  </a:tcPr>
                </a:tc>
                <a:tc>
                  <a:txBody>
                    <a:bodyPr/>
                    <a:lstStyle/>
                    <a:p>
                      <a:pPr algn="ctr"/>
                      <a:r>
                        <a:rPr sz="980" b="0">
                          <a:solidFill>
                            <a:srgbClr val="2D2D2D"/>
                          </a:solidFill>
                          <a:latin typeface="Arial"/>
                        </a:rPr>
                        <a:t>shift 1</a:t>
                      </a:r>
                    </a:p>
                  </a:txBody>
                  <a:tcPr marL="27432" marR="27432" marT="18288" marB="18288">
                    <a:solidFill>
                      <a:srgbClr val="FFFFFF"/>
                    </a:solidFill>
                  </a:tcPr>
                </a:tc>
                <a:tc>
                  <a:txBody>
                    <a:bodyPr/>
                    <a:lstStyle/>
                    <a:p>
                      <a:pPr algn="ctr"/>
                      <a:r>
                        <a:rPr sz="980" b="0">
                          <a:solidFill>
                            <a:srgbClr val="2D2D2D"/>
                          </a:solidFill>
                          <a:latin typeface="Arial"/>
                        </a:rPr>
                        <a:t>shift 0</a:t>
                      </a:r>
                    </a:p>
                  </a:txBody>
                  <a:tcPr marL="27432" marR="27432" marT="18288" marB="18288">
                    <a:solidFill>
                      <a:srgbClr val="FFFFFF"/>
                    </a:solidFill>
                  </a:tcPr>
                </a:tc>
                <a:extLst>
                  <a:ext uri="{0D108BD9-81ED-4DB2-BD59-A6C34878D82A}">
                    <a16:rowId xmlns:a16="http://schemas.microsoft.com/office/drawing/2014/main" val="10001"/>
                  </a:ext>
                </a:extLst>
              </a:tr>
            </a:tbl>
          </a:graphicData>
        </a:graphic>
      </p:graphicFrame>
      <p:sp>
        <p:nvSpPr>
          <p:cNvPr id="21" name="TextBox 20"/>
          <p:cNvSpPr txBox="1"/>
          <p:nvPr/>
        </p:nvSpPr>
        <p:spPr>
          <a:xfrm>
            <a:off x="6446520" y="5207270"/>
            <a:ext cx="4434840" cy="182880"/>
          </a:xfrm>
          <a:prstGeom prst="rect">
            <a:avLst/>
          </a:prstGeom>
          <a:noFill/>
        </p:spPr>
        <p:txBody>
          <a:bodyPr wrap="square" lIns="0" tIns="0" rIns="0" bIns="0">
            <a:spAutoFit/>
          </a:bodyPr>
          <a:lstStyle/>
          <a:p>
            <a:pPr algn="ctr">
              <a:spcAft>
                <a:spcPts val="100"/>
              </a:spcAft>
            </a:pPr>
            <a:r>
              <a:rPr sz="1050" b="1">
                <a:solidFill>
                  <a:srgbClr val="2D2D2D"/>
                </a:solidFill>
                <a:latin typeface="Arial"/>
              </a:rPr>
              <a:t>δe controls the right shifter in Step 2.</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6B3849E-A43A-2871-8418-05D8637BA66A}"/>
                  </a:ext>
                </a:extLst>
              </p:cNvPr>
              <p:cNvSpPr txBox="1"/>
              <p:nvPr/>
            </p:nvSpPr>
            <p:spPr>
              <a:xfrm>
                <a:off x="238721" y="1981060"/>
                <a:ext cx="4160520" cy="1127745"/>
              </a:xfrm>
              <a:prstGeom prst="rect">
                <a:avLst/>
              </a:prstGeom>
              <a:noFill/>
            </p:spPr>
            <p:txBody>
              <a:bodyPr wrap="square" lIns="0" tIns="0" rIns="0" bIns="0">
                <a:spAutoFit/>
              </a:bodyPr>
              <a:lstStyle/>
              <a:p>
                <a:pPr algn="ctr">
                  <a:lnSpc>
                    <a:spcPct val="200000"/>
                  </a:lnSpc>
                </a:pPr>
                <a14:m>
                  <m:oMath xmlns:m="http://schemas.openxmlformats.org/officeDocument/2006/math">
                    <m:r>
                      <a:rPr lang="en-US" altLang="ko-KR" i="1" smtClean="0">
                        <a:solidFill>
                          <a:srgbClr val="00245D"/>
                        </a:solidFill>
                        <a:latin typeface="Cambria Math" panose="02040503050406030204" pitchFamily="18" charset="0"/>
                        <a:ea typeface="+mj-ea"/>
                      </a:rPr>
                      <m:t>𝐴</m:t>
                    </m:r>
                    <m:r>
                      <a:rPr lang="en-US" altLang="ko-KR" i="0">
                        <a:solidFill>
                          <a:srgbClr val="00245D"/>
                        </a:solidFill>
                        <a:latin typeface="Cambria Math" panose="02040503050406030204" pitchFamily="18" charset="0"/>
                        <a:ea typeface="+mj-ea"/>
                      </a:rPr>
                      <m:t>=</m:t>
                    </m:r>
                    <m:sSub>
                      <m:sSubPr>
                        <m:ctrlPr>
                          <a:rPr lang="en-US" altLang="ko-KR" i="1">
                            <a:solidFill>
                              <a:srgbClr val="00245D"/>
                            </a:solidFill>
                            <a:latin typeface="Cambria Math" panose="02040503050406030204" pitchFamily="18" charset="0"/>
                            <a:ea typeface="+mj-ea"/>
                          </a:rPr>
                        </m:ctrlPr>
                      </m:sSubPr>
                      <m:e>
                        <m:r>
                          <a:rPr lang="en-US" altLang="ko-KR" i="1">
                            <a:solidFill>
                              <a:srgbClr val="00245D"/>
                            </a:solidFill>
                            <a:latin typeface="Cambria Math" panose="02040503050406030204" pitchFamily="18" charset="0"/>
                            <a:ea typeface="+mj-ea"/>
                          </a:rPr>
                          <m:t>𝑀</m:t>
                        </m:r>
                      </m:e>
                      <m:sub>
                        <m:r>
                          <a:rPr lang="en-US" altLang="ko-KR" i="1">
                            <a:solidFill>
                              <a:srgbClr val="00245D"/>
                            </a:solidFill>
                            <a:latin typeface="Cambria Math" panose="02040503050406030204" pitchFamily="18" charset="0"/>
                            <a:ea typeface="+mj-ea"/>
                          </a:rPr>
                          <m:t>𝐴</m:t>
                        </m:r>
                      </m:sub>
                    </m:sSub>
                    <m:sSup>
                      <m:sSupPr>
                        <m:ctrlPr>
                          <a:rPr lang="en-US" altLang="ko-KR" i="0">
                            <a:solidFill>
                              <a:srgbClr val="00245D"/>
                            </a:solidFill>
                            <a:latin typeface="Cambria Math" panose="02040503050406030204" pitchFamily="18" charset="0"/>
                            <a:ea typeface="+mj-ea"/>
                          </a:rPr>
                        </m:ctrlPr>
                      </m:sSupPr>
                      <m:e>
                        <m:r>
                          <a:rPr lang="en-US" altLang="ko-KR" i="0">
                            <a:solidFill>
                              <a:srgbClr val="00245D"/>
                            </a:solidFill>
                            <a:latin typeface="Cambria Math" panose="02040503050406030204" pitchFamily="18" charset="0"/>
                            <a:ea typeface="+mj-ea"/>
                          </a:rPr>
                          <m:t>2</m:t>
                        </m:r>
                      </m:e>
                      <m:sup>
                        <m:sSub>
                          <m:sSubPr>
                            <m:ctrlPr>
                              <a:rPr lang="en-US" altLang="ko-KR" i="1">
                                <a:solidFill>
                                  <a:srgbClr val="00245D"/>
                                </a:solidFill>
                                <a:latin typeface="Cambria Math" panose="02040503050406030204" pitchFamily="18" charset="0"/>
                                <a:ea typeface="+mj-ea"/>
                              </a:rPr>
                            </m:ctrlPr>
                          </m:sSubPr>
                          <m:e>
                            <m:r>
                              <a:rPr lang="en-US" altLang="ko-KR" i="1">
                                <a:solidFill>
                                  <a:srgbClr val="00245D"/>
                                </a:solidFill>
                                <a:latin typeface="Cambria Math" panose="02040503050406030204" pitchFamily="18" charset="0"/>
                                <a:ea typeface="+mj-ea"/>
                              </a:rPr>
                              <m:t>𝐸</m:t>
                            </m:r>
                          </m:e>
                          <m:sub>
                            <m:r>
                              <a:rPr lang="en-US" altLang="ko-KR" i="1">
                                <a:solidFill>
                                  <a:srgbClr val="00245D"/>
                                </a:solidFill>
                                <a:latin typeface="Cambria Math" panose="02040503050406030204" pitchFamily="18" charset="0"/>
                                <a:ea typeface="+mj-ea"/>
                              </a:rPr>
                              <m:t>𝐴</m:t>
                            </m:r>
                          </m:sub>
                        </m:sSub>
                      </m:sup>
                    </m:sSup>
                  </m:oMath>
                </a14:m>
                <a:r>
                  <a:rPr lang="en-US" altLang="ko-KR" dirty="0">
                    <a:solidFill>
                      <a:srgbClr val="00245D"/>
                    </a:solidFill>
                    <a:latin typeface="+mj-ea"/>
                    <a:ea typeface="+mj-ea"/>
                  </a:rPr>
                  <a:t>, </a:t>
                </a:r>
                <a14:m>
                  <m:oMath xmlns:m="http://schemas.openxmlformats.org/officeDocument/2006/math">
                    <m:r>
                      <a:rPr lang="ko-KR" altLang="ko-KR" i="1" dirty="0" smtClean="0">
                        <a:solidFill>
                          <a:srgbClr val="00245D"/>
                        </a:solidFill>
                        <a:latin typeface="Cambria Math" panose="02040503050406030204" pitchFamily="18" charset="0"/>
                        <a:ea typeface="+mj-ea"/>
                      </a:rPr>
                      <m:t>𝑊</m:t>
                    </m:r>
                    <m:r>
                      <a:rPr lang="ko-KR" altLang="ko-KR" i="0" dirty="0" err="1">
                        <a:solidFill>
                          <a:srgbClr val="00245D"/>
                        </a:solidFill>
                        <a:latin typeface="Cambria Math" panose="02040503050406030204" pitchFamily="18" charset="0"/>
                        <a:ea typeface="+mj-ea"/>
                      </a:rPr>
                      <m:t>=</m:t>
                    </m:r>
                    <m:sSub>
                      <m:sSubPr>
                        <m:ctrlPr>
                          <a:rPr lang="ko-KR" altLang="ko-KR" i="1" dirty="0" err="1">
                            <a:solidFill>
                              <a:srgbClr val="00245D"/>
                            </a:solidFill>
                            <a:latin typeface="Cambria Math" panose="02040503050406030204" pitchFamily="18" charset="0"/>
                            <a:ea typeface="+mj-ea"/>
                          </a:rPr>
                        </m:ctrlPr>
                      </m:sSubPr>
                      <m:e>
                        <m:r>
                          <a:rPr lang="ko-KR" altLang="ko-KR" i="1" dirty="0" err="1">
                            <a:solidFill>
                              <a:srgbClr val="00245D"/>
                            </a:solidFill>
                            <a:latin typeface="Cambria Math" panose="02040503050406030204" pitchFamily="18" charset="0"/>
                            <a:ea typeface="+mj-ea"/>
                          </a:rPr>
                          <m:t>𝑀</m:t>
                        </m:r>
                      </m:e>
                      <m:sub>
                        <m:r>
                          <a:rPr lang="ko-KR" altLang="ko-KR" i="1" dirty="0" err="1">
                            <a:solidFill>
                              <a:srgbClr val="00245D"/>
                            </a:solidFill>
                            <a:latin typeface="Cambria Math" panose="02040503050406030204" pitchFamily="18" charset="0"/>
                            <a:ea typeface="+mj-ea"/>
                          </a:rPr>
                          <m:t>𝑊</m:t>
                        </m:r>
                      </m:sub>
                    </m:sSub>
                    <m:sSup>
                      <m:sSupPr>
                        <m:ctrlPr>
                          <a:rPr lang="ko-KR" altLang="ko-KR" i="0" dirty="0" err="1">
                            <a:solidFill>
                              <a:srgbClr val="00245D"/>
                            </a:solidFill>
                            <a:latin typeface="Cambria Math" panose="02040503050406030204" pitchFamily="18" charset="0"/>
                            <a:ea typeface="+mj-ea"/>
                          </a:rPr>
                        </m:ctrlPr>
                      </m:sSupPr>
                      <m:e>
                        <m:r>
                          <a:rPr lang="ko-KR" altLang="ko-KR" i="0" dirty="0" err="1">
                            <a:solidFill>
                              <a:srgbClr val="00245D"/>
                            </a:solidFill>
                            <a:latin typeface="Cambria Math" panose="02040503050406030204" pitchFamily="18" charset="0"/>
                            <a:ea typeface="+mj-ea"/>
                          </a:rPr>
                          <m:t>2</m:t>
                        </m:r>
                      </m:e>
                      <m:sup>
                        <m:sSub>
                          <m:sSubPr>
                            <m:ctrlPr>
                              <a:rPr lang="ko-KR" altLang="ko-KR" i="1" dirty="0" err="1">
                                <a:solidFill>
                                  <a:srgbClr val="00245D"/>
                                </a:solidFill>
                                <a:latin typeface="Cambria Math" panose="02040503050406030204" pitchFamily="18" charset="0"/>
                                <a:ea typeface="+mj-ea"/>
                              </a:rPr>
                            </m:ctrlPr>
                          </m:sSubPr>
                          <m:e>
                            <m:r>
                              <a:rPr lang="ko-KR" altLang="ko-KR" i="1" dirty="0" err="1">
                                <a:solidFill>
                                  <a:srgbClr val="00245D"/>
                                </a:solidFill>
                                <a:latin typeface="Cambria Math" panose="02040503050406030204" pitchFamily="18" charset="0"/>
                                <a:ea typeface="+mj-ea"/>
                              </a:rPr>
                              <m:t>𝐸</m:t>
                            </m:r>
                          </m:e>
                          <m:sub>
                            <m:r>
                              <a:rPr lang="ko-KR" altLang="ko-KR" i="1" dirty="0" err="1">
                                <a:solidFill>
                                  <a:srgbClr val="00245D"/>
                                </a:solidFill>
                                <a:latin typeface="Cambria Math" panose="02040503050406030204" pitchFamily="18" charset="0"/>
                                <a:ea typeface="+mj-ea"/>
                              </a:rPr>
                              <m:t>𝑊</m:t>
                            </m:r>
                          </m:sub>
                        </m:sSub>
                      </m:sup>
                    </m:sSup>
                  </m:oMath>
                </a14:m>
                <a:endParaRPr lang="en-US" altLang="ko-KR" dirty="0">
                  <a:solidFill>
                    <a:srgbClr val="00245D"/>
                  </a:solidFill>
                  <a:latin typeface="+mj-ea"/>
                  <a:ea typeface="+mj-ea"/>
                </a:endParaRPr>
              </a:p>
              <a:p>
                <a:pPr algn="ctr">
                  <a:lnSpc>
                    <a:spcPct val="200000"/>
                  </a:lnSpc>
                </a:pPr>
                <a14:m>
                  <m:oMathPara xmlns:m="http://schemas.openxmlformats.org/officeDocument/2006/math">
                    <m:oMath>
                      <m:r>
                        <a:rPr lang="ko-KR" altLang="ko-KR" i="1" dirty="0" smtClean="0">
                          <a:solidFill>
                            <a:srgbClr val="00245D"/>
                          </a:solidFill>
                          <a:latin typeface="Cambria Math" panose="02040503050406030204" pitchFamily="18" charset="0"/>
                          <a:ea typeface="+mj-ea"/>
                        </a:rPr>
                        <m:t>𝐴</m:t>
                      </m:r>
                      <m:r>
                        <a:rPr lang="ko-KR" altLang="ko-KR" i="0" dirty="0" err="1">
                          <a:solidFill>
                            <a:srgbClr val="00245D"/>
                          </a:solidFill>
                          <a:latin typeface="Cambria Math" panose="02040503050406030204" pitchFamily="18" charset="0"/>
                          <a:ea typeface="+mj-ea"/>
                        </a:rPr>
                        <m:t>×</m:t>
                      </m:r>
                      <m:r>
                        <a:rPr lang="ko-KR" altLang="ko-KR" i="1" dirty="0" err="1">
                          <a:solidFill>
                            <a:srgbClr val="00245D"/>
                          </a:solidFill>
                          <a:latin typeface="Cambria Math" panose="02040503050406030204" pitchFamily="18" charset="0"/>
                          <a:ea typeface="+mj-ea"/>
                        </a:rPr>
                        <m:t>𝑊</m:t>
                      </m:r>
                      <m:r>
                        <a:rPr lang="ko-KR" altLang="ko-KR" i="0" dirty="0" err="1">
                          <a:solidFill>
                            <a:srgbClr val="00245D"/>
                          </a:solidFill>
                          <a:latin typeface="Cambria Math" panose="02040503050406030204" pitchFamily="18" charset="0"/>
                          <a:ea typeface="+mj-ea"/>
                        </a:rPr>
                        <m:t>=</m:t>
                      </m:r>
                      <m:d>
                        <m:dPr>
                          <m:ctrlPr>
                            <a:rPr lang="ko-KR" altLang="ko-KR" i="1" dirty="0" err="1">
                              <a:solidFill>
                                <a:srgbClr val="00245D"/>
                              </a:solidFill>
                              <a:latin typeface="Cambria Math" panose="02040503050406030204" pitchFamily="18" charset="0"/>
                              <a:ea typeface="+mj-ea"/>
                            </a:rPr>
                          </m:ctrlPr>
                        </m:dPr>
                        <m:e>
                          <m:sSub>
                            <m:sSubPr>
                              <m:ctrlPr>
                                <a:rPr lang="ko-KR" altLang="ko-KR" i="1" dirty="0" err="1">
                                  <a:solidFill>
                                    <a:srgbClr val="00245D"/>
                                  </a:solidFill>
                                  <a:latin typeface="Cambria Math" panose="02040503050406030204" pitchFamily="18" charset="0"/>
                                  <a:ea typeface="+mj-ea"/>
                                </a:rPr>
                              </m:ctrlPr>
                            </m:sSubPr>
                            <m:e>
                              <m:r>
                                <a:rPr lang="ko-KR" altLang="ko-KR" i="1" dirty="0" err="1">
                                  <a:solidFill>
                                    <a:srgbClr val="00245D"/>
                                  </a:solidFill>
                                  <a:latin typeface="Cambria Math" panose="02040503050406030204" pitchFamily="18" charset="0"/>
                                  <a:ea typeface="+mj-ea"/>
                                </a:rPr>
                                <m:t>𝑀</m:t>
                              </m:r>
                            </m:e>
                            <m:sub>
                              <m:r>
                                <a:rPr lang="ko-KR" altLang="ko-KR" i="1" dirty="0" err="1">
                                  <a:solidFill>
                                    <a:srgbClr val="00245D"/>
                                  </a:solidFill>
                                  <a:latin typeface="Cambria Math" panose="02040503050406030204" pitchFamily="18" charset="0"/>
                                  <a:ea typeface="+mj-ea"/>
                                </a:rPr>
                                <m:t>𝐴</m:t>
                              </m:r>
                            </m:sub>
                          </m:sSub>
                          <m:sSub>
                            <m:sSubPr>
                              <m:ctrlPr>
                                <a:rPr lang="ko-KR" altLang="ko-KR" i="1" dirty="0" err="1">
                                  <a:solidFill>
                                    <a:srgbClr val="00245D"/>
                                  </a:solidFill>
                                  <a:latin typeface="Cambria Math" panose="02040503050406030204" pitchFamily="18" charset="0"/>
                                  <a:ea typeface="+mj-ea"/>
                                </a:rPr>
                              </m:ctrlPr>
                            </m:sSubPr>
                            <m:e>
                              <m:r>
                                <a:rPr lang="ko-KR" altLang="ko-KR" i="1" dirty="0" err="1">
                                  <a:solidFill>
                                    <a:srgbClr val="00245D"/>
                                  </a:solidFill>
                                  <a:latin typeface="Cambria Math" panose="02040503050406030204" pitchFamily="18" charset="0"/>
                                  <a:ea typeface="+mj-ea"/>
                                </a:rPr>
                                <m:t>𝑀</m:t>
                              </m:r>
                            </m:e>
                            <m:sub>
                              <m:r>
                                <a:rPr lang="ko-KR" altLang="ko-KR" i="1" dirty="0" err="1">
                                  <a:solidFill>
                                    <a:srgbClr val="00245D"/>
                                  </a:solidFill>
                                  <a:latin typeface="Cambria Math" panose="02040503050406030204" pitchFamily="18" charset="0"/>
                                  <a:ea typeface="+mj-ea"/>
                                </a:rPr>
                                <m:t>𝑊</m:t>
                              </m:r>
                            </m:sub>
                          </m:sSub>
                        </m:e>
                      </m:d>
                      <m:sSup>
                        <m:sSupPr>
                          <m:ctrlPr>
                            <a:rPr lang="ko-KR" altLang="ko-KR" i="0" dirty="0" err="1">
                              <a:solidFill>
                                <a:srgbClr val="00245D"/>
                              </a:solidFill>
                              <a:latin typeface="Cambria Math" panose="02040503050406030204" pitchFamily="18" charset="0"/>
                              <a:ea typeface="+mj-ea"/>
                            </a:rPr>
                          </m:ctrlPr>
                        </m:sSupPr>
                        <m:e>
                          <m:r>
                            <a:rPr lang="ko-KR" altLang="ko-KR" i="0" dirty="0" err="1">
                              <a:solidFill>
                                <a:srgbClr val="00245D"/>
                              </a:solidFill>
                              <a:latin typeface="Cambria Math" panose="02040503050406030204" pitchFamily="18" charset="0"/>
                              <a:ea typeface="+mj-ea"/>
                            </a:rPr>
                            <m:t>2</m:t>
                          </m:r>
                        </m:e>
                        <m:sup>
                          <m:sSub>
                            <m:sSubPr>
                              <m:ctrlPr>
                                <a:rPr lang="ko-KR" altLang="ko-KR" i="1" dirty="0" err="1">
                                  <a:solidFill>
                                    <a:srgbClr val="00245D"/>
                                  </a:solidFill>
                                  <a:latin typeface="Cambria Math" panose="02040503050406030204" pitchFamily="18" charset="0"/>
                                  <a:ea typeface="+mj-ea"/>
                                </a:rPr>
                              </m:ctrlPr>
                            </m:sSubPr>
                            <m:e>
                              <m:r>
                                <a:rPr lang="ko-KR" altLang="ko-KR" i="1" dirty="0" err="1">
                                  <a:solidFill>
                                    <a:srgbClr val="00245D"/>
                                  </a:solidFill>
                                  <a:latin typeface="Cambria Math" panose="02040503050406030204" pitchFamily="18" charset="0"/>
                                  <a:ea typeface="+mj-ea"/>
                                </a:rPr>
                                <m:t>𝐸</m:t>
                              </m:r>
                            </m:e>
                            <m:sub>
                              <m:r>
                                <a:rPr lang="ko-KR" altLang="ko-KR" i="1" dirty="0" err="1">
                                  <a:solidFill>
                                    <a:srgbClr val="00245D"/>
                                  </a:solidFill>
                                  <a:latin typeface="Cambria Math" panose="02040503050406030204" pitchFamily="18" charset="0"/>
                                  <a:ea typeface="+mj-ea"/>
                                </a:rPr>
                                <m:t>𝐴</m:t>
                              </m:r>
                            </m:sub>
                          </m:sSub>
                          <m:r>
                            <a:rPr lang="ko-KR" altLang="ko-KR" i="0" dirty="0" err="1">
                              <a:solidFill>
                                <a:srgbClr val="00245D"/>
                              </a:solidFill>
                              <a:latin typeface="Cambria Math" panose="02040503050406030204" pitchFamily="18" charset="0"/>
                              <a:ea typeface="+mj-ea"/>
                            </a:rPr>
                            <m:t>+</m:t>
                          </m:r>
                          <m:sSub>
                            <m:sSubPr>
                              <m:ctrlPr>
                                <a:rPr lang="ko-KR" altLang="ko-KR" i="1" dirty="0" err="1">
                                  <a:solidFill>
                                    <a:srgbClr val="00245D"/>
                                  </a:solidFill>
                                  <a:latin typeface="Cambria Math" panose="02040503050406030204" pitchFamily="18" charset="0"/>
                                  <a:ea typeface="+mj-ea"/>
                                </a:rPr>
                              </m:ctrlPr>
                            </m:sSubPr>
                            <m:e>
                              <m:r>
                                <a:rPr lang="ko-KR" altLang="ko-KR" i="1" dirty="0" err="1">
                                  <a:solidFill>
                                    <a:srgbClr val="00245D"/>
                                  </a:solidFill>
                                  <a:latin typeface="Cambria Math" panose="02040503050406030204" pitchFamily="18" charset="0"/>
                                  <a:ea typeface="+mj-ea"/>
                                </a:rPr>
                                <m:t>𝐸</m:t>
                              </m:r>
                            </m:e>
                            <m:sub>
                              <m:r>
                                <a:rPr lang="ko-KR" altLang="ko-KR" i="1" dirty="0" err="1">
                                  <a:solidFill>
                                    <a:srgbClr val="00245D"/>
                                  </a:solidFill>
                                  <a:latin typeface="Cambria Math" panose="02040503050406030204" pitchFamily="18" charset="0"/>
                                  <a:ea typeface="+mj-ea"/>
                                </a:rPr>
                                <m:t>𝑊</m:t>
                              </m:r>
                            </m:sub>
                          </m:sSub>
                        </m:sup>
                      </m:sSup>
                    </m:oMath>
                  </m:oMathPara>
                </a14:m>
                <a:endParaRPr lang="ko-KR" altLang="ko-KR" dirty="0">
                  <a:solidFill>
                    <a:srgbClr val="00245D"/>
                  </a:solidFill>
                  <a:latin typeface="+mj-ea"/>
                  <a:ea typeface="+mj-ea"/>
                </a:endParaRPr>
              </a:p>
            </p:txBody>
          </p:sp>
        </mc:Choice>
        <mc:Fallback xmlns="">
          <p:sp>
            <p:nvSpPr>
              <p:cNvPr id="27" name="TextBox 26">
                <a:extLst>
                  <a:ext uri="{FF2B5EF4-FFF2-40B4-BE49-F238E27FC236}">
                    <a16:creationId xmlns:a16="http://schemas.microsoft.com/office/drawing/2014/main" id="{16B3849E-A43A-2871-8418-05D8637BA66A}"/>
                  </a:ext>
                </a:extLst>
              </p:cNvPr>
              <p:cNvSpPr txBox="1">
                <a:spLocks noRot="1" noChangeAspect="1" noMove="1" noResize="1" noEditPoints="1" noAdjustHandles="1" noChangeArrowheads="1" noChangeShapeType="1" noTextEdit="1"/>
              </p:cNvSpPr>
              <p:nvPr/>
            </p:nvSpPr>
            <p:spPr>
              <a:xfrm>
                <a:off x="238721" y="1981060"/>
                <a:ext cx="4160520" cy="1127745"/>
              </a:xfrm>
              <a:prstGeom prst="rect">
                <a:avLst/>
              </a:prstGeom>
              <a:blipFill>
                <a:blip r:embed="rId6"/>
                <a:stretch>
                  <a:fillRect/>
                </a:stretch>
              </a:blipFill>
            </p:spPr>
            <p:txBody>
              <a:bodyPr/>
              <a:lstStyle/>
              <a:p>
                <a:r>
                  <a:rPr lang="ko-KR" altLang="en-US">
                    <a:noFill/>
                  </a:rPr>
                  <a:t> </a:t>
                </a:r>
              </a:p>
            </p:txBody>
          </p:sp>
        </mc:Fallback>
      </mc:AlternateContent>
      <p:pic>
        <p:nvPicPr>
          <p:cNvPr id="29" name="그림 28">
            <a:extLst>
              <a:ext uri="{FF2B5EF4-FFF2-40B4-BE49-F238E27FC236}">
                <a16:creationId xmlns:a16="http://schemas.microsoft.com/office/drawing/2014/main" id="{E3344FA2-2706-9AA2-5D2E-6BED8E2A3E59}"/>
              </a:ext>
            </a:extLst>
          </p:cNvPr>
          <p:cNvPicPr>
            <a:picLocks noChangeAspect="1"/>
          </p:cNvPicPr>
          <p:nvPr/>
        </p:nvPicPr>
        <p:blipFill>
          <a:blip r:embed="rId7"/>
          <a:stretch>
            <a:fillRect/>
          </a:stretch>
        </p:blipFill>
        <p:spPr>
          <a:xfrm>
            <a:off x="3640661" y="2095043"/>
            <a:ext cx="1909505" cy="2009256"/>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332720" cy="292608"/>
          </a:xfrm>
          <a:prstGeom prst="rect">
            <a:avLst/>
          </a:prstGeom>
          <a:noFill/>
        </p:spPr>
        <p:txBody>
          <a:bodyPr wrap="none">
            <a:spAutoFit/>
          </a:bodyPr>
          <a:lstStyle/>
          <a:p>
            <a:r>
              <a:rPr sz="2000" b="1">
                <a:solidFill>
                  <a:srgbClr val="000000"/>
                </a:solidFill>
                <a:latin typeface="Arial"/>
              </a:rPr>
              <a:t>Step 2: Bit-serial Multiplication</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69</a:t>
            </a:r>
            <a:endParaRPr sz="1000" b="1" dirty="0">
              <a:solidFill>
                <a:srgbClr val="FFFFFF"/>
              </a:solidFill>
              <a:latin typeface="Arial"/>
            </a:endParaRPr>
          </a:p>
        </p:txBody>
      </p:sp>
      <p:sp>
        <p:nvSpPr>
          <p:cNvPr id="8" name="TextBox 7"/>
          <p:cNvSpPr txBox="1"/>
          <p:nvPr/>
        </p:nvSpPr>
        <p:spPr>
          <a:xfrm>
            <a:off x="594360" y="932688"/>
            <a:ext cx="10698480" cy="256032"/>
          </a:xfrm>
          <a:prstGeom prst="rect">
            <a:avLst/>
          </a:prstGeom>
          <a:noFill/>
        </p:spPr>
        <p:txBody>
          <a:bodyPr wrap="square" lIns="0" tIns="0" rIns="0" bIns="0">
            <a:spAutoFit/>
          </a:bodyPr>
          <a:lstStyle/>
          <a:p>
            <a:pPr algn="l">
              <a:spcAft>
                <a:spcPts val="100"/>
              </a:spcAft>
            </a:pPr>
            <a:r>
              <a:rPr sz="1300" b="0">
                <a:solidFill>
                  <a:srgbClr val="2D2D2D"/>
                </a:solidFill>
                <a:latin typeface="Arial"/>
              </a:rPr>
              <a:t>The heavy multiplication is simplified because the weight mantissa in each bit-serial term is only one bit.</a:t>
            </a:r>
          </a:p>
        </p:txBody>
      </p:sp>
      <p:sp>
        <p:nvSpPr>
          <p:cNvPr id="9" name="Rounded Rectangle 8"/>
          <p:cNvSpPr/>
          <p:nvPr/>
        </p:nvSpPr>
        <p:spPr>
          <a:xfrm>
            <a:off x="685800" y="1371600"/>
            <a:ext cx="4983480" cy="425196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6432" y="1695009"/>
            <a:ext cx="452628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1-bit × 11-bit multiplication</a:t>
            </a:r>
          </a:p>
        </p:txBody>
      </p:sp>
      <mc:AlternateContent xmlns:mc="http://schemas.openxmlformats.org/markup-compatibility/2006" xmlns:a14="http://schemas.microsoft.com/office/drawing/2010/main">
        <mc:Choice Requires="a14">
          <p:sp>
            <p:nvSpPr>
              <p:cNvPr id="11" name="TextBox 10"/>
              <p:cNvSpPr txBox="1"/>
              <p:nvPr/>
            </p:nvSpPr>
            <p:spPr>
              <a:xfrm>
                <a:off x="-196594" y="2205304"/>
                <a:ext cx="3977639" cy="382156"/>
              </a:xfrm>
              <a:prstGeom prst="rect">
                <a:avLst/>
              </a:prstGeom>
              <a:noFill/>
            </p:spPr>
            <p:txBody>
              <a:bodyPr wrap="square" lIns="0" tIns="0" rIns="0" bIns="0">
                <a:spAutoFit/>
              </a:bodyPr>
              <a:lstStyle/>
              <a:p>
                <a:pPr algn="ctr">
                  <a:spcAft>
                    <a:spcPts val="100"/>
                  </a:spcAft>
                </a:pPr>
                <a14:m>
                  <m:oMathPara xmlns:m="http://schemas.openxmlformats.org/officeDocument/2006/math">
                    <m:oMath>
                      <m:sSub>
                        <m:sSubPr>
                          <m:ctrlPr>
                            <a:rPr lang="ko-KR" altLang="en-US" sz="2400" b="1" i="1" dirty="0" err="1">
                              <a:solidFill>
                                <a:srgbClr val="00245D"/>
                              </a:solidFill>
                              <a:latin typeface="Cambria Math" panose="02040503050406030204" pitchFamily="18" charset="0"/>
                            </a:rPr>
                          </m:ctrlPr>
                        </m:sSubPr>
                        <m:e>
                          <m:r>
                            <a:rPr lang="ko-KR" altLang="en-US" sz="2400" b="1" i="1" dirty="0" err="1">
                              <a:solidFill>
                                <a:srgbClr val="00245D"/>
                              </a:solidFill>
                              <a:latin typeface="Cambria Math" panose="02040503050406030204" pitchFamily="18" charset="0"/>
                            </a:rPr>
                            <m:t>𝑤</m:t>
                          </m:r>
                        </m:e>
                        <m:sub>
                          <m:r>
                            <a:rPr lang="ko-KR" altLang="en-US" sz="2400" b="1" i="1" dirty="0" err="1">
                              <a:solidFill>
                                <a:srgbClr val="00245D"/>
                              </a:solidFill>
                              <a:latin typeface="Cambria Math" panose="02040503050406030204" pitchFamily="18" charset="0"/>
                            </a:rPr>
                            <m:t>𝑚</m:t>
                          </m:r>
                        </m:sub>
                      </m:sSub>
                      <m:r>
                        <a:rPr lang="ko-KR" altLang="en-US" sz="2400" b="1" i="0" dirty="0" err="1">
                          <a:solidFill>
                            <a:srgbClr val="00245D"/>
                          </a:solidFill>
                          <a:latin typeface="Cambria Math" panose="02040503050406030204" pitchFamily="18" charset="0"/>
                        </a:rPr>
                        <m:t>×</m:t>
                      </m:r>
                      <m:sSub>
                        <m:sSubPr>
                          <m:ctrlPr>
                            <a:rPr lang="ko-KR" altLang="en-US" sz="2400" b="1" i="1" dirty="0" err="1">
                              <a:solidFill>
                                <a:srgbClr val="00245D"/>
                              </a:solidFill>
                              <a:latin typeface="Cambria Math" panose="02040503050406030204" pitchFamily="18" charset="0"/>
                            </a:rPr>
                          </m:ctrlPr>
                        </m:sSubPr>
                        <m:e>
                          <m:r>
                            <a:rPr lang="ko-KR" altLang="en-US" sz="2400" b="1" i="1" dirty="0" err="1">
                              <a:solidFill>
                                <a:srgbClr val="00245D"/>
                              </a:solidFill>
                              <a:latin typeface="Cambria Math" panose="02040503050406030204" pitchFamily="18" charset="0"/>
                            </a:rPr>
                            <m:t>𝑎</m:t>
                          </m:r>
                        </m:e>
                        <m:sub>
                          <m:r>
                            <a:rPr lang="ko-KR" altLang="en-US" sz="2400" b="1" i="1" dirty="0" err="1">
                              <a:solidFill>
                                <a:srgbClr val="00245D"/>
                              </a:solidFill>
                              <a:latin typeface="Cambria Math" panose="02040503050406030204" pitchFamily="18" charset="0"/>
                            </a:rPr>
                            <m:t>𝑚</m:t>
                          </m:r>
                        </m:sub>
                      </m:sSub>
                    </m:oMath>
                  </m:oMathPara>
                </a14:m>
                <a:endParaRPr sz="2400" b="1" dirty="0">
                  <a:solidFill>
                    <a:srgbClr val="00245D"/>
                  </a:solidFill>
                  <a:latin typeface="Cambria Math"/>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96594" y="2205304"/>
                <a:ext cx="3977639" cy="382156"/>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96594" y="2845384"/>
                <a:ext cx="3977639" cy="289823"/>
              </a:xfrm>
              <a:prstGeom prst="rect">
                <a:avLst/>
              </a:prstGeom>
              <a:noFill/>
            </p:spPr>
            <p:txBody>
              <a:bodyPr wrap="square" lIns="0" tIns="0" rIns="0" bIns="0">
                <a:spAutoFit/>
              </a:bodyPr>
              <a:lstStyle/>
              <a:p>
                <a:pPr algn="ctr">
                  <a:spcAft>
                    <a:spcPts val="100"/>
                  </a:spcAft>
                </a:pPr>
                <a14:m>
                  <m:oMathPara xmlns:m="http://schemas.openxmlformats.org/officeDocument/2006/math">
                    <m:oMath>
                      <m:sSub>
                        <m:sSubPr>
                          <m:ctrlPr>
                            <a:rPr lang="ko-KR" altLang="en-US" sz="1800" b="0" i="1" dirty="0" err="1">
                              <a:solidFill>
                                <a:srgbClr val="00245D"/>
                              </a:solidFill>
                              <a:latin typeface="Cambria Math" panose="02040503050406030204" pitchFamily="18" charset="0"/>
                            </a:rPr>
                          </m:ctrlPr>
                        </m:sSubPr>
                        <m:e>
                          <m:r>
                            <a:rPr lang="ko-KR" altLang="en-US" sz="1800" b="0" i="1" dirty="0" err="1">
                              <a:solidFill>
                                <a:srgbClr val="00245D"/>
                              </a:solidFill>
                              <a:latin typeface="Cambria Math" panose="02040503050406030204" pitchFamily="18" charset="0"/>
                            </a:rPr>
                            <m:t>𝑤</m:t>
                          </m:r>
                        </m:e>
                        <m:sub>
                          <m:r>
                            <a:rPr lang="ko-KR" altLang="en-US" sz="1800" b="0" i="1" dirty="0" err="1">
                              <a:solidFill>
                                <a:srgbClr val="00245D"/>
                              </a:solidFill>
                              <a:latin typeface="Cambria Math" panose="02040503050406030204" pitchFamily="18" charset="0"/>
                            </a:rPr>
                            <m:t>𝑚</m:t>
                          </m:r>
                        </m:sub>
                      </m:sSub>
                      <m:r>
                        <a:rPr lang="ko-KR" altLang="en-US" sz="1800" b="0" i="0" dirty="0" err="1">
                          <a:solidFill>
                            <a:srgbClr val="00245D"/>
                          </a:solidFill>
                          <a:latin typeface="Cambria Math" panose="02040503050406030204" pitchFamily="18" charset="0"/>
                        </a:rPr>
                        <m:t>∈0,1</m:t>
                      </m:r>
                    </m:oMath>
                  </m:oMathPara>
                </a14:m>
                <a:endParaRPr sz="1800" b="0" dirty="0">
                  <a:solidFill>
                    <a:srgbClr val="00245D"/>
                  </a:solidFill>
                  <a:latin typeface="Cambria Math"/>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96594" y="2845384"/>
                <a:ext cx="3977639" cy="289823"/>
              </a:xfrm>
              <a:prstGeom prst="rect">
                <a:avLst/>
              </a:prstGeom>
              <a:blipFill>
                <a:blip r:embed="rId4"/>
                <a:stretch>
                  <a:fillRect b="-851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25482713"/>
                  </p:ext>
                </p:extLst>
              </p:nvPr>
            </p:nvGraphicFramePr>
            <p:xfrm>
              <a:off x="819947" y="3272367"/>
              <a:ext cx="2236670" cy="1261872"/>
            </p:xfrm>
            <a:graphic>
              <a:graphicData uri="http://schemas.openxmlformats.org/drawingml/2006/table">
                <a:tbl>
                  <a:tblPr firstRow="1" bandRow="1">
                    <a:tableStyleId>{5C22544A-7EE6-4342-B048-85BDC9FD1C3A}</a:tableStyleId>
                  </a:tblPr>
                  <a:tblGrid>
                    <a:gridCol w="657844">
                      <a:extLst>
                        <a:ext uri="{9D8B030D-6E8A-4147-A177-3AD203B41FA5}">
                          <a16:colId xmlns:a16="http://schemas.microsoft.com/office/drawing/2014/main" val="20000"/>
                        </a:ext>
                      </a:extLst>
                    </a:gridCol>
                    <a:gridCol w="1578826">
                      <a:extLst>
                        <a:ext uri="{9D8B030D-6E8A-4147-A177-3AD203B41FA5}">
                          <a16:colId xmlns:a16="http://schemas.microsoft.com/office/drawing/2014/main" val="20001"/>
                        </a:ext>
                      </a:extLst>
                    </a:gridCol>
                  </a:tblGrid>
                  <a:tr h="420624">
                    <a:tc>
                      <a:txBody>
                        <a:bodyPr/>
                        <a:lstStyle/>
                        <a:p>
                          <a:pPr algn="ctr"/>
                          <a14:m>
                            <m:oMathPara xmlns:m="http://schemas.openxmlformats.org/officeDocument/2006/math">
                              <m:oMath>
                                <m:sSub>
                                  <m:sSubPr>
                                    <m:ctrlPr>
                                      <a:rPr lang="ko-KR" altLang="en-US" sz="1100" b="1" i="1" dirty="0" err="1">
                                        <a:solidFill>
                                          <a:srgbClr val="FFFFFF"/>
                                        </a:solidFill>
                                        <a:latin typeface="Cambria Math" panose="02040503050406030204" pitchFamily="18" charset="0"/>
                                      </a:rPr>
                                    </m:ctrlPr>
                                  </m:sSubPr>
                                  <m:e>
                                    <m:r>
                                      <a:rPr lang="ko-KR" altLang="en-US" sz="1100" b="1" i="1" dirty="0" err="1">
                                        <a:solidFill>
                                          <a:srgbClr val="FFFFFF"/>
                                        </a:solidFill>
                                        <a:latin typeface="Cambria Math" panose="02040503050406030204" pitchFamily="18" charset="0"/>
                                      </a:rPr>
                                      <m:t>𝑤</m:t>
                                    </m:r>
                                  </m:e>
                                  <m:sub>
                                    <m:r>
                                      <a:rPr lang="ko-KR" altLang="en-US" sz="1100" b="1" i="1" dirty="0" err="1">
                                        <a:solidFill>
                                          <a:srgbClr val="FFFFFF"/>
                                        </a:solidFill>
                                        <a:latin typeface="Cambria Math" panose="02040503050406030204" pitchFamily="18" charset="0"/>
                                      </a:rPr>
                                      <m:t>𝑚</m:t>
                                    </m:r>
                                  </m:sub>
                                </m:sSub>
                              </m:oMath>
                            </m:oMathPara>
                          </a14:m>
                          <a:endParaRPr sz="1100" b="1" dirty="0">
                            <a:solidFill>
                              <a:srgbClr val="FFFFFF"/>
                            </a:solidFill>
                            <a:latin typeface="Arial"/>
                          </a:endParaRPr>
                        </a:p>
                      </a:txBody>
                      <a:tcPr marL="27432" marR="27432" marT="18288" marB="18288">
                        <a:solidFill>
                          <a:srgbClr val="00245D"/>
                        </a:solidFill>
                      </a:tcPr>
                    </a:tc>
                    <a:tc>
                      <a:txBody>
                        <a:bodyPr/>
                        <a:lstStyle/>
                        <a:p>
                          <a:pPr algn="ctr"/>
                          <a:r>
                            <a:rPr sz="1100" b="1" dirty="0">
                              <a:solidFill>
                                <a:srgbClr val="FFFFFF"/>
                              </a:solidFill>
                              <a:latin typeface="Arial"/>
                            </a:rPr>
                            <a:t>Result</a:t>
                          </a:r>
                        </a:p>
                      </a:txBody>
                      <a:tcPr marL="27432" marR="27432" marT="18288" marB="18288">
                        <a:solidFill>
                          <a:srgbClr val="00245D"/>
                        </a:solidFill>
                      </a:tcPr>
                    </a:tc>
                    <a:extLst>
                      <a:ext uri="{0D108BD9-81ED-4DB2-BD59-A6C34878D82A}">
                        <a16:rowId xmlns:a16="http://schemas.microsoft.com/office/drawing/2014/main" val="10000"/>
                      </a:ext>
                    </a:extLst>
                  </a:tr>
                  <a:tr h="420624">
                    <a:tc>
                      <a:txBody>
                        <a:bodyPr/>
                        <a:lstStyle/>
                        <a:p>
                          <a:pPr algn="ctr"/>
                          <a:r>
                            <a:rPr sz="1100" b="0">
                              <a:solidFill>
                                <a:srgbClr val="2D2D2D"/>
                              </a:solidFill>
                              <a:latin typeface="Arial"/>
                            </a:rPr>
                            <a:t>0</a:t>
                          </a:r>
                        </a:p>
                      </a:txBody>
                      <a:tcPr marL="27432" marR="27432" marT="18288" marB="18288">
                        <a:solidFill>
                          <a:srgbClr val="FFFFFF"/>
                        </a:solidFill>
                      </a:tcPr>
                    </a:tc>
                    <a:tc>
                      <a:txBody>
                        <a:bodyPr/>
                        <a:lstStyle/>
                        <a:p>
                          <a:pPr algn="ctr"/>
                          <a:r>
                            <a:rPr sz="1100" b="0">
                              <a:solidFill>
                                <a:srgbClr val="2D2D2D"/>
                              </a:solidFill>
                              <a:latin typeface="Arial"/>
                            </a:rPr>
                            <a:t>0</a:t>
                          </a:r>
                        </a:p>
                      </a:txBody>
                      <a:tcPr marL="27432" marR="27432" marT="18288" marB="18288">
                        <a:solidFill>
                          <a:srgbClr val="FFFFFF"/>
                        </a:solidFill>
                      </a:tcPr>
                    </a:tc>
                    <a:extLst>
                      <a:ext uri="{0D108BD9-81ED-4DB2-BD59-A6C34878D82A}">
                        <a16:rowId xmlns:a16="http://schemas.microsoft.com/office/drawing/2014/main" val="10001"/>
                      </a:ext>
                    </a:extLst>
                  </a:tr>
                  <a:tr h="420624">
                    <a:tc>
                      <a:txBody>
                        <a:bodyPr/>
                        <a:lstStyle/>
                        <a:p>
                          <a:pPr algn="ctr"/>
                          <a:r>
                            <a:rPr sz="1100" b="0" dirty="0">
                              <a:solidFill>
                                <a:srgbClr val="2D2D2D"/>
                              </a:solidFill>
                              <a:latin typeface="Arial"/>
                            </a:rPr>
                            <a:t>1</a:t>
                          </a:r>
                        </a:p>
                      </a:txBody>
                      <a:tcPr marL="27432" marR="27432" marT="18288" marB="18288">
                        <a:solidFill>
                          <a:srgbClr val="F6F7F9"/>
                        </a:solidFill>
                      </a:tcPr>
                    </a:tc>
                    <a:tc>
                      <a:txBody>
                        <a:bodyPr/>
                        <a:lstStyle/>
                        <a:p>
                          <a:pPr algn="ctr"/>
                          <a14:m>
                            <m:oMath xmlns:m="http://schemas.openxmlformats.org/officeDocument/2006/math">
                              <m:sSub>
                                <m:sSubPr>
                                  <m:ctrlPr>
                                    <a:rPr lang="ko-KR" altLang="en-US" sz="1100" b="0" i="1" dirty="0" err="1">
                                      <a:solidFill>
                                        <a:srgbClr val="2D2D2D"/>
                                      </a:solidFill>
                                      <a:latin typeface="Cambria Math" panose="02040503050406030204" pitchFamily="18" charset="0"/>
                                    </a:rPr>
                                  </m:ctrlPr>
                                </m:sSubPr>
                                <m:e>
                                  <m:r>
                                    <a:rPr lang="ko-KR" altLang="en-US" sz="1100" b="0" i="1" dirty="0" err="1">
                                      <a:solidFill>
                                        <a:srgbClr val="2D2D2D"/>
                                      </a:solidFill>
                                      <a:latin typeface="Cambria Math" panose="02040503050406030204" pitchFamily="18" charset="0"/>
                                    </a:rPr>
                                    <m:t>𝑎</m:t>
                                  </m:r>
                                </m:e>
                                <m:sub>
                                  <m:r>
                                    <a:rPr lang="ko-KR" altLang="en-US" sz="1100" b="0" i="1" dirty="0" err="1">
                                      <a:solidFill>
                                        <a:srgbClr val="2D2D2D"/>
                                      </a:solidFill>
                                      <a:latin typeface="Cambria Math" panose="02040503050406030204" pitchFamily="18" charset="0"/>
                                    </a:rPr>
                                    <m:t>𝑚</m:t>
                                  </m:r>
                                </m:sub>
                              </m:sSub>
                            </m:oMath>
                          </a14:m>
                          <a:r>
                            <a:rPr sz="1100" b="0" dirty="0">
                              <a:solidFill>
                                <a:srgbClr val="2D2D2D"/>
                              </a:solidFill>
                              <a:latin typeface="Arial"/>
                            </a:rPr>
                            <a:t> </a:t>
                          </a:r>
                          <a:r>
                            <a:rPr sz="1100" b="0" dirty="0">
                              <a:solidFill>
                                <a:srgbClr val="FF0000"/>
                              </a:solidFill>
                              <a:latin typeface="Arial"/>
                            </a:rPr>
                            <a:t>passes through</a:t>
                          </a:r>
                        </a:p>
                      </a:txBody>
                      <a:tcPr marL="27432" marR="27432" marT="18288" marB="18288">
                        <a:solidFill>
                          <a:srgbClr val="F6F7F9"/>
                        </a:solidFill>
                      </a:tcPr>
                    </a:tc>
                    <a:extLst>
                      <a:ext uri="{0D108BD9-81ED-4DB2-BD59-A6C34878D82A}">
                        <a16:rowId xmlns:a16="http://schemas.microsoft.com/office/drawing/2014/main" val="10002"/>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25482713"/>
                  </p:ext>
                </p:extLst>
              </p:nvPr>
            </p:nvGraphicFramePr>
            <p:xfrm>
              <a:off x="819947" y="3272367"/>
              <a:ext cx="2236670" cy="1261872"/>
            </p:xfrm>
            <a:graphic>
              <a:graphicData uri="http://schemas.openxmlformats.org/drawingml/2006/table">
                <a:tbl>
                  <a:tblPr firstRow="1" bandRow="1">
                    <a:tableStyleId>{5C22544A-7EE6-4342-B048-85BDC9FD1C3A}</a:tableStyleId>
                  </a:tblPr>
                  <a:tblGrid>
                    <a:gridCol w="657844">
                      <a:extLst>
                        <a:ext uri="{9D8B030D-6E8A-4147-A177-3AD203B41FA5}">
                          <a16:colId xmlns:a16="http://schemas.microsoft.com/office/drawing/2014/main" val="20000"/>
                        </a:ext>
                      </a:extLst>
                    </a:gridCol>
                    <a:gridCol w="1578826">
                      <a:extLst>
                        <a:ext uri="{9D8B030D-6E8A-4147-A177-3AD203B41FA5}">
                          <a16:colId xmlns:a16="http://schemas.microsoft.com/office/drawing/2014/main" val="20001"/>
                        </a:ext>
                      </a:extLst>
                    </a:gridCol>
                  </a:tblGrid>
                  <a:tr h="420624">
                    <a:tc>
                      <a:txBody>
                        <a:bodyPr/>
                        <a:lstStyle/>
                        <a:p>
                          <a:endParaRPr lang="ko-KR"/>
                        </a:p>
                      </a:txBody>
                      <a:tcPr marL="27432" marR="27432" marT="18288" marB="18288">
                        <a:blipFill>
                          <a:blip r:embed="rId5"/>
                          <a:stretch>
                            <a:fillRect l="-926" t="-7246" r="-244444" b="-204348"/>
                          </a:stretch>
                        </a:blipFill>
                      </a:tcPr>
                    </a:tc>
                    <a:tc>
                      <a:txBody>
                        <a:bodyPr/>
                        <a:lstStyle/>
                        <a:p>
                          <a:pPr algn="ctr"/>
                          <a:r>
                            <a:rPr sz="1100" b="1" dirty="0">
                              <a:solidFill>
                                <a:srgbClr val="FFFFFF"/>
                              </a:solidFill>
                              <a:latin typeface="Arial"/>
                            </a:rPr>
                            <a:t>Result</a:t>
                          </a:r>
                        </a:p>
                      </a:txBody>
                      <a:tcPr marL="27432" marR="27432" marT="18288" marB="18288">
                        <a:solidFill>
                          <a:srgbClr val="00245D"/>
                        </a:solidFill>
                      </a:tcPr>
                    </a:tc>
                    <a:extLst>
                      <a:ext uri="{0D108BD9-81ED-4DB2-BD59-A6C34878D82A}">
                        <a16:rowId xmlns:a16="http://schemas.microsoft.com/office/drawing/2014/main" val="10000"/>
                      </a:ext>
                    </a:extLst>
                  </a:tr>
                  <a:tr h="420624">
                    <a:tc>
                      <a:txBody>
                        <a:bodyPr/>
                        <a:lstStyle/>
                        <a:p>
                          <a:pPr algn="ctr"/>
                          <a:r>
                            <a:rPr sz="1100" b="0">
                              <a:solidFill>
                                <a:srgbClr val="2D2D2D"/>
                              </a:solidFill>
                              <a:latin typeface="Arial"/>
                            </a:rPr>
                            <a:t>0</a:t>
                          </a:r>
                        </a:p>
                      </a:txBody>
                      <a:tcPr marL="27432" marR="27432" marT="18288" marB="18288">
                        <a:solidFill>
                          <a:srgbClr val="FFFFFF"/>
                        </a:solidFill>
                      </a:tcPr>
                    </a:tc>
                    <a:tc>
                      <a:txBody>
                        <a:bodyPr/>
                        <a:lstStyle/>
                        <a:p>
                          <a:pPr algn="ctr"/>
                          <a:r>
                            <a:rPr sz="1100" b="0">
                              <a:solidFill>
                                <a:srgbClr val="2D2D2D"/>
                              </a:solidFill>
                              <a:latin typeface="Arial"/>
                            </a:rPr>
                            <a:t>0</a:t>
                          </a:r>
                        </a:p>
                      </a:txBody>
                      <a:tcPr marL="27432" marR="27432" marT="18288" marB="18288">
                        <a:solidFill>
                          <a:srgbClr val="FFFFFF"/>
                        </a:solidFill>
                      </a:tcPr>
                    </a:tc>
                    <a:extLst>
                      <a:ext uri="{0D108BD9-81ED-4DB2-BD59-A6C34878D82A}">
                        <a16:rowId xmlns:a16="http://schemas.microsoft.com/office/drawing/2014/main" val="10001"/>
                      </a:ext>
                    </a:extLst>
                  </a:tr>
                  <a:tr h="420624">
                    <a:tc>
                      <a:txBody>
                        <a:bodyPr/>
                        <a:lstStyle/>
                        <a:p>
                          <a:pPr algn="ctr"/>
                          <a:r>
                            <a:rPr sz="1100" b="0" dirty="0">
                              <a:solidFill>
                                <a:srgbClr val="2D2D2D"/>
                              </a:solidFill>
                              <a:latin typeface="Arial"/>
                            </a:rPr>
                            <a:t>1</a:t>
                          </a:r>
                        </a:p>
                      </a:txBody>
                      <a:tcPr marL="27432" marR="27432" marT="18288" marB="18288">
                        <a:solidFill>
                          <a:srgbClr val="F6F7F9"/>
                        </a:solidFill>
                      </a:tcPr>
                    </a:tc>
                    <a:tc>
                      <a:txBody>
                        <a:bodyPr/>
                        <a:lstStyle/>
                        <a:p>
                          <a:endParaRPr lang="ko-KR"/>
                        </a:p>
                      </a:txBody>
                      <a:tcPr marL="27432" marR="27432" marT="18288" marB="18288">
                        <a:blipFill>
                          <a:blip r:embed="rId5"/>
                          <a:stretch>
                            <a:fillRect l="-41923" t="-208696" r="-1538" b="-2899"/>
                          </a:stretch>
                        </a:blipFill>
                      </a:tcPr>
                    </a:tc>
                    <a:extLst>
                      <a:ext uri="{0D108BD9-81ED-4DB2-BD59-A6C34878D82A}">
                        <a16:rowId xmlns:a16="http://schemas.microsoft.com/office/drawing/2014/main" val="10002"/>
                      </a:ext>
                    </a:extLst>
                  </a:tr>
                </a:tbl>
              </a:graphicData>
            </a:graphic>
          </p:graphicFrame>
        </mc:Fallback>
      </mc:AlternateContent>
      <p:sp>
        <p:nvSpPr>
          <p:cNvPr id="14" name="TextBox 13"/>
          <p:cNvSpPr txBox="1"/>
          <p:nvPr/>
        </p:nvSpPr>
        <p:spPr>
          <a:xfrm>
            <a:off x="1063592" y="4760896"/>
            <a:ext cx="3977639" cy="347472"/>
          </a:xfrm>
          <a:prstGeom prst="rect">
            <a:avLst/>
          </a:prstGeom>
          <a:noFill/>
        </p:spPr>
        <p:txBody>
          <a:bodyPr wrap="square" lIns="0" tIns="0" rIns="0" bIns="0">
            <a:spAutoFit/>
          </a:bodyPr>
          <a:lstStyle/>
          <a:p>
            <a:pPr algn="ctr">
              <a:spcAft>
                <a:spcPts val="100"/>
              </a:spcAft>
            </a:pPr>
            <a:r>
              <a:rPr sz="1080" b="1">
                <a:solidFill>
                  <a:srgbClr val="2D2D2D"/>
                </a:solidFill>
                <a:latin typeface="Arial"/>
              </a:rPr>
              <a:t>This replaces a full multiplier with a lightweight bit-serial datapath.</a:t>
            </a:r>
          </a:p>
        </p:txBody>
      </p:sp>
      <p:sp>
        <p:nvSpPr>
          <p:cNvPr id="15" name="Rounded Rectangle 14"/>
          <p:cNvSpPr/>
          <p:nvPr/>
        </p:nvSpPr>
        <p:spPr>
          <a:xfrm>
            <a:off x="6080760" y="1371600"/>
            <a:ext cx="5074920" cy="4251960"/>
          </a:xfrm>
          <a:prstGeom prst="roundRect">
            <a:avLst/>
          </a:prstGeom>
          <a:solidFill>
            <a:srgbClr val="FFFAE6"/>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77940" y="1673111"/>
            <a:ext cx="466344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Right shift by </a:t>
            </a:r>
            <a:r>
              <a:rPr sz="1200" b="1" dirty="0" err="1">
                <a:solidFill>
                  <a:srgbClr val="00245D"/>
                </a:solidFill>
                <a:latin typeface="Arial"/>
              </a:rPr>
              <a:t>δe</a:t>
            </a:r>
            <a:endParaRPr sz="1200" b="1" dirty="0">
              <a:solidFill>
                <a:srgbClr val="00245D"/>
              </a:solidFill>
              <a:latin typeface="Arial"/>
            </a:endParaRPr>
          </a:p>
        </p:txBody>
      </p:sp>
      <p:sp>
        <p:nvSpPr>
          <p:cNvPr id="17" name="TextBox 16"/>
          <p:cNvSpPr txBox="1"/>
          <p:nvPr/>
        </p:nvSpPr>
        <p:spPr>
          <a:xfrm>
            <a:off x="6382512" y="2011680"/>
            <a:ext cx="4572000" cy="228600"/>
          </a:xfrm>
          <a:prstGeom prst="rect">
            <a:avLst/>
          </a:prstGeom>
          <a:noFill/>
        </p:spPr>
        <p:txBody>
          <a:bodyPr wrap="square" lIns="0" tIns="0" rIns="0" bIns="0">
            <a:spAutoFit/>
          </a:bodyPr>
          <a:lstStyle/>
          <a:p>
            <a:pPr algn="l">
              <a:spcAft>
                <a:spcPts val="100"/>
              </a:spcAft>
            </a:pPr>
            <a:r>
              <a:rPr sz="1050" b="0">
                <a:solidFill>
                  <a:srgbClr val="2D2D2D"/>
                </a:solidFill>
                <a:latin typeface="Arial"/>
              </a:rPr>
              <a:t>Using δe = [0, 2, 1, 0] and mantissas [1.5, 1.25, 1.0, 1.5]</a:t>
            </a:r>
          </a:p>
        </p:txBody>
      </p:sp>
      <p:graphicFrame>
        <p:nvGraphicFramePr>
          <p:cNvPr id="18" name="Table 17"/>
          <p:cNvGraphicFramePr>
            <a:graphicFrameLocks noGrp="1"/>
          </p:cNvGraphicFramePr>
          <p:nvPr/>
        </p:nvGraphicFramePr>
        <p:xfrm>
          <a:off x="6400800" y="2423160"/>
          <a:ext cx="4389120" cy="1316736"/>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29184">
                <a:tc>
                  <a:txBody>
                    <a:bodyPr/>
                    <a:lstStyle/>
                    <a:p>
                      <a:pPr algn="ctr"/>
                      <a:r>
                        <a:rPr sz="950" b="1">
                          <a:solidFill>
                            <a:srgbClr val="FFFFFF"/>
                          </a:solidFill>
                          <a:latin typeface="Arial"/>
                        </a:rPr>
                        <a:t>P0</a:t>
                      </a:r>
                    </a:p>
                  </a:txBody>
                  <a:tcPr marL="27432" marR="27432" marT="18288" marB="18288">
                    <a:solidFill>
                      <a:srgbClr val="00245D"/>
                    </a:solidFill>
                  </a:tcPr>
                </a:tc>
                <a:tc>
                  <a:txBody>
                    <a:bodyPr/>
                    <a:lstStyle/>
                    <a:p>
                      <a:pPr algn="ctr"/>
                      <a:r>
                        <a:rPr sz="950" b="1">
                          <a:solidFill>
                            <a:srgbClr val="FFFFFF"/>
                          </a:solidFill>
                          <a:latin typeface="Arial"/>
                        </a:rPr>
                        <a:t>P1</a:t>
                      </a:r>
                    </a:p>
                  </a:txBody>
                  <a:tcPr marL="27432" marR="27432" marT="18288" marB="18288">
                    <a:solidFill>
                      <a:srgbClr val="00245D"/>
                    </a:solidFill>
                  </a:tcPr>
                </a:tc>
                <a:tc>
                  <a:txBody>
                    <a:bodyPr/>
                    <a:lstStyle/>
                    <a:p>
                      <a:pPr algn="ctr"/>
                      <a:r>
                        <a:rPr sz="950" b="1">
                          <a:solidFill>
                            <a:srgbClr val="FFFFFF"/>
                          </a:solidFill>
                          <a:latin typeface="Arial"/>
                        </a:rPr>
                        <a:t>P2</a:t>
                      </a:r>
                    </a:p>
                  </a:txBody>
                  <a:tcPr marL="27432" marR="27432" marT="18288" marB="18288">
                    <a:solidFill>
                      <a:srgbClr val="00245D"/>
                    </a:solidFill>
                  </a:tcPr>
                </a:tc>
                <a:tc>
                  <a:txBody>
                    <a:bodyPr/>
                    <a:lstStyle/>
                    <a:p>
                      <a:pPr algn="ctr"/>
                      <a:r>
                        <a:rPr sz="950" b="1">
                          <a:solidFill>
                            <a:srgbClr val="FFFFFF"/>
                          </a:solidFill>
                          <a:latin typeface="Arial"/>
                        </a:rPr>
                        <a:t>P3</a:t>
                      </a:r>
                    </a:p>
                  </a:txBody>
                  <a:tcPr marL="27432" marR="27432" marT="18288" marB="18288">
                    <a:solidFill>
                      <a:srgbClr val="00245D"/>
                    </a:solidFill>
                  </a:tcPr>
                </a:tc>
                <a:extLst>
                  <a:ext uri="{0D108BD9-81ED-4DB2-BD59-A6C34878D82A}">
                    <a16:rowId xmlns:a16="http://schemas.microsoft.com/office/drawing/2014/main" val="10000"/>
                  </a:ext>
                </a:extLst>
              </a:tr>
              <a:tr h="329184">
                <a:tc>
                  <a:txBody>
                    <a:bodyPr/>
                    <a:lstStyle/>
                    <a:p>
                      <a:pPr algn="ctr"/>
                      <a:r>
                        <a:rPr sz="950" b="0">
                          <a:solidFill>
                            <a:srgbClr val="2D2D2D"/>
                          </a:solidFill>
                          <a:latin typeface="Arial"/>
                        </a:rPr>
                        <a:t>1.5</a:t>
                      </a:r>
                    </a:p>
                  </a:txBody>
                  <a:tcPr marL="27432" marR="27432" marT="18288" marB="18288">
                    <a:solidFill>
                      <a:srgbClr val="FFFFFF"/>
                    </a:solidFill>
                  </a:tcPr>
                </a:tc>
                <a:tc>
                  <a:txBody>
                    <a:bodyPr/>
                    <a:lstStyle/>
                    <a:p>
                      <a:pPr algn="ctr"/>
                      <a:r>
                        <a:rPr sz="950" b="0">
                          <a:solidFill>
                            <a:srgbClr val="2D2D2D"/>
                          </a:solidFill>
                          <a:latin typeface="Arial"/>
                        </a:rPr>
                        <a:t>1.25</a:t>
                      </a:r>
                    </a:p>
                  </a:txBody>
                  <a:tcPr marL="27432" marR="27432" marT="18288" marB="18288">
                    <a:solidFill>
                      <a:srgbClr val="FFFFFF"/>
                    </a:solidFill>
                  </a:tcPr>
                </a:tc>
                <a:tc>
                  <a:txBody>
                    <a:bodyPr/>
                    <a:lstStyle/>
                    <a:p>
                      <a:pPr algn="ctr"/>
                      <a:r>
                        <a:rPr sz="950" b="0">
                          <a:solidFill>
                            <a:srgbClr val="2D2D2D"/>
                          </a:solidFill>
                          <a:latin typeface="Arial"/>
                        </a:rPr>
                        <a:t>1.0</a:t>
                      </a:r>
                    </a:p>
                  </a:txBody>
                  <a:tcPr marL="27432" marR="27432" marT="18288" marB="18288">
                    <a:solidFill>
                      <a:srgbClr val="FFFFFF"/>
                    </a:solidFill>
                  </a:tcPr>
                </a:tc>
                <a:tc>
                  <a:txBody>
                    <a:bodyPr/>
                    <a:lstStyle/>
                    <a:p>
                      <a:pPr algn="ctr"/>
                      <a:r>
                        <a:rPr sz="950" b="0">
                          <a:solidFill>
                            <a:srgbClr val="2D2D2D"/>
                          </a:solidFill>
                          <a:latin typeface="Arial"/>
                        </a:rPr>
                        <a:t>1.5</a:t>
                      </a:r>
                    </a:p>
                  </a:txBody>
                  <a:tcPr marL="27432" marR="27432" marT="18288" marB="18288">
                    <a:solidFill>
                      <a:srgbClr val="FFFFFF"/>
                    </a:solidFill>
                  </a:tcPr>
                </a:tc>
                <a:extLst>
                  <a:ext uri="{0D108BD9-81ED-4DB2-BD59-A6C34878D82A}">
                    <a16:rowId xmlns:a16="http://schemas.microsoft.com/office/drawing/2014/main" val="10001"/>
                  </a:ext>
                </a:extLst>
              </a:tr>
              <a:tr h="329184">
                <a:tc>
                  <a:txBody>
                    <a:bodyPr/>
                    <a:lstStyle/>
                    <a:p>
                      <a:pPr algn="ctr"/>
                      <a:r>
                        <a:rPr sz="950" b="0">
                          <a:solidFill>
                            <a:srgbClr val="2D2D2D"/>
                          </a:solidFill>
                          <a:latin typeface="Arial"/>
                        </a:rPr>
                        <a:t>&gt;&gt;0</a:t>
                      </a:r>
                    </a:p>
                  </a:txBody>
                  <a:tcPr marL="27432" marR="27432" marT="18288" marB="18288">
                    <a:solidFill>
                      <a:srgbClr val="F6F7F9"/>
                    </a:solidFill>
                  </a:tcPr>
                </a:tc>
                <a:tc>
                  <a:txBody>
                    <a:bodyPr/>
                    <a:lstStyle/>
                    <a:p>
                      <a:pPr algn="ctr"/>
                      <a:r>
                        <a:rPr sz="950" b="0">
                          <a:solidFill>
                            <a:srgbClr val="2D2D2D"/>
                          </a:solidFill>
                          <a:latin typeface="Arial"/>
                        </a:rPr>
                        <a:t>&gt;&gt;2</a:t>
                      </a:r>
                    </a:p>
                  </a:txBody>
                  <a:tcPr marL="27432" marR="27432" marT="18288" marB="18288">
                    <a:solidFill>
                      <a:srgbClr val="F6F7F9"/>
                    </a:solidFill>
                  </a:tcPr>
                </a:tc>
                <a:tc>
                  <a:txBody>
                    <a:bodyPr/>
                    <a:lstStyle/>
                    <a:p>
                      <a:pPr algn="ctr"/>
                      <a:r>
                        <a:rPr sz="950" b="0">
                          <a:solidFill>
                            <a:srgbClr val="2D2D2D"/>
                          </a:solidFill>
                          <a:latin typeface="Arial"/>
                        </a:rPr>
                        <a:t>&gt;&gt;1</a:t>
                      </a:r>
                    </a:p>
                  </a:txBody>
                  <a:tcPr marL="27432" marR="27432" marT="18288" marB="18288">
                    <a:solidFill>
                      <a:srgbClr val="F6F7F9"/>
                    </a:solidFill>
                  </a:tcPr>
                </a:tc>
                <a:tc>
                  <a:txBody>
                    <a:bodyPr/>
                    <a:lstStyle/>
                    <a:p>
                      <a:pPr algn="ctr"/>
                      <a:r>
                        <a:rPr sz="950" b="0">
                          <a:solidFill>
                            <a:srgbClr val="2D2D2D"/>
                          </a:solidFill>
                          <a:latin typeface="Arial"/>
                        </a:rPr>
                        <a:t>&gt;&gt;0</a:t>
                      </a:r>
                    </a:p>
                  </a:txBody>
                  <a:tcPr marL="27432" marR="27432" marT="18288" marB="18288">
                    <a:solidFill>
                      <a:srgbClr val="F6F7F9"/>
                    </a:solidFill>
                  </a:tcPr>
                </a:tc>
                <a:extLst>
                  <a:ext uri="{0D108BD9-81ED-4DB2-BD59-A6C34878D82A}">
                    <a16:rowId xmlns:a16="http://schemas.microsoft.com/office/drawing/2014/main" val="10002"/>
                  </a:ext>
                </a:extLst>
              </a:tr>
              <a:tr h="329184">
                <a:tc>
                  <a:txBody>
                    <a:bodyPr/>
                    <a:lstStyle/>
                    <a:p>
                      <a:pPr algn="ctr"/>
                      <a:r>
                        <a:rPr sz="950" b="0">
                          <a:solidFill>
                            <a:srgbClr val="2D2D2D"/>
                          </a:solidFill>
                          <a:latin typeface="Arial"/>
                        </a:rPr>
                        <a:t>1.5</a:t>
                      </a:r>
                    </a:p>
                  </a:txBody>
                  <a:tcPr marL="27432" marR="27432" marT="18288" marB="18288">
                    <a:solidFill>
                      <a:srgbClr val="FFFFFF"/>
                    </a:solidFill>
                  </a:tcPr>
                </a:tc>
                <a:tc>
                  <a:txBody>
                    <a:bodyPr/>
                    <a:lstStyle/>
                    <a:p>
                      <a:pPr algn="ctr"/>
                      <a:r>
                        <a:rPr sz="950" b="0">
                          <a:solidFill>
                            <a:srgbClr val="2D2D2D"/>
                          </a:solidFill>
                          <a:latin typeface="Arial"/>
                        </a:rPr>
                        <a:t>0.3125</a:t>
                      </a:r>
                    </a:p>
                  </a:txBody>
                  <a:tcPr marL="27432" marR="27432" marT="18288" marB="18288">
                    <a:solidFill>
                      <a:srgbClr val="FFFFFF"/>
                    </a:solidFill>
                  </a:tcPr>
                </a:tc>
                <a:tc>
                  <a:txBody>
                    <a:bodyPr/>
                    <a:lstStyle/>
                    <a:p>
                      <a:pPr algn="ctr"/>
                      <a:r>
                        <a:rPr sz="950" b="0">
                          <a:solidFill>
                            <a:srgbClr val="2D2D2D"/>
                          </a:solidFill>
                          <a:latin typeface="Arial"/>
                        </a:rPr>
                        <a:t>0.5</a:t>
                      </a:r>
                    </a:p>
                  </a:txBody>
                  <a:tcPr marL="27432" marR="27432" marT="18288" marB="18288">
                    <a:solidFill>
                      <a:srgbClr val="FFFFFF"/>
                    </a:solidFill>
                  </a:tcPr>
                </a:tc>
                <a:tc>
                  <a:txBody>
                    <a:bodyPr/>
                    <a:lstStyle/>
                    <a:p>
                      <a:pPr algn="ctr"/>
                      <a:r>
                        <a:rPr sz="950" b="0">
                          <a:solidFill>
                            <a:srgbClr val="2D2D2D"/>
                          </a:solidFill>
                          <a:latin typeface="Arial"/>
                        </a:rPr>
                        <a:t>1.5</a:t>
                      </a:r>
                    </a:p>
                  </a:txBody>
                  <a:tcPr marL="27432" marR="27432" marT="18288" marB="18288">
                    <a:solidFill>
                      <a:srgbClr val="FFFFFF"/>
                    </a:solidFill>
                  </a:tcPr>
                </a:tc>
                <a:extLst>
                  <a:ext uri="{0D108BD9-81ED-4DB2-BD59-A6C34878D82A}">
                    <a16:rowId xmlns:a16="http://schemas.microsoft.com/office/drawing/2014/main" val="10003"/>
                  </a:ext>
                </a:extLst>
              </a:tr>
            </a:tbl>
          </a:graphicData>
        </a:graphic>
      </p:graphicFrame>
      <p:sp>
        <p:nvSpPr>
          <p:cNvPr id="19" name="TextBox 18"/>
          <p:cNvSpPr txBox="1"/>
          <p:nvPr/>
        </p:nvSpPr>
        <p:spPr>
          <a:xfrm>
            <a:off x="6446520" y="4069080"/>
            <a:ext cx="4526280" cy="219456"/>
          </a:xfrm>
          <a:prstGeom prst="rect">
            <a:avLst/>
          </a:prstGeom>
          <a:noFill/>
        </p:spPr>
        <p:txBody>
          <a:bodyPr wrap="square" lIns="0" tIns="0" rIns="0" bIns="0">
            <a:spAutoFit/>
          </a:bodyPr>
          <a:lstStyle/>
          <a:p>
            <a:pPr algn="ctr">
              <a:spcAft>
                <a:spcPts val="100"/>
              </a:spcAft>
            </a:pPr>
            <a:r>
              <a:rPr sz="1100" b="1">
                <a:solidFill>
                  <a:srgbClr val="2D2D2D"/>
                </a:solidFill>
                <a:latin typeface="Arial"/>
              </a:rPr>
              <a:t>After alignment, the four products are summed by an adder tree:</a:t>
            </a:r>
          </a:p>
        </p:txBody>
      </p:sp>
      <p:sp>
        <p:nvSpPr>
          <p:cNvPr id="20" name="TextBox 19"/>
          <p:cNvSpPr txBox="1"/>
          <p:nvPr/>
        </p:nvSpPr>
        <p:spPr>
          <a:xfrm>
            <a:off x="6492240" y="4462272"/>
            <a:ext cx="4434840" cy="292608"/>
          </a:xfrm>
          <a:prstGeom prst="rect">
            <a:avLst/>
          </a:prstGeom>
          <a:noFill/>
        </p:spPr>
        <p:txBody>
          <a:bodyPr wrap="square" lIns="0" tIns="0" rIns="0" bIns="0">
            <a:spAutoFit/>
          </a:bodyPr>
          <a:lstStyle/>
          <a:p>
            <a:pPr algn="ctr">
              <a:spcAft>
                <a:spcPts val="100"/>
              </a:spcAft>
            </a:pPr>
            <a:r>
              <a:rPr sz="1800" b="1">
                <a:solidFill>
                  <a:srgbClr val="C00000"/>
                </a:solidFill>
                <a:latin typeface="Cambria Math"/>
              </a:rPr>
              <a:t>P = P₀ + P₁ + P₂ + P₃</a:t>
            </a:r>
          </a:p>
        </p:txBody>
      </p:sp>
      <p:sp>
        <p:nvSpPr>
          <p:cNvPr id="21" name="Rectangle 20"/>
          <p:cNvSpPr/>
          <p:nvPr/>
        </p:nvSpPr>
        <p:spPr>
          <a:xfrm>
            <a:off x="6492240" y="4983480"/>
            <a:ext cx="4434840" cy="365760"/>
          </a:xfrm>
          <a:prstGeom prst="rect">
            <a:avLst/>
          </a:prstGeom>
          <a:solidFill>
            <a:srgbClr val="FFFF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5093208"/>
            <a:ext cx="4251960" cy="137160"/>
          </a:xfrm>
          <a:prstGeom prst="rect">
            <a:avLst/>
          </a:prstGeom>
          <a:noFill/>
        </p:spPr>
        <p:txBody>
          <a:bodyPr wrap="square" lIns="0" tIns="0" rIns="0" bIns="0">
            <a:spAutoFit/>
          </a:bodyPr>
          <a:lstStyle/>
          <a:p>
            <a:pPr algn="ctr">
              <a:spcAft>
                <a:spcPts val="100"/>
              </a:spcAft>
            </a:pPr>
            <a:r>
              <a:rPr sz="969" b="1">
                <a:solidFill>
                  <a:srgbClr val="2D2D2D"/>
                </a:solidFill>
                <a:latin typeface="Arial"/>
              </a:rPr>
              <a:t>3 extra bits are kept for round-to-nearest-even.</a:t>
            </a:r>
          </a:p>
        </p:txBody>
      </p:sp>
      <p:pic>
        <p:nvPicPr>
          <p:cNvPr id="24" name="그림 23">
            <a:extLst>
              <a:ext uri="{FF2B5EF4-FFF2-40B4-BE49-F238E27FC236}">
                <a16:creationId xmlns:a16="http://schemas.microsoft.com/office/drawing/2014/main" id="{E46A04AE-5E26-DCFC-2D21-EFF370E0D107}"/>
              </a:ext>
            </a:extLst>
          </p:cNvPr>
          <p:cNvPicPr>
            <a:picLocks noChangeAspect="1"/>
          </p:cNvPicPr>
          <p:nvPr/>
        </p:nvPicPr>
        <p:blipFill>
          <a:blip r:embed="rId6"/>
          <a:stretch>
            <a:fillRect/>
          </a:stretch>
        </p:blipFill>
        <p:spPr>
          <a:xfrm>
            <a:off x="3131182" y="2205304"/>
            <a:ext cx="2463533" cy="2055511"/>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332720" cy="292608"/>
          </a:xfrm>
          <a:prstGeom prst="rect">
            <a:avLst/>
          </a:prstGeom>
          <a:noFill/>
        </p:spPr>
        <p:txBody>
          <a:bodyPr wrap="none">
            <a:spAutoFit/>
          </a:bodyPr>
          <a:lstStyle/>
          <a:p>
            <a:r>
              <a:rPr sz="2000" b="1">
                <a:solidFill>
                  <a:srgbClr val="000000"/>
                </a:solidFill>
                <a:latin typeface="Arial"/>
              </a:rPr>
              <a:t>Step 3: Group Accumulation</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70</a:t>
            </a:r>
            <a:endParaRPr sz="1000" b="1" dirty="0">
              <a:solidFill>
                <a:srgbClr val="FFFFFF"/>
              </a:solidFill>
              <a:latin typeface="Arial"/>
            </a:endParaRPr>
          </a:p>
        </p:txBody>
      </p:sp>
      <p:sp>
        <p:nvSpPr>
          <p:cNvPr id="8" name="TextBox 7"/>
          <p:cNvSpPr txBox="1"/>
          <p:nvPr/>
        </p:nvSpPr>
        <p:spPr>
          <a:xfrm>
            <a:off x="594360" y="932688"/>
            <a:ext cx="10698480" cy="200055"/>
          </a:xfrm>
          <a:prstGeom prst="rect">
            <a:avLst/>
          </a:prstGeom>
          <a:noFill/>
        </p:spPr>
        <p:txBody>
          <a:bodyPr wrap="square" lIns="0" tIns="0" rIns="0" bIns="0">
            <a:spAutoFit/>
          </a:bodyPr>
          <a:lstStyle/>
          <a:p>
            <a:pPr algn="l">
              <a:spcAft>
                <a:spcPts val="100"/>
              </a:spcAft>
            </a:pPr>
            <a:r>
              <a:rPr sz="1300" b="0" dirty="0">
                <a:solidFill>
                  <a:srgbClr val="2D2D2D"/>
                </a:solidFill>
                <a:latin typeface="Arial"/>
              </a:rPr>
              <a:t>After one bit-serial dot product is generated, </a:t>
            </a:r>
            <a:r>
              <a:rPr sz="1300" b="0" dirty="0" err="1">
                <a:solidFill>
                  <a:srgbClr val="2D2D2D"/>
                </a:solidFill>
                <a:latin typeface="Arial"/>
              </a:rPr>
              <a:t>BitMoD</a:t>
            </a:r>
            <a:r>
              <a:rPr sz="1300" b="0" dirty="0">
                <a:solidFill>
                  <a:srgbClr val="2D2D2D"/>
                </a:solidFill>
                <a:latin typeface="Arial"/>
              </a:rPr>
              <a:t> applies </a:t>
            </a:r>
            <a:r>
              <a:rPr sz="1300" b="0" dirty="0">
                <a:solidFill>
                  <a:srgbClr val="FF0000"/>
                </a:solidFill>
                <a:latin typeface="Arial"/>
              </a:rPr>
              <a:t>bit-significance</a:t>
            </a:r>
            <a:r>
              <a:rPr sz="1300" b="0" dirty="0">
                <a:solidFill>
                  <a:srgbClr val="2D2D2D"/>
                </a:solidFill>
                <a:latin typeface="Arial"/>
              </a:rPr>
              <a:t> and accumulates </a:t>
            </a:r>
            <a:r>
              <a:rPr sz="1300" b="0" dirty="0">
                <a:solidFill>
                  <a:srgbClr val="FF0000"/>
                </a:solidFill>
                <a:latin typeface="Arial"/>
              </a:rPr>
              <a:t>terms</a:t>
            </a:r>
            <a:r>
              <a:rPr sz="1300" b="0" dirty="0">
                <a:solidFill>
                  <a:srgbClr val="2D2D2D"/>
                </a:solidFill>
                <a:latin typeface="Arial"/>
              </a:rPr>
              <a:t> inside the weight group.</a:t>
            </a:r>
          </a:p>
        </p:txBody>
      </p:sp>
      <p:sp>
        <p:nvSpPr>
          <p:cNvPr id="9" name="Rounded Rectangle 8"/>
          <p:cNvSpPr/>
          <p:nvPr/>
        </p:nvSpPr>
        <p:spPr>
          <a:xfrm>
            <a:off x="685800" y="1349296"/>
            <a:ext cx="4983480" cy="425196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673352"/>
            <a:ext cx="452628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Why accumulation is needed</a:t>
            </a:r>
          </a:p>
        </p:txBody>
      </p:sp>
      <p:sp>
        <p:nvSpPr>
          <p:cNvPr id="11" name="TextBox 10"/>
          <p:cNvSpPr txBox="1"/>
          <p:nvPr/>
        </p:nvSpPr>
        <p:spPr>
          <a:xfrm>
            <a:off x="-152499" y="2102639"/>
            <a:ext cx="4160520" cy="329184"/>
          </a:xfrm>
          <a:prstGeom prst="rect">
            <a:avLst/>
          </a:prstGeom>
          <a:noFill/>
        </p:spPr>
        <p:txBody>
          <a:bodyPr wrap="square" lIns="0" tIns="0" rIns="0" bIns="0">
            <a:spAutoFit/>
          </a:bodyPr>
          <a:lstStyle/>
          <a:p>
            <a:pPr algn="ctr">
              <a:spcAft>
                <a:spcPts val="100"/>
              </a:spcAft>
            </a:pPr>
            <a:r>
              <a:rPr sz="2000" b="1" dirty="0">
                <a:solidFill>
                  <a:srgbClr val="C00000"/>
                </a:solidFill>
                <a:latin typeface="Cambria Math"/>
              </a:rPr>
              <a:t>FP4 value 6 = 4 + 2</a:t>
            </a:r>
          </a:p>
        </p:txBody>
      </p:sp>
      <p:sp>
        <p:nvSpPr>
          <p:cNvPr id="12" name="Rectangle 11"/>
          <p:cNvSpPr/>
          <p:nvPr/>
        </p:nvSpPr>
        <p:spPr>
          <a:xfrm>
            <a:off x="784761" y="2726356"/>
            <a:ext cx="1143000" cy="502920"/>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6201" y="2881804"/>
            <a:ext cx="1004455" cy="146194"/>
          </a:xfrm>
          <a:prstGeom prst="rect">
            <a:avLst/>
          </a:prstGeom>
          <a:noFill/>
        </p:spPr>
        <p:txBody>
          <a:bodyPr wrap="square" lIns="0" tIns="0" rIns="0" bIns="0">
            <a:spAutoFit/>
          </a:bodyPr>
          <a:lstStyle/>
          <a:p>
            <a:pPr algn="ctr">
              <a:spcAft>
                <a:spcPts val="100"/>
              </a:spcAft>
            </a:pPr>
            <a:r>
              <a:rPr sz="950" b="1">
                <a:solidFill>
                  <a:srgbClr val="00245D"/>
                </a:solidFill>
                <a:latin typeface="Arial"/>
              </a:rPr>
              <a:t>Cycle 1: term 4</a:t>
            </a:r>
          </a:p>
        </p:txBody>
      </p:sp>
      <p:cxnSp>
        <p:nvCxnSpPr>
          <p:cNvPr id="14" name="Connector 13"/>
          <p:cNvCxnSpPr>
            <a:cxnSpLocks/>
          </p:cNvCxnSpPr>
          <p:nvPr/>
        </p:nvCxnSpPr>
        <p:spPr>
          <a:xfrm>
            <a:off x="1915127" y="2961693"/>
            <a:ext cx="226494" cy="0"/>
          </a:xfrm>
          <a:prstGeom prst="line">
            <a:avLst/>
          </a:prstGeom>
          <a:ln w="17780">
            <a:solidFill>
              <a:srgbClr val="00245D"/>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147606" y="2705661"/>
            <a:ext cx="1244366" cy="502920"/>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39046" y="2861109"/>
            <a:ext cx="1093534" cy="146194"/>
          </a:xfrm>
          <a:prstGeom prst="rect">
            <a:avLst/>
          </a:prstGeom>
          <a:noFill/>
        </p:spPr>
        <p:txBody>
          <a:bodyPr wrap="square" lIns="0" tIns="0" rIns="0" bIns="0">
            <a:spAutoFit/>
          </a:bodyPr>
          <a:lstStyle/>
          <a:p>
            <a:pPr algn="ctr">
              <a:spcAft>
                <a:spcPts val="100"/>
              </a:spcAft>
            </a:pPr>
            <a:r>
              <a:rPr sz="950" b="1">
                <a:solidFill>
                  <a:srgbClr val="00245D"/>
                </a:solidFill>
                <a:latin typeface="Arial"/>
              </a:rPr>
              <a:t>ACC stores result</a:t>
            </a:r>
          </a:p>
        </p:txBody>
      </p:sp>
      <p:sp>
        <p:nvSpPr>
          <p:cNvPr id="17" name="Rectangle 16"/>
          <p:cNvSpPr/>
          <p:nvPr/>
        </p:nvSpPr>
        <p:spPr>
          <a:xfrm>
            <a:off x="784761" y="3640756"/>
            <a:ext cx="1143000" cy="502920"/>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6201" y="3796204"/>
            <a:ext cx="1004455" cy="146194"/>
          </a:xfrm>
          <a:prstGeom prst="rect">
            <a:avLst/>
          </a:prstGeom>
          <a:noFill/>
        </p:spPr>
        <p:txBody>
          <a:bodyPr wrap="square" lIns="0" tIns="0" rIns="0" bIns="0">
            <a:spAutoFit/>
          </a:bodyPr>
          <a:lstStyle/>
          <a:p>
            <a:pPr algn="ctr">
              <a:spcAft>
                <a:spcPts val="100"/>
              </a:spcAft>
            </a:pPr>
            <a:r>
              <a:rPr sz="950" b="1">
                <a:solidFill>
                  <a:srgbClr val="00245D"/>
                </a:solidFill>
                <a:latin typeface="Arial"/>
              </a:rPr>
              <a:t>Cycle 2: term 2</a:t>
            </a:r>
          </a:p>
        </p:txBody>
      </p:sp>
      <p:cxnSp>
        <p:nvCxnSpPr>
          <p:cNvPr id="19" name="Connector 18"/>
          <p:cNvCxnSpPr>
            <a:cxnSpLocks/>
          </p:cNvCxnSpPr>
          <p:nvPr/>
        </p:nvCxnSpPr>
        <p:spPr>
          <a:xfrm>
            <a:off x="1915127" y="3876093"/>
            <a:ext cx="226494" cy="0"/>
          </a:xfrm>
          <a:prstGeom prst="line">
            <a:avLst/>
          </a:prstGeom>
          <a:ln w="17780">
            <a:solidFill>
              <a:srgbClr val="00245D"/>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147606" y="3620061"/>
            <a:ext cx="1244366" cy="502920"/>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39046" y="3775509"/>
            <a:ext cx="1093534" cy="146194"/>
          </a:xfrm>
          <a:prstGeom prst="rect">
            <a:avLst/>
          </a:prstGeom>
          <a:noFill/>
        </p:spPr>
        <p:txBody>
          <a:bodyPr wrap="square" lIns="0" tIns="0" rIns="0" bIns="0">
            <a:spAutoFit/>
          </a:bodyPr>
          <a:lstStyle/>
          <a:p>
            <a:pPr algn="ctr">
              <a:spcAft>
                <a:spcPts val="100"/>
              </a:spcAft>
            </a:pPr>
            <a:r>
              <a:rPr sz="950" b="1">
                <a:solidFill>
                  <a:srgbClr val="00245D"/>
                </a:solidFill>
                <a:latin typeface="Arial"/>
              </a:rPr>
              <a:t>Add to ACC</a:t>
            </a:r>
          </a:p>
        </p:txBody>
      </p:sp>
      <p:sp>
        <p:nvSpPr>
          <p:cNvPr id="22" name="TextBox 21"/>
          <p:cNvSpPr txBox="1"/>
          <p:nvPr/>
        </p:nvSpPr>
        <p:spPr>
          <a:xfrm>
            <a:off x="1005840" y="4754880"/>
            <a:ext cx="4160520" cy="384048"/>
          </a:xfrm>
          <a:prstGeom prst="rect">
            <a:avLst/>
          </a:prstGeom>
          <a:noFill/>
        </p:spPr>
        <p:txBody>
          <a:bodyPr wrap="square" lIns="0" tIns="0" rIns="0" bIns="0">
            <a:spAutoFit/>
          </a:bodyPr>
          <a:lstStyle/>
          <a:p>
            <a:pPr algn="ctr">
              <a:spcAft>
                <a:spcPts val="100"/>
              </a:spcAft>
            </a:pPr>
            <a:r>
              <a:rPr sz="1080" b="1">
                <a:solidFill>
                  <a:srgbClr val="2D2D2D"/>
                </a:solidFill>
                <a:latin typeface="Arial"/>
              </a:rPr>
              <a:t>Multiple terms are accumulated to reconstruct the original weight contribution.</a:t>
            </a:r>
          </a:p>
        </p:txBody>
      </p:sp>
      <p:sp>
        <p:nvSpPr>
          <p:cNvPr id="23" name="Rounded Rectangle 22"/>
          <p:cNvSpPr/>
          <p:nvPr/>
        </p:nvSpPr>
        <p:spPr>
          <a:xfrm>
            <a:off x="6080760" y="1371600"/>
            <a:ext cx="5074920" cy="4251960"/>
          </a:xfrm>
          <a:prstGeom prst="roundRect">
            <a:avLst/>
          </a:prstGeom>
          <a:solidFill>
            <a:srgbClr val="FFFAE6"/>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26692" y="1660599"/>
            <a:ext cx="466344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Detailed numeric example</a:t>
            </a:r>
          </a:p>
        </p:txBody>
      </p:sp>
      <p:sp>
        <p:nvSpPr>
          <p:cNvPr id="25" name="TextBox 24"/>
          <p:cNvSpPr txBox="1"/>
          <p:nvPr/>
        </p:nvSpPr>
        <p:spPr>
          <a:xfrm>
            <a:off x="6446520" y="2057400"/>
            <a:ext cx="4343400" cy="274320"/>
          </a:xfrm>
          <a:prstGeom prst="rect">
            <a:avLst/>
          </a:prstGeom>
          <a:noFill/>
        </p:spPr>
        <p:txBody>
          <a:bodyPr wrap="square" lIns="0" tIns="0" rIns="0" bIns="0">
            <a:spAutoFit/>
          </a:bodyPr>
          <a:lstStyle/>
          <a:p>
            <a:pPr algn="ctr">
              <a:spcAft>
                <a:spcPts val="100"/>
              </a:spcAft>
            </a:pPr>
            <a:r>
              <a:rPr sz="1700" b="0">
                <a:solidFill>
                  <a:srgbClr val="00245D"/>
                </a:solidFill>
                <a:latin typeface="Cambria Math"/>
              </a:rPr>
              <a:t>Dot product result:  P = 3</a:t>
            </a:r>
          </a:p>
        </p:txBody>
      </p:sp>
      <mc:AlternateContent xmlns:mc="http://schemas.openxmlformats.org/markup-compatibility/2006" xmlns:a14="http://schemas.microsoft.com/office/drawing/2010/main">
        <mc:Choice Requires="a14">
          <p:sp>
            <p:nvSpPr>
              <p:cNvPr id="26" name="TextBox 25"/>
              <p:cNvSpPr txBox="1"/>
              <p:nvPr/>
            </p:nvSpPr>
            <p:spPr>
              <a:xfrm>
                <a:off x="6446520" y="2560320"/>
                <a:ext cx="4343400" cy="249555"/>
              </a:xfrm>
              <a:prstGeom prst="rect">
                <a:avLst/>
              </a:prstGeom>
              <a:noFill/>
            </p:spPr>
            <p:txBody>
              <a:bodyPr wrap="square" lIns="0" tIns="0" rIns="0" bIns="0">
                <a:spAutoFit/>
              </a:bodyPr>
              <a:lstStyle/>
              <a:p>
                <a:pPr algn="ctr">
                  <a:spcAft>
                    <a:spcPts val="100"/>
                  </a:spcAft>
                </a:pPr>
                <a:r>
                  <a:rPr sz="1500" b="0" dirty="0">
                    <a:solidFill>
                      <a:srgbClr val="00245D"/>
                    </a:solidFill>
                    <a:latin typeface="Cambria Math"/>
                  </a:rPr>
                  <a:t>Current bit-significance:  </a:t>
                </a:r>
                <a14:m>
                  <m:oMath xmlns:m="http://schemas.openxmlformats.org/officeDocument/2006/math">
                    <m:sSub>
                      <m:sSubPr>
                        <m:ctrlPr>
                          <a:rPr lang="ko-KR" altLang="en-US" sz="1500" b="0" i="1" dirty="0">
                            <a:solidFill>
                              <a:srgbClr val="00245D"/>
                            </a:solidFill>
                            <a:latin typeface="Cambria Math" panose="02040503050406030204" pitchFamily="18" charset="0"/>
                          </a:rPr>
                        </m:ctrlPr>
                      </m:sSubPr>
                      <m:e>
                        <m:r>
                          <a:rPr lang="ko-KR" altLang="en-US" sz="1500" b="0" i="1" dirty="0">
                            <a:solidFill>
                              <a:srgbClr val="00245D"/>
                            </a:solidFill>
                            <a:latin typeface="Cambria Math" panose="02040503050406030204" pitchFamily="18" charset="0"/>
                          </a:rPr>
                          <m:t>𝑤</m:t>
                        </m:r>
                      </m:e>
                      <m:sub>
                        <m:r>
                          <a:rPr lang="ko-KR" altLang="en-US" sz="1500" b="0" i="1" dirty="0">
                            <a:solidFill>
                              <a:srgbClr val="00245D"/>
                            </a:solidFill>
                            <a:latin typeface="Cambria Math" panose="02040503050406030204" pitchFamily="18" charset="0"/>
                          </a:rPr>
                          <m:t>𝑏𝑠𝑖𝑔</m:t>
                        </m:r>
                      </m:sub>
                    </m:sSub>
                  </m:oMath>
                </a14:m>
                <a:r>
                  <a:rPr sz="1500" b="0" dirty="0">
                    <a:solidFill>
                      <a:srgbClr val="00245D"/>
                    </a:solidFill>
                    <a:latin typeface="Cambria Math"/>
                  </a:rPr>
                  <a:t>= 2</a:t>
                </a:r>
              </a:p>
            </p:txBody>
          </p:sp>
        </mc:Choice>
        <mc:Fallback xmlns="">
          <p:sp>
            <p:nvSpPr>
              <p:cNvPr id="26" name="TextBox 25"/>
              <p:cNvSpPr txBox="1">
                <a:spLocks noRot="1" noChangeAspect="1" noMove="1" noResize="1" noEditPoints="1" noAdjustHandles="1" noChangeArrowheads="1" noChangeShapeType="1" noTextEdit="1"/>
              </p:cNvSpPr>
              <p:nvPr/>
            </p:nvSpPr>
            <p:spPr>
              <a:xfrm>
                <a:off x="6446520" y="2560320"/>
                <a:ext cx="4343400" cy="249555"/>
              </a:xfrm>
              <a:prstGeom prst="rect">
                <a:avLst/>
              </a:prstGeom>
              <a:blipFill>
                <a:blip r:embed="rId3"/>
                <a:stretch>
                  <a:fillRect t="-24390" b="-36585"/>
                </a:stretch>
              </a:blipFill>
            </p:spPr>
            <p:txBody>
              <a:bodyPr/>
              <a:lstStyle/>
              <a:p>
                <a:r>
                  <a:rPr lang="ko-KR" altLang="en-US">
                    <a:noFill/>
                  </a:rPr>
                  <a:t> </a:t>
                </a:r>
              </a:p>
            </p:txBody>
          </p:sp>
        </mc:Fallback>
      </mc:AlternateContent>
      <p:sp>
        <p:nvSpPr>
          <p:cNvPr id="27" name="TextBox 26"/>
          <p:cNvSpPr txBox="1"/>
          <p:nvPr/>
        </p:nvSpPr>
        <p:spPr>
          <a:xfrm>
            <a:off x="6446520" y="3090672"/>
            <a:ext cx="4343400" cy="292388"/>
          </a:xfrm>
          <a:prstGeom prst="rect">
            <a:avLst/>
          </a:prstGeom>
          <a:noFill/>
        </p:spPr>
        <p:txBody>
          <a:bodyPr wrap="square" lIns="0" tIns="0" rIns="0" bIns="0">
            <a:spAutoFit/>
          </a:bodyPr>
          <a:lstStyle/>
          <a:p>
            <a:pPr algn="ctr">
              <a:spcAft>
                <a:spcPts val="100"/>
              </a:spcAft>
            </a:pPr>
            <a:r>
              <a:rPr sz="1900" b="1" dirty="0">
                <a:solidFill>
                  <a:srgbClr val="C00000"/>
                </a:solidFill>
                <a:latin typeface="Cambria Math"/>
              </a:rPr>
              <a:t>Contribution = 3 × 2²</a:t>
            </a:r>
            <a:r>
              <a:rPr lang="en-US" sz="1900" b="1" dirty="0">
                <a:solidFill>
                  <a:srgbClr val="C00000"/>
                </a:solidFill>
                <a:latin typeface="Cambria Math"/>
              </a:rPr>
              <a:t>(&lt;&lt;2)</a:t>
            </a:r>
            <a:r>
              <a:rPr sz="1900" b="1" dirty="0">
                <a:solidFill>
                  <a:srgbClr val="C00000"/>
                </a:solidFill>
                <a:latin typeface="Cambria Math"/>
              </a:rPr>
              <a:t> = 12</a:t>
            </a:r>
          </a:p>
        </p:txBody>
      </p:sp>
      <mc:AlternateContent xmlns:mc="http://schemas.openxmlformats.org/markup-compatibility/2006" xmlns:a14="http://schemas.microsoft.com/office/drawing/2010/main">
        <mc:Choice Requires="a14">
          <p:sp>
            <p:nvSpPr>
              <p:cNvPr id="28" name="TextBox 27"/>
              <p:cNvSpPr txBox="1"/>
              <p:nvPr/>
            </p:nvSpPr>
            <p:spPr>
              <a:xfrm>
                <a:off x="6446520" y="3794760"/>
                <a:ext cx="4343400" cy="230832"/>
              </a:xfrm>
              <a:prstGeom prst="rect">
                <a:avLst/>
              </a:prstGeom>
              <a:noFill/>
            </p:spPr>
            <p:txBody>
              <a:bodyPr wrap="square" lIns="0" tIns="0" rIns="0" bIns="0">
                <a:spAutoFit/>
              </a:bodyPr>
              <a:lstStyle/>
              <a:p>
                <a:pPr algn="ctr">
                  <a:spcAft>
                    <a:spcPts val="100"/>
                  </a:spcAft>
                </a:pPr>
                <a:r>
                  <a:rPr sz="1500" b="0" dirty="0">
                    <a:solidFill>
                      <a:srgbClr val="00245D"/>
                    </a:solidFill>
                    <a:latin typeface="Cambria Math"/>
                  </a:rPr>
                  <a:t>Previous accumulator:  </a:t>
                </a:r>
                <a14:m>
                  <m:oMath xmlns:m="http://schemas.openxmlformats.org/officeDocument/2006/math">
                    <m:sSub>
                      <m:sSubPr>
                        <m:ctrlPr>
                          <a:rPr lang="ko-KR" altLang="en-US" sz="1500" b="0" i="1" dirty="0">
                            <a:solidFill>
                              <a:srgbClr val="00245D"/>
                            </a:solidFill>
                            <a:latin typeface="Cambria Math" panose="02040503050406030204" pitchFamily="18" charset="0"/>
                          </a:rPr>
                        </m:ctrlPr>
                      </m:sSubPr>
                      <m:e>
                        <m:r>
                          <a:rPr lang="ko-KR" altLang="en-US" sz="1500" b="0" i="1" dirty="0">
                            <a:solidFill>
                              <a:srgbClr val="00245D"/>
                            </a:solidFill>
                            <a:latin typeface="Cambria Math" panose="02040503050406030204" pitchFamily="18" charset="0"/>
                          </a:rPr>
                          <m:t>𝑚</m:t>
                        </m:r>
                      </m:e>
                      <m:sub>
                        <m:r>
                          <a:rPr lang="ko-KR" altLang="en-US" sz="1500" b="0" i="1" dirty="0">
                            <a:solidFill>
                              <a:srgbClr val="00245D"/>
                            </a:solidFill>
                            <a:latin typeface="Cambria Math" panose="02040503050406030204" pitchFamily="18" charset="0"/>
                          </a:rPr>
                          <m:t>𝐴𝐶𝐶</m:t>
                        </m:r>
                      </m:sub>
                    </m:sSub>
                  </m:oMath>
                </a14:m>
                <a:r>
                  <a:rPr sz="1500" b="0" dirty="0">
                    <a:solidFill>
                      <a:srgbClr val="00245D"/>
                    </a:solidFill>
                    <a:latin typeface="Cambria Math"/>
                  </a:rPr>
                  <a:t>= 20</a:t>
                </a:r>
              </a:p>
            </p:txBody>
          </p:sp>
        </mc:Choice>
        <mc:Fallback xmlns="">
          <p:sp>
            <p:nvSpPr>
              <p:cNvPr id="28" name="TextBox 27"/>
              <p:cNvSpPr txBox="1">
                <a:spLocks noRot="1" noChangeAspect="1" noMove="1" noResize="1" noEditPoints="1" noAdjustHandles="1" noChangeArrowheads="1" noChangeShapeType="1" noTextEdit="1"/>
              </p:cNvSpPr>
              <p:nvPr/>
            </p:nvSpPr>
            <p:spPr>
              <a:xfrm>
                <a:off x="6446520" y="3794760"/>
                <a:ext cx="4343400" cy="230832"/>
              </a:xfrm>
              <a:prstGeom prst="rect">
                <a:avLst/>
              </a:prstGeom>
              <a:blipFill>
                <a:blip r:embed="rId4"/>
                <a:stretch>
                  <a:fillRect t="-27027" b="-4864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446520" y="4297680"/>
                <a:ext cx="4343400" cy="292388"/>
              </a:xfrm>
              <a:prstGeom prst="rect">
                <a:avLst/>
              </a:prstGeom>
              <a:noFill/>
            </p:spPr>
            <p:txBody>
              <a:bodyPr wrap="square" lIns="0" tIns="0" rIns="0" bIns="0">
                <a:spAutoFit/>
              </a:bodyPr>
              <a:lstStyle/>
              <a:p>
                <a:pPr algn="ctr">
                  <a:spcAft>
                    <a:spcPts val="100"/>
                  </a:spcAft>
                </a:pPr>
                <a14:m>
                  <m:oMath xmlns:m="http://schemas.openxmlformats.org/officeDocument/2006/math">
                    <m:sSub>
                      <m:sSubPr>
                        <m:ctrlPr>
                          <a:rPr lang="ko-KR" altLang="en-US" sz="1900" b="1" i="1" dirty="0">
                            <a:solidFill>
                              <a:srgbClr val="2E7D32"/>
                            </a:solidFill>
                            <a:latin typeface="Cambria Math" panose="02040503050406030204" pitchFamily="18" charset="0"/>
                          </a:rPr>
                        </m:ctrlPr>
                      </m:sSubPr>
                      <m:e>
                        <m:r>
                          <a:rPr lang="ko-KR" altLang="en-US" sz="1900" b="1" i="1" dirty="0">
                            <a:solidFill>
                              <a:srgbClr val="2E7D32"/>
                            </a:solidFill>
                            <a:latin typeface="Cambria Math" panose="02040503050406030204" pitchFamily="18" charset="0"/>
                          </a:rPr>
                          <m:t>𝑚</m:t>
                        </m:r>
                      </m:e>
                      <m:sub>
                        <m:r>
                          <a:rPr lang="ko-KR" altLang="en-US" sz="1900" b="1" i="1" dirty="0">
                            <a:solidFill>
                              <a:srgbClr val="2E7D32"/>
                            </a:solidFill>
                            <a:latin typeface="Cambria Math" panose="02040503050406030204" pitchFamily="18" charset="0"/>
                          </a:rPr>
                          <m:t>𝐴𝐶𝐶</m:t>
                        </m:r>
                      </m:sub>
                    </m:sSub>
                  </m:oMath>
                </a14:m>
                <a:r>
                  <a:rPr sz="1900" b="1" dirty="0">
                    <a:solidFill>
                      <a:srgbClr val="2E7D32"/>
                    </a:solidFill>
                    <a:latin typeface="Cambria Math"/>
                  </a:rPr>
                  <a:t>← 20 + 12 = 32</a:t>
                </a:r>
              </a:p>
            </p:txBody>
          </p:sp>
        </mc:Choice>
        <mc:Fallback xmlns="">
          <p:sp>
            <p:nvSpPr>
              <p:cNvPr id="29" name="TextBox 28"/>
              <p:cNvSpPr txBox="1">
                <a:spLocks noRot="1" noChangeAspect="1" noMove="1" noResize="1" noEditPoints="1" noAdjustHandles="1" noChangeArrowheads="1" noChangeShapeType="1" noTextEdit="1"/>
              </p:cNvSpPr>
              <p:nvPr/>
            </p:nvSpPr>
            <p:spPr>
              <a:xfrm>
                <a:off x="6446520" y="4297680"/>
                <a:ext cx="4343400" cy="292388"/>
              </a:xfrm>
              <a:prstGeom prst="rect">
                <a:avLst/>
              </a:prstGeom>
              <a:blipFill>
                <a:blip r:embed="rId5"/>
                <a:stretch>
                  <a:fillRect t="-25000" b="-50000"/>
                </a:stretch>
              </a:blipFill>
            </p:spPr>
            <p:txBody>
              <a:bodyPr/>
              <a:lstStyle/>
              <a:p>
                <a:r>
                  <a:rPr lang="ko-KR" altLang="en-US">
                    <a:noFill/>
                  </a:rPr>
                  <a:t> </a:t>
                </a:r>
              </a:p>
            </p:txBody>
          </p:sp>
        </mc:Fallback>
      </mc:AlternateContent>
      <p:sp>
        <p:nvSpPr>
          <p:cNvPr id="30" name="Rectangle 29"/>
          <p:cNvSpPr/>
          <p:nvPr/>
        </p:nvSpPr>
        <p:spPr>
          <a:xfrm>
            <a:off x="6492240" y="4937760"/>
            <a:ext cx="4434840" cy="384048"/>
          </a:xfrm>
          <a:prstGeom prst="rect">
            <a:avLst/>
          </a:prstGeom>
          <a:solidFill>
            <a:srgbClr val="FFFF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1" name="TextBox 30"/>
              <p:cNvSpPr txBox="1"/>
              <p:nvPr/>
            </p:nvSpPr>
            <p:spPr>
              <a:xfrm>
                <a:off x="6629400" y="5047488"/>
                <a:ext cx="4160520" cy="150811"/>
              </a:xfrm>
              <a:prstGeom prst="rect">
                <a:avLst/>
              </a:prstGeom>
              <a:noFill/>
            </p:spPr>
            <p:txBody>
              <a:bodyPr wrap="square" lIns="0" tIns="0" rIns="0" bIns="0">
                <a:spAutoFit/>
              </a:bodyPr>
              <a:lstStyle/>
              <a:p>
                <a:pPr algn="ctr">
                  <a:spcAft>
                    <a:spcPts val="100"/>
                  </a:spcAft>
                </a:pPr>
                <a:r>
                  <a:rPr sz="980" b="1" dirty="0">
                    <a:solidFill>
                      <a:srgbClr val="2D2D2D"/>
                    </a:solidFill>
                    <a:latin typeface="Arial"/>
                  </a:rPr>
                  <a:t>Then normalize </a:t>
                </a:r>
                <a14:m>
                  <m:oMath xmlns:m="http://schemas.openxmlformats.org/officeDocument/2006/math">
                    <m:sSub>
                      <m:sSubPr>
                        <m:ctrlPr>
                          <a:rPr lang="ko-KR" altLang="en-US" sz="980" b="1" i="1" dirty="0">
                            <a:solidFill>
                              <a:srgbClr val="2D2D2D"/>
                            </a:solidFill>
                            <a:latin typeface="Cambria Math" panose="02040503050406030204" pitchFamily="18" charset="0"/>
                          </a:rPr>
                        </m:ctrlPr>
                      </m:sSubPr>
                      <m:e>
                        <m:r>
                          <a:rPr lang="ko-KR" altLang="en-US" sz="980" b="1" i="1" dirty="0">
                            <a:solidFill>
                              <a:srgbClr val="2D2D2D"/>
                            </a:solidFill>
                            <a:latin typeface="Cambria Math" panose="02040503050406030204" pitchFamily="18" charset="0"/>
                          </a:rPr>
                          <m:t>𝑚</m:t>
                        </m:r>
                      </m:e>
                      <m:sub>
                        <m:r>
                          <a:rPr lang="ko-KR" altLang="en-US" sz="980" b="1" i="1" dirty="0">
                            <a:solidFill>
                              <a:srgbClr val="2D2D2D"/>
                            </a:solidFill>
                            <a:latin typeface="Cambria Math" panose="02040503050406030204" pitchFamily="18" charset="0"/>
                          </a:rPr>
                          <m:t>𝐴𝐶𝐶</m:t>
                        </m:r>
                      </m:sub>
                    </m:sSub>
                  </m:oMath>
                </a14:m>
                <a:r>
                  <a:rPr sz="980" b="1" dirty="0">
                    <a:solidFill>
                      <a:srgbClr val="2D2D2D"/>
                    </a:solidFill>
                    <a:latin typeface="Arial"/>
                  </a:rPr>
                  <a:t> and update </a:t>
                </a:r>
                <a14:m>
                  <m:oMath xmlns:m="http://schemas.openxmlformats.org/officeDocument/2006/math">
                    <m:sSub>
                      <m:sSubPr>
                        <m:ctrlPr>
                          <a:rPr lang="ko-KR" altLang="en-US" sz="980" b="1" i="1" dirty="0">
                            <a:solidFill>
                              <a:srgbClr val="2D2D2D"/>
                            </a:solidFill>
                            <a:latin typeface="Cambria Math" panose="02040503050406030204" pitchFamily="18" charset="0"/>
                          </a:rPr>
                        </m:ctrlPr>
                      </m:sSubPr>
                      <m:e>
                        <m:r>
                          <a:rPr lang="ko-KR" altLang="en-US" sz="980" b="1" i="1" dirty="0">
                            <a:solidFill>
                              <a:srgbClr val="2D2D2D"/>
                            </a:solidFill>
                            <a:latin typeface="Cambria Math" panose="02040503050406030204" pitchFamily="18" charset="0"/>
                          </a:rPr>
                          <m:t>𝑒</m:t>
                        </m:r>
                      </m:e>
                      <m:sub>
                        <m:r>
                          <a:rPr lang="ko-KR" altLang="en-US" sz="980" b="1" i="1" dirty="0">
                            <a:solidFill>
                              <a:srgbClr val="2D2D2D"/>
                            </a:solidFill>
                            <a:latin typeface="Cambria Math" panose="02040503050406030204" pitchFamily="18" charset="0"/>
                          </a:rPr>
                          <m:t>𝐴𝐶𝐶</m:t>
                        </m:r>
                      </m:sub>
                    </m:sSub>
                  </m:oMath>
                </a14:m>
                <a:r>
                  <a:rPr sz="980" b="1" dirty="0">
                    <a:solidFill>
                      <a:srgbClr val="2D2D2D"/>
                    </a:solidFill>
                    <a:latin typeface="Arial"/>
                  </a:rPr>
                  <a:t>.</a:t>
                </a:r>
              </a:p>
            </p:txBody>
          </p:sp>
        </mc:Choice>
        <mc:Fallback xmlns="">
          <p:sp>
            <p:nvSpPr>
              <p:cNvPr id="31" name="TextBox 30"/>
              <p:cNvSpPr txBox="1">
                <a:spLocks noRot="1" noChangeAspect="1" noMove="1" noResize="1" noEditPoints="1" noAdjustHandles="1" noChangeArrowheads="1" noChangeShapeType="1" noTextEdit="1"/>
              </p:cNvSpPr>
              <p:nvPr/>
            </p:nvSpPr>
            <p:spPr>
              <a:xfrm>
                <a:off x="6629400" y="5047488"/>
                <a:ext cx="4160520" cy="150811"/>
              </a:xfrm>
              <a:prstGeom prst="rect">
                <a:avLst/>
              </a:prstGeom>
              <a:blipFill>
                <a:blip r:embed="rId6"/>
                <a:stretch>
                  <a:fillRect t="-24000" b="-44000"/>
                </a:stretch>
              </a:blipFill>
            </p:spPr>
            <p:txBody>
              <a:bodyPr/>
              <a:lstStyle/>
              <a:p>
                <a:r>
                  <a:rPr lang="ko-KR" altLang="en-US">
                    <a:noFill/>
                  </a:rPr>
                  <a:t> </a:t>
                </a:r>
              </a:p>
            </p:txBody>
          </p:sp>
        </mc:Fallback>
      </mc:AlternateContent>
      <p:pic>
        <p:nvPicPr>
          <p:cNvPr id="33" name="그림 32">
            <a:extLst>
              <a:ext uri="{FF2B5EF4-FFF2-40B4-BE49-F238E27FC236}">
                <a16:creationId xmlns:a16="http://schemas.microsoft.com/office/drawing/2014/main" id="{70B1ADBE-0A49-9316-F2F9-4B7B00F89BE8}"/>
              </a:ext>
            </a:extLst>
          </p:cNvPr>
          <p:cNvPicPr>
            <a:picLocks noChangeAspect="1"/>
          </p:cNvPicPr>
          <p:nvPr/>
        </p:nvPicPr>
        <p:blipFill>
          <a:blip r:embed="rId7"/>
          <a:stretch>
            <a:fillRect/>
          </a:stretch>
        </p:blipFill>
        <p:spPr>
          <a:xfrm>
            <a:off x="3452246" y="2187951"/>
            <a:ext cx="2156760" cy="199615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332720" cy="292608"/>
          </a:xfrm>
          <a:prstGeom prst="rect">
            <a:avLst/>
          </a:prstGeom>
          <a:noFill/>
        </p:spPr>
        <p:txBody>
          <a:bodyPr wrap="none">
            <a:spAutoFit/>
          </a:bodyPr>
          <a:lstStyle/>
          <a:p>
            <a:r>
              <a:rPr sz="2000" b="1">
                <a:solidFill>
                  <a:srgbClr val="000000"/>
                </a:solidFill>
                <a:latin typeface="Arial"/>
              </a:rPr>
              <a:t>Step 4: Bit-serial Dequantization</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sz="1000" b="1" dirty="0">
                <a:solidFill>
                  <a:srgbClr val="FFFFFF"/>
                </a:solidFill>
                <a:latin typeface="Arial"/>
              </a:rPr>
              <a:t>7</a:t>
            </a:r>
            <a:r>
              <a:rPr lang="en-US" sz="1000" b="1" dirty="0">
                <a:solidFill>
                  <a:srgbClr val="FFFFFF"/>
                </a:solidFill>
                <a:latin typeface="Arial"/>
              </a:rPr>
              <a:t>1</a:t>
            </a:r>
            <a:endParaRPr sz="1000" b="1" dirty="0">
              <a:solidFill>
                <a:srgbClr val="FFFFFF"/>
              </a:solidFill>
              <a:latin typeface="Arial"/>
            </a:endParaRPr>
          </a:p>
        </p:txBody>
      </p:sp>
      <p:sp>
        <p:nvSpPr>
          <p:cNvPr id="8" name="TextBox 7"/>
          <p:cNvSpPr txBox="1"/>
          <p:nvPr/>
        </p:nvSpPr>
        <p:spPr>
          <a:xfrm>
            <a:off x="594360" y="932688"/>
            <a:ext cx="10698480" cy="200055"/>
          </a:xfrm>
          <a:prstGeom prst="rect">
            <a:avLst/>
          </a:prstGeom>
          <a:noFill/>
        </p:spPr>
        <p:txBody>
          <a:bodyPr wrap="square" lIns="0" tIns="0" rIns="0" bIns="0">
            <a:spAutoFit/>
          </a:bodyPr>
          <a:lstStyle/>
          <a:p>
            <a:pPr algn="l">
              <a:spcAft>
                <a:spcPts val="100"/>
              </a:spcAft>
            </a:pPr>
            <a:r>
              <a:rPr sz="1300" b="0" dirty="0">
                <a:solidFill>
                  <a:srgbClr val="2D2D2D"/>
                </a:solidFill>
                <a:latin typeface="Arial"/>
              </a:rPr>
              <a:t>Because </a:t>
            </a:r>
            <a:r>
              <a:rPr sz="1300" b="0" dirty="0" err="1">
                <a:solidFill>
                  <a:srgbClr val="2D2D2D"/>
                </a:solidFill>
                <a:latin typeface="Arial"/>
              </a:rPr>
              <a:t>BitMoD</a:t>
            </a:r>
            <a:r>
              <a:rPr sz="1300" b="0" dirty="0">
                <a:solidFill>
                  <a:srgbClr val="2D2D2D"/>
                </a:solidFill>
                <a:latin typeface="Arial"/>
              </a:rPr>
              <a:t> uses </a:t>
            </a:r>
            <a:r>
              <a:rPr sz="1300" b="0" dirty="0">
                <a:solidFill>
                  <a:srgbClr val="FF0000"/>
                </a:solidFill>
                <a:latin typeface="Arial"/>
              </a:rPr>
              <a:t>per-group quantization</a:t>
            </a:r>
            <a:r>
              <a:rPr sz="1300" b="0" dirty="0">
                <a:solidFill>
                  <a:srgbClr val="2D2D2D"/>
                </a:solidFill>
                <a:latin typeface="Arial"/>
              </a:rPr>
              <a:t>, each group partial sum must be </a:t>
            </a:r>
            <a:r>
              <a:rPr sz="1300" b="0" dirty="0">
                <a:solidFill>
                  <a:srgbClr val="FF0000"/>
                </a:solidFill>
                <a:latin typeface="Arial"/>
              </a:rPr>
              <a:t>dequantized</a:t>
            </a:r>
            <a:r>
              <a:rPr sz="1300" b="0" dirty="0">
                <a:solidFill>
                  <a:srgbClr val="2D2D2D"/>
                </a:solidFill>
                <a:latin typeface="Arial"/>
              </a:rPr>
              <a:t> with its own group scale.</a:t>
            </a:r>
          </a:p>
        </p:txBody>
      </p:sp>
      <p:sp>
        <p:nvSpPr>
          <p:cNvPr id="9" name="Rounded Rectangle 8"/>
          <p:cNvSpPr/>
          <p:nvPr/>
        </p:nvSpPr>
        <p:spPr>
          <a:xfrm>
            <a:off x="685800" y="1371600"/>
            <a:ext cx="4983480" cy="425196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1741932"/>
            <a:ext cx="452628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Why INT8 scaling factor matters</a:t>
            </a:r>
          </a:p>
        </p:txBody>
      </p:sp>
      <p:sp>
        <p:nvSpPr>
          <p:cNvPr id="11" name="TextBox 10"/>
          <p:cNvSpPr txBox="1"/>
          <p:nvPr/>
        </p:nvSpPr>
        <p:spPr>
          <a:xfrm>
            <a:off x="960120" y="2170978"/>
            <a:ext cx="4297680" cy="1234440"/>
          </a:xfrm>
          <a:prstGeom prst="rect">
            <a:avLst/>
          </a:prstGeom>
          <a:noFill/>
        </p:spPr>
        <p:txBody>
          <a:bodyPr wrap="square" lIns="0" tIns="0" rIns="0" bIns="0">
            <a:spAutoFit/>
          </a:bodyPr>
          <a:lstStyle/>
          <a:p>
            <a:pPr>
              <a:spcAft>
                <a:spcPts val="200"/>
              </a:spcAft>
            </a:pPr>
            <a:r>
              <a:rPr sz="1100" dirty="0">
                <a:solidFill>
                  <a:srgbClr val="2D2D2D"/>
                </a:solidFill>
                <a:latin typeface="Arial"/>
              </a:rPr>
              <a:t>• Previous section quantized scaling factors to INT8</a:t>
            </a:r>
          </a:p>
          <a:p>
            <a:pPr>
              <a:spcAft>
                <a:spcPts val="200"/>
              </a:spcAft>
            </a:pPr>
            <a:r>
              <a:rPr sz="1100" dirty="0">
                <a:solidFill>
                  <a:srgbClr val="2D2D2D"/>
                </a:solidFill>
                <a:latin typeface="Arial"/>
              </a:rPr>
              <a:t>• So dequantization no longer needs FP16 scale multiplication</a:t>
            </a:r>
          </a:p>
          <a:p>
            <a:pPr>
              <a:spcAft>
                <a:spcPts val="200"/>
              </a:spcAft>
            </a:pPr>
            <a:r>
              <a:rPr sz="1100" dirty="0">
                <a:solidFill>
                  <a:srgbClr val="2D2D2D"/>
                </a:solidFill>
                <a:latin typeface="Arial"/>
              </a:rPr>
              <a:t>• The PE can process scale bits one by one</a:t>
            </a:r>
          </a:p>
        </p:txBody>
      </p:sp>
      <mc:AlternateContent xmlns:mc="http://schemas.openxmlformats.org/markup-compatibility/2006" xmlns:a14="http://schemas.microsoft.com/office/drawing/2010/main">
        <mc:Choice Requires="a14">
          <p:sp>
            <p:nvSpPr>
              <p:cNvPr id="12" name="TextBox 11"/>
              <p:cNvSpPr txBox="1"/>
              <p:nvPr/>
            </p:nvSpPr>
            <p:spPr>
              <a:xfrm>
                <a:off x="-109487" y="3472795"/>
                <a:ext cx="4114800" cy="299569"/>
              </a:xfrm>
              <a:prstGeom prst="rect">
                <a:avLst/>
              </a:prstGeom>
              <a:noFill/>
            </p:spPr>
            <p:txBody>
              <a:bodyPr wrap="square" lIns="0" tIns="0" rIns="0" bIns="0">
                <a:spAutoFit/>
              </a:bodyPr>
              <a:lstStyle/>
              <a:p>
                <a:pPr algn="ctr">
                  <a:spcAft>
                    <a:spcPts val="100"/>
                  </a:spcAft>
                </a:pPr>
                <a:r>
                  <a:rPr sz="1800" b="0" dirty="0">
                    <a:solidFill>
                      <a:srgbClr val="C00000"/>
                    </a:solidFill>
                    <a:latin typeface="Cambria Math"/>
                  </a:rPr>
                  <a:t>Old:  </a:t>
                </a:r>
                <a14:m>
                  <m:oMath xmlns:m="http://schemas.openxmlformats.org/officeDocument/2006/math">
                    <m:sSub>
                      <m:sSubPr>
                        <m:ctrlPr>
                          <a:rPr lang="ko-KR" altLang="en-US" sz="1800" b="0" i="1" dirty="0" err="1">
                            <a:solidFill>
                              <a:srgbClr val="C00000"/>
                            </a:solidFill>
                            <a:latin typeface="Cambria Math" panose="02040503050406030204" pitchFamily="18" charset="0"/>
                          </a:rPr>
                        </m:ctrlPr>
                      </m:sSubPr>
                      <m:e>
                        <m:r>
                          <a:rPr lang="ko-KR" altLang="en-US" sz="1800" b="0" i="1" dirty="0" err="1">
                            <a:solidFill>
                              <a:srgbClr val="C00000"/>
                            </a:solidFill>
                            <a:latin typeface="Cambria Math" panose="02040503050406030204" pitchFamily="18" charset="0"/>
                          </a:rPr>
                          <m:t>𝑃</m:t>
                        </m:r>
                      </m:e>
                      <m:sub>
                        <m:r>
                          <a:rPr lang="ko-KR" altLang="en-US" sz="1800" b="0" i="1" dirty="0" err="1">
                            <a:solidFill>
                              <a:srgbClr val="C00000"/>
                            </a:solidFill>
                            <a:latin typeface="Cambria Math" panose="02040503050406030204" pitchFamily="18" charset="0"/>
                          </a:rPr>
                          <m:t>𝑔</m:t>
                        </m:r>
                      </m:sub>
                    </m:sSub>
                  </m:oMath>
                </a14:m>
                <a:r>
                  <a:rPr sz="1800" b="0" dirty="0">
                    <a:solidFill>
                      <a:srgbClr val="C00000"/>
                    </a:solidFill>
                    <a:latin typeface="Cambria Math"/>
                  </a:rPr>
                  <a:t> × FP16 </a:t>
                </a:r>
                <a14:m>
                  <m:oMath xmlns:m="http://schemas.openxmlformats.org/officeDocument/2006/math">
                    <m:sSub>
                      <m:sSubPr>
                        <m:ctrlPr>
                          <a:rPr lang="ko-KR" altLang="en-US" sz="1800" b="0" i="1" dirty="0" err="1">
                            <a:solidFill>
                              <a:srgbClr val="C00000"/>
                            </a:solidFill>
                            <a:latin typeface="Cambria Math" panose="02040503050406030204" pitchFamily="18" charset="0"/>
                          </a:rPr>
                        </m:ctrlPr>
                      </m:sSubPr>
                      <m:e>
                        <m:r>
                          <a:rPr lang="ko-KR" altLang="en-US" sz="1800" b="0" i="1" dirty="0" err="1">
                            <a:solidFill>
                              <a:srgbClr val="C00000"/>
                            </a:solidFill>
                            <a:latin typeface="Cambria Math" panose="02040503050406030204" pitchFamily="18" charset="0"/>
                          </a:rPr>
                          <m:t>𝛥</m:t>
                        </m:r>
                      </m:e>
                      <m:sub>
                        <m:r>
                          <a:rPr lang="ko-KR" altLang="en-US" sz="1800" b="0" i="1" dirty="0" err="1">
                            <a:solidFill>
                              <a:srgbClr val="C00000"/>
                            </a:solidFill>
                            <a:latin typeface="Cambria Math" panose="02040503050406030204" pitchFamily="18" charset="0"/>
                          </a:rPr>
                          <m:t>𝑔</m:t>
                        </m:r>
                      </m:sub>
                    </m:sSub>
                  </m:oMath>
                </a14:m>
                <a:endParaRPr sz="1800" b="0" dirty="0">
                  <a:solidFill>
                    <a:srgbClr val="C00000"/>
                  </a:solidFill>
                  <a:latin typeface="Cambria Math"/>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09487" y="3472795"/>
                <a:ext cx="4114800" cy="299569"/>
              </a:xfrm>
              <a:prstGeom prst="rect">
                <a:avLst/>
              </a:prstGeom>
              <a:blipFill>
                <a:blip r:embed="rId3"/>
                <a:stretch>
                  <a:fillRect t="-28571" b="-3673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09487" y="4067155"/>
                <a:ext cx="4114800" cy="299569"/>
              </a:xfrm>
              <a:prstGeom prst="rect">
                <a:avLst/>
              </a:prstGeom>
              <a:noFill/>
            </p:spPr>
            <p:txBody>
              <a:bodyPr wrap="square" lIns="0" tIns="0" rIns="0" bIns="0">
                <a:spAutoFit/>
              </a:bodyPr>
              <a:lstStyle/>
              <a:p>
                <a:pPr algn="ctr">
                  <a:spcAft>
                    <a:spcPts val="100"/>
                  </a:spcAft>
                </a:pPr>
                <a:r>
                  <a:rPr sz="1800" b="0" dirty="0">
                    <a:solidFill>
                      <a:srgbClr val="2E7D32"/>
                    </a:solidFill>
                    <a:latin typeface="Cambria Math"/>
                  </a:rPr>
                  <a:t>New:  </a:t>
                </a:r>
                <a14:m>
                  <m:oMath xmlns:m="http://schemas.openxmlformats.org/officeDocument/2006/math">
                    <m:sSub>
                      <m:sSubPr>
                        <m:ctrlPr>
                          <a:rPr lang="ko-KR" altLang="en-US" sz="1800" b="0" i="1" dirty="0" err="1">
                            <a:solidFill>
                              <a:srgbClr val="2E7D32"/>
                            </a:solidFill>
                            <a:latin typeface="Cambria Math" panose="02040503050406030204" pitchFamily="18" charset="0"/>
                          </a:rPr>
                        </m:ctrlPr>
                      </m:sSubPr>
                      <m:e>
                        <m:r>
                          <a:rPr lang="ko-KR" altLang="en-US" sz="1800" b="0" i="1" dirty="0" err="1">
                            <a:solidFill>
                              <a:srgbClr val="2E7D32"/>
                            </a:solidFill>
                            <a:latin typeface="Cambria Math" panose="02040503050406030204" pitchFamily="18" charset="0"/>
                          </a:rPr>
                          <m:t>𝑃</m:t>
                        </m:r>
                      </m:e>
                      <m:sub>
                        <m:r>
                          <a:rPr lang="ko-KR" altLang="en-US" sz="1800" b="0" i="1" dirty="0" err="1">
                            <a:solidFill>
                              <a:srgbClr val="2E7D32"/>
                            </a:solidFill>
                            <a:latin typeface="Cambria Math" panose="02040503050406030204" pitchFamily="18" charset="0"/>
                          </a:rPr>
                          <m:t>𝑔</m:t>
                        </m:r>
                      </m:sub>
                    </m:sSub>
                  </m:oMath>
                </a14:m>
                <a:r>
                  <a:rPr sz="1800" b="0" dirty="0">
                    <a:solidFill>
                      <a:srgbClr val="2E7D32"/>
                    </a:solidFill>
                    <a:latin typeface="Cambria Math"/>
                  </a:rPr>
                  <a:t> × INT8 </a:t>
                </a:r>
                <a14:m>
                  <m:oMath xmlns:m="http://schemas.openxmlformats.org/officeDocument/2006/math">
                    <m:r>
                      <a:rPr lang="ko-KR" altLang="en-US" sz="1800" b="0" i="1" dirty="0" smtClean="0">
                        <a:solidFill>
                          <a:srgbClr val="2E7D32"/>
                        </a:solidFill>
                        <a:latin typeface="Cambria Math" panose="02040503050406030204" pitchFamily="18" charset="0"/>
                      </a:rPr>
                      <m:t>𝑆</m:t>
                    </m:r>
                    <m:sSub>
                      <m:sSubPr>
                        <m:ctrlPr>
                          <a:rPr lang="ko-KR" altLang="en-US" sz="1800" b="0" i="1" dirty="0">
                            <a:solidFill>
                              <a:srgbClr val="2E7D32"/>
                            </a:solidFill>
                            <a:latin typeface="Cambria Math" panose="02040503050406030204" pitchFamily="18" charset="0"/>
                          </a:rPr>
                        </m:ctrlPr>
                      </m:sSubPr>
                      <m:e>
                        <m:r>
                          <a:rPr lang="ko-KR" altLang="en-US" sz="1800" b="0" i="1" dirty="0">
                            <a:solidFill>
                              <a:srgbClr val="2E7D32"/>
                            </a:solidFill>
                            <a:latin typeface="Cambria Math" panose="02040503050406030204" pitchFamily="18" charset="0"/>
                          </a:rPr>
                          <m:t>𝐹</m:t>
                        </m:r>
                      </m:e>
                      <m:sub>
                        <m:r>
                          <a:rPr lang="ko-KR" altLang="en-US" sz="1800" b="0" i="1" dirty="0">
                            <a:solidFill>
                              <a:srgbClr val="2E7D32"/>
                            </a:solidFill>
                            <a:latin typeface="Cambria Math" panose="02040503050406030204" pitchFamily="18" charset="0"/>
                          </a:rPr>
                          <m:t>𝑞</m:t>
                        </m:r>
                        <m:r>
                          <a:rPr lang="ko-KR" altLang="en-US" sz="1800" b="0" i="0" dirty="0">
                            <a:solidFill>
                              <a:srgbClr val="2E7D32"/>
                            </a:solidFill>
                            <a:latin typeface="Cambria Math" panose="02040503050406030204" pitchFamily="18" charset="0"/>
                          </a:rPr>
                          <m:t>,</m:t>
                        </m:r>
                        <m:r>
                          <a:rPr lang="ko-KR" altLang="en-US" sz="1800" b="0" i="1" dirty="0">
                            <a:solidFill>
                              <a:srgbClr val="2E7D32"/>
                            </a:solidFill>
                            <a:latin typeface="Cambria Math" panose="02040503050406030204" pitchFamily="18" charset="0"/>
                          </a:rPr>
                          <m:t>𝑔</m:t>
                        </m:r>
                      </m:sub>
                    </m:sSub>
                  </m:oMath>
                </a14:m>
                <a:endParaRPr sz="1800" b="0" dirty="0">
                  <a:solidFill>
                    <a:srgbClr val="2E7D32"/>
                  </a:solidFill>
                  <a:latin typeface="Cambria Math"/>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09487" y="4067155"/>
                <a:ext cx="4114800" cy="299569"/>
              </a:xfrm>
              <a:prstGeom prst="rect">
                <a:avLst/>
              </a:prstGeom>
              <a:blipFill>
                <a:blip r:embed="rId4"/>
                <a:stretch>
                  <a:fillRect t="-28571" b="-38776"/>
                </a:stretch>
              </a:blipFill>
            </p:spPr>
            <p:txBody>
              <a:bodyPr/>
              <a:lstStyle/>
              <a:p>
                <a:r>
                  <a:rPr lang="ko-KR" altLang="en-US">
                    <a:noFill/>
                  </a:rPr>
                  <a:t> </a:t>
                </a:r>
              </a:p>
            </p:txBody>
          </p:sp>
        </mc:Fallback>
      </mc:AlternateContent>
      <p:sp>
        <p:nvSpPr>
          <p:cNvPr id="14" name="Rounded Rectangle 13"/>
          <p:cNvSpPr/>
          <p:nvPr/>
        </p:nvSpPr>
        <p:spPr>
          <a:xfrm>
            <a:off x="6080760" y="1371600"/>
            <a:ext cx="5074920" cy="4251960"/>
          </a:xfrm>
          <a:prstGeom prst="roundRect">
            <a:avLst/>
          </a:prstGeom>
          <a:solidFill>
            <a:srgbClr val="FFFAE6"/>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1727735"/>
            <a:ext cx="466344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Detailed example: SF = 13</a:t>
            </a:r>
          </a:p>
        </p:txBody>
      </p:sp>
      <p:sp>
        <p:nvSpPr>
          <p:cNvPr id="16" name="TextBox 15"/>
          <p:cNvSpPr txBox="1"/>
          <p:nvPr/>
        </p:nvSpPr>
        <p:spPr>
          <a:xfrm>
            <a:off x="6446520" y="2072080"/>
            <a:ext cx="4389120" cy="310896"/>
          </a:xfrm>
          <a:prstGeom prst="rect">
            <a:avLst/>
          </a:prstGeom>
          <a:noFill/>
        </p:spPr>
        <p:txBody>
          <a:bodyPr wrap="square" lIns="0" tIns="0" rIns="0" bIns="0">
            <a:spAutoFit/>
          </a:bodyPr>
          <a:lstStyle/>
          <a:p>
            <a:pPr algn="ctr">
              <a:spcAft>
                <a:spcPts val="100"/>
              </a:spcAft>
            </a:pPr>
            <a:r>
              <a:rPr sz="2000" b="1" dirty="0">
                <a:solidFill>
                  <a:srgbClr val="C00000"/>
                </a:solidFill>
                <a:latin typeface="Cambria Math"/>
              </a:rPr>
              <a:t>13 = 00001101₂ = 8 + 4 + 1</a:t>
            </a:r>
          </a:p>
        </p:txBody>
      </p:sp>
      <p:graphicFrame>
        <p:nvGraphicFramePr>
          <p:cNvPr id="17" name="Table 16"/>
          <p:cNvGraphicFramePr>
            <a:graphicFrameLocks noGrp="1"/>
          </p:cNvGraphicFramePr>
          <p:nvPr/>
        </p:nvGraphicFramePr>
        <p:xfrm>
          <a:off x="6492240" y="2651760"/>
          <a:ext cx="4297680" cy="173736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47472">
                <a:tc>
                  <a:txBody>
                    <a:bodyPr/>
                    <a:lstStyle/>
                    <a:p>
                      <a:pPr algn="ctr"/>
                      <a:r>
                        <a:rPr sz="1019" b="1">
                          <a:solidFill>
                            <a:srgbClr val="FFFFFF"/>
                          </a:solidFill>
                          <a:latin typeface="Arial"/>
                        </a:rPr>
                        <a:t>Bit</a:t>
                      </a:r>
                    </a:p>
                  </a:txBody>
                  <a:tcPr marL="27432" marR="27432" marT="18288" marB="18288">
                    <a:solidFill>
                      <a:srgbClr val="00245D"/>
                    </a:solidFill>
                  </a:tcPr>
                </a:tc>
                <a:tc>
                  <a:txBody>
                    <a:bodyPr/>
                    <a:lstStyle/>
                    <a:p>
                      <a:pPr algn="ctr"/>
                      <a:r>
                        <a:rPr sz="1019" b="1">
                          <a:solidFill>
                            <a:srgbClr val="FFFFFF"/>
                          </a:solidFill>
                          <a:latin typeface="Arial"/>
                        </a:rPr>
                        <a:t>Action</a:t>
                      </a:r>
                    </a:p>
                  </a:txBody>
                  <a:tcPr marL="27432" marR="27432" marT="18288" marB="18288">
                    <a:solidFill>
                      <a:srgbClr val="00245D"/>
                    </a:solidFill>
                  </a:tcPr>
                </a:tc>
                <a:extLst>
                  <a:ext uri="{0D108BD9-81ED-4DB2-BD59-A6C34878D82A}">
                    <a16:rowId xmlns:a16="http://schemas.microsoft.com/office/drawing/2014/main" val="10000"/>
                  </a:ext>
                </a:extLst>
              </a:tr>
              <a:tr h="347472">
                <a:tc>
                  <a:txBody>
                    <a:bodyPr/>
                    <a:lstStyle/>
                    <a:p>
                      <a:pPr algn="ctr"/>
                      <a:r>
                        <a:rPr sz="1019" b="0">
                          <a:solidFill>
                            <a:srgbClr val="2D2D2D"/>
                          </a:solidFill>
                          <a:latin typeface="Arial"/>
                        </a:rPr>
                        <a:t>bit 0 = 1</a:t>
                      </a:r>
                    </a:p>
                  </a:txBody>
                  <a:tcPr marL="27432" marR="27432" marT="18288" marB="18288">
                    <a:solidFill>
                      <a:srgbClr val="FFFFFF"/>
                    </a:solidFill>
                  </a:tcPr>
                </a:tc>
                <a:tc>
                  <a:txBody>
                    <a:bodyPr/>
                    <a:lstStyle/>
                    <a:p>
                      <a:pPr algn="ctr"/>
                      <a:r>
                        <a:rPr sz="1019" b="0">
                          <a:solidFill>
                            <a:srgbClr val="2D2D2D"/>
                          </a:solidFill>
                          <a:latin typeface="Arial"/>
                        </a:rPr>
                        <a:t>use m_ACC × 1</a:t>
                      </a:r>
                    </a:p>
                  </a:txBody>
                  <a:tcPr marL="27432" marR="27432" marT="18288" marB="18288">
                    <a:solidFill>
                      <a:srgbClr val="FFFFFF"/>
                    </a:solidFill>
                  </a:tcPr>
                </a:tc>
                <a:extLst>
                  <a:ext uri="{0D108BD9-81ED-4DB2-BD59-A6C34878D82A}">
                    <a16:rowId xmlns:a16="http://schemas.microsoft.com/office/drawing/2014/main" val="10001"/>
                  </a:ext>
                </a:extLst>
              </a:tr>
              <a:tr h="347472">
                <a:tc>
                  <a:txBody>
                    <a:bodyPr/>
                    <a:lstStyle/>
                    <a:p>
                      <a:pPr algn="ctr"/>
                      <a:r>
                        <a:rPr sz="1019" b="0">
                          <a:solidFill>
                            <a:srgbClr val="2D2D2D"/>
                          </a:solidFill>
                          <a:latin typeface="Arial"/>
                        </a:rPr>
                        <a:t>bit 1 = 0</a:t>
                      </a:r>
                    </a:p>
                  </a:txBody>
                  <a:tcPr marL="27432" marR="27432" marT="18288" marB="18288">
                    <a:solidFill>
                      <a:srgbClr val="F6F7F9"/>
                    </a:solidFill>
                  </a:tcPr>
                </a:tc>
                <a:tc>
                  <a:txBody>
                    <a:bodyPr/>
                    <a:lstStyle/>
                    <a:p>
                      <a:pPr algn="ctr"/>
                      <a:r>
                        <a:rPr sz="1019" b="0">
                          <a:solidFill>
                            <a:srgbClr val="2D2D2D"/>
                          </a:solidFill>
                          <a:latin typeface="Arial"/>
                        </a:rPr>
                        <a:t>skip</a:t>
                      </a:r>
                    </a:p>
                  </a:txBody>
                  <a:tcPr marL="27432" marR="27432" marT="18288" marB="18288">
                    <a:solidFill>
                      <a:srgbClr val="F6F7F9"/>
                    </a:solidFill>
                  </a:tcPr>
                </a:tc>
                <a:extLst>
                  <a:ext uri="{0D108BD9-81ED-4DB2-BD59-A6C34878D82A}">
                    <a16:rowId xmlns:a16="http://schemas.microsoft.com/office/drawing/2014/main" val="10002"/>
                  </a:ext>
                </a:extLst>
              </a:tr>
              <a:tr h="347472">
                <a:tc>
                  <a:txBody>
                    <a:bodyPr/>
                    <a:lstStyle/>
                    <a:p>
                      <a:pPr algn="ctr"/>
                      <a:r>
                        <a:rPr sz="1019" b="0">
                          <a:solidFill>
                            <a:srgbClr val="2D2D2D"/>
                          </a:solidFill>
                          <a:latin typeface="Arial"/>
                        </a:rPr>
                        <a:t>bit 2 = 1</a:t>
                      </a:r>
                    </a:p>
                  </a:txBody>
                  <a:tcPr marL="27432" marR="27432" marT="18288" marB="18288">
                    <a:solidFill>
                      <a:srgbClr val="FFFFFF"/>
                    </a:solidFill>
                  </a:tcPr>
                </a:tc>
                <a:tc>
                  <a:txBody>
                    <a:bodyPr/>
                    <a:lstStyle/>
                    <a:p>
                      <a:pPr algn="ctr"/>
                      <a:r>
                        <a:rPr sz="1019" b="0">
                          <a:solidFill>
                            <a:srgbClr val="2D2D2D"/>
                          </a:solidFill>
                          <a:latin typeface="Arial"/>
                        </a:rPr>
                        <a:t>use m_ACC &lt;&lt; 2</a:t>
                      </a:r>
                    </a:p>
                  </a:txBody>
                  <a:tcPr marL="27432" marR="27432" marT="18288" marB="18288">
                    <a:solidFill>
                      <a:srgbClr val="FFFFFF"/>
                    </a:solidFill>
                  </a:tcPr>
                </a:tc>
                <a:extLst>
                  <a:ext uri="{0D108BD9-81ED-4DB2-BD59-A6C34878D82A}">
                    <a16:rowId xmlns:a16="http://schemas.microsoft.com/office/drawing/2014/main" val="10003"/>
                  </a:ext>
                </a:extLst>
              </a:tr>
              <a:tr h="347472">
                <a:tc>
                  <a:txBody>
                    <a:bodyPr/>
                    <a:lstStyle/>
                    <a:p>
                      <a:pPr algn="ctr"/>
                      <a:r>
                        <a:rPr sz="1019" b="0">
                          <a:solidFill>
                            <a:srgbClr val="2D2D2D"/>
                          </a:solidFill>
                          <a:latin typeface="Arial"/>
                        </a:rPr>
                        <a:t>bit 3 = 1</a:t>
                      </a:r>
                    </a:p>
                  </a:txBody>
                  <a:tcPr marL="27432" marR="27432" marT="18288" marB="18288">
                    <a:solidFill>
                      <a:srgbClr val="F6F7F9"/>
                    </a:solidFill>
                  </a:tcPr>
                </a:tc>
                <a:tc>
                  <a:txBody>
                    <a:bodyPr/>
                    <a:lstStyle/>
                    <a:p>
                      <a:pPr algn="ctr"/>
                      <a:r>
                        <a:rPr sz="1019" b="0">
                          <a:solidFill>
                            <a:srgbClr val="2D2D2D"/>
                          </a:solidFill>
                          <a:latin typeface="Arial"/>
                        </a:rPr>
                        <a:t>use m_ACC &lt;&lt; 3</a:t>
                      </a:r>
                    </a:p>
                  </a:txBody>
                  <a:tcPr marL="27432" marR="27432" marT="18288" marB="18288">
                    <a:solidFill>
                      <a:srgbClr val="F6F7F9"/>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6256424" y="4800600"/>
            <a:ext cx="4748864" cy="238527"/>
          </a:xfrm>
          <a:prstGeom prst="rect">
            <a:avLst/>
          </a:prstGeom>
          <a:noFill/>
        </p:spPr>
        <p:txBody>
          <a:bodyPr wrap="square" lIns="0" tIns="0" rIns="0" bIns="0">
            <a:spAutoFit/>
          </a:bodyPr>
          <a:lstStyle/>
          <a:p>
            <a:pPr algn="ctr">
              <a:spcAft>
                <a:spcPts val="100"/>
              </a:spcAft>
            </a:pPr>
            <a:r>
              <a:rPr sz="1550" b="1" dirty="0" err="1">
                <a:solidFill>
                  <a:srgbClr val="2E7D32"/>
                </a:solidFill>
                <a:latin typeface="Cambria Math"/>
              </a:rPr>
              <a:t>m_ACC</a:t>
            </a:r>
            <a:r>
              <a:rPr sz="1550" b="1" dirty="0">
                <a:solidFill>
                  <a:srgbClr val="2E7D32"/>
                </a:solidFill>
                <a:latin typeface="Cambria Math"/>
              </a:rPr>
              <a:t> × 13 = </a:t>
            </a:r>
            <a:r>
              <a:rPr sz="1550" b="1" dirty="0" err="1">
                <a:solidFill>
                  <a:srgbClr val="2E7D32"/>
                </a:solidFill>
                <a:latin typeface="Cambria Math"/>
              </a:rPr>
              <a:t>m_ACC</a:t>
            </a:r>
            <a:r>
              <a:rPr sz="1550" b="1" dirty="0">
                <a:solidFill>
                  <a:srgbClr val="2E7D32"/>
                </a:solidFill>
                <a:latin typeface="Cambria Math"/>
              </a:rPr>
              <a:t> + (</a:t>
            </a:r>
            <a:r>
              <a:rPr sz="1550" b="1" dirty="0" err="1">
                <a:solidFill>
                  <a:srgbClr val="2E7D32"/>
                </a:solidFill>
                <a:latin typeface="Cambria Math"/>
              </a:rPr>
              <a:t>m_ACC</a:t>
            </a:r>
            <a:r>
              <a:rPr sz="1550" b="1" dirty="0">
                <a:solidFill>
                  <a:srgbClr val="2E7D32"/>
                </a:solidFill>
                <a:latin typeface="Cambria Math"/>
              </a:rPr>
              <a:t> &lt;&lt; 2) + (</a:t>
            </a:r>
            <a:r>
              <a:rPr sz="1550" b="1" dirty="0" err="1">
                <a:solidFill>
                  <a:srgbClr val="2E7D32"/>
                </a:solidFill>
                <a:latin typeface="Cambria Math"/>
              </a:rPr>
              <a:t>m_ACC</a:t>
            </a:r>
            <a:r>
              <a:rPr sz="1550" b="1" dirty="0">
                <a:solidFill>
                  <a:srgbClr val="2E7D32"/>
                </a:solidFill>
                <a:latin typeface="Cambria Math"/>
              </a:rPr>
              <a:t> &lt;&lt; 3)</a:t>
            </a:r>
          </a:p>
        </p:txBody>
      </p:sp>
      <p:sp>
        <p:nvSpPr>
          <p:cNvPr id="19" name="TextBox 18"/>
          <p:cNvSpPr txBox="1"/>
          <p:nvPr/>
        </p:nvSpPr>
        <p:spPr>
          <a:xfrm>
            <a:off x="6492240" y="5257800"/>
            <a:ext cx="4297680" cy="150811"/>
          </a:xfrm>
          <a:prstGeom prst="rect">
            <a:avLst/>
          </a:prstGeom>
          <a:noFill/>
        </p:spPr>
        <p:txBody>
          <a:bodyPr wrap="square" lIns="0" tIns="0" rIns="0" bIns="0">
            <a:spAutoFit/>
          </a:bodyPr>
          <a:lstStyle/>
          <a:p>
            <a:pPr algn="ctr">
              <a:spcAft>
                <a:spcPts val="100"/>
              </a:spcAft>
            </a:pPr>
            <a:r>
              <a:rPr sz="980" b="1" dirty="0">
                <a:solidFill>
                  <a:srgbClr val="2D2D2D"/>
                </a:solidFill>
                <a:latin typeface="Arial"/>
              </a:rPr>
              <a:t>This is </a:t>
            </a:r>
            <a:r>
              <a:rPr sz="980" b="1" dirty="0">
                <a:solidFill>
                  <a:srgbClr val="FF0000"/>
                </a:solidFill>
                <a:latin typeface="Arial"/>
              </a:rPr>
              <a:t>shift-and-add instead </a:t>
            </a:r>
            <a:r>
              <a:rPr sz="980" b="1" dirty="0">
                <a:solidFill>
                  <a:srgbClr val="2D2D2D"/>
                </a:solidFill>
                <a:latin typeface="Arial"/>
              </a:rPr>
              <a:t>of FP multiplication.</a:t>
            </a:r>
          </a:p>
        </p:txBody>
      </p:sp>
      <p:pic>
        <p:nvPicPr>
          <p:cNvPr id="21" name="그림 20">
            <a:extLst>
              <a:ext uri="{FF2B5EF4-FFF2-40B4-BE49-F238E27FC236}">
                <a16:creationId xmlns:a16="http://schemas.microsoft.com/office/drawing/2014/main" id="{5652E5AD-C54D-0B04-8D20-C077269E20C7}"/>
              </a:ext>
            </a:extLst>
          </p:cNvPr>
          <p:cNvPicPr>
            <a:picLocks noChangeAspect="1"/>
          </p:cNvPicPr>
          <p:nvPr/>
        </p:nvPicPr>
        <p:blipFill>
          <a:blip r:embed="rId5"/>
          <a:stretch>
            <a:fillRect/>
          </a:stretch>
        </p:blipFill>
        <p:spPr>
          <a:xfrm>
            <a:off x="3277855" y="2949662"/>
            <a:ext cx="2185685" cy="2234986"/>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332720" cy="292608"/>
          </a:xfrm>
          <a:prstGeom prst="rect">
            <a:avLst/>
          </a:prstGeom>
          <a:noFill/>
        </p:spPr>
        <p:txBody>
          <a:bodyPr wrap="none">
            <a:spAutoFit/>
          </a:bodyPr>
          <a:lstStyle/>
          <a:p>
            <a:r>
              <a:rPr sz="2000" b="1">
                <a:solidFill>
                  <a:srgbClr val="000000"/>
                </a:solidFill>
                <a:latin typeface="Arial"/>
              </a:rPr>
              <a:t>Why Dequantization Does Not Stall the PE Pipeline</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4" y="6547104"/>
            <a:ext cx="325731" cy="246221"/>
          </a:xfrm>
          <a:prstGeom prst="rect">
            <a:avLst/>
          </a:prstGeom>
          <a:noFill/>
        </p:spPr>
        <p:txBody>
          <a:bodyPr wrap="none">
            <a:spAutoFit/>
          </a:bodyPr>
          <a:lstStyle/>
          <a:p>
            <a:pPr algn="ctr"/>
            <a:r>
              <a:rPr lang="en-US" sz="1000" b="1" dirty="0">
                <a:solidFill>
                  <a:srgbClr val="FFFFFF"/>
                </a:solidFill>
                <a:latin typeface="Arial"/>
              </a:rPr>
              <a:t>72</a:t>
            </a:r>
            <a:endParaRPr sz="1000" b="1" dirty="0">
              <a:solidFill>
                <a:srgbClr val="FFFFFF"/>
              </a:solidFill>
              <a:latin typeface="Arial"/>
            </a:endParaRPr>
          </a:p>
        </p:txBody>
      </p:sp>
      <p:sp>
        <p:nvSpPr>
          <p:cNvPr id="8" name="TextBox 7"/>
          <p:cNvSpPr txBox="1"/>
          <p:nvPr/>
        </p:nvSpPr>
        <p:spPr>
          <a:xfrm>
            <a:off x="594360" y="932688"/>
            <a:ext cx="10698480" cy="256032"/>
          </a:xfrm>
          <a:prstGeom prst="rect">
            <a:avLst/>
          </a:prstGeom>
          <a:noFill/>
        </p:spPr>
        <p:txBody>
          <a:bodyPr wrap="square" lIns="0" tIns="0" rIns="0" bIns="0">
            <a:spAutoFit/>
          </a:bodyPr>
          <a:lstStyle/>
          <a:p>
            <a:pPr algn="l">
              <a:spcAft>
                <a:spcPts val="100"/>
              </a:spcAft>
            </a:pPr>
            <a:r>
              <a:rPr sz="1300" b="0">
                <a:solidFill>
                  <a:srgbClr val="2D2D2D"/>
                </a:solidFill>
                <a:latin typeface="Arial"/>
              </a:rPr>
              <a:t>Although INT8 scale dequantization takes 8 cycles, group dot-product computation takes much longer.</a:t>
            </a:r>
          </a:p>
        </p:txBody>
      </p:sp>
      <p:sp>
        <p:nvSpPr>
          <p:cNvPr id="9" name="Rounded Rectangle 8"/>
          <p:cNvSpPr/>
          <p:nvPr/>
        </p:nvSpPr>
        <p:spPr>
          <a:xfrm>
            <a:off x="685800" y="1371600"/>
            <a:ext cx="4983480" cy="425196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636776"/>
            <a:ext cx="452628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Cycle comparison</a:t>
            </a:r>
          </a:p>
        </p:txBody>
      </p:sp>
      <p:sp>
        <p:nvSpPr>
          <p:cNvPr id="11" name="TextBox 10"/>
          <p:cNvSpPr txBox="1"/>
          <p:nvPr/>
        </p:nvSpPr>
        <p:spPr>
          <a:xfrm>
            <a:off x="1051560" y="1993392"/>
            <a:ext cx="4114800" cy="256032"/>
          </a:xfrm>
          <a:prstGeom prst="rect">
            <a:avLst/>
          </a:prstGeom>
          <a:noFill/>
        </p:spPr>
        <p:txBody>
          <a:bodyPr wrap="square" lIns="0" tIns="0" rIns="0" bIns="0">
            <a:spAutoFit/>
          </a:bodyPr>
          <a:lstStyle/>
          <a:p>
            <a:pPr algn="ctr">
              <a:spcAft>
                <a:spcPts val="100"/>
              </a:spcAft>
            </a:pPr>
            <a:r>
              <a:rPr sz="1200" b="1">
                <a:solidFill>
                  <a:srgbClr val="2D2D2D"/>
                </a:solidFill>
                <a:latin typeface="Arial"/>
              </a:rPr>
              <a:t>Group size G = 128, PE processes 4 weights per cycle</a:t>
            </a:r>
          </a:p>
        </p:txBody>
      </p:sp>
      <p:sp>
        <p:nvSpPr>
          <p:cNvPr id="12" name="TextBox 11"/>
          <p:cNvSpPr txBox="1"/>
          <p:nvPr/>
        </p:nvSpPr>
        <p:spPr>
          <a:xfrm>
            <a:off x="960120" y="2697480"/>
            <a:ext cx="4297680" cy="310896"/>
          </a:xfrm>
          <a:prstGeom prst="rect">
            <a:avLst/>
          </a:prstGeom>
          <a:noFill/>
        </p:spPr>
        <p:txBody>
          <a:bodyPr wrap="square" lIns="0" tIns="0" rIns="0" bIns="0">
            <a:spAutoFit/>
          </a:bodyPr>
          <a:lstStyle/>
          <a:p>
            <a:pPr algn="ctr">
              <a:spcAft>
                <a:spcPts val="100"/>
              </a:spcAft>
            </a:pPr>
            <a:r>
              <a:rPr sz="1800" b="1">
                <a:solidFill>
                  <a:srgbClr val="00245D"/>
                </a:solidFill>
                <a:latin typeface="Cambria Math"/>
              </a:rPr>
              <a:t>128 / 4 = 32</a:t>
            </a:r>
          </a:p>
        </p:txBody>
      </p:sp>
      <p:sp>
        <p:nvSpPr>
          <p:cNvPr id="13" name="TextBox 12"/>
          <p:cNvSpPr txBox="1"/>
          <p:nvPr/>
        </p:nvSpPr>
        <p:spPr>
          <a:xfrm>
            <a:off x="960120" y="3246120"/>
            <a:ext cx="4297680" cy="310896"/>
          </a:xfrm>
          <a:prstGeom prst="rect">
            <a:avLst/>
          </a:prstGeom>
          <a:noFill/>
        </p:spPr>
        <p:txBody>
          <a:bodyPr wrap="square" lIns="0" tIns="0" rIns="0" bIns="0">
            <a:spAutoFit/>
          </a:bodyPr>
          <a:lstStyle/>
          <a:p>
            <a:pPr algn="ctr">
              <a:spcAft>
                <a:spcPts val="100"/>
              </a:spcAft>
            </a:pPr>
            <a:r>
              <a:rPr sz="1600" b="1">
                <a:solidFill>
                  <a:srgbClr val="C00000"/>
                </a:solidFill>
                <a:latin typeface="Cambria Math"/>
              </a:rPr>
              <a:t>FP3 has 2 terms → 32 × 2 = 64 cycles</a:t>
            </a:r>
          </a:p>
        </p:txBody>
      </p:sp>
      <p:sp>
        <p:nvSpPr>
          <p:cNvPr id="14" name="TextBox 13"/>
          <p:cNvSpPr txBox="1"/>
          <p:nvPr/>
        </p:nvSpPr>
        <p:spPr>
          <a:xfrm>
            <a:off x="960120" y="3977639"/>
            <a:ext cx="4297680" cy="310896"/>
          </a:xfrm>
          <a:prstGeom prst="rect">
            <a:avLst/>
          </a:prstGeom>
          <a:noFill/>
        </p:spPr>
        <p:txBody>
          <a:bodyPr wrap="square" lIns="0" tIns="0" rIns="0" bIns="0">
            <a:spAutoFit/>
          </a:bodyPr>
          <a:lstStyle/>
          <a:p>
            <a:pPr algn="ctr">
              <a:spcAft>
                <a:spcPts val="100"/>
              </a:spcAft>
            </a:pPr>
            <a:r>
              <a:rPr sz="1600" b="1">
                <a:solidFill>
                  <a:srgbClr val="2E7D32"/>
                </a:solidFill>
                <a:latin typeface="Cambria Math"/>
              </a:rPr>
              <a:t>INT8 dequantization = 8 cycles</a:t>
            </a:r>
          </a:p>
        </p:txBody>
      </p:sp>
      <p:sp>
        <p:nvSpPr>
          <p:cNvPr id="15" name="Rectangle 14"/>
          <p:cNvSpPr/>
          <p:nvPr/>
        </p:nvSpPr>
        <p:spPr>
          <a:xfrm>
            <a:off x="1097280" y="4800600"/>
            <a:ext cx="4069080" cy="384048"/>
          </a:xfrm>
          <a:prstGeom prst="rect">
            <a:avLst/>
          </a:prstGeom>
          <a:solidFill>
            <a:srgbClr val="FFFF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4910328"/>
            <a:ext cx="3886200" cy="137160"/>
          </a:xfrm>
          <a:prstGeom prst="rect">
            <a:avLst/>
          </a:prstGeom>
          <a:noFill/>
        </p:spPr>
        <p:txBody>
          <a:bodyPr wrap="square" lIns="0" tIns="0" rIns="0" bIns="0">
            <a:spAutoFit/>
          </a:bodyPr>
          <a:lstStyle/>
          <a:p>
            <a:pPr algn="ctr">
              <a:spcAft>
                <a:spcPts val="100"/>
              </a:spcAft>
            </a:pPr>
            <a:r>
              <a:rPr sz="980" b="1">
                <a:solidFill>
                  <a:srgbClr val="2D2D2D"/>
                </a:solidFill>
                <a:latin typeface="Arial"/>
              </a:rPr>
              <a:t>64 cycles &gt;&gt; 8 cycles, so no pipeline stall.</a:t>
            </a:r>
          </a:p>
        </p:txBody>
      </p:sp>
      <p:sp>
        <p:nvSpPr>
          <p:cNvPr id="17" name="Rounded Rectangle 16"/>
          <p:cNvSpPr/>
          <p:nvPr/>
        </p:nvSpPr>
        <p:spPr>
          <a:xfrm>
            <a:off x="6080760" y="1371600"/>
            <a:ext cx="5074920" cy="4251960"/>
          </a:xfrm>
          <a:prstGeom prst="roundRect">
            <a:avLst/>
          </a:prstGeom>
          <a:solidFill>
            <a:srgbClr val="FFFAE6"/>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86500" y="1668779"/>
            <a:ext cx="466344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Term count becomes throughput advantage</a:t>
            </a:r>
          </a:p>
        </p:txBody>
      </p:sp>
      <p:graphicFrame>
        <p:nvGraphicFramePr>
          <p:cNvPr id="19" name="Table 18"/>
          <p:cNvGraphicFramePr>
            <a:graphicFrameLocks noGrp="1"/>
          </p:cNvGraphicFramePr>
          <p:nvPr>
            <p:extLst>
              <p:ext uri="{D42A27DB-BD31-4B8C-83A1-F6EECF244321}">
                <p14:modId xmlns:p14="http://schemas.microsoft.com/office/powerpoint/2010/main" val="142560482"/>
              </p:ext>
            </p:extLst>
          </p:nvPr>
        </p:nvGraphicFramePr>
        <p:xfrm>
          <a:off x="6331017" y="2084831"/>
          <a:ext cx="4596063" cy="2103120"/>
        </p:xfrm>
        <a:graphic>
          <a:graphicData uri="http://schemas.openxmlformats.org/drawingml/2006/table">
            <a:tbl>
              <a:tblPr firstRow="1" bandRow="1">
                <a:tableStyleId>{5C22544A-7EE6-4342-B048-85BDC9FD1C3A}</a:tableStyleId>
              </a:tblPr>
              <a:tblGrid>
                <a:gridCol w="1021347">
                  <a:extLst>
                    <a:ext uri="{9D8B030D-6E8A-4147-A177-3AD203B41FA5}">
                      <a16:colId xmlns:a16="http://schemas.microsoft.com/office/drawing/2014/main" val="20000"/>
                    </a:ext>
                  </a:extLst>
                </a:gridCol>
                <a:gridCol w="1149016">
                  <a:extLst>
                    <a:ext uri="{9D8B030D-6E8A-4147-A177-3AD203B41FA5}">
                      <a16:colId xmlns:a16="http://schemas.microsoft.com/office/drawing/2014/main" val="20001"/>
                    </a:ext>
                  </a:extLst>
                </a:gridCol>
                <a:gridCol w="1234128">
                  <a:extLst>
                    <a:ext uri="{9D8B030D-6E8A-4147-A177-3AD203B41FA5}">
                      <a16:colId xmlns:a16="http://schemas.microsoft.com/office/drawing/2014/main" val="20002"/>
                    </a:ext>
                  </a:extLst>
                </a:gridCol>
                <a:gridCol w="1191572">
                  <a:extLst>
                    <a:ext uri="{9D8B030D-6E8A-4147-A177-3AD203B41FA5}">
                      <a16:colId xmlns:a16="http://schemas.microsoft.com/office/drawing/2014/main" val="20003"/>
                    </a:ext>
                  </a:extLst>
                </a:gridCol>
              </a:tblGrid>
              <a:tr h="420624">
                <a:tc>
                  <a:txBody>
                    <a:bodyPr/>
                    <a:lstStyle/>
                    <a:p>
                      <a:pPr algn="ctr"/>
                      <a:r>
                        <a:rPr sz="1040" b="1">
                          <a:solidFill>
                            <a:srgbClr val="FFFFFF"/>
                          </a:solidFill>
                          <a:latin typeface="Arial"/>
                        </a:rPr>
                        <a:t>Type</a:t>
                      </a:r>
                    </a:p>
                  </a:txBody>
                  <a:tcPr marL="27432" marR="27432" marT="18288" marB="18288">
                    <a:solidFill>
                      <a:srgbClr val="00245D"/>
                    </a:solidFill>
                  </a:tcPr>
                </a:tc>
                <a:tc>
                  <a:txBody>
                    <a:bodyPr/>
                    <a:lstStyle/>
                    <a:p>
                      <a:pPr algn="ctr"/>
                      <a:r>
                        <a:rPr sz="1040" b="1">
                          <a:solidFill>
                            <a:srgbClr val="FFFFFF"/>
                          </a:solidFill>
                          <a:latin typeface="Arial"/>
                        </a:rPr>
                        <a:t>Terms</a:t>
                      </a:r>
                    </a:p>
                  </a:txBody>
                  <a:tcPr marL="27432" marR="27432" marT="18288" marB="18288">
                    <a:solidFill>
                      <a:srgbClr val="00245D"/>
                    </a:solidFill>
                  </a:tcPr>
                </a:tc>
                <a:tc>
                  <a:txBody>
                    <a:bodyPr/>
                    <a:lstStyle/>
                    <a:p>
                      <a:pPr algn="ctr"/>
                      <a:r>
                        <a:rPr sz="1040" b="1">
                          <a:solidFill>
                            <a:srgbClr val="FFFFFF"/>
                          </a:solidFill>
                          <a:latin typeface="Arial"/>
                        </a:rPr>
                        <a:t>Cycles</a:t>
                      </a:r>
                    </a:p>
                  </a:txBody>
                  <a:tcPr marL="27432" marR="27432" marT="18288" marB="18288">
                    <a:solidFill>
                      <a:srgbClr val="00245D"/>
                    </a:solidFill>
                  </a:tcPr>
                </a:tc>
                <a:tc>
                  <a:txBody>
                    <a:bodyPr/>
                    <a:lstStyle/>
                    <a:p>
                      <a:pPr algn="ctr"/>
                      <a:r>
                        <a:rPr sz="1040" b="1">
                          <a:solidFill>
                            <a:srgbClr val="FFFFFF"/>
                          </a:solidFill>
                          <a:latin typeface="Arial"/>
                        </a:rPr>
                        <a:t>Throughput</a:t>
                      </a:r>
                    </a:p>
                  </a:txBody>
                  <a:tcPr marL="27432" marR="27432" marT="18288" marB="18288">
                    <a:solidFill>
                      <a:srgbClr val="00245D"/>
                    </a:solidFill>
                  </a:tcPr>
                </a:tc>
                <a:extLst>
                  <a:ext uri="{0D108BD9-81ED-4DB2-BD59-A6C34878D82A}">
                    <a16:rowId xmlns:a16="http://schemas.microsoft.com/office/drawing/2014/main" val="10000"/>
                  </a:ext>
                </a:extLst>
              </a:tr>
              <a:tr h="420624">
                <a:tc>
                  <a:txBody>
                    <a:bodyPr/>
                    <a:lstStyle/>
                    <a:p>
                      <a:pPr algn="ctr"/>
                      <a:r>
                        <a:rPr sz="1040" b="0">
                          <a:solidFill>
                            <a:srgbClr val="2D2D2D"/>
                          </a:solidFill>
                          <a:latin typeface="Arial"/>
                        </a:rPr>
                        <a:t>INT8</a:t>
                      </a:r>
                    </a:p>
                  </a:txBody>
                  <a:tcPr marL="27432" marR="27432" marT="18288" marB="18288">
                    <a:solidFill>
                      <a:srgbClr val="FFFFFF"/>
                    </a:solidFill>
                  </a:tcPr>
                </a:tc>
                <a:tc>
                  <a:txBody>
                    <a:bodyPr/>
                    <a:lstStyle/>
                    <a:p>
                      <a:pPr algn="ctr"/>
                      <a:r>
                        <a:rPr sz="1040" b="0">
                          <a:solidFill>
                            <a:srgbClr val="2D2D2D"/>
                          </a:solidFill>
                          <a:latin typeface="Arial"/>
                        </a:rPr>
                        <a:t>4</a:t>
                      </a:r>
                    </a:p>
                  </a:txBody>
                  <a:tcPr marL="27432" marR="27432" marT="18288" marB="18288">
                    <a:solidFill>
                      <a:srgbClr val="FFFFFF"/>
                    </a:solidFill>
                  </a:tcPr>
                </a:tc>
                <a:tc>
                  <a:txBody>
                    <a:bodyPr/>
                    <a:lstStyle/>
                    <a:p>
                      <a:pPr algn="ctr"/>
                      <a:r>
                        <a:rPr sz="1040" b="0">
                          <a:solidFill>
                            <a:srgbClr val="2D2D2D"/>
                          </a:solidFill>
                          <a:latin typeface="Arial"/>
                        </a:rPr>
                        <a:t>4</a:t>
                      </a:r>
                    </a:p>
                  </a:txBody>
                  <a:tcPr marL="27432" marR="27432" marT="18288" marB="18288">
                    <a:solidFill>
                      <a:srgbClr val="FFFFFF"/>
                    </a:solidFill>
                  </a:tcPr>
                </a:tc>
                <a:tc>
                  <a:txBody>
                    <a:bodyPr/>
                    <a:lstStyle/>
                    <a:p>
                      <a:pPr algn="ctr"/>
                      <a:r>
                        <a:rPr sz="1040" b="0">
                          <a:solidFill>
                            <a:srgbClr val="2D2D2D"/>
                          </a:solidFill>
                          <a:latin typeface="Arial"/>
                        </a:rPr>
                        <a:t>1×</a:t>
                      </a:r>
                    </a:p>
                  </a:txBody>
                  <a:tcPr marL="27432" marR="27432" marT="18288" marB="18288">
                    <a:solidFill>
                      <a:srgbClr val="FFFFFF"/>
                    </a:solidFill>
                  </a:tcPr>
                </a:tc>
                <a:extLst>
                  <a:ext uri="{0D108BD9-81ED-4DB2-BD59-A6C34878D82A}">
                    <a16:rowId xmlns:a16="http://schemas.microsoft.com/office/drawing/2014/main" val="10001"/>
                  </a:ext>
                </a:extLst>
              </a:tr>
              <a:tr h="420624">
                <a:tc>
                  <a:txBody>
                    <a:bodyPr/>
                    <a:lstStyle/>
                    <a:p>
                      <a:pPr algn="ctr"/>
                      <a:r>
                        <a:rPr sz="1040" b="0">
                          <a:solidFill>
                            <a:srgbClr val="2D2D2D"/>
                          </a:solidFill>
                          <a:latin typeface="Arial"/>
                        </a:rPr>
                        <a:t>INT6</a:t>
                      </a:r>
                    </a:p>
                  </a:txBody>
                  <a:tcPr marL="27432" marR="27432" marT="18288" marB="18288">
                    <a:solidFill>
                      <a:srgbClr val="F6F7F9"/>
                    </a:solidFill>
                  </a:tcPr>
                </a:tc>
                <a:tc>
                  <a:txBody>
                    <a:bodyPr/>
                    <a:lstStyle/>
                    <a:p>
                      <a:pPr algn="ctr"/>
                      <a:r>
                        <a:rPr sz="1040" b="0">
                          <a:solidFill>
                            <a:srgbClr val="2D2D2D"/>
                          </a:solidFill>
                          <a:latin typeface="Arial"/>
                        </a:rPr>
                        <a:t>3</a:t>
                      </a:r>
                    </a:p>
                  </a:txBody>
                  <a:tcPr marL="27432" marR="27432" marT="18288" marB="18288">
                    <a:solidFill>
                      <a:srgbClr val="F6F7F9"/>
                    </a:solidFill>
                  </a:tcPr>
                </a:tc>
                <a:tc>
                  <a:txBody>
                    <a:bodyPr/>
                    <a:lstStyle/>
                    <a:p>
                      <a:pPr algn="ctr"/>
                      <a:r>
                        <a:rPr sz="1040" b="0">
                          <a:solidFill>
                            <a:srgbClr val="2D2D2D"/>
                          </a:solidFill>
                          <a:latin typeface="Arial"/>
                        </a:rPr>
                        <a:t>3</a:t>
                      </a:r>
                    </a:p>
                  </a:txBody>
                  <a:tcPr marL="27432" marR="27432" marT="18288" marB="18288">
                    <a:solidFill>
                      <a:srgbClr val="F6F7F9"/>
                    </a:solidFill>
                  </a:tcPr>
                </a:tc>
                <a:tc>
                  <a:txBody>
                    <a:bodyPr/>
                    <a:lstStyle/>
                    <a:p>
                      <a:pPr algn="ctr"/>
                      <a:r>
                        <a:rPr sz="1040" b="0">
                          <a:solidFill>
                            <a:srgbClr val="2D2D2D"/>
                          </a:solidFill>
                          <a:latin typeface="Arial"/>
                        </a:rPr>
                        <a:t>1.33×</a:t>
                      </a:r>
                    </a:p>
                  </a:txBody>
                  <a:tcPr marL="27432" marR="27432" marT="18288" marB="18288">
                    <a:solidFill>
                      <a:srgbClr val="F6F7F9"/>
                    </a:solidFill>
                  </a:tcPr>
                </a:tc>
                <a:extLst>
                  <a:ext uri="{0D108BD9-81ED-4DB2-BD59-A6C34878D82A}">
                    <a16:rowId xmlns:a16="http://schemas.microsoft.com/office/drawing/2014/main" val="10002"/>
                  </a:ext>
                </a:extLst>
              </a:tr>
              <a:tr h="420624">
                <a:tc>
                  <a:txBody>
                    <a:bodyPr/>
                    <a:lstStyle/>
                    <a:p>
                      <a:pPr algn="ctr"/>
                      <a:r>
                        <a:rPr sz="1040" b="0">
                          <a:solidFill>
                            <a:srgbClr val="2D2D2D"/>
                          </a:solidFill>
                          <a:latin typeface="Arial"/>
                        </a:rPr>
                        <a:t>FP4</a:t>
                      </a:r>
                    </a:p>
                  </a:txBody>
                  <a:tcPr marL="27432" marR="27432" marT="18288" marB="18288">
                    <a:solidFill>
                      <a:srgbClr val="FFFFFF"/>
                    </a:solidFill>
                  </a:tcPr>
                </a:tc>
                <a:tc>
                  <a:txBody>
                    <a:bodyPr/>
                    <a:lstStyle/>
                    <a:p>
                      <a:pPr algn="ctr"/>
                      <a:r>
                        <a:rPr sz="1040" b="0">
                          <a:solidFill>
                            <a:srgbClr val="2D2D2D"/>
                          </a:solidFill>
                          <a:latin typeface="Arial"/>
                        </a:rPr>
                        <a:t>2</a:t>
                      </a:r>
                    </a:p>
                  </a:txBody>
                  <a:tcPr marL="27432" marR="27432" marT="18288" marB="18288">
                    <a:solidFill>
                      <a:srgbClr val="FFFFFF"/>
                    </a:solidFill>
                  </a:tcPr>
                </a:tc>
                <a:tc>
                  <a:txBody>
                    <a:bodyPr/>
                    <a:lstStyle/>
                    <a:p>
                      <a:pPr algn="ctr"/>
                      <a:r>
                        <a:rPr sz="1040" b="0">
                          <a:solidFill>
                            <a:srgbClr val="2D2D2D"/>
                          </a:solidFill>
                          <a:latin typeface="Arial"/>
                        </a:rPr>
                        <a:t>2</a:t>
                      </a:r>
                    </a:p>
                  </a:txBody>
                  <a:tcPr marL="27432" marR="27432" marT="18288" marB="18288">
                    <a:solidFill>
                      <a:srgbClr val="FFFFFF"/>
                    </a:solidFill>
                  </a:tcPr>
                </a:tc>
                <a:tc>
                  <a:txBody>
                    <a:bodyPr/>
                    <a:lstStyle/>
                    <a:p>
                      <a:pPr algn="ctr"/>
                      <a:r>
                        <a:rPr sz="1040" b="0">
                          <a:solidFill>
                            <a:srgbClr val="2D2D2D"/>
                          </a:solidFill>
                          <a:latin typeface="Arial"/>
                        </a:rPr>
                        <a:t>2×</a:t>
                      </a:r>
                    </a:p>
                  </a:txBody>
                  <a:tcPr marL="27432" marR="27432" marT="18288" marB="18288">
                    <a:solidFill>
                      <a:srgbClr val="FFFFFF"/>
                    </a:solidFill>
                  </a:tcPr>
                </a:tc>
                <a:extLst>
                  <a:ext uri="{0D108BD9-81ED-4DB2-BD59-A6C34878D82A}">
                    <a16:rowId xmlns:a16="http://schemas.microsoft.com/office/drawing/2014/main" val="10003"/>
                  </a:ext>
                </a:extLst>
              </a:tr>
              <a:tr h="420624">
                <a:tc>
                  <a:txBody>
                    <a:bodyPr/>
                    <a:lstStyle/>
                    <a:p>
                      <a:pPr algn="ctr"/>
                      <a:r>
                        <a:rPr sz="1040" b="0">
                          <a:solidFill>
                            <a:srgbClr val="2D2D2D"/>
                          </a:solidFill>
                          <a:latin typeface="Arial"/>
                        </a:rPr>
                        <a:t>FP3</a:t>
                      </a:r>
                    </a:p>
                  </a:txBody>
                  <a:tcPr marL="27432" marR="27432" marT="18288" marB="18288">
                    <a:solidFill>
                      <a:srgbClr val="F6F7F9"/>
                    </a:solidFill>
                  </a:tcPr>
                </a:tc>
                <a:tc>
                  <a:txBody>
                    <a:bodyPr/>
                    <a:lstStyle/>
                    <a:p>
                      <a:pPr algn="ctr"/>
                      <a:r>
                        <a:rPr sz="1040" b="0">
                          <a:solidFill>
                            <a:srgbClr val="2D2D2D"/>
                          </a:solidFill>
                          <a:latin typeface="Arial"/>
                        </a:rPr>
                        <a:t>2</a:t>
                      </a:r>
                    </a:p>
                  </a:txBody>
                  <a:tcPr marL="27432" marR="27432" marT="18288" marB="18288">
                    <a:solidFill>
                      <a:srgbClr val="F6F7F9"/>
                    </a:solidFill>
                  </a:tcPr>
                </a:tc>
                <a:tc>
                  <a:txBody>
                    <a:bodyPr/>
                    <a:lstStyle/>
                    <a:p>
                      <a:pPr algn="ctr"/>
                      <a:r>
                        <a:rPr sz="1040" b="0">
                          <a:solidFill>
                            <a:srgbClr val="2D2D2D"/>
                          </a:solidFill>
                          <a:latin typeface="Arial"/>
                        </a:rPr>
                        <a:t>2</a:t>
                      </a:r>
                    </a:p>
                  </a:txBody>
                  <a:tcPr marL="27432" marR="27432" marT="18288" marB="18288">
                    <a:solidFill>
                      <a:srgbClr val="F6F7F9"/>
                    </a:solidFill>
                  </a:tcPr>
                </a:tc>
                <a:tc>
                  <a:txBody>
                    <a:bodyPr/>
                    <a:lstStyle/>
                    <a:p>
                      <a:pPr algn="ctr"/>
                      <a:r>
                        <a:rPr sz="1040" b="0" dirty="0">
                          <a:solidFill>
                            <a:srgbClr val="2D2D2D"/>
                          </a:solidFill>
                          <a:latin typeface="Arial"/>
                        </a:rPr>
                        <a:t>2×</a:t>
                      </a:r>
                    </a:p>
                  </a:txBody>
                  <a:tcPr marL="27432" marR="27432" marT="18288" marB="18288">
                    <a:solidFill>
                      <a:srgbClr val="F6F7F9"/>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6446520" y="4544568"/>
            <a:ext cx="4434840" cy="292608"/>
          </a:xfrm>
          <a:prstGeom prst="rect">
            <a:avLst/>
          </a:prstGeom>
          <a:noFill/>
        </p:spPr>
        <p:txBody>
          <a:bodyPr wrap="square" lIns="0" tIns="0" rIns="0" bIns="0">
            <a:spAutoFit/>
          </a:bodyPr>
          <a:lstStyle/>
          <a:p>
            <a:pPr algn="ctr">
              <a:spcAft>
                <a:spcPts val="100"/>
              </a:spcAft>
            </a:pPr>
            <a:r>
              <a:rPr sz="1200" b="1">
                <a:solidFill>
                  <a:srgbClr val="00245D"/>
                </a:solidFill>
                <a:latin typeface="Arial"/>
              </a:rPr>
              <a:t>Lower weight precision → fewer bit-serial terms → fewer PE cycles</a:t>
            </a:r>
          </a:p>
        </p:txBody>
      </p:sp>
      <p:sp>
        <p:nvSpPr>
          <p:cNvPr id="21" name="TextBox 20"/>
          <p:cNvSpPr txBox="1"/>
          <p:nvPr/>
        </p:nvSpPr>
        <p:spPr>
          <a:xfrm>
            <a:off x="6446520" y="5001768"/>
            <a:ext cx="4503420" cy="150811"/>
          </a:xfrm>
          <a:prstGeom prst="rect">
            <a:avLst/>
          </a:prstGeom>
          <a:noFill/>
        </p:spPr>
        <p:txBody>
          <a:bodyPr wrap="square" lIns="0" tIns="0" rIns="0" bIns="0">
            <a:spAutoFit/>
          </a:bodyPr>
          <a:lstStyle/>
          <a:p>
            <a:pPr algn="ctr">
              <a:spcAft>
                <a:spcPts val="100"/>
              </a:spcAft>
            </a:pPr>
            <a:r>
              <a:rPr sz="980" b="1">
                <a:solidFill>
                  <a:srgbClr val="2D2D2D"/>
                </a:solidFill>
                <a:latin typeface="Arial"/>
              </a:rPr>
              <a:t>The paper also reports BitMoD PE uses about 24% less area than FP16 PE.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424160" cy="292608"/>
          </a:xfrm>
          <a:prstGeom prst="rect">
            <a:avLst/>
          </a:prstGeom>
          <a:noFill/>
        </p:spPr>
        <p:txBody>
          <a:bodyPr wrap="none">
            <a:spAutoFit/>
          </a:bodyPr>
          <a:lstStyle/>
          <a:p>
            <a:r>
              <a:rPr sz="2000" b="1">
                <a:solidFill>
                  <a:srgbClr val="000000"/>
                </a:solidFill>
                <a:latin typeface="Arial"/>
              </a:rPr>
              <a:t>C. BitMoD Accelerator: Overall Architecture</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73</a:t>
            </a:r>
            <a:endParaRPr sz="1000" b="1" dirty="0">
              <a:solidFill>
                <a:srgbClr val="FFFFFF"/>
              </a:solidFill>
              <a:latin typeface="Arial"/>
            </a:endParaRPr>
          </a:p>
        </p:txBody>
      </p:sp>
      <p:sp>
        <p:nvSpPr>
          <p:cNvPr id="8" name="TextBox 7"/>
          <p:cNvSpPr txBox="1"/>
          <p:nvPr/>
        </p:nvSpPr>
        <p:spPr>
          <a:xfrm>
            <a:off x="594360" y="932688"/>
            <a:ext cx="10698480" cy="274320"/>
          </a:xfrm>
          <a:prstGeom prst="rect">
            <a:avLst/>
          </a:prstGeom>
          <a:noFill/>
        </p:spPr>
        <p:txBody>
          <a:bodyPr wrap="square" lIns="0" tIns="0" rIns="0" bIns="0">
            <a:spAutoFit/>
          </a:bodyPr>
          <a:lstStyle/>
          <a:p>
            <a:pPr algn="l">
              <a:spcAft>
                <a:spcPts val="100"/>
              </a:spcAft>
            </a:pPr>
            <a:r>
              <a:rPr sz="1300" b="0">
                <a:solidFill>
                  <a:srgbClr val="2D2D2D"/>
                </a:solidFill>
                <a:latin typeface="Arial"/>
              </a:rPr>
              <a:t>Figure 6 shows how the bit-serial term generator and BitMoD PE are organized into a full accelerator.</a:t>
            </a:r>
          </a:p>
        </p:txBody>
      </p:sp>
      <p:sp>
        <p:nvSpPr>
          <p:cNvPr id="9" name="Rounded Rectangle 8"/>
          <p:cNvSpPr/>
          <p:nvPr/>
        </p:nvSpPr>
        <p:spPr>
          <a:xfrm>
            <a:off x="685800" y="1353312"/>
            <a:ext cx="6583680" cy="4389120"/>
          </a:xfrm>
          <a:prstGeom prst="round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60120" y="5138928"/>
            <a:ext cx="5989320" cy="365760"/>
          </a:xfrm>
          <a:prstGeom prst="rect">
            <a:avLst/>
          </a:prstGeom>
          <a:solidFill>
            <a:srgbClr val="F2F7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78992" y="5248656"/>
            <a:ext cx="5742432" cy="137160"/>
          </a:xfrm>
          <a:prstGeom prst="rect">
            <a:avLst/>
          </a:prstGeom>
          <a:noFill/>
        </p:spPr>
        <p:txBody>
          <a:bodyPr wrap="square" lIns="0" tIns="0" rIns="0" bIns="0">
            <a:spAutoFit/>
          </a:bodyPr>
          <a:lstStyle/>
          <a:p>
            <a:pPr algn="ctr">
              <a:spcAft>
                <a:spcPts val="100"/>
              </a:spcAft>
            </a:pPr>
            <a:r>
              <a:rPr sz="960" b="1">
                <a:solidFill>
                  <a:srgbClr val="00245D"/>
                </a:solidFill>
                <a:latin typeface="Arial"/>
              </a:rPr>
              <a:t>Figure 6: banked buffers → term generator → 4×4 PE tiles → PE columns with output buffer + ACC</a:t>
            </a:r>
          </a:p>
        </p:txBody>
      </p:sp>
      <p:sp>
        <p:nvSpPr>
          <p:cNvPr id="13" name="Rounded Rectangle 12"/>
          <p:cNvSpPr/>
          <p:nvPr/>
        </p:nvSpPr>
        <p:spPr>
          <a:xfrm>
            <a:off x="7543800" y="1353312"/>
            <a:ext cx="3611880" cy="4389120"/>
          </a:xfrm>
          <a:prstGeom prst="roundRect">
            <a:avLst/>
          </a:prstGeom>
          <a:solidFill>
            <a:srgbClr val="FFFAE6"/>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1783871"/>
            <a:ext cx="310896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Main components</a:t>
            </a:r>
          </a:p>
        </p:txBody>
      </p:sp>
      <p:sp>
        <p:nvSpPr>
          <p:cNvPr id="15" name="TextBox 14"/>
          <p:cNvSpPr txBox="1"/>
          <p:nvPr/>
        </p:nvSpPr>
        <p:spPr>
          <a:xfrm>
            <a:off x="7795259" y="2192982"/>
            <a:ext cx="3063240" cy="1738938"/>
          </a:xfrm>
          <a:prstGeom prst="rect">
            <a:avLst/>
          </a:prstGeom>
          <a:noFill/>
        </p:spPr>
        <p:txBody>
          <a:bodyPr wrap="square" lIns="0" tIns="0" rIns="0" bIns="0">
            <a:spAutoFit/>
          </a:bodyPr>
          <a:lstStyle/>
          <a:p>
            <a:pPr>
              <a:spcAft>
                <a:spcPts val="200"/>
              </a:spcAft>
            </a:pPr>
            <a:r>
              <a:rPr sz="1200" dirty="0">
                <a:solidFill>
                  <a:srgbClr val="2D2D2D"/>
                </a:solidFill>
                <a:latin typeface="Arial"/>
              </a:rPr>
              <a:t>• Banked input and weight buffers provide bandwidth for many PEs.</a:t>
            </a:r>
          </a:p>
          <a:p>
            <a:pPr>
              <a:spcAft>
                <a:spcPts val="200"/>
              </a:spcAft>
            </a:pPr>
            <a:r>
              <a:rPr sz="1200" dirty="0">
                <a:solidFill>
                  <a:srgbClr val="2D2D2D"/>
                </a:solidFill>
                <a:latin typeface="Arial"/>
              </a:rPr>
              <a:t>• Bit-serial Term Generator converts quantized weights into sign / exp / man / </a:t>
            </a:r>
            <a:r>
              <a:rPr sz="1200" dirty="0" err="1">
                <a:solidFill>
                  <a:srgbClr val="2D2D2D"/>
                </a:solidFill>
                <a:latin typeface="Arial"/>
              </a:rPr>
              <a:t>Bsig</a:t>
            </a:r>
            <a:r>
              <a:rPr sz="1200" dirty="0">
                <a:solidFill>
                  <a:srgbClr val="2D2D2D"/>
                </a:solidFill>
                <a:latin typeface="Arial"/>
              </a:rPr>
              <a:t>.</a:t>
            </a:r>
          </a:p>
          <a:p>
            <a:pPr>
              <a:spcAft>
                <a:spcPts val="200"/>
              </a:spcAft>
            </a:pPr>
            <a:r>
              <a:rPr sz="1200" dirty="0">
                <a:solidFill>
                  <a:srgbClr val="2D2D2D"/>
                </a:solidFill>
                <a:latin typeface="Arial"/>
              </a:rPr>
              <a:t>• Main PE Array contains 4×4 systolic PE tiles.</a:t>
            </a:r>
          </a:p>
          <a:p>
            <a:pPr>
              <a:spcAft>
                <a:spcPts val="200"/>
              </a:spcAft>
            </a:pPr>
            <a:r>
              <a:rPr sz="1200" dirty="0">
                <a:solidFill>
                  <a:srgbClr val="2D2D2D"/>
                </a:solidFill>
                <a:latin typeface="Arial"/>
              </a:rPr>
              <a:t>• Each PE column has a local output buffer and shared accumulator.</a:t>
            </a:r>
          </a:p>
        </p:txBody>
      </p:sp>
      <p:sp>
        <p:nvSpPr>
          <p:cNvPr id="16" name="Rectangle 15"/>
          <p:cNvSpPr/>
          <p:nvPr/>
        </p:nvSpPr>
        <p:spPr>
          <a:xfrm>
            <a:off x="7818120" y="4617720"/>
            <a:ext cx="3017520" cy="640080"/>
          </a:xfrm>
          <a:prstGeom prst="rect">
            <a:avLst/>
          </a:prstGeom>
          <a:solidFill>
            <a:srgbClr val="FFFF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79" y="4754880"/>
            <a:ext cx="2743200" cy="353943"/>
          </a:xfrm>
          <a:prstGeom prst="rect">
            <a:avLst/>
          </a:prstGeom>
          <a:noFill/>
        </p:spPr>
        <p:txBody>
          <a:bodyPr wrap="square" lIns="0" tIns="0" rIns="0" bIns="0">
            <a:spAutoFit/>
          </a:bodyPr>
          <a:lstStyle/>
          <a:p>
            <a:pPr algn="ctr">
              <a:spcAft>
                <a:spcPts val="100"/>
              </a:spcAft>
            </a:pPr>
            <a:r>
              <a:rPr sz="1150" b="1" dirty="0">
                <a:solidFill>
                  <a:srgbClr val="00245D"/>
                </a:solidFill>
                <a:latin typeface="Arial"/>
              </a:rPr>
              <a:t>Core goal: exploit </a:t>
            </a:r>
            <a:r>
              <a:rPr sz="1150" b="1" dirty="0">
                <a:solidFill>
                  <a:srgbClr val="FF0000"/>
                </a:solidFill>
                <a:latin typeface="Arial"/>
              </a:rPr>
              <a:t>PE parallelism </a:t>
            </a:r>
            <a:r>
              <a:rPr sz="1150" b="1" dirty="0">
                <a:solidFill>
                  <a:srgbClr val="00245D"/>
                </a:solidFill>
                <a:latin typeface="Arial"/>
              </a:rPr>
              <a:t>while reducing data movement.</a:t>
            </a:r>
          </a:p>
        </p:txBody>
      </p:sp>
      <p:pic>
        <p:nvPicPr>
          <p:cNvPr id="19" name="그림 18">
            <a:extLst>
              <a:ext uri="{FF2B5EF4-FFF2-40B4-BE49-F238E27FC236}">
                <a16:creationId xmlns:a16="http://schemas.microsoft.com/office/drawing/2014/main" id="{36CC847E-0B7F-E424-2588-27F1C6A08315}"/>
              </a:ext>
            </a:extLst>
          </p:cNvPr>
          <p:cNvPicPr>
            <a:picLocks noChangeAspect="1"/>
          </p:cNvPicPr>
          <p:nvPr/>
        </p:nvPicPr>
        <p:blipFill>
          <a:blip r:embed="rId3"/>
          <a:stretch>
            <a:fillRect/>
          </a:stretch>
        </p:blipFill>
        <p:spPr>
          <a:xfrm>
            <a:off x="1036320" y="1783871"/>
            <a:ext cx="5767111" cy="3153889"/>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424160" cy="292608"/>
          </a:xfrm>
          <a:prstGeom prst="rect">
            <a:avLst/>
          </a:prstGeom>
          <a:noFill/>
        </p:spPr>
        <p:txBody>
          <a:bodyPr wrap="none">
            <a:spAutoFit/>
          </a:bodyPr>
          <a:lstStyle/>
          <a:p>
            <a:r>
              <a:rPr sz="2000" b="1">
                <a:solidFill>
                  <a:srgbClr val="000000"/>
                </a:solidFill>
                <a:latin typeface="Arial"/>
              </a:rPr>
              <a:t>Weight-sharing and Input-sharing through Broadcast</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74</a:t>
            </a:r>
            <a:endParaRPr sz="1000" b="1" dirty="0">
              <a:solidFill>
                <a:srgbClr val="FFFFFF"/>
              </a:solidFill>
              <a:latin typeface="Arial"/>
            </a:endParaRPr>
          </a:p>
        </p:txBody>
      </p:sp>
      <p:sp>
        <p:nvSpPr>
          <p:cNvPr id="8" name="TextBox 7"/>
          <p:cNvSpPr txBox="1"/>
          <p:nvPr/>
        </p:nvSpPr>
        <p:spPr>
          <a:xfrm>
            <a:off x="594360" y="932688"/>
            <a:ext cx="10698480" cy="200055"/>
          </a:xfrm>
          <a:prstGeom prst="rect">
            <a:avLst/>
          </a:prstGeom>
          <a:noFill/>
        </p:spPr>
        <p:txBody>
          <a:bodyPr wrap="square" lIns="0" tIns="0" rIns="0" bIns="0">
            <a:spAutoFit/>
          </a:bodyPr>
          <a:lstStyle/>
          <a:p>
            <a:pPr algn="l">
              <a:spcAft>
                <a:spcPts val="100"/>
              </a:spcAft>
            </a:pPr>
            <a:r>
              <a:rPr sz="1300" b="0" dirty="0" err="1">
                <a:solidFill>
                  <a:srgbClr val="2D2D2D"/>
                </a:solidFill>
                <a:latin typeface="Arial"/>
              </a:rPr>
              <a:t>BitMoD</a:t>
            </a:r>
            <a:r>
              <a:rPr sz="1300" b="0" dirty="0">
                <a:solidFill>
                  <a:srgbClr val="2D2D2D"/>
                </a:solidFill>
                <a:latin typeface="Arial"/>
              </a:rPr>
              <a:t> </a:t>
            </a:r>
            <a:r>
              <a:rPr sz="1300" b="0" dirty="0">
                <a:solidFill>
                  <a:srgbClr val="FF0000"/>
                </a:solidFill>
                <a:latin typeface="Arial"/>
              </a:rPr>
              <a:t>reuses</a:t>
            </a:r>
            <a:r>
              <a:rPr sz="1300" b="0" dirty="0">
                <a:solidFill>
                  <a:srgbClr val="2D2D2D"/>
                </a:solidFill>
                <a:latin typeface="Arial"/>
              </a:rPr>
              <a:t> both weights and inputs by broadcasting them in perpendicular directions across the PE tile.</a:t>
            </a:r>
          </a:p>
        </p:txBody>
      </p:sp>
      <p:sp>
        <p:nvSpPr>
          <p:cNvPr id="9" name="Rounded Rectangle 8"/>
          <p:cNvSpPr/>
          <p:nvPr/>
        </p:nvSpPr>
        <p:spPr>
          <a:xfrm>
            <a:off x="685800" y="1371600"/>
            <a:ext cx="4983480" cy="429768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14262" y="1682014"/>
            <a:ext cx="452628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Broadcast directions</a:t>
            </a:r>
          </a:p>
        </p:txBody>
      </p:sp>
      <p:sp>
        <p:nvSpPr>
          <p:cNvPr id="11" name="TextBox 10"/>
          <p:cNvSpPr txBox="1"/>
          <p:nvPr/>
        </p:nvSpPr>
        <p:spPr>
          <a:xfrm>
            <a:off x="1677202" y="2098547"/>
            <a:ext cx="457200" cy="137160"/>
          </a:xfrm>
          <a:prstGeom prst="rect">
            <a:avLst/>
          </a:prstGeom>
          <a:noFill/>
        </p:spPr>
        <p:txBody>
          <a:bodyPr wrap="square" lIns="0" tIns="0" rIns="0" bIns="0">
            <a:spAutoFit/>
          </a:bodyPr>
          <a:lstStyle/>
          <a:p>
            <a:pPr algn="ctr">
              <a:spcAft>
                <a:spcPts val="100"/>
              </a:spcAft>
            </a:pPr>
            <a:r>
              <a:rPr sz="1000" b="1">
                <a:solidFill>
                  <a:srgbClr val="C00000"/>
                </a:solidFill>
                <a:latin typeface="Arial"/>
              </a:rPr>
              <a:t>W0</a:t>
            </a:r>
          </a:p>
        </p:txBody>
      </p:sp>
      <p:cxnSp>
        <p:nvCxnSpPr>
          <p:cNvPr id="12" name="Connector 11"/>
          <p:cNvCxnSpPr/>
          <p:nvPr/>
        </p:nvCxnSpPr>
        <p:spPr>
          <a:xfrm>
            <a:off x="1905802" y="2281428"/>
            <a:ext cx="0" cy="2468880"/>
          </a:xfrm>
          <a:prstGeom prst="line">
            <a:avLst/>
          </a:prstGeom>
          <a:ln w="17780">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63002" y="2098547"/>
            <a:ext cx="457200" cy="137160"/>
          </a:xfrm>
          <a:prstGeom prst="rect">
            <a:avLst/>
          </a:prstGeom>
          <a:noFill/>
        </p:spPr>
        <p:txBody>
          <a:bodyPr wrap="square" lIns="0" tIns="0" rIns="0" bIns="0">
            <a:spAutoFit/>
          </a:bodyPr>
          <a:lstStyle/>
          <a:p>
            <a:pPr algn="ctr">
              <a:spcAft>
                <a:spcPts val="100"/>
              </a:spcAft>
            </a:pPr>
            <a:r>
              <a:rPr sz="1000" b="1">
                <a:solidFill>
                  <a:srgbClr val="C00000"/>
                </a:solidFill>
                <a:latin typeface="Arial"/>
              </a:rPr>
              <a:t>W1</a:t>
            </a:r>
          </a:p>
        </p:txBody>
      </p:sp>
      <p:cxnSp>
        <p:nvCxnSpPr>
          <p:cNvPr id="14" name="Connector 13"/>
          <p:cNvCxnSpPr/>
          <p:nvPr/>
        </p:nvCxnSpPr>
        <p:spPr>
          <a:xfrm>
            <a:off x="2591602" y="2281428"/>
            <a:ext cx="0" cy="2468880"/>
          </a:xfrm>
          <a:prstGeom prst="line">
            <a:avLst/>
          </a:prstGeom>
          <a:ln w="17780">
            <a:solidFill>
              <a:srgbClr val="C0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48802" y="2098547"/>
            <a:ext cx="457200" cy="137160"/>
          </a:xfrm>
          <a:prstGeom prst="rect">
            <a:avLst/>
          </a:prstGeom>
          <a:noFill/>
        </p:spPr>
        <p:txBody>
          <a:bodyPr wrap="square" lIns="0" tIns="0" rIns="0" bIns="0">
            <a:spAutoFit/>
          </a:bodyPr>
          <a:lstStyle/>
          <a:p>
            <a:pPr algn="ctr">
              <a:spcAft>
                <a:spcPts val="100"/>
              </a:spcAft>
            </a:pPr>
            <a:r>
              <a:rPr sz="1000" b="1">
                <a:solidFill>
                  <a:srgbClr val="C00000"/>
                </a:solidFill>
                <a:latin typeface="Arial"/>
              </a:rPr>
              <a:t>W2</a:t>
            </a:r>
          </a:p>
        </p:txBody>
      </p:sp>
      <p:cxnSp>
        <p:nvCxnSpPr>
          <p:cNvPr id="16" name="Connector 15"/>
          <p:cNvCxnSpPr/>
          <p:nvPr/>
        </p:nvCxnSpPr>
        <p:spPr>
          <a:xfrm>
            <a:off x="3277402" y="2281428"/>
            <a:ext cx="0" cy="2468880"/>
          </a:xfrm>
          <a:prstGeom prst="line">
            <a:avLst/>
          </a:prstGeom>
          <a:ln w="17780">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734602" y="2098547"/>
            <a:ext cx="457200" cy="137160"/>
          </a:xfrm>
          <a:prstGeom prst="rect">
            <a:avLst/>
          </a:prstGeom>
          <a:noFill/>
        </p:spPr>
        <p:txBody>
          <a:bodyPr wrap="square" lIns="0" tIns="0" rIns="0" bIns="0">
            <a:spAutoFit/>
          </a:bodyPr>
          <a:lstStyle/>
          <a:p>
            <a:pPr algn="ctr">
              <a:spcAft>
                <a:spcPts val="100"/>
              </a:spcAft>
            </a:pPr>
            <a:r>
              <a:rPr sz="1000" b="1">
                <a:solidFill>
                  <a:srgbClr val="C00000"/>
                </a:solidFill>
                <a:latin typeface="Arial"/>
              </a:rPr>
              <a:t>W3</a:t>
            </a:r>
          </a:p>
        </p:txBody>
      </p:sp>
      <p:cxnSp>
        <p:nvCxnSpPr>
          <p:cNvPr id="18" name="Connector 17"/>
          <p:cNvCxnSpPr/>
          <p:nvPr/>
        </p:nvCxnSpPr>
        <p:spPr>
          <a:xfrm>
            <a:off x="3963202" y="2281428"/>
            <a:ext cx="0" cy="2468880"/>
          </a:xfrm>
          <a:prstGeom prst="line">
            <a:avLst/>
          </a:prstGeom>
          <a:ln w="17780">
            <a:solidFill>
              <a:srgbClr val="C000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174282" y="2674620"/>
            <a:ext cx="411480" cy="109728"/>
          </a:xfrm>
          <a:prstGeom prst="rect">
            <a:avLst/>
          </a:prstGeom>
          <a:noFill/>
        </p:spPr>
        <p:txBody>
          <a:bodyPr wrap="square" lIns="0" tIns="0" rIns="0" bIns="0">
            <a:spAutoFit/>
          </a:bodyPr>
          <a:lstStyle/>
          <a:p>
            <a:pPr algn="ctr">
              <a:spcAft>
                <a:spcPts val="100"/>
              </a:spcAft>
            </a:pPr>
            <a:r>
              <a:rPr sz="1000" b="1">
                <a:solidFill>
                  <a:srgbClr val="2E7D32"/>
                </a:solidFill>
                <a:latin typeface="Arial"/>
              </a:rPr>
              <a:t>A0</a:t>
            </a:r>
          </a:p>
        </p:txBody>
      </p:sp>
      <p:cxnSp>
        <p:nvCxnSpPr>
          <p:cNvPr id="20" name="Connector 19"/>
          <p:cNvCxnSpPr/>
          <p:nvPr/>
        </p:nvCxnSpPr>
        <p:spPr>
          <a:xfrm>
            <a:off x="1540042" y="2720340"/>
            <a:ext cx="3246120" cy="0"/>
          </a:xfrm>
          <a:prstGeom prst="line">
            <a:avLst/>
          </a:prstGeom>
          <a:ln w="17780">
            <a:solidFill>
              <a:srgbClr val="2E7D3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174282" y="3177540"/>
            <a:ext cx="411480" cy="109728"/>
          </a:xfrm>
          <a:prstGeom prst="rect">
            <a:avLst/>
          </a:prstGeom>
          <a:noFill/>
        </p:spPr>
        <p:txBody>
          <a:bodyPr wrap="square" lIns="0" tIns="0" rIns="0" bIns="0">
            <a:spAutoFit/>
          </a:bodyPr>
          <a:lstStyle/>
          <a:p>
            <a:pPr algn="ctr">
              <a:spcAft>
                <a:spcPts val="100"/>
              </a:spcAft>
            </a:pPr>
            <a:r>
              <a:rPr sz="1000" b="1">
                <a:solidFill>
                  <a:srgbClr val="2E7D32"/>
                </a:solidFill>
                <a:latin typeface="Arial"/>
              </a:rPr>
              <a:t>A1</a:t>
            </a:r>
          </a:p>
        </p:txBody>
      </p:sp>
      <p:cxnSp>
        <p:nvCxnSpPr>
          <p:cNvPr id="22" name="Connector 21"/>
          <p:cNvCxnSpPr/>
          <p:nvPr/>
        </p:nvCxnSpPr>
        <p:spPr>
          <a:xfrm>
            <a:off x="1540042" y="3223260"/>
            <a:ext cx="3246120" cy="0"/>
          </a:xfrm>
          <a:prstGeom prst="line">
            <a:avLst/>
          </a:prstGeom>
          <a:ln w="17780">
            <a:solidFill>
              <a:srgbClr val="2E7D3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74282" y="3680460"/>
            <a:ext cx="411480" cy="109728"/>
          </a:xfrm>
          <a:prstGeom prst="rect">
            <a:avLst/>
          </a:prstGeom>
          <a:noFill/>
        </p:spPr>
        <p:txBody>
          <a:bodyPr wrap="square" lIns="0" tIns="0" rIns="0" bIns="0">
            <a:spAutoFit/>
          </a:bodyPr>
          <a:lstStyle/>
          <a:p>
            <a:pPr algn="ctr">
              <a:spcAft>
                <a:spcPts val="100"/>
              </a:spcAft>
            </a:pPr>
            <a:r>
              <a:rPr sz="1000" b="1">
                <a:solidFill>
                  <a:srgbClr val="2E7D32"/>
                </a:solidFill>
                <a:latin typeface="Arial"/>
              </a:rPr>
              <a:t>A2</a:t>
            </a:r>
          </a:p>
        </p:txBody>
      </p:sp>
      <p:cxnSp>
        <p:nvCxnSpPr>
          <p:cNvPr id="24" name="Connector 23"/>
          <p:cNvCxnSpPr/>
          <p:nvPr/>
        </p:nvCxnSpPr>
        <p:spPr>
          <a:xfrm>
            <a:off x="1540042" y="3726180"/>
            <a:ext cx="3246120" cy="0"/>
          </a:xfrm>
          <a:prstGeom prst="line">
            <a:avLst/>
          </a:prstGeom>
          <a:ln w="17780">
            <a:solidFill>
              <a:srgbClr val="2E7D3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74282" y="4183380"/>
            <a:ext cx="411480" cy="109728"/>
          </a:xfrm>
          <a:prstGeom prst="rect">
            <a:avLst/>
          </a:prstGeom>
          <a:noFill/>
        </p:spPr>
        <p:txBody>
          <a:bodyPr wrap="square" lIns="0" tIns="0" rIns="0" bIns="0">
            <a:spAutoFit/>
          </a:bodyPr>
          <a:lstStyle/>
          <a:p>
            <a:pPr algn="ctr">
              <a:spcAft>
                <a:spcPts val="100"/>
              </a:spcAft>
            </a:pPr>
            <a:r>
              <a:rPr sz="1000" b="1">
                <a:solidFill>
                  <a:srgbClr val="2E7D32"/>
                </a:solidFill>
                <a:latin typeface="Arial"/>
              </a:rPr>
              <a:t>A3</a:t>
            </a:r>
          </a:p>
        </p:txBody>
      </p:sp>
      <p:cxnSp>
        <p:nvCxnSpPr>
          <p:cNvPr id="26" name="Connector 25"/>
          <p:cNvCxnSpPr/>
          <p:nvPr/>
        </p:nvCxnSpPr>
        <p:spPr>
          <a:xfrm>
            <a:off x="1540042" y="4229100"/>
            <a:ext cx="3246120" cy="0"/>
          </a:xfrm>
          <a:prstGeom prst="line">
            <a:avLst/>
          </a:prstGeom>
          <a:ln w="17780">
            <a:solidFill>
              <a:srgbClr val="2E7D32"/>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677202" y="255574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722922" y="264718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29" name="Rectangle 28"/>
          <p:cNvSpPr/>
          <p:nvPr/>
        </p:nvSpPr>
        <p:spPr>
          <a:xfrm>
            <a:off x="2363002" y="255574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408721" y="264718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31" name="Rectangle 30"/>
          <p:cNvSpPr/>
          <p:nvPr/>
        </p:nvSpPr>
        <p:spPr>
          <a:xfrm>
            <a:off x="3048802" y="255574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094521" y="264718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33" name="Rectangle 32"/>
          <p:cNvSpPr/>
          <p:nvPr/>
        </p:nvSpPr>
        <p:spPr>
          <a:xfrm>
            <a:off x="3734602" y="255574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780321" y="264718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35" name="Rectangle 34"/>
          <p:cNvSpPr/>
          <p:nvPr/>
        </p:nvSpPr>
        <p:spPr>
          <a:xfrm>
            <a:off x="1677202" y="3058667"/>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722922" y="3150107"/>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37" name="Rectangle 36"/>
          <p:cNvSpPr/>
          <p:nvPr/>
        </p:nvSpPr>
        <p:spPr>
          <a:xfrm>
            <a:off x="2363002" y="3058667"/>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408721" y="3150107"/>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39" name="Rectangle 38"/>
          <p:cNvSpPr/>
          <p:nvPr/>
        </p:nvSpPr>
        <p:spPr>
          <a:xfrm>
            <a:off x="3048802" y="3058667"/>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094521" y="3150107"/>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41" name="Rectangle 40"/>
          <p:cNvSpPr/>
          <p:nvPr/>
        </p:nvSpPr>
        <p:spPr>
          <a:xfrm>
            <a:off x="3734602" y="3058667"/>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780321" y="3150107"/>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43" name="Rectangle 42"/>
          <p:cNvSpPr/>
          <p:nvPr/>
        </p:nvSpPr>
        <p:spPr>
          <a:xfrm>
            <a:off x="1677202" y="356158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722922" y="365302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45" name="Rectangle 44"/>
          <p:cNvSpPr/>
          <p:nvPr/>
        </p:nvSpPr>
        <p:spPr>
          <a:xfrm>
            <a:off x="2363002" y="356158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408721" y="365302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47" name="Rectangle 46"/>
          <p:cNvSpPr/>
          <p:nvPr/>
        </p:nvSpPr>
        <p:spPr>
          <a:xfrm>
            <a:off x="3048802" y="356158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094521" y="365302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49" name="Rectangle 48"/>
          <p:cNvSpPr/>
          <p:nvPr/>
        </p:nvSpPr>
        <p:spPr>
          <a:xfrm>
            <a:off x="3734602" y="356158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780321" y="365302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51" name="Rectangle 50"/>
          <p:cNvSpPr/>
          <p:nvPr/>
        </p:nvSpPr>
        <p:spPr>
          <a:xfrm>
            <a:off x="1677202" y="406450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722922" y="415594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53" name="Rectangle 52"/>
          <p:cNvSpPr/>
          <p:nvPr/>
        </p:nvSpPr>
        <p:spPr>
          <a:xfrm>
            <a:off x="2363002" y="406450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408721" y="415594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55" name="Rectangle 54"/>
          <p:cNvSpPr/>
          <p:nvPr/>
        </p:nvSpPr>
        <p:spPr>
          <a:xfrm>
            <a:off x="3048802" y="406450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094521" y="415594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57" name="Rectangle 56"/>
          <p:cNvSpPr/>
          <p:nvPr/>
        </p:nvSpPr>
        <p:spPr>
          <a:xfrm>
            <a:off x="3734602" y="4064508"/>
            <a:ext cx="457200" cy="292608"/>
          </a:xfrm>
          <a:prstGeom prst="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780321" y="4155948"/>
            <a:ext cx="365760" cy="73152"/>
          </a:xfrm>
          <a:prstGeom prst="rect">
            <a:avLst/>
          </a:prstGeom>
          <a:noFill/>
        </p:spPr>
        <p:txBody>
          <a:bodyPr wrap="square" lIns="0" tIns="0" rIns="0" bIns="0">
            <a:spAutoFit/>
          </a:bodyPr>
          <a:lstStyle/>
          <a:p>
            <a:pPr algn="ctr">
              <a:spcAft>
                <a:spcPts val="100"/>
              </a:spcAft>
            </a:pPr>
            <a:r>
              <a:rPr sz="720" b="1">
                <a:solidFill>
                  <a:srgbClr val="00245D"/>
                </a:solidFill>
                <a:latin typeface="Arial"/>
              </a:rPr>
              <a:t>PE</a:t>
            </a:r>
          </a:p>
        </p:txBody>
      </p:sp>
      <p:sp>
        <p:nvSpPr>
          <p:cNvPr id="59" name="TextBox 58"/>
          <p:cNvSpPr txBox="1"/>
          <p:nvPr/>
        </p:nvSpPr>
        <p:spPr>
          <a:xfrm>
            <a:off x="960120" y="5074920"/>
            <a:ext cx="4297680" cy="228600"/>
          </a:xfrm>
          <a:prstGeom prst="rect">
            <a:avLst/>
          </a:prstGeom>
          <a:noFill/>
        </p:spPr>
        <p:txBody>
          <a:bodyPr wrap="square" lIns="0" tIns="0" rIns="0" bIns="0">
            <a:spAutoFit/>
          </a:bodyPr>
          <a:lstStyle/>
          <a:p>
            <a:pPr algn="ctr">
              <a:spcAft>
                <a:spcPts val="100"/>
              </a:spcAft>
            </a:pPr>
            <a:r>
              <a:rPr sz="1150" b="1">
                <a:solidFill>
                  <a:srgbClr val="00245D"/>
                </a:solidFill>
                <a:latin typeface="Arial"/>
              </a:rPr>
              <a:t>Weight term → column broadcast, Input → row broadcast</a:t>
            </a:r>
          </a:p>
        </p:txBody>
      </p:sp>
      <p:sp>
        <p:nvSpPr>
          <p:cNvPr id="60" name="Rounded Rectangle 59"/>
          <p:cNvSpPr/>
          <p:nvPr/>
        </p:nvSpPr>
        <p:spPr>
          <a:xfrm>
            <a:off x="6080760" y="1371600"/>
            <a:ext cx="5074920" cy="4297680"/>
          </a:xfrm>
          <a:prstGeom prst="roundRect">
            <a:avLst/>
          </a:prstGeom>
          <a:solidFill>
            <a:srgbClr val="FFFAE6"/>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400800" y="1645860"/>
            <a:ext cx="4663440" cy="201168"/>
          </a:xfrm>
          <a:prstGeom prst="rect">
            <a:avLst/>
          </a:prstGeom>
          <a:noFill/>
        </p:spPr>
        <p:txBody>
          <a:bodyPr wrap="square" lIns="0" tIns="0" rIns="0" bIns="0">
            <a:spAutoFit/>
          </a:bodyPr>
          <a:lstStyle/>
          <a:p>
            <a:pPr algn="l">
              <a:spcAft>
                <a:spcPts val="100"/>
              </a:spcAft>
            </a:pPr>
            <a:r>
              <a:rPr sz="1200" b="1" dirty="0">
                <a:solidFill>
                  <a:srgbClr val="00245D"/>
                </a:solidFill>
                <a:latin typeface="Arial"/>
              </a:rPr>
              <a:t>Data reuse effect</a:t>
            </a:r>
          </a:p>
        </p:txBody>
      </p:sp>
      <p:sp>
        <p:nvSpPr>
          <p:cNvPr id="62" name="TextBox 61"/>
          <p:cNvSpPr txBox="1"/>
          <p:nvPr/>
        </p:nvSpPr>
        <p:spPr>
          <a:xfrm>
            <a:off x="6446520" y="2011680"/>
            <a:ext cx="4480560" cy="1950342"/>
          </a:xfrm>
          <a:prstGeom prst="rect">
            <a:avLst/>
          </a:prstGeom>
          <a:noFill/>
        </p:spPr>
        <p:txBody>
          <a:bodyPr wrap="square" lIns="0" tIns="0" rIns="0" bIns="0">
            <a:spAutoFit/>
          </a:bodyPr>
          <a:lstStyle/>
          <a:p>
            <a:pPr>
              <a:lnSpc>
                <a:spcPct val="150000"/>
              </a:lnSpc>
              <a:spcAft>
                <a:spcPts val="200"/>
              </a:spcAft>
            </a:pPr>
            <a:r>
              <a:rPr sz="1400" dirty="0">
                <a:solidFill>
                  <a:srgbClr val="2D2D2D"/>
                </a:solidFill>
                <a:latin typeface="Arial"/>
              </a:rPr>
              <a:t>• One weight term is fetched once and </a:t>
            </a:r>
            <a:r>
              <a:rPr sz="1400" dirty="0">
                <a:solidFill>
                  <a:srgbClr val="FF0000"/>
                </a:solidFill>
                <a:latin typeface="Arial"/>
              </a:rPr>
              <a:t>reused</a:t>
            </a:r>
            <a:r>
              <a:rPr sz="1400" dirty="0">
                <a:solidFill>
                  <a:srgbClr val="2D2D2D"/>
                </a:solidFill>
                <a:latin typeface="Arial"/>
              </a:rPr>
              <a:t> by all PEs in the </a:t>
            </a:r>
            <a:r>
              <a:rPr sz="1400" dirty="0">
                <a:solidFill>
                  <a:srgbClr val="FF0000"/>
                </a:solidFill>
                <a:latin typeface="Arial"/>
              </a:rPr>
              <a:t>same column</a:t>
            </a:r>
            <a:r>
              <a:rPr sz="1400" dirty="0">
                <a:solidFill>
                  <a:srgbClr val="2D2D2D"/>
                </a:solidFill>
                <a:latin typeface="Arial"/>
              </a:rPr>
              <a:t>.</a:t>
            </a:r>
          </a:p>
          <a:p>
            <a:pPr>
              <a:lnSpc>
                <a:spcPct val="150000"/>
              </a:lnSpc>
              <a:spcAft>
                <a:spcPts val="200"/>
              </a:spcAft>
            </a:pPr>
            <a:r>
              <a:rPr sz="1400" dirty="0">
                <a:solidFill>
                  <a:srgbClr val="2D2D2D"/>
                </a:solidFill>
                <a:latin typeface="Arial"/>
              </a:rPr>
              <a:t>• One input activation is fetched once and </a:t>
            </a:r>
            <a:r>
              <a:rPr sz="1400" dirty="0">
                <a:solidFill>
                  <a:srgbClr val="FF0000"/>
                </a:solidFill>
                <a:latin typeface="Arial"/>
              </a:rPr>
              <a:t>reused</a:t>
            </a:r>
            <a:r>
              <a:rPr sz="1400" dirty="0">
                <a:solidFill>
                  <a:srgbClr val="2D2D2D"/>
                </a:solidFill>
                <a:latin typeface="Arial"/>
              </a:rPr>
              <a:t> by all PEs in the </a:t>
            </a:r>
            <a:r>
              <a:rPr sz="1400" dirty="0">
                <a:solidFill>
                  <a:srgbClr val="FF0000"/>
                </a:solidFill>
                <a:latin typeface="Arial"/>
              </a:rPr>
              <a:t>same row.</a:t>
            </a:r>
          </a:p>
          <a:p>
            <a:pPr>
              <a:lnSpc>
                <a:spcPct val="150000"/>
              </a:lnSpc>
              <a:spcAft>
                <a:spcPts val="200"/>
              </a:spcAft>
            </a:pPr>
            <a:r>
              <a:rPr sz="1400" dirty="0">
                <a:solidFill>
                  <a:srgbClr val="2D2D2D"/>
                </a:solidFill>
                <a:latin typeface="Arial"/>
              </a:rPr>
              <a:t>• This reduces memory traffic while keeping many PEs active.</a:t>
            </a:r>
          </a:p>
        </p:txBody>
      </p:sp>
      <p:graphicFrame>
        <p:nvGraphicFramePr>
          <p:cNvPr id="63" name="Table 62"/>
          <p:cNvGraphicFramePr>
            <a:graphicFrameLocks noGrp="1"/>
          </p:cNvGraphicFramePr>
          <p:nvPr>
            <p:extLst>
              <p:ext uri="{D42A27DB-BD31-4B8C-83A1-F6EECF244321}">
                <p14:modId xmlns:p14="http://schemas.microsoft.com/office/powerpoint/2010/main" val="2423069151"/>
              </p:ext>
            </p:extLst>
          </p:nvPr>
        </p:nvGraphicFramePr>
        <p:xfrm>
          <a:off x="6446520" y="4119612"/>
          <a:ext cx="4389120" cy="1069608"/>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56536">
                <a:tc>
                  <a:txBody>
                    <a:bodyPr/>
                    <a:lstStyle/>
                    <a:p>
                      <a:pPr algn="ctr"/>
                      <a:r>
                        <a:rPr sz="1019" b="1">
                          <a:solidFill>
                            <a:srgbClr val="FFFFFF"/>
                          </a:solidFill>
                          <a:latin typeface="Arial"/>
                        </a:rPr>
                        <a:t>Reuse</a:t>
                      </a:r>
                    </a:p>
                  </a:txBody>
                  <a:tcPr marL="27432" marR="27432" marT="18288" marB="18288">
                    <a:solidFill>
                      <a:srgbClr val="00245D"/>
                    </a:solidFill>
                  </a:tcPr>
                </a:tc>
                <a:tc>
                  <a:txBody>
                    <a:bodyPr/>
                    <a:lstStyle/>
                    <a:p>
                      <a:pPr algn="ctr"/>
                      <a:r>
                        <a:rPr sz="1019" b="1">
                          <a:solidFill>
                            <a:srgbClr val="FFFFFF"/>
                          </a:solidFill>
                          <a:latin typeface="Arial"/>
                        </a:rPr>
                        <a:t>Broadcast</a:t>
                      </a:r>
                    </a:p>
                  </a:txBody>
                  <a:tcPr marL="27432" marR="27432" marT="18288" marB="18288">
                    <a:solidFill>
                      <a:srgbClr val="00245D"/>
                    </a:solidFill>
                  </a:tcPr>
                </a:tc>
                <a:tc>
                  <a:txBody>
                    <a:bodyPr/>
                    <a:lstStyle/>
                    <a:p>
                      <a:pPr algn="ctr"/>
                      <a:r>
                        <a:rPr sz="1019" b="1">
                          <a:solidFill>
                            <a:srgbClr val="FFFFFF"/>
                          </a:solidFill>
                          <a:latin typeface="Arial"/>
                        </a:rPr>
                        <a:t>Benefit</a:t>
                      </a:r>
                    </a:p>
                  </a:txBody>
                  <a:tcPr marL="27432" marR="27432" marT="18288" marB="18288">
                    <a:solidFill>
                      <a:srgbClr val="00245D"/>
                    </a:solidFill>
                  </a:tcPr>
                </a:tc>
                <a:extLst>
                  <a:ext uri="{0D108BD9-81ED-4DB2-BD59-A6C34878D82A}">
                    <a16:rowId xmlns:a16="http://schemas.microsoft.com/office/drawing/2014/main" val="10000"/>
                  </a:ext>
                </a:extLst>
              </a:tr>
              <a:tr h="356536">
                <a:tc>
                  <a:txBody>
                    <a:bodyPr/>
                    <a:lstStyle/>
                    <a:p>
                      <a:pPr algn="ctr"/>
                      <a:r>
                        <a:rPr sz="1019" b="0">
                          <a:solidFill>
                            <a:srgbClr val="2D2D2D"/>
                          </a:solidFill>
                          <a:latin typeface="Arial"/>
                        </a:rPr>
                        <a:t>Weight-sharing</a:t>
                      </a:r>
                    </a:p>
                  </a:txBody>
                  <a:tcPr marL="27432" marR="27432" marT="18288" marB="18288">
                    <a:solidFill>
                      <a:srgbClr val="FFFFFF"/>
                    </a:solidFill>
                  </a:tcPr>
                </a:tc>
                <a:tc>
                  <a:txBody>
                    <a:bodyPr/>
                    <a:lstStyle/>
                    <a:p>
                      <a:pPr algn="ctr"/>
                      <a:r>
                        <a:rPr sz="1019" b="0">
                          <a:solidFill>
                            <a:srgbClr val="2D2D2D"/>
                          </a:solidFill>
                          <a:latin typeface="Arial"/>
                        </a:rPr>
                        <a:t>Column</a:t>
                      </a:r>
                    </a:p>
                  </a:txBody>
                  <a:tcPr marL="27432" marR="27432" marT="18288" marB="18288">
                    <a:solidFill>
                      <a:srgbClr val="FFFFFF"/>
                    </a:solidFill>
                  </a:tcPr>
                </a:tc>
                <a:tc>
                  <a:txBody>
                    <a:bodyPr/>
                    <a:lstStyle/>
                    <a:p>
                      <a:pPr algn="ctr"/>
                      <a:r>
                        <a:rPr sz="1019" b="0">
                          <a:solidFill>
                            <a:srgbClr val="2D2D2D"/>
                          </a:solidFill>
                          <a:latin typeface="Arial"/>
                        </a:rPr>
                        <a:t>less weight fetch</a:t>
                      </a:r>
                    </a:p>
                  </a:txBody>
                  <a:tcPr marL="27432" marR="27432" marT="18288" marB="18288">
                    <a:solidFill>
                      <a:srgbClr val="FFFFFF"/>
                    </a:solidFill>
                  </a:tcPr>
                </a:tc>
                <a:extLst>
                  <a:ext uri="{0D108BD9-81ED-4DB2-BD59-A6C34878D82A}">
                    <a16:rowId xmlns:a16="http://schemas.microsoft.com/office/drawing/2014/main" val="10001"/>
                  </a:ext>
                </a:extLst>
              </a:tr>
              <a:tr h="356536">
                <a:tc>
                  <a:txBody>
                    <a:bodyPr/>
                    <a:lstStyle/>
                    <a:p>
                      <a:pPr algn="ctr"/>
                      <a:r>
                        <a:rPr sz="1019" b="0">
                          <a:solidFill>
                            <a:srgbClr val="2D2D2D"/>
                          </a:solidFill>
                          <a:latin typeface="Arial"/>
                        </a:rPr>
                        <a:t>Input-sharing</a:t>
                      </a:r>
                    </a:p>
                  </a:txBody>
                  <a:tcPr marL="27432" marR="27432" marT="18288" marB="18288">
                    <a:solidFill>
                      <a:srgbClr val="F6F7F9"/>
                    </a:solidFill>
                  </a:tcPr>
                </a:tc>
                <a:tc>
                  <a:txBody>
                    <a:bodyPr/>
                    <a:lstStyle/>
                    <a:p>
                      <a:pPr algn="ctr"/>
                      <a:r>
                        <a:rPr sz="1019" b="0" dirty="0">
                          <a:solidFill>
                            <a:srgbClr val="2D2D2D"/>
                          </a:solidFill>
                          <a:latin typeface="Arial"/>
                        </a:rPr>
                        <a:t>Row</a:t>
                      </a:r>
                    </a:p>
                  </a:txBody>
                  <a:tcPr marL="27432" marR="27432" marT="18288" marB="18288">
                    <a:solidFill>
                      <a:srgbClr val="F6F7F9"/>
                    </a:solidFill>
                  </a:tcPr>
                </a:tc>
                <a:tc>
                  <a:txBody>
                    <a:bodyPr/>
                    <a:lstStyle/>
                    <a:p>
                      <a:pPr algn="ctr"/>
                      <a:r>
                        <a:rPr sz="1019" b="0" dirty="0">
                          <a:solidFill>
                            <a:srgbClr val="2D2D2D"/>
                          </a:solidFill>
                          <a:latin typeface="Arial"/>
                        </a:rPr>
                        <a:t>less input fetch</a:t>
                      </a:r>
                    </a:p>
                  </a:txBody>
                  <a:tcPr marL="27432" marR="27432" marT="18288" marB="18288">
                    <a:solidFill>
                      <a:srgbClr val="F6F7F9"/>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4081823" cy="400110"/>
          </a:xfrm>
          <a:prstGeom prst="rect">
            <a:avLst/>
          </a:prstGeom>
          <a:noFill/>
        </p:spPr>
        <p:txBody>
          <a:bodyPr wrap="none">
            <a:spAutoFit/>
          </a:bodyPr>
          <a:lstStyle/>
          <a:p>
            <a:r>
              <a:rPr sz="2000" b="1" dirty="0">
                <a:solidFill>
                  <a:srgbClr val="000000"/>
                </a:solidFill>
                <a:latin typeface="Arial"/>
              </a:rPr>
              <a:t>Hardware Summary: A → B → C</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75</a:t>
            </a:r>
            <a:endParaRPr sz="1000" b="1" dirty="0">
              <a:solidFill>
                <a:srgbClr val="FFFFFF"/>
              </a:solidFill>
              <a:latin typeface="Arial"/>
            </a:endParaRPr>
          </a:p>
        </p:txBody>
      </p:sp>
      <p:sp>
        <p:nvSpPr>
          <p:cNvPr id="8" name="TextBox 7"/>
          <p:cNvSpPr txBox="1"/>
          <p:nvPr/>
        </p:nvSpPr>
        <p:spPr>
          <a:xfrm>
            <a:off x="594360" y="932688"/>
            <a:ext cx="10698480" cy="256032"/>
          </a:xfrm>
          <a:prstGeom prst="rect">
            <a:avLst/>
          </a:prstGeom>
          <a:noFill/>
        </p:spPr>
        <p:txBody>
          <a:bodyPr wrap="square" lIns="0" tIns="0" rIns="0" bIns="0">
            <a:spAutoFit/>
          </a:bodyPr>
          <a:lstStyle/>
          <a:p>
            <a:pPr algn="l">
              <a:spcAft>
                <a:spcPts val="100"/>
              </a:spcAft>
            </a:pPr>
            <a:r>
              <a:rPr sz="1300" b="0">
                <a:solidFill>
                  <a:srgbClr val="2D2D2D"/>
                </a:solidFill>
                <a:latin typeface="Arial"/>
              </a:rPr>
              <a:t>The hardware section connects data type conversion, PE computation, and accelerator-level data reuse into one pipeline.</a:t>
            </a:r>
          </a:p>
        </p:txBody>
      </p:sp>
      <p:sp>
        <p:nvSpPr>
          <p:cNvPr id="9" name="Rounded Rectangle 8"/>
          <p:cNvSpPr/>
          <p:nvPr/>
        </p:nvSpPr>
        <p:spPr>
          <a:xfrm>
            <a:off x="1005840" y="1691640"/>
            <a:ext cx="2743200" cy="288036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1920240"/>
            <a:ext cx="2468880" cy="365760"/>
          </a:xfrm>
          <a:prstGeom prst="rect">
            <a:avLst/>
          </a:prstGeom>
          <a:noFill/>
        </p:spPr>
        <p:txBody>
          <a:bodyPr wrap="square" lIns="0" tIns="0" rIns="0" bIns="0">
            <a:spAutoFit/>
          </a:bodyPr>
          <a:lstStyle/>
          <a:p>
            <a:pPr algn="ctr">
              <a:spcAft>
                <a:spcPts val="100"/>
              </a:spcAft>
            </a:pPr>
            <a:r>
              <a:rPr sz="1300" b="1">
                <a:solidFill>
                  <a:srgbClr val="00245D"/>
                </a:solidFill>
                <a:latin typeface="Arial"/>
              </a:rPr>
              <a:t>A. Unified Bit-serial</a:t>
            </a:r>
          </a:p>
          <a:p>
            <a:pPr algn="ctr">
              <a:spcAft>
                <a:spcPts val="100"/>
              </a:spcAft>
            </a:pPr>
            <a:r>
              <a:rPr sz="1300" b="1">
                <a:solidFill>
                  <a:srgbClr val="00245D"/>
                </a:solidFill>
                <a:latin typeface="Arial"/>
              </a:rPr>
              <a:t>Representation</a:t>
            </a:r>
          </a:p>
        </p:txBody>
      </p:sp>
      <p:sp>
        <p:nvSpPr>
          <p:cNvPr id="11" name="TextBox 10"/>
          <p:cNvSpPr txBox="1"/>
          <p:nvPr/>
        </p:nvSpPr>
        <p:spPr>
          <a:xfrm>
            <a:off x="1234440" y="2651760"/>
            <a:ext cx="2286000" cy="1097280"/>
          </a:xfrm>
          <a:prstGeom prst="rect">
            <a:avLst/>
          </a:prstGeom>
          <a:noFill/>
        </p:spPr>
        <p:txBody>
          <a:bodyPr wrap="square" lIns="0" tIns="0" rIns="0" bIns="0">
            <a:spAutoFit/>
          </a:bodyPr>
          <a:lstStyle/>
          <a:p>
            <a:pPr algn="ctr">
              <a:spcAft>
                <a:spcPts val="100"/>
              </a:spcAft>
            </a:pPr>
            <a:r>
              <a:rPr sz="1350" b="1">
                <a:solidFill>
                  <a:srgbClr val="2D2D2D"/>
                </a:solidFill>
                <a:latin typeface="Arial"/>
              </a:rPr>
              <a:t>INT8 / INT6 / FP4 / FP3</a:t>
            </a:r>
          </a:p>
          <a:p>
            <a:pPr algn="ctr">
              <a:spcAft>
                <a:spcPts val="100"/>
              </a:spcAft>
            </a:pPr>
            <a:r>
              <a:rPr sz="1350" b="1">
                <a:solidFill>
                  <a:srgbClr val="2D2D2D"/>
                </a:solidFill>
                <a:latin typeface="Arial"/>
              </a:rPr>
              <a:t>↓</a:t>
            </a:r>
          </a:p>
          <a:p>
            <a:pPr algn="ctr">
              <a:spcAft>
                <a:spcPts val="100"/>
              </a:spcAft>
            </a:pPr>
            <a:r>
              <a:rPr sz="1350" b="1">
                <a:solidFill>
                  <a:srgbClr val="2D2D2D"/>
                </a:solidFill>
                <a:latin typeface="Arial"/>
              </a:rPr>
              <a:t>sign / exp / man / Bsig</a:t>
            </a:r>
          </a:p>
        </p:txBody>
      </p:sp>
      <p:sp>
        <p:nvSpPr>
          <p:cNvPr id="12" name="Rounded Rectangle 11"/>
          <p:cNvSpPr/>
          <p:nvPr/>
        </p:nvSpPr>
        <p:spPr>
          <a:xfrm>
            <a:off x="4389120" y="1691640"/>
            <a:ext cx="2743200" cy="2880360"/>
          </a:xfrm>
          <a:prstGeom prst="roundRect">
            <a:avLst/>
          </a:prstGeom>
          <a:solidFill>
            <a:srgbClr val="FFFAE6"/>
          </a:solidFill>
          <a:ln w="1016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920240"/>
            <a:ext cx="2468880" cy="365760"/>
          </a:xfrm>
          <a:prstGeom prst="rect">
            <a:avLst/>
          </a:prstGeom>
          <a:noFill/>
        </p:spPr>
        <p:txBody>
          <a:bodyPr wrap="square" lIns="0" tIns="0" rIns="0" bIns="0">
            <a:spAutoFit/>
          </a:bodyPr>
          <a:lstStyle/>
          <a:p>
            <a:pPr algn="ctr">
              <a:spcAft>
                <a:spcPts val="100"/>
              </a:spcAft>
            </a:pPr>
            <a:r>
              <a:rPr sz="1300" b="1">
                <a:solidFill>
                  <a:srgbClr val="00245D"/>
                </a:solidFill>
                <a:latin typeface="Arial"/>
              </a:rPr>
              <a:t>B. BitMoD PE</a:t>
            </a:r>
          </a:p>
        </p:txBody>
      </p:sp>
      <p:sp>
        <p:nvSpPr>
          <p:cNvPr id="14" name="TextBox 13"/>
          <p:cNvSpPr txBox="1"/>
          <p:nvPr/>
        </p:nvSpPr>
        <p:spPr>
          <a:xfrm>
            <a:off x="4617720" y="2651760"/>
            <a:ext cx="2286000" cy="1097280"/>
          </a:xfrm>
          <a:prstGeom prst="rect">
            <a:avLst/>
          </a:prstGeom>
          <a:noFill/>
        </p:spPr>
        <p:txBody>
          <a:bodyPr wrap="square" lIns="0" tIns="0" rIns="0" bIns="0">
            <a:spAutoFit/>
          </a:bodyPr>
          <a:lstStyle/>
          <a:p>
            <a:pPr algn="ctr">
              <a:spcAft>
                <a:spcPts val="100"/>
              </a:spcAft>
            </a:pPr>
            <a:r>
              <a:rPr sz="1350" b="1">
                <a:solidFill>
                  <a:srgbClr val="2D2D2D"/>
                </a:solidFill>
                <a:latin typeface="Arial"/>
              </a:rPr>
              <a:t>bit-serial weight</a:t>
            </a:r>
          </a:p>
          <a:p>
            <a:pPr algn="ctr">
              <a:spcAft>
                <a:spcPts val="100"/>
              </a:spcAft>
            </a:pPr>
            <a:r>
              <a:rPr sz="1350" b="1">
                <a:solidFill>
                  <a:srgbClr val="2D2D2D"/>
                </a:solidFill>
                <a:latin typeface="Arial"/>
              </a:rPr>
              <a:t>×</a:t>
            </a:r>
          </a:p>
          <a:p>
            <a:pPr algn="ctr">
              <a:spcAft>
                <a:spcPts val="100"/>
              </a:spcAft>
            </a:pPr>
            <a:r>
              <a:rPr sz="1350" b="1">
                <a:solidFill>
                  <a:srgbClr val="2D2D2D"/>
                </a:solidFill>
                <a:latin typeface="Arial"/>
              </a:rPr>
              <a:t>FP16 activation</a:t>
            </a:r>
          </a:p>
          <a:p>
            <a:pPr algn="ctr">
              <a:spcAft>
                <a:spcPts val="100"/>
              </a:spcAft>
            </a:pPr>
            <a:r>
              <a:rPr sz="1350" b="1">
                <a:solidFill>
                  <a:srgbClr val="2D2D2D"/>
                </a:solidFill>
                <a:latin typeface="Arial"/>
              </a:rPr>
              <a:t>↓</a:t>
            </a:r>
          </a:p>
          <a:p>
            <a:pPr algn="ctr">
              <a:spcAft>
                <a:spcPts val="100"/>
              </a:spcAft>
            </a:pPr>
            <a:r>
              <a:rPr sz="1350" b="1">
                <a:solidFill>
                  <a:srgbClr val="2D2D2D"/>
                </a:solidFill>
                <a:latin typeface="Arial"/>
              </a:rPr>
              <a:t>group partial sum</a:t>
            </a:r>
          </a:p>
        </p:txBody>
      </p:sp>
      <p:sp>
        <p:nvSpPr>
          <p:cNvPr id="15" name="Rounded Rectangle 14"/>
          <p:cNvSpPr/>
          <p:nvPr/>
        </p:nvSpPr>
        <p:spPr>
          <a:xfrm>
            <a:off x="7772400" y="1691640"/>
            <a:ext cx="2743200" cy="2880360"/>
          </a:xfrm>
          <a:prstGeom prst="roundRect">
            <a:avLst/>
          </a:prstGeom>
          <a:solidFill>
            <a:srgbClr val="EEFAEE"/>
          </a:solidFill>
          <a:ln w="1016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09560" y="1920240"/>
            <a:ext cx="2468880" cy="365760"/>
          </a:xfrm>
          <a:prstGeom prst="rect">
            <a:avLst/>
          </a:prstGeom>
          <a:noFill/>
        </p:spPr>
        <p:txBody>
          <a:bodyPr wrap="square" lIns="0" tIns="0" rIns="0" bIns="0">
            <a:spAutoFit/>
          </a:bodyPr>
          <a:lstStyle/>
          <a:p>
            <a:pPr algn="ctr">
              <a:spcAft>
                <a:spcPts val="100"/>
              </a:spcAft>
            </a:pPr>
            <a:r>
              <a:rPr sz="1300" b="1">
                <a:solidFill>
                  <a:srgbClr val="00245D"/>
                </a:solidFill>
                <a:latin typeface="Arial"/>
              </a:rPr>
              <a:t>C. BitMoD Accelerator</a:t>
            </a:r>
          </a:p>
        </p:txBody>
      </p:sp>
      <p:sp>
        <p:nvSpPr>
          <p:cNvPr id="17" name="TextBox 16"/>
          <p:cNvSpPr txBox="1"/>
          <p:nvPr/>
        </p:nvSpPr>
        <p:spPr>
          <a:xfrm>
            <a:off x="8001000" y="2651760"/>
            <a:ext cx="2286000" cy="1097280"/>
          </a:xfrm>
          <a:prstGeom prst="rect">
            <a:avLst/>
          </a:prstGeom>
          <a:noFill/>
        </p:spPr>
        <p:txBody>
          <a:bodyPr wrap="square" lIns="0" tIns="0" rIns="0" bIns="0">
            <a:spAutoFit/>
          </a:bodyPr>
          <a:lstStyle/>
          <a:p>
            <a:pPr algn="ctr">
              <a:spcAft>
                <a:spcPts val="100"/>
              </a:spcAft>
            </a:pPr>
            <a:r>
              <a:rPr sz="1350" b="1">
                <a:solidFill>
                  <a:srgbClr val="2D2D2D"/>
                </a:solidFill>
                <a:latin typeface="Arial"/>
              </a:rPr>
              <a:t>4×4 PE tiles</a:t>
            </a:r>
          </a:p>
          <a:p>
            <a:pPr algn="ctr">
              <a:spcAft>
                <a:spcPts val="100"/>
              </a:spcAft>
            </a:pPr>
            <a:r>
              <a:rPr sz="1350" b="1">
                <a:solidFill>
                  <a:srgbClr val="2D2D2D"/>
                </a:solidFill>
                <a:latin typeface="Arial"/>
              </a:rPr>
              <a:t>+</a:t>
            </a:r>
          </a:p>
          <a:p>
            <a:pPr algn="ctr">
              <a:spcAft>
                <a:spcPts val="100"/>
              </a:spcAft>
            </a:pPr>
            <a:r>
              <a:rPr sz="1350" b="1">
                <a:solidFill>
                  <a:srgbClr val="2D2D2D"/>
                </a:solidFill>
                <a:latin typeface="Arial"/>
              </a:rPr>
              <a:t>row/column broadcast</a:t>
            </a:r>
          </a:p>
          <a:p>
            <a:pPr algn="ctr">
              <a:spcAft>
                <a:spcPts val="100"/>
              </a:spcAft>
            </a:pPr>
            <a:r>
              <a:rPr sz="1350" b="1">
                <a:solidFill>
                  <a:srgbClr val="2D2D2D"/>
                </a:solidFill>
                <a:latin typeface="Arial"/>
              </a:rPr>
              <a:t>+</a:t>
            </a:r>
          </a:p>
          <a:p>
            <a:pPr algn="ctr">
              <a:spcAft>
                <a:spcPts val="100"/>
              </a:spcAft>
            </a:pPr>
            <a:r>
              <a:rPr sz="1350" b="1">
                <a:solidFill>
                  <a:srgbClr val="2D2D2D"/>
                </a:solidFill>
                <a:latin typeface="Arial"/>
              </a:rPr>
              <a:t>shared ACC</a:t>
            </a:r>
          </a:p>
        </p:txBody>
      </p:sp>
      <p:cxnSp>
        <p:nvCxnSpPr>
          <p:cNvPr id="18" name="Connector 17"/>
          <p:cNvCxnSpPr/>
          <p:nvPr/>
        </p:nvCxnSpPr>
        <p:spPr>
          <a:xfrm>
            <a:off x="3749040" y="3108960"/>
            <a:ext cx="640080" cy="0"/>
          </a:xfrm>
          <a:prstGeom prst="line">
            <a:avLst/>
          </a:prstGeom>
          <a:ln w="17780">
            <a:solidFill>
              <a:srgbClr val="00245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132320" y="3108960"/>
            <a:ext cx="640080" cy="0"/>
          </a:xfrm>
          <a:prstGeom prst="line">
            <a:avLst/>
          </a:prstGeom>
          <a:ln w="17780">
            <a:solidFill>
              <a:srgbClr val="00245D"/>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921619" y="5074920"/>
            <a:ext cx="9875520" cy="548640"/>
          </a:xfrm>
          <a:prstGeom prst="rect">
            <a:avLst/>
          </a:prstGeom>
          <a:solidFill>
            <a:srgbClr val="F2F7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58779" y="5239512"/>
            <a:ext cx="9601200" cy="182880"/>
          </a:xfrm>
          <a:prstGeom prst="rect">
            <a:avLst/>
          </a:prstGeom>
          <a:noFill/>
        </p:spPr>
        <p:txBody>
          <a:bodyPr wrap="square" lIns="0" tIns="0" rIns="0" bIns="0">
            <a:spAutoFit/>
          </a:bodyPr>
          <a:lstStyle/>
          <a:p>
            <a:pPr algn="ctr">
              <a:spcAft>
                <a:spcPts val="100"/>
              </a:spcAft>
            </a:pPr>
            <a:r>
              <a:rPr sz="1080" b="1">
                <a:solidFill>
                  <a:srgbClr val="00245D"/>
                </a:solidFill>
                <a:latin typeface="Arial"/>
              </a:rPr>
              <a:t>Final message: BitMoD combines unified bit-serial data representation, mixed-precision PE design, and systolic data reuse to turn low-bit quantization into real accelerator speedup.</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2FCA2-CBB1-6895-8C88-B9A43D8F76CF}"/>
            </a:ext>
          </a:extLst>
        </p:cNvPr>
        <p:cNvGrpSpPr/>
        <p:nvPr/>
      </p:nvGrpSpPr>
      <p:grpSpPr>
        <a:xfrm>
          <a:off x="0" y="0"/>
          <a:ext cx="0" cy="0"/>
          <a:chOff x="0" y="0"/>
          <a:chExt cx="0" cy="0"/>
        </a:xfrm>
      </p:grpSpPr>
      <p:pic>
        <p:nvPicPr>
          <p:cNvPr id="2" name="Image 0" descr="/mnt/data/aca_top.png">
            <a:extLst>
              <a:ext uri="{FF2B5EF4-FFF2-40B4-BE49-F238E27FC236}">
                <a16:creationId xmlns:a16="http://schemas.microsoft.com/office/drawing/2014/main" id="{42677393-A400-C7AC-9F02-30BFC43B107A}"/>
              </a:ext>
            </a:extLst>
          </p:cNvPr>
          <p:cNvPicPr>
            <a:picLocks noChangeAspect="1"/>
          </p:cNvPicPr>
          <p:nvPr/>
        </p:nvPicPr>
        <p:blipFill>
          <a:blip r:embed="rId3"/>
          <a:stretch>
            <a:fillRect/>
          </a:stretch>
        </p:blipFill>
        <p:spPr>
          <a:xfrm>
            <a:off x="118872" y="45720"/>
            <a:ext cx="2057400" cy="566928"/>
          </a:xfrm>
          <a:prstGeom prst="rect">
            <a:avLst/>
          </a:prstGeom>
        </p:spPr>
      </p:pic>
      <p:sp>
        <p:nvSpPr>
          <p:cNvPr id="3" name="Shape 0">
            <a:extLst>
              <a:ext uri="{FF2B5EF4-FFF2-40B4-BE49-F238E27FC236}">
                <a16:creationId xmlns:a16="http://schemas.microsoft.com/office/drawing/2014/main" id="{0175BB66-A0FE-B68B-23D2-C204B2C6ABEE}"/>
              </a:ext>
            </a:extLst>
          </p:cNvPr>
          <p:cNvSpPr/>
          <p:nvPr/>
        </p:nvSpPr>
        <p:spPr>
          <a:xfrm>
            <a:off x="338328" y="731520"/>
            <a:ext cx="11503152" cy="45720"/>
          </a:xfrm>
          <a:prstGeom prst="rect">
            <a:avLst/>
          </a:prstGeom>
          <a:solidFill>
            <a:srgbClr val="00245D"/>
          </a:solidFill>
          <a:ln w="12700">
            <a:solidFill>
              <a:srgbClr val="00245D"/>
            </a:solidFill>
            <a:prstDash val="solid"/>
          </a:ln>
        </p:spPr>
        <p:txBody>
          <a:bodyPr/>
          <a:lstStyle/>
          <a:p>
            <a:endParaRPr lang="ko-KR" altLang="en-US"/>
          </a:p>
        </p:txBody>
      </p:sp>
      <p:sp>
        <p:nvSpPr>
          <p:cNvPr id="4" name="Text 1">
            <a:extLst>
              <a:ext uri="{FF2B5EF4-FFF2-40B4-BE49-F238E27FC236}">
                <a16:creationId xmlns:a16="http://schemas.microsoft.com/office/drawing/2014/main" id="{35F94FE7-6087-D212-100F-C55DB601A9D9}"/>
              </a:ext>
            </a:extLst>
          </p:cNvPr>
          <p:cNvSpPr/>
          <p:nvPr/>
        </p:nvSpPr>
        <p:spPr>
          <a:xfrm>
            <a:off x="960120" y="2737595"/>
            <a:ext cx="10332720" cy="777240"/>
          </a:xfrm>
          <a:prstGeom prst="rect">
            <a:avLst/>
          </a:prstGeom>
          <a:noFill/>
          <a:ln/>
        </p:spPr>
        <p:txBody>
          <a:bodyPr wrap="square" lIns="0" tIns="0" rIns="0" bIns="0" rtlCol="0" anchor="ctr"/>
          <a:lstStyle/>
          <a:p>
            <a:pPr marL="0" indent="0" algn="ctr">
              <a:buNone/>
            </a:pPr>
            <a:r>
              <a:rPr lang="en-US" sz="4800" b="1" dirty="0">
                <a:solidFill>
                  <a:srgbClr val="111111"/>
                </a:solidFill>
                <a:latin typeface="Comic Sans MS" pitchFamily="34" charset="0"/>
                <a:ea typeface="Comic Sans MS" pitchFamily="34" charset="-122"/>
                <a:cs typeface="Comic Sans MS" pitchFamily="34" charset="-120"/>
              </a:rPr>
              <a:t>Evaluation</a:t>
            </a:r>
            <a:endParaRPr lang="en-US" sz="4800" dirty="0"/>
          </a:p>
        </p:txBody>
      </p:sp>
      <p:sp>
        <p:nvSpPr>
          <p:cNvPr id="6" name="Shape 3">
            <a:extLst>
              <a:ext uri="{FF2B5EF4-FFF2-40B4-BE49-F238E27FC236}">
                <a16:creationId xmlns:a16="http://schemas.microsoft.com/office/drawing/2014/main" id="{EB280B7A-5652-F029-174E-A8C5ED948465}"/>
              </a:ext>
            </a:extLst>
          </p:cNvPr>
          <p:cNvSpPr/>
          <p:nvPr/>
        </p:nvSpPr>
        <p:spPr>
          <a:xfrm>
            <a:off x="3017520" y="3600118"/>
            <a:ext cx="6126480" cy="0"/>
          </a:xfrm>
          <a:prstGeom prst="line">
            <a:avLst/>
          </a:prstGeom>
          <a:noFill/>
          <a:ln w="25400">
            <a:solidFill>
              <a:srgbClr val="00245D"/>
            </a:solidFill>
            <a:prstDash val="solid"/>
          </a:ln>
        </p:spPr>
        <p:txBody>
          <a:bodyPr/>
          <a:lstStyle/>
          <a:p>
            <a:endParaRPr lang="ko-KR" altLang="en-US"/>
          </a:p>
        </p:txBody>
      </p:sp>
      <p:sp>
        <p:nvSpPr>
          <p:cNvPr id="7" name="Shape 4">
            <a:extLst>
              <a:ext uri="{FF2B5EF4-FFF2-40B4-BE49-F238E27FC236}">
                <a16:creationId xmlns:a16="http://schemas.microsoft.com/office/drawing/2014/main" id="{D7A033DA-7BD3-D312-E628-8B2C6347A9C2}"/>
              </a:ext>
            </a:extLst>
          </p:cNvPr>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8" name="Image 1" descr="/mnt/data/aca_footer.png">
            <a:extLst>
              <a:ext uri="{FF2B5EF4-FFF2-40B4-BE49-F238E27FC236}">
                <a16:creationId xmlns:a16="http://schemas.microsoft.com/office/drawing/2014/main" id="{6A57AE96-A8ED-8815-9924-76674A8854C8}"/>
              </a:ext>
            </a:extLst>
          </p:cNvPr>
          <p:cNvPicPr>
            <a:picLocks noChangeAspect="1"/>
          </p:cNvPicPr>
          <p:nvPr/>
        </p:nvPicPr>
        <p:blipFill>
          <a:blip r:embed="rId4"/>
          <a:stretch>
            <a:fillRect/>
          </a:stretch>
        </p:blipFill>
        <p:spPr>
          <a:xfrm>
            <a:off x="91440" y="6483096"/>
            <a:ext cx="1234440" cy="274320"/>
          </a:xfrm>
          <a:prstGeom prst="rect">
            <a:avLst/>
          </a:prstGeom>
        </p:spPr>
      </p:pic>
      <p:sp>
        <p:nvSpPr>
          <p:cNvPr id="9" name="Text 5">
            <a:extLst>
              <a:ext uri="{FF2B5EF4-FFF2-40B4-BE49-F238E27FC236}">
                <a16:creationId xmlns:a16="http://schemas.microsoft.com/office/drawing/2014/main" id="{C2A9CA03-69FD-C3BF-A216-D32372A641E6}"/>
              </a:ext>
            </a:extLst>
          </p:cNvPr>
          <p:cNvSpPr/>
          <p:nvPr/>
        </p:nvSpPr>
        <p:spPr>
          <a:xfrm>
            <a:off x="11567160" y="6473952"/>
            <a:ext cx="365760" cy="274320"/>
          </a:xfrm>
          <a:prstGeom prst="rect">
            <a:avLst/>
          </a:prstGeom>
          <a:noFill/>
          <a:ln/>
        </p:spPr>
        <p:txBody>
          <a:bodyPr wrap="square" lIns="0" tIns="0" rIns="0" bIns="0" rtlCol="0" anchor="ctr"/>
          <a:lstStyle/>
          <a:p>
            <a:pPr marL="0" indent="0" algn="r">
              <a:buNone/>
            </a:pPr>
            <a:r>
              <a:rPr lang="en-US" sz="1800" b="1" dirty="0">
                <a:solidFill>
                  <a:srgbClr val="FFFFFF"/>
                </a:solidFill>
                <a:latin typeface="Arial" pitchFamily="34" charset="0"/>
                <a:ea typeface="Arial" pitchFamily="34" charset="-122"/>
                <a:cs typeface="Arial" pitchFamily="34" charset="-120"/>
              </a:rPr>
              <a:t>76</a:t>
            </a:r>
            <a:endParaRPr lang="en-US" sz="1800" dirty="0"/>
          </a:p>
        </p:txBody>
      </p:sp>
    </p:spTree>
    <p:extLst>
      <p:ext uri="{BB962C8B-B14F-4D97-AF65-F5344CB8AC3E}">
        <p14:creationId xmlns:p14="http://schemas.microsoft.com/office/powerpoint/2010/main" val="28144891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424160" cy="292608"/>
          </a:xfrm>
          <a:prstGeom prst="rect">
            <a:avLst/>
          </a:prstGeom>
          <a:noFill/>
        </p:spPr>
        <p:txBody>
          <a:bodyPr wrap="none">
            <a:spAutoFit/>
          </a:bodyPr>
          <a:lstStyle/>
          <a:p>
            <a:r>
              <a:rPr sz="2000" b="1">
                <a:solidFill>
                  <a:srgbClr val="000000"/>
                </a:solidFill>
                <a:latin typeface="Arial"/>
              </a:rPr>
              <a:t>Evaluation Setup: What is measured?</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77</a:t>
            </a:r>
            <a:endParaRPr sz="1000" b="1" dirty="0">
              <a:solidFill>
                <a:srgbClr val="FFFFFF"/>
              </a:solidFill>
              <a:latin typeface="Arial"/>
            </a:endParaRPr>
          </a:p>
        </p:txBody>
      </p:sp>
      <p:sp>
        <p:nvSpPr>
          <p:cNvPr id="8" name="TextBox 7"/>
          <p:cNvSpPr txBox="1"/>
          <p:nvPr/>
        </p:nvSpPr>
        <p:spPr>
          <a:xfrm>
            <a:off x="594360" y="932688"/>
            <a:ext cx="10698480" cy="274320"/>
          </a:xfrm>
          <a:prstGeom prst="rect">
            <a:avLst/>
          </a:prstGeom>
          <a:noFill/>
        </p:spPr>
        <p:txBody>
          <a:bodyPr wrap="square" lIns="0" tIns="0" rIns="0" bIns="0">
            <a:spAutoFit/>
          </a:bodyPr>
          <a:lstStyle/>
          <a:p>
            <a:pPr algn="l">
              <a:spcAft>
                <a:spcPts val="100"/>
              </a:spcAft>
            </a:pPr>
            <a:r>
              <a:rPr sz="1300" b="0">
                <a:solidFill>
                  <a:srgbClr val="2D2D2D"/>
                </a:solidFill>
                <a:latin typeface="Arial"/>
              </a:rPr>
              <a:t>BitMoD evaluation checks whether the proposed datatype and hardware actually preserve model quality and improve accelerator efficiency.</a:t>
            </a:r>
          </a:p>
        </p:txBody>
      </p:sp>
      <p:sp>
        <p:nvSpPr>
          <p:cNvPr id="9" name="Rounded Rectangle 8"/>
          <p:cNvSpPr/>
          <p:nvPr/>
        </p:nvSpPr>
        <p:spPr>
          <a:xfrm>
            <a:off x="685800" y="1353312"/>
            <a:ext cx="2487168" cy="105156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536192"/>
            <a:ext cx="2304288" cy="182880"/>
          </a:xfrm>
          <a:prstGeom prst="rect">
            <a:avLst/>
          </a:prstGeom>
          <a:noFill/>
        </p:spPr>
        <p:txBody>
          <a:bodyPr wrap="square" lIns="0" tIns="0" rIns="0" bIns="0">
            <a:spAutoFit/>
          </a:bodyPr>
          <a:lstStyle/>
          <a:p>
            <a:pPr algn="ctr">
              <a:spcAft>
                <a:spcPts val="100"/>
              </a:spcAft>
            </a:pPr>
            <a:r>
              <a:rPr sz="1200" b="1">
                <a:solidFill>
                  <a:srgbClr val="00245D"/>
                </a:solidFill>
                <a:latin typeface="Arial"/>
              </a:rPr>
              <a:t>Model Accuracy</a:t>
            </a:r>
          </a:p>
        </p:txBody>
      </p:sp>
      <p:sp>
        <p:nvSpPr>
          <p:cNvPr id="11" name="TextBox 10"/>
          <p:cNvSpPr txBox="1"/>
          <p:nvPr/>
        </p:nvSpPr>
        <p:spPr>
          <a:xfrm>
            <a:off x="813816" y="1828800"/>
            <a:ext cx="2231136" cy="365760"/>
          </a:xfrm>
          <a:prstGeom prst="rect">
            <a:avLst/>
          </a:prstGeom>
          <a:noFill/>
        </p:spPr>
        <p:txBody>
          <a:bodyPr wrap="square" lIns="0" tIns="0" rIns="0" bIns="0">
            <a:spAutoFit/>
          </a:bodyPr>
          <a:lstStyle/>
          <a:p>
            <a:pPr algn="ctr">
              <a:spcAft>
                <a:spcPts val="100"/>
              </a:spcAft>
            </a:pPr>
            <a:r>
              <a:rPr sz="940" b="0">
                <a:solidFill>
                  <a:srgbClr val="2D2D2D"/>
                </a:solidFill>
                <a:latin typeface="Arial"/>
              </a:rPr>
              <a:t>Low-precision quantization quality</a:t>
            </a:r>
          </a:p>
          <a:p>
            <a:pPr algn="ctr">
              <a:spcAft>
                <a:spcPts val="100"/>
              </a:spcAft>
            </a:pPr>
            <a:r>
              <a:rPr sz="940" b="0">
                <a:solidFill>
                  <a:srgbClr val="2D2D2D"/>
                </a:solidFill>
                <a:latin typeface="Arial"/>
              </a:rPr>
              <a:t>4-bit and 3-bit behavior</a:t>
            </a:r>
          </a:p>
        </p:txBody>
      </p:sp>
      <p:sp>
        <p:nvSpPr>
          <p:cNvPr id="12" name="Rounded Rectangle 11"/>
          <p:cNvSpPr/>
          <p:nvPr/>
        </p:nvSpPr>
        <p:spPr>
          <a:xfrm>
            <a:off x="3474720" y="1353312"/>
            <a:ext cx="2487168" cy="1051560"/>
          </a:xfrm>
          <a:prstGeom prst="roundRect">
            <a:avLst/>
          </a:prstGeom>
          <a:solidFill>
            <a:srgbClr val="FFFAE6"/>
          </a:solidFill>
          <a:ln w="1016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66160" y="1536192"/>
            <a:ext cx="2304288" cy="182880"/>
          </a:xfrm>
          <a:prstGeom prst="rect">
            <a:avLst/>
          </a:prstGeom>
          <a:noFill/>
        </p:spPr>
        <p:txBody>
          <a:bodyPr wrap="square" lIns="0" tIns="0" rIns="0" bIns="0">
            <a:spAutoFit/>
          </a:bodyPr>
          <a:lstStyle/>
          <a:p>
            <a:pPr algn="ctr">
              <a:spcAft>
                <a:spcPts val="100"/>
              </a:spcAft>
            </a:pPr>
            <a:r>
              <a:rPr sz="1200" b="1">
                <a:solidFill>
                  <a:srgbClr val="00245D"/>
                </a:solidFill>
                <a:latin typeface="Arial"/>
              </a:rPr>
              <a:t>Speedup</a:t>
            </a:r>
          </a:p>
        </p:txBody>
      </p:sp>
      <p:sp>
        <p:nvSpPr>
          <p:cNvPr id="14" name="TextBox 13"/>
          <p:cNvSpPr txBox="1"/>
          <p:nvPr/>
        </p:nvSpPr>
        <p:spPr>
          <a:xfrm>
            <a:off x="3602736" y="1828800"/>
            <a:ext cx="2231136" cy="365760"/>
          </a:xfrm>
          <a:prstGeom prst="rect">
            <a:avLst/>
          </a:prstGeom>
          <a:noFill/>
        </p:spPr>
        <p:txBody>
          <a:bodyPr wrap="square" lIns="0" tIns="0" rIns="0" bIns="0">
            <a:spAutoFit/>
          </a:bodyPr>
          <a:lstStyle/>
          <a:p>
            <a:pPr algn="ctr">
              <a:spcAft>
                <a:spcPts val="100"/>
              </a:spcAft>
            </a:pPr>
            <a:r>
              <a:rPr sz="940" b="0">
                <a:solidFill>
                  <a:srgbClr val="2D2D2D"/>
                </a:solidFill>
                <a:latin typeface="Arial"/>
              </a:rPr>
              <a:t>End-to-end accelerator performance</a:t>
            </a:r>
          </a:p>
          <a:p>
            <a:pPr algn="ctr">
              <a:spcAft>
                <a:spcPts val="100"/>
              </a:spcAft>
            </a:pPr>
            <a:r>
              <a:rPr sz="940" b="0">
                <a:solidFill>
                  <a:srgbClr val="2D2D2D"/>
                </a:solidFill>
                <a:latin typeface="Arial"/>
              </a:rPr>
              <a:t>FP16 / ANT / OliVe comparison</a:t>
            </a:r>
          </a:p>
        </p:txBody>
      </p:sp>
      <p:sp>
        <p:nvSpPr>
          <p:cNvPr id="15" name="Rounded Rectangle 14"/>
          <p:cNvSpPr/>
          <p:nvPr/>
        </p:nvSpPr>
        <p:spPr>
          <a:xfrm>
            <a:off x="6263640" y="1353312"/>
            <a:ext cx="2487168" cy="1051560"/>
          </a:xfrm>
          <a:prstGeom prst="roundRect">
            <a:avLst/>
          </a:prstGeom>
          <a:solidFill>
            <a:srgbClr val="EEFAEE"/>
          </a:solidFill>
          <a:ln w="1016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79" y="1536192"/>
            <a:ext cx="2304288" cy="182880"/>
          </a:xfrm>
          <a:prstGeom prst="rect">
            <a:avLst/>
          </a:prstGeom>
          <a:noFill/>
        </p:spPr>
        <p:txBody>
          <a:bodyPr wrap="square" lIns="0" tIns="0" rIns="0" bIns="0">
            <a:spAutoFit/>
          </a:bodyPr>
          <a:lstStyle/>
          <a:p>
            <a:pPr algn="ctr">
              <a:spcAft>
                <a:spcPts val="100"/>
              </a:spcAft>
            </a:pPr>
            <a:r>
              <a:rPr sz="1200" b="1">
                <a:solidFill>
                  <a:srgbClr val="00245D"/>
                </a:solidFill>
                <a:latin typeface="Arial"/>
              </a:rPr>
              <a:t>Energy Efficiency</a:t>
            </a:r>
          </a:p>
        </p:txBody>
      </p:sp>
      <p:sp>
        <p:nvSpPr>
          <p:cNvPr id="17" name="TextBox 16"/>
          <p:cNvSpPr txBox="1"/>
          <p:nvPr/>
        </p:nvSpPr>
        <p:spPr>
          <a:xfrm>
            <a:off x="6391655" y="1828800"/>
            <a:ext cx="2231136" cy="365760"/>
          </a:xfrm>
          <a:prstGeom prst="rect">
            <a:avLst/>
          </a:prstGeom>
          <a:noFill/>
        </p:spPr>
        <p:txBody>
          <a:bodyPr wrap="square" lIns="0" tIns="0" rIns="0" bIns="0">
            <a:spAutoFit/>
          </a:bodyPr>
          <a:lstStyle/>
          <a:p>
            <a:pPr algn="ctr">
              <a:spcAft>
                <a:spcPts val="100"/>
              </a:spcAft>
            </a:pPr>
            <a:r>
              <a:rPr sz="940" b="0">
                <a:solidFill>
                  <a:srgbClr val="2D2D2D"/>
                </a:solidFill>
                <a:latin typeface="Arial"/>
              </a:rPr>
              <a:t>DRAM traffic reduction + compute energy</a:t>
            </a:r>
          </a:p>
          <a:p>
            <a:pPr algn="ctr">
              <a:spcAft>
                <a:spcPts val="100"/>
              </a:spcAft>
            </a:pPr>
            <a:r>
              <a:rPr sz="940" b="0">
                <a:solidFill>
                  <a:srgbClr val="2D2D2D"/>
                </a:solidFill>
                <a:latin typeface="Arial"/>
              </a:rPr>
              <a:t>bit-serial PE advantage</a:t>
            </a:r>
          </a:p>
        </p:txBody>
      </p:sp>
      <p:sp>
        <p:nvSpPr>
          <p:cNvPr id="18" name="Rounded Rectangle 17"/>
          <p:cNvSpPr/>
          <p:nvPr/>
        </p:nvSpPr>
        <p:spPr>
          <a:xfrm>
            <a:off x="9052559" y="1353312"/>
            <a:ext cx="2487168" cy="1051560"/>
          </a:xfrm>
          <a:prstGeom prst="roundRect">
            <a:avLst/>
          </a:prstGeom>
          <a:solidFill>
            <a:srgbClr val="FFEFEF"/>
          </a:solidFill>
          <a:ln w="1016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3999" y="1536192"/>
            <a:ext cx="2304288" cy="182880"/>
          </a:xfrm>
          <a:prstGeom prst="rect">
            <a:avLst/>
          </a:prstGeom>
          <a:noFill/>
        </p:spPr>
        <p:txBody>
          <a:bodyPr wrap="square" lIns="0" tIns="0" rIns="0" bIns="0">
            <a:spAutoFit/>
          </a:bodyPr>
          <a:lstStyle/>
          <a:p>
            <a:pPr algn="ctr">
              <a:spcAft>
                <a:spcPts val="100"/>
              </a:spcAft>
            </a:pPr>
            <a:r>
              <a:rPr sz="1200" b="1">
                <a:solidFill>
                  <a:srgbClr val="00245D"/>
                </a:solidFill>
                <a:latin typeface="Arial"/>
              </a:rPr>
              <a:t>Compatibility</a:t>
            </a:r>
          </a:p>
        </p:txBody>
      </p:sp>
      <p:sp>
        <p:nvSpPr>
          <p:cNvPr id="20" name="TextBox 19"/>
          <p:cNvSpPr txBox="1"/>
          <p:nvPr/>
        </p:nvSpPr>
        <p:spPr>
          <a:xfrm>
            <a:off x="9180576" y="1828800"/>
            <a:ext cx="2231136" cy="365760"/>
          </a:xfrm>
          <a:prstGeom prst="rect">
            <a:avLst/>
          </a:prstGeom>
          <a:noFill/>
        </p:spPr>
        <p:txBody>
          <a:bodyPr wrap="square" lIns="0" tIns="0" rIns="0" bIns="0">
            <a:spAutoFit/>
          </a:bodyPr>
          <a:lstStyle/>
          <a:p>
            <a:pPr algn="ctr">
              <a:spcAft>
                <a:spcPts val="100"/>
              </a:spcAft>
            </a:pPr>
            <a:r>
              <a:rPr sz="940" b="0">
                <a:solidFill>
                  <a:srgbClr val="2D2D2D"/>
                </a:solidFill>
                <a:latin typeface="Arial"/>
              </a:rPr>
              <a:t>Combination with AWQ, OmniQuant,</a:t>
            </a:r>
          </a:p>
          <a:p>
            <a:pPr algn="ctr">
              <a:spcAft>
                <a:spcPts val="100"/>
              </a:spcAft>
            </a:pPr>
            <a:r>
              <a:rPr sz="940" b="0">
                <a:solidFill>
                  <a:srgbClr val="2D2D2D"/>
                </a:solidFill>
                <a:latin typeface="Arial"/>
              </a:rPr>
              <a:t>and SmoothQuant</a:t>
            </a:r>
          </a:p>
        </p:txBody>
      </p:sp>
      <p:sp>
        <p:nvSpPr>
          <p:cNvPr id="21" name="Rounded Rectangle 20"/>
          <p:cNvSpPr/>
          <p:nvPr/>
        </p:nvSpPr>
        <p:spPr>
          <a:xfrm>
            <a:off x="685800" y="2788920"/>
            <a:ext cx="5257800" cy="2788920"/>
          </a:xfrm>
          <a:prstGeom prst="round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85800" y="2788920"/>
            <a:ext cx="5257800" cy="310896"/>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2834639"/>
            <a:ext cx="5166360" cy="256032"/>
          </a:xfrm>
          <a:prstGeom prst="rect">
            <a:avLst/>
          </a:prstGeom>
          <a:noFill/>
        </p:spPr>
        <p:txBody>
          <a:bodyPr wrap="square" lIns="0" tIns="0" rIns="0" bIns="0">
            <a:spAutoFit/>
          </a:bodyPr>
          <a:lstStyle/>
          <a:p>
            <a:pPr algn="ctr">
              <a:spcAft>
                <a:spcPts val="100"/>
              </a:spcAft>
            </a:pPr>
            <a:r>
              <a:rPr sz="1100" b="1">
                <a:solidFill>
                  <a:srgbClr val="FFFFFF"/>
                </a:solidFill>
                <a:latin typeface="Arial"/>
              </a:rPr>
              <a:t>Experimental methodology</a:t>
            </a:r>
          </a:p>
        </p:txBody>
      </p:sp>
      <p:graphicFrame>
        <p:nvGraphicFramePr>
          <p:cNvPr id="24" name="Table 23"/>
          <p:cNvGraphicFramePr>
            <a:graphicFrameLocks noGrp="1"/>
          </p:cNvGraphicFramePr>
          <p:nvPr/>
        </p:nvGraphicFramePr>
        <p:xfrm>
          <a:off x="914400" y="3337560"/>
          <a:ext cx="4709160" cy="192024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384048">
                <a:tc>
                  <a:txBody>
                    <a:bodyPr/>
                    <a:lstStyle/>
                    <a:p>
                      <a:pPr algn="ctr"/>
                      <a:r>
                        <a:rPr sz="880" b="1">
                          <a:solidFill>
                            <a:srgbClr val="FFFFFF"/>
                          </a:solidFill>
                          <a:latin typeface="Arial"/>
                        </a:rPr>
                        <a:t>Category</a:t>
                      </a:r>
                    </a:p>
                  </a:txBody>
                  <a:tcPr marL="27432" marR="27432" marT="18288" marB="18288">
                    <a:solidFill>
                      <a:srgbClr val="00245D"/>
                    </a:solidFill>
                  </a:tcPr>
                </a:tc>
                <a:tc>
                  <a:txBody>
                    <a:bodyPr/>
                    <a:lstStyle/>
                    <a:p>
                      <a:pPr algn="ctr"/>
                      <a:r>
                        <a:rPr sz="880" b="1">
                          <a:solidFill>
                            <a:srgbClr val="FFFFFF"/>
                          </a:solidFill>
                          <a:latin typeface="Arial"/>
                        </a:rPr>
                        <a:t>Details</a:t>
                      </a:r>
                    </a:p>
                  </a:txBody>
                  <a:tcPr marL="27432" marR="27432" marT="18288" marB="18288">
                    <a:solidFill>
                      <a:srgbClr val="00245D"/>
                    </a:solidFill>
                  </a:tcPr>
                </a:tc>
                <a:extLst>
                  <a:ext uri="{0D108BD9-81ED-4DB2-BD59-A6C34878D82A}">
                    <a16:rowId xmlns:a16="http://schemas.microsoft.com/office/drawing/2014/main" val="10000"/>
                  </a:ext>
                </a:extLst>
              </a:tr>
              <a:tr h="384048">
                <a:tc>
                  <a:txBody>
                    <a:bodyPr/>
                    <a:lstStyle/>
                    <a:p>
                      <a:pPr algn="ctr"/>
                      <a:r>
                        <a:rPr sz="880" b="0">
                          <a:solidFill>
                            <a:srgbClr val="2D2D2D"/>
                          </a:solidFill>
                          <a:latin typeface="Arial"/>
                        </a:rPr>
                        <a:t>LLMs</a:t>
                      </a:r>
                    </a:p>
                  </a:txBody>
                  <a:tcPr marL="27432" marR="27432" marT="18288" marB="18288">
                    <a:solidFill>
                      <a:srgbClr val="FFFFFF"/>
                    </a:solidFill>
                  </a:tcPr>
                </a:tc>
                <a:tc>
                  <a:txBody>
                    <a:bodyPr/>
                    <a:lstStyle/>
                    <a:p>
                      <a:pPr algn="ctr"/>
                      <a:r>
                        <a:rPr sz="880" b="0">
                          <a:solidFill>
                            <a:srgbClr val="2D2D2D"/>
                          </a:solidFill>
                          <a:latin typeface="Arial"/>
                        </a:rPr>
                        <a:t>OPT-1.3B, Phi-2B, Yi-6B, Llama-2-7B, Llama-2-13B, Llama-3-8B</a:t>
                      </a:r>
                    </a:p>
                  </a:txBody>
                  <a:tcPr marL="27432" marR="27432" marT="18288" marB="18288">
                    <a:solidFill>
                      <a:srgbClr val="FFFFFF"/>
                    </a:solidFill>
                  </a:tcPr>
                </a:tc>
                <a:extLst>
                  <a:ext uri="{0D108BD9-81ED-4DB2-BD59-A6C34878D82A}">
                    <a16:rowId xmlns:a16="http://schemas.microsoft.com/office/drawing/2014/main" val="10001"/>
                  </a:ext>
                </a:extLst>
              </a:tr>
              <a:tr h="384048">
                <a:tc>
                  <a:txBody>
                    <a:bodyPr/>
                    <a:lstStyle/>
                    <a:p>
                      <a:pPr algn="ctr"/>
                      <a:r>
                        <a:rPr sz="880" b="0">
                          <a:solidFill>
                            <a:srgbClr val="2D2D2D"/>
                          </a:solidFill>
                          <a:latin typeface="Arial"/>
                        </a:rPr>
                        <a:t>Discriminative</a:t>
                      </a:r>
                    </a:p>
                  </a:txBody>
                  <a:tcPr marL="27432" marR="27432" marT="18288" marB="18288">
                    <a:solidFill>
                      <a:srgbClr val="F6F7F9"/>
                    </a:solidFill>
                  </a:tcPr>
                </a:tc>
                <a:tc>
                  <a:txBody>
                    <a:bodyPr/>
                    <a:lstStyle/>
                    <a:p>
                      <a:pPr algn="ctr"/>
                      <a:r>
                        <a:rPr sz="880" b="0">
                          <a:solidFill>
                            <a:srgbClr val="2D2D2D"/>
                          </a:solidFill>
                          <a:latin typeface="Arial"/>
                        </a:rPr>
                        <a:t>HellaSwag, WinoGrande, PIQA (zero-shot accuracy)</a:t>
                      </a:r>
                    </a:p>
                  </a:txBody>
                  <a:tcPr marL="27432" marR="27432" marT="18288" marB="18288">
                    <a:solidFill>
                      <a:srgbClr val="F6F7F9"/>
                    </a:solidFill>
                  </a:tcPr>
                </a:tc>
                <a:extLst>
                  <a:ext uri="{0D108BD9-81ED-4DB2-BD59-A6C34878D82A}">
                    <a16:rowId xmlns:a16="http://schemas.microsoft.com/office/drawing/2014/main" val="10002"/>
                  </a:ext>
                </a:extLst>
              </a:tr>
              <a:tr h="384048">
                <a:tc>
                  <a:txBody>
                    <a:bodyPr/>
                    <a:lstStyle/>
                    <a:p>
                      <a:pPr algn="ctr"/>
                      <a:r>
                        <a:rPr sz="880" b="0">
                          <a:solidFill>
                            <a:srgbClr val="2D2D2D"/>
                          </a:solidFill>
                          <a:latin typeface="Arial"/>
                        </a:rPr>
                        <a:t>Generative</a:t>
                      </a:r>
                    </a:p>
                  </a:txBody>
                  <a:tcPr marL="27432" marR="27432" marT="18288" marB="18288">
                    <a:solidFill>
                      <a:srgbClr val="FFFFFF"/>
                    </a:solidFill>
                  </a:tcPr>
                </a:tc>
                <a:tc>
                  <a:txBody>
                    <a:bodyPr/>
                    <a:lstStyle/>
                    <a:p>
                      <a:pPr algn="ctr"/>
                      <a:r>
                        <a:rPr sz="880" b="0">
                          <a:solidFill>
                            <a:srgbClr val="2D2D2D"/>
                          </a:solidFill>
                          <a:latin typeface="Arial"/>
                        </a:rPr>
                        <a:t>Wikitext-2 and C4 (perplexity, PPL)</a:t>
                      </a:r>
                    </a:p>
                  </a:txBody>
                  <a:tcPr marL="27432" marR="27432" marT="18288" marB="18288">
                    <a:solidFill>
                      <a:srgbClr val="FFFFFF"/>
                    </a:solidFill>
                  </a:tcPr>
                </a:tc>
                <a:extLst>
                  <a:ext uri="{0D108BD9-81ED-4DB2-BD59-A6C34878D82A}">
                    <a16:rowId xmlns:a16="http://schemas.microsoft.com/office/drawing/2014/main" val="10003"/>
                  </a:ext>
                </a:extLst>
              </a:tr>
              <a:tr h="384048">
                <a:tc>
                  <a:txBody>
                    <a:bodyPr/>
                    <a:lstStyle/>
                    <a:p>
                      <a:pPr algn="ctr"/>
                      <a:r>
                        <a:rPr sz="880" b="0">
                          <a:solidFill>
                            <a:srgbClr val="2D2D2D"/>
                          </a:solidFill>
                          <a:latin typeface="Arial"/>
                        </a:rPr>
                        <a:t>Baselines</a:t>
                      </a:r>
                    </a:p>
                  </a:txBody>
                  <a:tcPr marL="27432" marR="27432" marT="18288" marB="18288">
                    <a:solidFill>
                      <a:srgbClr val="F6F7F9"/>
                    </a:solidFill>
                  </a:tcPr>
                </a:tc>
                <a:tc>
                  <a:txBody>
                    <a:bodyPr/>
                    <a:lstStyle/>
                    <a:p>
                      <a:pPr algn="ctr"/>
                      <a:r>
                        <a:rPr sz="880" b="0">
                          <a:solidFill>
                            <a:srgbClr val="2D2D2D"/>
                          </a:solidFill>
                          <a:latin typeface="Arial"/>
                        </a:rPr>
                        <a:t>ANT, OliVe, Microscaling(MX), per-group asymmetric INT</a:t>
                      </a:r>
                    </a:p>
                  </a:txBody>
                  <a:tcPr marL="27432" marR="27432" marT="18288" marB="18288">
                    <a:solidFill>
                      <a:srgbClr val="F6F7F9"/>
                    </a:solidFill>
                  </a:tcPr>
                </a:tc>
                <a:extLst>
                  <a:ext uri="{0D108BD9-81ED-4DB2-BD59-A6C34878D82A}">
                    <a16:rowId xmlns:a16="http://schemas.microsoft.com/office/drawing/2014/main" val="10004"/>
                  </a:ext>
                </a:extLst>
              </a:tr>
            </a:tbl>
          </a:graphicData>
        </a:graphic>
      </p:graphicFrame>
      <p:sp>
        <p:nvSpPr>
          <p:cNvPr id="25" name="Rounded Rectangle 24"/>
          <p:cNvSpPr/>
          <p:nvPr/>
        </p:nvSpPr>
        <p:spPr>
          <a:xfrm>
            <a:off x="6263640" y="2788920"/>
            <a:ext cx="4892040" cy="2788920"/>
          </a:xfrm>
          <a:prstGeom prst="roundRect">
            <a:avLst/>
          </a:prstGeom>
          <a:solidFill>
            <a:srgbClr val="FFFFFF"/>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63640" y="2788920"/>
            <a:ext cx="4892040" cy="310896"/>
          </a:xfrm>
          <a:prstGeom prst="rect">
            <a:avLst/>
          </a:prstGeom>
          <a:solidFill>
            <a:srgbClr val="CC7000"/>
          </a:solidFill>
          <a:ln>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09359" y="2834639"/>
            <a:ext cx="4800600" cy="256032"/>
          </a:xfrm>
          <a:prstGeom prst="rect">
            <a:avLst/>
          </a:prstGeom>
          <a:noFill/>
        </p:spPr>
        <p:txBody>
          <a:bodyPr wrap="square" lIns="0" tIns="0" rIns="0" bIns="0">
            <a:spAutoFit/>
          </a:bodyPr>
          <a:lstStyle/>
          <a:p>
            <a:pPr algn="ctr">
              <a:spcAft>
                <a:spcPts val="100"/>
              </a:spcAft>
            </a:pPr>
            <a:r>
              <a:rPr sz="1100" b="1">
                <a:solidFill>
                  <a:srgbClr val="FFFFFF"/>
                </a:solidFill>
                <a:latin typeface="Arial"/>
              </a:rPr>
              <a:t>Hardware methodology</a:t>
            </a:r>
          </a:p>
        </p:txBody>
      </p:sp>
      <p:sp>
        <p:nvSpPr>
          <p:cNvPr id="28" name="TextBox 27"/>
          <p:cNvSpPr txBox="1"/>
          <p:nvPr/>
        </p:nvSpPr>
        <p:spPr>
          <a:xfrm>
            <a:off x="6492240" y="3291840"/>
            <a:ext cx="4462272" cy="1170432"/>
          </a:xfrm>
          <a:prstGeom prst="rect">
            <a:avLst/>
          </a:prstGeom>
          <a:noFill/>
        </p:spPr>
        <p:txBody>
          <a:bodyPr wrap="square" lIns="0" tIns="0" rIns="0" bIns="0">
            <a:spAutoFit/>
          </a:bodyPr>
          <a:lstStyle/>
          <a:p>
            <a:pPr>
              <a:spcAft>
                <a:spcPts val="200"/>
              </a:spcAft>
            </a:pPr>
            <a:r>
              <a:rPr sz="1080">
                <a:solidFill>
                  <a:srgbClr val="2D2D2D"/>
                </a:solidFill>
                <a:latin typeface="Arial"/>
              </a:rPr>
              <a:t>• BitMoD accelerator is implemented in SystemVerilog RTL.</a:t>
            </a:r>
          </a:p>
          <a:p>
            <a:pPr>
              <a:spcAft>
                <a:spcPts val="200"/>
              </a:spcAft>
            </a:pPr>
            <a:r>
              <a:rPr sz="1080">
                <a:solidFill>
                  <a:srgbClr val="2D2D2D"/>
                </a:solidFill>
                <a:latin typeface="Arial"/>
              </a:rPr>
              <a:t>• Synthesis uses TSMC 28nm technology.</a:t>
            </a:r>
          </a:p>
          <a:p>
            <a:pPr>
              <a:spcAft>
                <a:spcPts val="200"/>
              </a:spcAft>
            </a:pPr>
            <a:r>
              <a:rPr sz="1080">
                <a:solidFill>
                  <a:srgbClr val="2D2D2D"/>
                </a:solidFill>
                <a:latin typeface="Arial"/>
              </a:rPr>
              <a:t>• End-to-end performance is evaluated with a cycle-level simulator.</a:t>
            </a:r>
          </a:p>
          <a:p>
            <a:pPr>
              <a:spcAft>
                <a:spcPts val="200"/>
              </a:spcAft>
            </a:pPr>
            <a:r>
              <a:rPr sz="1080">
                <a:solidFill>
                  <a:srgbClr val="2D2D2D"/>
                </a:solidFill>
                <a:latin typeface="Arial"/>
              </a:rPr>
              <a:t>• All accelerators are compared under the same compute-area budget.</a:t>
            </a:r>
          </a:p>
        </p:txBody>
      </p:sp>
      <p:sp>
        <p:nvSpPr>
          <p:cNvPr id="29" name="Rectangle 28"/>
          <p:cNvSpPr/>
          <p:nvPr/>
        </p:nvSpPr>
        <p:spPr>
          <a:xfrm>
            <a:off x="6583680" y="4846320"/>
            <a:ext cx="4251960" cy="475488"/>
          </a:xfrm>
          <a:prstGeom prst="rect">
            <a:avLst/>
          </a:prstGeom>
          <a:solidFill>
            <a:srgbClr val="FFFAE6"/>
          </a:solidFill>
          <a:ln w="10160">
            <a:solidFill>
              <a:srgbClr val="E6B4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20840" y="4956048"/>
            <a:ext cx="3977639" cy="146304"/>
          </a:xfrm>
          <a:prstGeom prst="rect">
            <a:avLst/>
          </a:prstGeom>
          <a:noFill/>
        </p:spPr>
        <p:txBody>
          <a:bodyPr wrap="square" lIns="0" tIns="0" rIns="0" bIns="0">
            <a:spAutoFit/>
          </a:bodyPr>
          <a:lstStyle/>
          <a:p>
            <a:pPr algn="ctr">
              <a:spcAft>
                <a:spcPts val="100"/>
              </a:spcAft>
            </a:pPr>
            <a:r>
              <a:rPr sz="960" b="1" dirty="0">
                <a:solidFill>
                  <a:srgbClr val="00245D"/>
                </a:solidFill>
                <a:latin typeface="Arial"/>
              </a:rPr>
              <a:t>Fair comparison: same compute area, different quantization and hardware designs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424160" cy="292608"/>
          </a:xfrm>
          <a:prstGeom prst="rect">
            <a:avLst/>
          </a:prstGeom>
          <a:noFill/>
        </p:spPr>
        <p:txBody>
          <a:bodyPr wrap="none">
            <a:spAutoFit/>
          </a:bodyPr>
          <a:lstStyle/>
          <a:p>
            <a:r>
              <a:rPr sz="2000" b="1">
                <a:solidFill>
                  <a:srgbClr val="000000"/>
                </a:solidFill>
                <a:latin typeface="Arial"/>
              </a:rPr>
              <a:t>Model Accuracy: 4-bit is near-lossless, 3-bit is where BitMoD matters</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78</a:t>
            </a:r>
            <a:endParaRPr sz="1000" b="1" dirty="0">
              <a:solidFill>
                <a:srgbClr val="FFFFFF"/>
              </a:solidFill>
              <a:latin typeface="Arial"/>
            </a:endParaRPr>
          </a:p>
        </p:txBody>
      </p:sp>
      <p:sp>
        <p:nvSpPr>
          <p:cNvPr id="8" name="TextBox 7"/>
          <p:cNvSpPr txBox="1"/>
          <p:nvPr/>
        </p:nvSpPr>
        <p:spPr>
          <a:xfrm>
            <a:off x="594360" y="932688"/>
            <a:ext cx="10698480" cy="274320"/>
          </a:xfrm>
          <a:prstGeom prst="rect">
            <a:avLst/>
          </a:prstGeom>
          <a:noFill/>
        </p:spPr>
        <p:txBody>
          <a:bodyPr wrap="square" lIns="0" tIns="0" rIns="0" bIns="0">
            <a:spAutoFit/>
          </a:bodyPr>
          <a:lstStyle/>
          <a:p>
            <a:pPr algn="l">
              <a:spcAft>
                <a:spcPts val="100"/>
              </a:spcAft>
            </a:pPr>
            <a:r>
              <a:rPr sz="1300" b="0">
                <a:solidFill>
                  <a:srgbClr val="2D2D2D"/>
                </a:solidFill>
                <a:latin typeface="Arial"/>
              </a:rPr>
              <a:t>The paper evaluates both discriminative accuracy and generative perplexity. BitMoD keeps quality especially well when precision gets very low.</a:t>
            </a:r>
          </a:p>
        </p:txBody>
      </p:sp>
      <p:sp>
        <p:nvSpPr>
          <p:cNvPr id="9" name="Rounded Rectangle 8"/>
          <p:cNvSpPr/>
          <p:nvPr/>
        </p:nvSpPr>
        <p:spPr>
          <a:xfrm>
            <a:off x="731520" y="1371600"/>
            <a:ext cx="2331720" cy="118872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536192"/>
            <a:ext cx="2148839" cy="320040"/>
          </a:xfrm>
          <a:prstGeom prst="rect">
            <a:avLst/>
          </a:prstGeom>
          <a:noFill/>
        </p:spPr>
        <p:txBody>
          <a:bodyPr wrap="square" lIns="0" tIns="0" rIns="0" bIns="0">
            <a:spAutoFit/>
          </a:bodyPr>
          <a:lstStyle/>
          <a:p>
            <a:pPr algn="ctr">
              <a:spcAft>
                <a:spcPts val="100"/>
              </a:spcAft>
            </a:pPr>
            <a:r>
              <a:rPr sz="2200" b="1">
                <a:solidFill>
                  <a:srgbClr val="4472C4"/>
                </a:solidFill>
                <a:latin typeface="Arial"/>
              </a:rPr>
              <a:t>&lt; 0.5%</a:t>
            </a:r>
          </a:p>
        </p:txBody>
      </p:sp>
      <p:sp>
        <p:nvSpPr>
          <p:cNvPr id="11" name="TextBox 10"/>
          <p:cNvSpPr txBox="1"/>
          <p:nvPr/>
        </p:nvSpPr>
        <p:spPr>
          <a:xfrm>
            <a:off x="868680" y="2029967"/>
            <a:ext cx="2057400" cy="475488"/>
          </a:xfrm>
          <a:prstGeom prst="rect">
            <a:avLst/>
          </a:prstGeom>
          <a:noFill/>
        </p:spPr>
        <p:txBody>
          <a:bodyPr wrap="square" lIns="0" tIns="0" rIns="0" bIns="0">
            <a:spAutoFit/>
          </a:bodyPr>
          <a:lstStyle/>
          <a:p>
            <a:pPr algn="ctr">
              <a:spcAft>
                <a:spcPts val="100"/>
              </a:spcAft>
            </a:pPr>
            <a:r>
              <a:rPr sz="1060" b="0">
                <a:solidFill>
                  <a:srgbClr val="2D2D2D"/>
                </a:solidFill>
                <a:latin typeface="Arial"/>
              </a:rPr>
              <a:t>Average accuracy loss</a:t>
            </a:r>
          </a:p>
          <a:p>
            <a:pPr algn="ctr">
              <a:spcAft>
                <a:spcPts val="100"/>
              </a:spcAft>
            </a:pPr>
            <a:r>
              <a:rPr sz="1060" b="0">
                <a:solidFill>
                  <a:srgbClr val="2D2D2D"/>
                </a:solidFill>
                <a:latin typeface="Arial"/>
              </a:rPr>
              <a:t>for 4-bit discriminative tasks</a:t>
            </a:r>
          </a:p>
        </p:txBody>
      </p:sp>
      <p:sp>
        <p:nvSpPr>
          <p:cNvPr id="12" name="Rounded Rectangle 11"/>
          <p:cNvSpPr/>
          <p:nvPr/>
        </p:nvSpPr>
        <p:spPr>
          <a:xfrm>
            <a:off x="3291840" y="1371600"/>
            <a:ext cx="2331720" cy="1188720"/>
          </a:xfrm>
          <a:prstGeom prst="roundRect">
            <a:avLst/>
          </a:prstGeom>
          <a:solidFill>
            <a:srgbClr val="EEFAEE"/>
          </a:solidFill>
          <a:ln w="1016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0" y="1536192"/>
            <a:ext cx="2148839" cy="320040"/>
          </a:xfrm>
          <a:prstGeom prst="rect">
            <a:avLst/>
          </a:prstGeom>
          <a:noFill/>
        </p:spPr>
        <p:txBody>
          <a:bodyPr wrap="square" lIns="0" tIns="0" rIns="0" bIns="0">
            <a:spAutoFit/>
          </a:bodyPr>
          <a:lstStyle/>
          <a:p>
            <a:pPr algn="ctr">
              <a:spcAft>
                <a:spcPts val="100"/>
              </a:spcAft>
            </a:pPr>
            <a:r>
              <a:rPr sz="2200" b="1">
                <a:solidFill>
                  <a:srgbClr val="2E7D32"/>
                </a:solidFill>
                <a:latin typeface="Arial"/>
              </a:rPr>
              <a:t>&lt; 0.5</a:t>
            </a:r>
          </a:p>
        </p:txBody>
      </p:sp>
      <p:sp>
        <p:nvSpPr>
          <p:cNvPr id="14" name="TextBox 13"/>
          <p:cNvSpPr txBox="1"/>
          <p:nvPr/>
        </p:nvSpPr>
        <p:spPr>
          <a:xfrm>
            <a:off x="3429000" y="2029967"/>
            <a:ext cx="2057400" cy="475488"/>
          </a:xfrm>
          <a:prstGeom prst="rect">
            <a:avLst/>
          </a:prstGeom>
          <a:noFill/>
        </p:spPr>
        <p:txBody>
          <a:bodyPr wrap="square" lIns="0" tIns="0" rIns="0" bIns="0">
            <a:spAutoFit/>
          </a:bodyPr>
          <a:lstStyle/>
          <a:p>
            <a:pPr algn="ctr">
              <a:spcAft>
                <a:spcPts val="100"/>
              </a:spcAft>
            </a:pPr>
            <a:r>
              <a:rPr sz="1060" b="0">
                <a:solidFill>
                  <a:srgbClr val="2D2D2D"/>
                </a:solidFill>
                <a:latin typeface="Arial"/>
              </a:rPr>
              <a:t>Average PPL increase</a:t>
            </a:r>
          </a:p>
          <a:p>
            <a:pPr algn="ctr">
              <a:spcAft>
                <a:spcPts val="100"/>
              </a:spcAft>
            </a:pPr>
            <a:r>
              <a:rPr sz="1060" b="0">
                <a:solidFill>
                  <a:srgbClr val="2D2D2D"/>
                </a:solidFill>
                <a:latin typeface="Arial"/>
              </a:rPr>
              <a:t>for 4-bit generative tasks</a:t>
            </a:r>
          </a:p>
        </p:txBody>
      </p:sp>
      <p:sp>
        <p:nvSpPr>
          <p:cNvPr id="15" name="Rounded Rectangle 14"/>
          <p:cNvSpPr/>
          <p:nvPr/>
        </p:nvSpPr>
        <p:spPr>
          <a:xfrm>
            <a:off x="5852160" y="1371600"/>
            <a:ext cx="2331720" cy="1188720"/>
          </a:xfrm>
          <a:prstGeom prst="roundRect">
            <a:avLst/>
          </a:prstGeom>
          <a:solidFill>
            <a:srgbClr val="FFFAE6"/>
          </a:solidFill>
          <a:ln w="1016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0" y="1536192"/>
            <a:ext cx="2148839" cy="320040"/>
          </a:xfrm>
          <a:prstGeom prst="rect">
            <a:avLst/>
          </a:prstGeom>
          <a:noFill/>
        </p:spPr>
        <p:txBody>
          <a:bodyPr wrap="square" lIns="0" tIns="0" rIns="0" bIns="0">
            <a:spAutoFit/>
          </a:bodyPr>
          <a:lstStyle/>
          <a:p>
            <a:pPr algn="ctr">
              <a:spcAft>
                <a:spcPts val="100"/>
              </a:spcAft>
            </a:pPr>
            <a:r>
              <a:rPr sz="2200" b="1">
                <a:solidFill>
                  <a:srgbClr val="CC7000"/>
                </a:solidFill>
                <a:latin typeface="Arial"/>
              </a:rPr>
              <a:t>&lt; 3</a:t>
            </a:r>
          </a:p>
        </p:txBody>
      </p:sp>
      <p:sp>
        <p:nvSpPr>
          <p:cNvPr id="17" name="TextBox 16"/>
          <p:cNvSpPr txBox="1"/>
          <p:nvPr/>
        </p:nvSpPr>
        <p:spPr>
          <a:xfrm>
            <a:off x="5989320" y="2029967"/>
            <a:ext cx="2057400" cy="475488"/>
          </a:xfrm>
          <a:prstGeom prst="rect">
            <a:avLst/>
          </a:prstGeom>
          <a:noFill/>
        </p:spPr>
        <p:txBody>
          <a:bodyPr wrap="square" lIns="0" tIns="0" rIns="0" bIns="0">
            <a:spAutoFit/>
          </a:bodyPr>
          <a:lstStyle/>
          <a:p>
            <a:pPr algn="ctr">
              <a:spcAft>
                <a:spcPts val="100"/>
              </a:spcAft>
            </a:pPr>
            <a:r>
              <a:rPr sz="1060" b="0">
                <a:solidFill>
                  <a:srgbClr val="2D2D2D"/>
                </a:solidFill>
                <a:latin typeface="Arial"/>
              </a:rPr>
              <a:t>Average PPL loss</a:t>
            </a:r>
          </a:p>
          <a:p>
            <a:pPr algn="ctr">
              <a:spcAft>
                <a:spcPts val="100"/>
              </a:spcAft>
            </a:pPr>
            <a:r>
              <a:rPr sz="1060" b="0">
                <a:solidFill>
                  <a:srgbClr val="2D2D2D"/>
                </a:solidFill>
                <a:latin typeface="Arial"/>
              </a:rPr>
              <a:t>for 3-bit generative tasks</a:t>
            </a:r>
          </a:p>
        </p:txBody>
      </p:sp>
      <p:sp>
        <p:nvSpPr>
          <p:cNvPr id="18" name="Rounded Rectangle 17"/>
          <p:cNvSpPr/>
          <p:nvPr/>
        </p:nvSpPr>
        <p:spPr>
          <a:xfrm>
            <a:off x="8412480" y="1371600"/>
            <a:ext cx="2331720" cy="1188720"/>
          </a:xfrm>
          <a:prstGeom prst="roundRect">
            <a:avLst/>
          </a:prstGeom>
          <a:solidFill>
            <a:srgbClr val="FFEFEF"/>
          </a:solidFill>
          <a:ln w="1016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19" y="1536192"/>
            <a:ext cx="2148839" cy="320040"/>
          </a:xfrm>
          <a:prstGeom prst="rect">
            <a:avLst/>
          </a:prstGeom>
          <a:noFill/>
        </p:spPr>
        <p:txBody>
          <a:bodyPr wrap="square" lIns="0" tIns="0" rIns="0" bIns="0">
            <a:spAutoFit/>
          </a:bodyPr>
          <a:lstStyle/>
          <a:p>
            <a:pPr algn="ctr">
              <a:spcAft>
                <a:spcPts val="100"/>
              </a:spcAft>
            </a:pPr>
            <a:r>
              <a:rPr sz="2200" b="1">
                <a:solidFill>
                  <a:srgbClr val="C00000"/>
                </a:solidFill>
                <a:latin typeface="Arial"/>
              </a:rPr>
              <a:t>3-bit</a:t>
            </a:r>
          </a:p>
        </p:txBody>
      </p:sp>
      <p:sp>
        <p:nvSpPr>
          <p:cNvPr id="20" name="TextBox 19"/>
          <p:cNvSpPr txBox="1"/>
          <p:nvPr/>
        </p:nvSpPr>
        <p:spPr>
          <a:xfrm>
            <a:off x="8549640" y="2029967"/>
            <a:ext cx="2057400" cy="475488"/>
          </a:xfrm>
          <a:prstGeom prst="rect">
            <a:avLst/>
          </a:prstGeom>
          <a:noFill/>
        </p:spPr>
        <p:txBody>
          <a:bodyPr wrap="square" lIns="0" tIns="0" rIns="0" bIns="0">
            <a:spAutoFit/>
          </a:bodyPr>
          <a:lstStyle/>
          <a:p>
            <a:pPr algn="ctr">
              <a:spcAft>
                <a:spcPts val="100"/>
              </a:spcAft>
            </a:pPr>
            <a:r>
              <a:rPr sz="1060" b="0">
                <a:solidFill>
                  <a:srgbClr val="2D2D2D"/>
                </a:solidFill>
                <a:latin typeface="Arial"/>
              </a:rPr>
              <a:t>Benefit becomes larger</a:t>
            </a:r>
          </a:p>
          <a:p>
            <a:pPr algn="ctr">
              <a:spcAft>
                <a:spcPts val="100"/>
              </a:spcAft>
            </a:pPr>
            <a:r>
              <a:rPr sz="1060" b="0">
                <a:solidFill>
                  <a:srgbClr val="2D2D2D"/>
                </a:solidFill>
                <a:latin typeface="Arial"/>
              </a:rPr>
              <a:t>when quantization is harder</a:t>
            </a:r>
          </a:p>
        </p:txBody>
      </p:sp>
      <p:sp>
        <p:nvSpPr>
          <p:cNvPr id="21" name="Rounded Rectangle 20"/>
          <p:cNvSpPr/>
          <p:nvPr/>
        </p:nvSpPr>
        <p:spPr>
          <a:xfrm>
            <a:off x="731520" y="3063240"/>
            <a:ext cx="4846320" cy="2148840"/>
          </a:xfrm>
          <a:prstGeom prst="roundRect">
            <a:avLst/>
          </a:prstGeom>
          <a:solidFill>
            <a:srgbClr val="FFFFFF"/>
          </a:solidFill>
          <a:ln w="1016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3063240"/>
            <a:ext cx="4846320" cy="310896"/>
          </a:xfrm>
          <a:prstGeom prst="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108960"/>
            <a:ext cx="4754880" cy="256032"/>
          </a:xfrm>
          <a:prstGeom prst="rect">
            <a:avLst/>
          </a:prstGeom>
          <a:noFill/>
        </p:spPr>
        <p:txBody>
          <a:bodyPr wrap="square" lIns="0" tIns="0" rIns="0" bIns="0">
            <a:spAutoFit/>
          </a:bodyPr>
          <a:lstStyle/>
          <a:p>
            <a:pPr algn="ctr">
              <a:spcAft>
                <a:spcPts val="100"/>
              </a:spcAft>
            </a:pPr>
            <a:r>
              <a:rPr sz="1100" b="1">
                <a:solidFill>
                  <a:srgbClr val="FFFFFF"/>
                </a:solidFill>
                <a:latin typeface="Arial"/>
              </a:rPr>
              <a:t>Conventional 3-bit quantization</a:t>
            </a:r>
          </a:p>
        </p:txBody>
      </p:sp>
      <p:sp>
        <p:nvSpPr>
          <p:cNvPr id="24" name="TextBox 23"/>
          <p:cNvSpPr txBox="1"/>
          <p:nvPr/>
        </p:nvSpPr>
        <p:spPr>
          <a:xfrm>
            <a:off x="960120" y="3566160"/>
            <a:ext cx="4389120" cy="1234440"/>
          </a:xfrm>
          <a:prstGeom prst="rect">
            <a:avLst/>
          </a:prstGeom>
          <a:noFill/>
        </p:spPr>
        <p:txBody>
          <a:bodyPr wrap="square" lIns="0" tIns="0" rIns="0" bIns="0">
            <a:spAutoFit/>
          </a:bodyPr>
          <a:lstStyle/>
          <a:p>
            <a:pPr algn="ctr">
              <a:spcAft>
                <a:spcPts val="100"/>
              </a:spcAft>
            </a:pPr>
            <a:r>
              <a:rPr sz="1350" b="0">
                <a:solidFill>
                  <a:srgbClr val="2D2D2D"/>
                </a:solidFill>
                <a:latin typeface="Arial"/>
              </a:rPr>
              <a:t>Quantization error increases</a:t>
            </a:r>
          </a:p>
          <a:p>
            <a:pPr algn="ctr">
              <a:spcAft>
                <a:spcPts val="100"/>
              </a:spcAft>
            </a:pPr>
            <a:r>
              <a:rPr sz="1350" b="0">
                <a:solidFill>
                  <a:srgbClr val="2D2D2D"/>
                </a:solidFill>
                <a:latin typeface="Arial"/>
              </a:rPr>
              <a:t>        ↓</a:t>
            </a:r>
          </a:p>
          <a:p>
            <a:pPr algn="ctr">
              <a:spcAft>
                <a:spcPts val="100"/>
              </a:spcAft>
            </a:pPr>
            <a:r>
              <a:rPr sz="1350" b="0">
                <a:solidFill>
                  <a:srgbClr val="2D2D2D"/>
                </a:solidFill>
                <a:latin typeface="Arial"/>
              </a:rPr>
              <a:t>Model quality drops</a:t>
            </a:r>
          </a:p>
          <a:p>
            <a:pPr algn="ctr">
              <a:spcAft>
                <a:spcPts val="100"/>
              </a:spcAft>
            </a:pPr>
            <a:r>
              <a:rPr sz="1350" b="0">
                <a:solidFill>
                  <a:srgbClr val="2D2D2D"/>
                </a:solidFill>
                <a:latin typeface="Arial"/>
              </a:rPr>
              <a:t>        ↓</a:t>
            </a:r>
          </a:p>
          <a:p>
            <a:pPr algn="ctr">
              <a:spcAft>
                <a:spcPts val="100"/>
              </a:spcAft>
            </a:pPr>
            <a:r>
              <a:rPr sz="1350" b="0">
                <a:solidFill>
                  <a:srgbClr val="2D2D2D"/>
                </a:solidFill>
                <a:latin typeface="Arial"/>
              </a:rPr>
              <a:t>PPL grows significantly</a:t>
            </a:r>
          </a:p>
        </p:txBody>
      </p:sp>
      <p:sp>
        <p:nvSpPr>
          <p:cNvPr id="25" name="Rounded Rectangle 24"/>
          <p:cNvSpPr/>
          <p:nvPr/>
        </p:nvSpPr>
        <p:spPr>
          <a:xfrm>
            <a:off x="6126480" y="3063240"/>
            <a:ext cx="4846320" cy="2148840"/>
          </a:xfrm>
          <a:prstGeom prst="roundRect">
            <a:avLst/>
          </a:prstGeom>
          <a:solidFill>
            <a:srgbClr val="FFFFFF"/>
          </a:solidFill>
          <a:ln w="1016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26480" y="3063240"/>
            <a:ext cx="4846320" cy="310896"/>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72200" y="3108960"/>
            <a:ext cx="4754880" cy="256032"/>
          </a:xfrm>
          <a:prstGeom prst="rect">
            <a:avLst/>
          </a:prstGeom>
          <a:noFill/>
        </p:spPr>
        <p:txBody>
          <a:bodyPr wrap="square" lIns="0" tIns="0" rIns="0" bIns="0">
            <a:spAutoFit/>
          </a:bodyPr>
          <a:lstStyle/>
          <a:p>
            <a:pPr algn="ctr">
              <a:spcAft>
                <a:spcPts val="100"/>
              </a:spcAft>
            </a:pPr>
            <a:r>
              <a:rPr sz="1100" b="1">
                <a:solidFill>
                  <a:srgbClr val="FFFFFF"/>
                </a:solidFill>
                <a:latin typeface="Arial"/>
              </a:rPr>
              <a:t>BitMoD 3-bit quantization</a:t>
            </a:r>
          </a:p>
        </p:txBody>
      </p:sp>
      <p:sp>
        <p:nvSpPr>
          <p:cNvPr id="28" name="TextBox 27"/>
          <p:cNvSpPr txBox="1"/>
          <p:nvPr/>
        </p:nvSpPr>
        <p:spPr>
          <a:xfrm>
            <a:off x="6355080" y="3566160"/>
            <a:ext cx="4389120" cy="1090042"/>
          </a:xfrm>
          <a:prstGeom prst="rect">
            <a:avLst/>
          </a:prstGeom>
          <a:noFill/>
        </p:spPr>
        <p:txBody>
          <a:bodyPr wrap="square" lIns="0" tIns="0" rIns="0" bIns="0">
            <a:spAutoFit/>
          </a:bodyPr>
          <a:lstStyle/>
          <a:p>
            <a:pPr algn="ctr">
              <a:spcAft>
                <a:spcPts val="100"/>
              </a:spcAft>
            </a:pPr>
            <a:r>
              <a:rPr lang="en-US" sz="1350" b="0" dirty="0">
                <a:solidFill>
                  <a:srgbClr val="2D2D2D"/>
                </a:solidFill>
                <a:latin typeface="Arial"/>
              </a:rPr>
              <a:t>   </a:t>
            </a:r>
            <a:r>
              <a:rPr sz="1350" b="0" dirty="0">
                <a:solidFill>
                  <a:srgbClr val="2D2D2D"/>
                </a:solidFill>
                <a:latin typeface="Arial"/>
              </a:rPr>
              <a:t>Group-wise special value selection</a:t>
            </a:r>
          </a:p>
          <a:p>
            <a:pPr algn="ctr">
              <a:spcAft>
                <a:spcPts val="100"/>
              </a:spcAft>
            </a:pPr>
            <a:r>
              <a:rPr sz="1350" b="0" dirty="0">
                <a:solidFill>
                  <a:srgbClr val="2D2D2D"/>
                </a:solidFill>
                <a:latin typeface="Arial"/>
              </a:rPr>
              <a:t>        ↓</a:t>
            </a:r>
          </a:p>
          <a:p>
            <a:pPr algn="ctr">
              <a:spcAft>
                <a:spcPts val="100"/>
              </a:spcAft>
            </a:pPr>
            <a:r>
              <a:rPr lang="en-US" sz="1350" b="0" dirty="0">
                <a:solidFill>
                  <a:srgbClr val="2D2D2D"/>
                </a:solidFill>
                <a:latin typeface="Arial"/>
              </a:rPr>
              <a:t> </a:t>
            </a:r>
            <a:r>
              <a:rPr lang="en-US" sz="1350" dirty="0">
                <a:solidFill>
                  <a:srgbClr val="2D2D2D"/>
                </a:solidFill>
                <a:latin typeface="Arial"/>
              </a:rPr>
              <a:t>    </a:t>
            </a:r>
            <a:r>
              <a:rPr sz="1350" b="0" dirty="0">
                <a:solidFill>
                  <a:srgbClr val="2D2D2D"/>
                </a:solidFill>
                <a:latin typeface="Arial"/>
              </a:rPr>
              <a:t>Range / resolution</a:t>
            </a:r>
          </a:p>
          <a:p>
            <a:pPr algn="ctr">
              <a:spcAft>
                <a:spcPts val="100"/>
              </a:spcAft>
            </a:pPr>
            <a:r>
              <a:rPr sz="1350" b="0" dirty="0">
                <a:solidFill>
                  <a:srgbClr val="2D2D2D"/>
                </a:solidFill>
                <a:latin typeface="Arial"/>
              </a:rPr>
              <a:t>        ↓</a:t>
            </a:r>
          </a:p>
          <a:p>
            <a:pPr algn="ctr">
              <a:spcAft>
                <a:spcPts val="100"/>
              </a:spcAft>
            </a:pPr>
            <a:r>
              <a:rPr lang="en-US" sz="1350" b="0" dirty="0">
                <a:solidFill>
                  <a:srgbClr val="2D2D2D"/>
                </a:solidFill>
                <a:latin typeface="Arial"/>
              </a:rPr>
              <a:t>        </a:t>
            </a:r>
            <a:r>
              <a:rPr sz="1350" b="0" dirty="0">
                <a:solidFill>
                  <a:srgbClr val="2D2D2D"/>
                </a:solidFill>
                <a:latin typeface="Arial"/>
              </a:rPr>
              <a:t>Lower quantization error</a:t>
            </a:r>
          </a:p>
        </p:txBody>
      </p:sp>
      <p:sp>
        <p:nvSpPr>
          <p:cNvPr id="29" name="TextBox 28"/>
          <p:cNvSpPr txBox="1"/>
          <p:nvPr/>
        </p:nvSpPr>
        <p:spPr>
          <a:xfrm>
            <a:off x="777240" y="5513832"/>
            <a:ext cx="10195560" cy="256032"/>
          </a:xfrm>
          <a:prstGeom prst="rect">
            <a:avLst/>
          </a:prstGeom>
          <a:noFill/>
        </p:spPr>
        <p:txBody>
          <a:bodyPr wrap="square" lIns="0" tIns="0" rIns="0" bIns="0">
            <a:spAutoFit/>
          </a:bodyPr>
          <a:lstStyle/>
          <a:p>
            <a:pPr algn="ctr">
              <a:spcAft>
                <a:spcPts val="100"/>
              </a:spcAft>
            </a:pPr>
            <a:r>
              <a:rPr sz="1150" b="1">
                <a:solidFill>
                  <a:srgbClr val="00245D"/>
                </a:solidFill>
                <a:latin typeface="Arial"/>
              </a:rPr>
              <a:t>Takeaway: 4-bit BitMoD is almost FP16-quality; 3-bit BitMoD shows the strongest advantage over ANT, OliVe, MX, and INT3-Asym.</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424160" cy="292608"/>
          </a:xfrm>
          <a:prstGeom prst="rect">
            <a:avLst/>
          </a:prstGeom>
          <a:noFill/>
        </p:spPr>
        <p:txBody>
          <a:bodyPr wrap="none">
            <a:spAutoFit/>
          </a:bodyPr>
          <a:lstStyle/>
          <a:p>
            <a:r>
              <a:rPr sz="2000" b="1">
                <a:solidFill>
                  <a:srgbClr val="000000"/>
                </a:solidFill>
                <a:latin typeface="Arial"/>
              </a:rPr>
              <a:t>Accelerator Performance: speedup comes from memory and cycles</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lang="en-US" sz="1000" b="1" dirty="0">
                <a:solidFill>
                  <a:srgbClr val="FFFFFF"/>
                </a:solidFill>
                <a:latin typeface="Arial"/>
              </a:rPr>
              <a:t>79</a:t>
            </a:r>
            <a:endParaRPr sz="1000" b="1" dirty="0">
              <a:solidFill>
                <a:srgbClr val="FFFFFF"/>
              </a:solidFill>
              <a:latin typeface="Arial"/>
            </a:endParaRPr>
          </a:p>
        </p:txBody>
      </p:sp>
      <p:sp>
        <p:nvSpPr>
          <p:cNvPr id="8" name="TextBox 7"/>
          <p:cNvSpPr txBox="1"/>
          <p:nvPr/>
        </p:nvSpPr>
        <p:spPr>
          <a:xfrm>
            <a:off x="594360" y="932688"/>
            <a:ext cx="10698480" cy="274320"/>
          </a:xfrm>
          <a:prstGeom prst="rect">
            <a:avLst/>
          </a:prstGeom>
          <a:noFill/>
        </p:spPr>
        <p:txBody>
          <a:bodyPr wrap="square" lIns="0" tIns="0" rIns="0" bIns="0">
            <a:spAutoFit/>
          </a:bodyPr>
          <a:lstStyle/>
          <a:p>
            <a:pPr algn="l">
              <a:spcAft>
                <a:spcPts val="100"/>
              </a:spcAft>
            </a:pPr>
            <a:r>
              <a:rPr sz="1300" b="0">
                <a:solidFill>
                  <a:srgbClr val="2D2D2D"/>
                </a:solidFill>
                <a:latin typeface="Arial"/>
              </a:rPr>
              <a:t>BitMoD improves speed by reducing weight memory traffic and reducing the number of bit-serial compute cycles.</a:t>
            </a:r>
          </a:p>
        </p:txBody>
      </p:sp>
      <p:sp>
        <p:nvSpPr>
          <p:cNvPr id="9" name="Rounded Rectangle 8"/>
          <p:cNvSpPr/>
          <p:nvPr/>
        </p:nvSpPr>
        <p:spPr>
          <a:xfrm>
            <a:off x="685800" y="1353312"/>
            <a:ext cx="4069080" cy="448056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353312"/>
            <a:ext cx="4069080" cy="310896"/>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399032"/>
            <a:ext cx="3977640" cy="256032"/>
          </a:xfrm>
          <a:prstGeom prst="rect">
            <a:avLst/>
          </a:prstGeom>
          <a:noFill/>
        </p:spPr>
        <p:txBody>
          <a:bodyPr wrap="square" lIns="0" tIns="0" rIns="0" bIns="0">
            <a:spAutoFit/>
          </a:bodyPr>
          <a:lstStyle/>
          <a:p>
            <a:pPr algn="ctr">
              <a:spcAft>
                <a:spcPts val="100"/>
              </a:spcAft>
            </a:pPr>
            <a:r>
              <a:rPr sz="1100" b="1">
                <a:solidFill>
                  <a:srgbClr val="FFFFFF"/>
                </a:solidFill>
                <a:latin typeface="Arial"/>
              </a:rPr>
              <a:t>Why performance improves</a:t>
            </a:r>
          </a:p>
        </p:txBody>
      </p:sp>
      <p:sp>
        <p:nvSpPr>
          <p:cNvPr id="12" name="TextBox 11"/>
          <p:cNvSpPr txBox="1"/>
          <p:nvPr/>
        </p:nvSpPr>
        <p:spPr>
          <a:xfrm>
            <a:off x="914400" y="1920240"/>
            <a:ext cx="3611880" cy="1125116"/>
          </a:xfrm>
          <a:prstGeom prst="rect">
            <a:avLst/>
          </a:prstGeom>
          <a:noFill/>
        </p:spPr>
        <p:txBody>
          <a:bodyPr wrap="square" lIns="0" tIns="0" rIns="0" bIns="0">
            <a:spAutoFit/>
          </a:bodyPr>
          <a:lstStyle/>
          <a:p>
            <a:pPr>
              <a:lnSpc>
                <a:spcPct val="150000"/>
              </a:lnSpc>
              <a:spcAft>
                <a:spcPts val="200"/>
              </a:spcAft>
            </a:pPr>
            <a:r>
              <a:rPr sz="1200" dirty="0">
                <a:solidFill>
                  <a:srgbClr val="2D2D2D"/>
                </a:solidFill>
                <a:latin typeface="Arial"/>
              </a:rPr>
              <a:t>• Low-precision weights reduce memory traffic.</a:t>
            </a:r>
          </a:p>
          <a:p>
            <a:pPr>
              <a:lnSpc>
                <a:spcPct val="150000"/>
              </a:lnSpc>
              <a:spcAft>
                <a:spcPts val="200"/>
              </a:spcAft>
            </a:pPr>
            <a:r>
              <a:rPr sz="1200" dirty="0">
                <a:solidFill>
                  <a:srgbClr val="2D2D2D"/>
                </a:solidFill>
                <a:latin typeface="Arial"/>
              </a:rPr>
              <a:t>• Bit-serial terms reduce PE compute cycles.</a:t>
            </a:r>
          </a:p>
          <a:p>
            <a:pPr>
              <a:lnSpc>
                <a:spcPct val="150000"/>
              </a:lnSpc>
              <a:spcAft>
                <a:spcPts val="200"/>
              </a:spcAft>
            </a:pPr>
            <a:r>
              <a:rPr sz="1200" dirty="0">
                <a:solidFill>
                  <a:srgbClr val="2D2D2D"/>
                </a:solidFill>
                <a:latin typeface="Arial"/>
              </a:rPr>
              <a:t>• Generative tasks are memory-bound, so they benefit strongly from weight traffic reduction.</a:t>
            </a:r>
          </a:p>
        </p:txBody>
      </p:sp>
      <p:sp>
        <p:nvSpPr>
          <p:cNvPr id="13" name="Rectangle 12"/>
          <p:cNvSpPr/>
          <p:nvPr/>
        </p:nvSpPr>
        <p:spPr>
          <a:xfrm>
            <a:off x="960120" y="3657600"/>
            <a:ext cx="3474720" cy="475488"/>
          </a:xfrm>
          <a:prstGeom prst="rect">
            <a:avLst/>
          </a:prstGeom>
          <a:solidFill>
            <a:srgbClr val="FFFF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3813048"/>
            <a:ext cx="3200400" cy="137160"/>
          </a:xfrm>
          <a:prstGeom prst="rect">
            <a:avLst/>
          </a:prstGeom>
          <a:noFill/>
        </p:spPr>
        <p:txBody>
          <a:bodyPr wrap="square" lIns="0" tIns="0" rIns="0" bIns="0">
            <a:spAutoFit/>
          </a:bodyPr>
          <a:lstStyle/>
          <a:p>
            <a:pPr algn="ctr">
              <a:spcAft>
                <a:spcPts val="100"/>
              </a:spcAft>
            </a:pPr>
            <a:r>
              <a:rPr sz="980" b="1">
                <a:solidFill>
                  <a:srgbClr val="00245D"/>
                </a:solidFill>
                <a:latin typeface="Arial"/>
              </a:rPr>
              <a:t>Low precision → smaller weights → fewer memory accesses</a:t>
            </a:r>
          </a:p>
        </p:txBody>
      </p:sp>
      <p:sp>
        <p:nvSpPr>
          <p:cNvPr id="15" name="Rectangle 14"/>
          <p:cNvSpPr/>
          <p:nvPr/>
        </p:nvSpPr>
        <p:spPr>
          <a:xfrm>
            <a:off x="960120" y="4389120"/>
            <a:ext cx="3474720" cy="475488"/>
          </a:xfrm>
          <a:prstGeom prst="rect">
            <a:avLst/>
          </a:prstGeom>
          <a:solidFill>
            <a:srgbClr val="FFFFFF"/>
          </a:solidFill>
          <a:ln w="1016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4544568"/>
            <a:ext cx="3200400" cy="137160"/>
          </a:xfrm>
          <a:prstGeom prst="rect">
            <a:avLst/>
          </a:prstGeom>
          <a:noFill/>
        </p:spPr>
        <p:txBody>
          <a:bodyPr wrap="square" lIns="0" tIns="0" rIns="0" bIns="0">
            <a:spAutoFit/>
          </a:bodyPr>
          <a:lstStyle/>
          <a:p>
            <a:pPr algn="ctr">
              <a:spcAft>
                <a:spcPts val="100"/>
              </a:spcAft>
            </a:pPr>
            <a:r>
              <a:rPr sz="980" b="1">
                <a:solidFill>
                  <a:srgbClr val="00245D"/>
                </a:solidFill>
                <a:latin typeface="Arial"/>
              </a:rPr>
              <a:t>Fewer bit-serial terms → fewer PE cycles</a:t>
            </a:r>
          </a:p>
        </p:txBody>
      </p:sp>
      <p:sp>
        <p:nvSpPr>
          <p:cNvPr id="17" name="Rounded Rectangle 16"/>
          <p:cNvSpPr/>
          <p:nvPr/>
        </p:nvSpPr>
        <p:spPr>
          <a:xfrm>
            <a:off x="5074920" y="1353312"/>
            <a:ext cx="5989320" cy="4480560"/>
          </a:xfrm>
          <a:prstGeom prst="roundRect">
            <a:avLst/>
          </a:prstGeom>
          <a:solidFill>
            <a:srgbClr val="FFFFFF"/>
          </a:solidFill>
          <a:ln w="1016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74920" y="1353312"/>
            <a:ext cx="5989320" cy="310896"/>
          </a:xfrm>
          <a:prstGeom prst="rect">
            <a:avLst/>
          </a:prstGeom>
          <a:solidFill>
            <a:srgbClr val="CC7000"/>
          </a:solidFill>
          <a:ln>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399032"/>
            <a:ext cx="5897880" cy="256032"/>
          </a:xfrm>
          <a:prstGeom prst="rect">
            <a:avLst/>
          </a:prstGeom>
          <a:noFill/>
        </p:spPr>
        <p:txBody>
          <a:bodyPr wrap="square" lIns="0" tIns="0" rIns="0" bIns="0">
            <a:spAutoFit/>
          </a:bodyPr>
          <a:lstStyle/>
          <a:p>
            <a:pPr algn="ctr">
              <a:spcAft>
                <a:spcPts val="100"/>
              </a:spcAft>
            </a:pPr>
            <a:r>
              <a:rPr sz="1100" b="1">
                <a:solidFill>
                  <a:srgbClr val="FFFFFF"/>
                </a:solidFill>
                <a:latin typeface="Arial"/>
              </a:rPr>
              <a:t>Reported speedup</a:t>
            </a:r>
          </a:p>
        </p:txBody>
      </p:sp>
      <p:sp>
        <p:nvSpPr>
          <p:cNvPr id="20" name="Rounded Rectangle 19"/>
          <p:cNvSpPr/>
          <p:nvPr/>
        </p:nvSpPr>
        <p:spPr>
          <a:xfrm>
            <a:off x="5440680" y="1874519"/>
            <a:ext cx="2194560" cy="100584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32120" y="2039112"/>
            <a:ext cx="2011679" cy="320040"/>
          </a:xfrm>
          <a:prstGeom prst="rect">
            <a:avLst/>
          </a:prstGeom>
          <a:noFill/>
        </p:spPr>
        <p:txBody>
          <a:bodyPr wrap="square" lIns="0" tIns="0" rIns="0" bIns="0">
            <a:spAutoFit/>
          </a:bodyPr>
          <a:lstStyle/>
          <a:p>
            <a:pPr algn="ctr">
              <a:spcAft>
                <a:spcPts val="100"/>
              </a:spcAft>
            </a:pPr>
            <a:r>
              <a:rPr sz="2200" b="1">
                <a:solidFill>
                  <a:srgbClr val="4472C4"/>
                </a:solidFill>
                <a:latin typeface="Arial"/>
              </a:rPr>
              <a:t>1.99×</a:t>
            </a:r>
          </a:p>
        </p:txBody>
      </p:sp>
      <p:sp>
        <p:nvSpPr>
          <p:cNvPr id="22" name="TextBox 21"/>
          <p:cNvSpPr txBox="1"/>
          <p:nvPr/>
        </p:nvSpPr>
        <p:spPr>
          <a:xfrm>
            <a:off x="5577840" y="2453960"/>
            <a:ext cx="1920240" cy="292608"/>
          </a:xfrm>
          <a:prstGeom prst="rect">
            <a:avLst/>
          </a:prstGeom>
          <a:noFill/>
        </p:spPr>
        <p:txBody>
          <a:bodyPr wrap="square" lIns="0" tIns="0" rIns="0" bIns="0">
            <a:spAutoFit/>
          </a:bodyPr>
          <a:lstStyle/>
          <a:p>
            <a:pPr algn="ctr">
              <a:spcAft>
                <a:spcPts val="100"/>
              </a:spcAft>
            </a:pPr>
            <a:r>
              <a:rPr sz="1060" b="0" dirty="0">
                <a:solidFill>
                  <a:srgbClr val="2D2D2D"/>
                </a:solidFill>
                <a:latin typeface="Arial"/>
              </a:rPr>
              <a:t>FP16 baseline</a:t>
            </a:r>
          </a:p>
          <a:p>
            <a:pPr algn="ctr">
              <a:spcAft>
                <a:spcPts val="100"/>
              </a:spcAft>
            </a:pPr>
            <a:r>
              <a:rPr sz="1060" b="0" dirty="0">
                <a:solidFill>
                  <a:srgbClr val="2D2D2D"/>
                </a:solidFill>
                <a:latin typeface="Arial"/>
              </a:rPr>
              <a:t>Discriminative tasks</a:t>
            </a:r>
          </a:p>
        </p:txBody>
      </p:sp>
      <p:sp>
        <p:nvSpPr>
          <p:cNvPr id="23" name="Rounded Rectangle 22"/>
          <p:cNvSpPr/>
          <p:nvPr/>
        </p:nvSpPr>
        <p:spPr>
          <a:xfrm>
            <a:off x="8092440" y="1874519"/>
            <a:ext cx="2194560" cy="1005840"/>
          </a:xfrm>
          <a:prstGeom prst="roundRect">
            <a:avLst/>
          </a:prstGeom>
          <a:solidFill>
            <a:srgbClr val="EEFAEE"/>
          </a:solidFill>
          <a:ln w="1016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83879" y="2039112"/>
            <a:ext cx="2011679" cy="320040"/>
          </a:xfrm>
          <a:prstGeom prst="rect">
            <a:avLst/>
          </a:prstGeom>
          <a:noFill/>
        </p:spPr>
        <p:txBody>
          <a:bodyPr wrap="square" lIns="0" tIns="0" rIns="0" bIns="0">
            <a:spAutoFit/>
          </a:bodyPr>
          <a:lstStyle/>
          <a:p>
            <a:pPr algn="ctr">
              <a:spcAft>
                <a:spcPts val="100"/>
              </a:spcAft>
            </a:pPr>
            <a:r>
              <a:rPr sz="2200" b="1">
                <a:solidFill>
                  <a:srgbClr val="2E7D32"/>
                </a:solidFill>
                <a:latin typeface="Arial"/>
              </a:rPr>
              <a:t>2.41×</a:t>
            </a:r>
          </a:p>
        </p:txBody>
      </p:sp>
      <p:sp>
        <p:nvSpPr>
          <p:cNvPr id="25" name="TextBox 24"/>
          <p:cNvSpPr txBox="1"/>
          <p:nvPr/>
        </p:nvSpPr>
        <p:spPr>
          <a:xfrm>
            <a:off x="8229600" y="2450592"/>
            <a:ext cx="1920240" cy="292608"/>
          </a:xfrm>
          <a:prstGeom prst="rect">
            <a:avLst/>
          </a:prstGeom>
          <a:noFill/>
        </p:spPr>
        <p:txBody>
          <a:bodyPr wrap="square" lIns="0" tIns="0" rIns="0" bIns="0">
            <a:spAutoFit/>
          </a:bodyPr>
          <a:lstStyle/>
          <a:p>
            <a:pPr algn="ctr">
              <a:spcAft>
                <a:spcPts val="100"/>
              </a:spcAft>
            </a:pPr>
            <a:r>
              <a:rPr sz="1060" b="0" dirty="0">
                <a:solidFill>
                  <a:srgbClr val="2D2D2D"/>
                </a:solidFill>
                <a:latin typeface="Arial"/>
              </a:rPr>
              <a:t>FP16 baseline</a:t>
            </a:r>
          </a:p>
          <a:p>
            <a:pPr algn="ctr">
              <a:spcAft>
                <a:spcPts val="100"/>
              </a:spcAft>
            </a:pPr>
            <a:r>
              <a:rPr sz="1060" b="0" dirty="0">
                <a:solidFill>
                  <a:srgbClr val="2D2D2D"/>
                </a:solidFill>
                <a:latin typeface="Arial"/>
              </a:rPr>
              <a:t>Generative tasks</a:t>
            </a:r>
          </a:p>
        </p:txBody>
      </p:sp>
      <p:sp>
        <p:nvSpPr>
          <p:cNvPr id="26" name="TextBox 25"/>
          <p:cNvSpPr txBox="1"/>
          <p:nvPr/>
        </p:nvSpPr>
        <p:spPr>
          <a:xfrm>
            <a:off x="5486400" y="3246120"/>
            <a:ext cx="5120640" cy="201168"/>
          </a:xfrm>
          <a:prstGeom prst="rect">
            <a:avLst/>
          </a:prstGeom>
          <a:noFill/>
        </p:spPr>
        <p:txBody>
          <a:bodyPr wrap="square" lIns="0" tIns="0" rIns="0" bIns="0">
            <a:spAutoFit/>
          </a:bodyPr>
          <a:lstStyle/>
          <a:p>
            <a:pPr algn="ctr">
              <a:spcAft>
                <a:spcPts val="100"/>
              </a:spcAft>
            </a:pPr>
            <a:r>
              <a:rPr sz="1150" b="1">
                <a:solidFill>
                  <a:srgbClr val="00245D"/>
                </a:solidFill>
                <a:latin typeface="Arial"/>
              </a:rPr>
              <a:t>Average speedup over existing accelerators</a:t>
            </a:r>
          </a:p>
        </p:txBody>
      </p:sp>
      <p:sp>
        <p:nvSpPr>
          <p:cNvPr id="27" name="Rectangle 26"/>
          <p:cNvSpPr/>
          <p:nvPr/>
        </p:nvSpPr>
        <p:spPr>
          <a:xfrm>
            <a:off x="5806440" y="3657600"/>
            <a:ext cx="4663440" cy="1371599"/>
          </a:xfrm>
          <a:prstGeom prst="rect">
            <a:avLst/>
          </a:prstGeom>
          <a:solidFill>
            <a:srgbClr val="FFFFFF"/>
          </a:solidFill>
          <a:ln w="1016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739127" y="3961637"/>
            <a:ext cx="699516" cy="1159001"/>
          </a:xfrm>
          <a:prstGeom prst="rect">
            <a:avLst/>
          </a:prstGeom>
          <a:solidFill>
            <a:srgbClr val="2E7D32"/>
          </a:solidFill>
          <a:ln w="1016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93407" y="3705605"/>
            <a:ext cx="790956" cy="146304"/>
          </a:xfrm>
          <a:prstGeom prst="rect">
            <a:avLst/>
          </a:prstGeom>
          <a:noFill/>
        </p:spPr>
        <p:txBody>
          <a:bodyPr wrap="square" lIns="0" tIns="0" rIns="0" bIns="0">
            <a:spAutoFit/>
          </a:bodyPr>
          <a:lstStyle/>
          <a:p>
            <a:pPr algn="ctr">
              <a:spcAft>
                <a:spcPts val="100"/>
              </a:spcAft>
            </a:pPr>
            <a:r>
              <a:rPr sz="850" b="1">
                <a:solidFill>
                  <a:srgbClr val="2D2D2D"/>
                </a:solidFill>
                <a:latin typeface="Arial"/>
              </a:rPr>
              <a:t>1.69×</a:t>
            </a:r>
          </a:p>
        </p:txBody>
      </p:sp>
      <p:sp>
        <p:nvSpPr>
          <p:cNvPr id="30" name="TextBox 29"/>
          <p:cNvSpPr txBox="1"/>
          <p:nvPr/>
        </p:nvSpPr>
        <p:spPr>
          <a:xfrm>
            <a:off x="6574536" y="5157216"/>
            <a:ext cx="1028700" cy="201168"/>
          </a:xfrm>
          <a:prstGeom prst="rect">
            <a:avLst/>
          </a:prstGeom>
          <a:noFill/>
        </p:spPr>
        <p:txBody>
          <a:bodyPr wrap="square" lIns="0" tIns="0" rIns="0" bIns="0">
            <a:spAutoFit/>
          </a:bodyPr>
          <a:lstStyle/>
          <a:p>
            <a:pPr algn="ctr">
              <a:spcAft>
                <a:spcPts val="100"/>
              </a:spcAft>
            </a:pPr>
            <a:r>
              <a:rPr sz="830" b="0">
                <a:solidFill>
                  <a:srgbClr val="2D2D2D"/>
                </a:solidFill>
                <a:latin typeface="Arial"/>
              </a:rPr>
              <a:t>ANT</a:t>
            </a:r>
          </a:p>
        </p:txBody>
      </p:sp>
      <p:sp>
        <p:nvSpPr>
          <p:cNvPr id="31" name="Rectangle 30"/>
          <p:cNvSpPr/>
          <p:nvPr/>
        </p:nvSpPr>
        <p:spPr>
          <a:xfrm>
            <a:off x="8604504" y="4105656"/>
            <a:ext cx="699516" cy="1014983"/>
          </a:xfrm>
          <a:prstGeom prst="rect">
            <a:avLst/>
          </a:prstGeom>
          <a:solidFill>
            <a:srgbClr val="4472C4"/>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558784" y="3849624"/>
            <a:ext cx="790956" cy="146304"/>
          </a:xfrm>
          <a:prstGeom prst="rect">
            <a:avLst/>
          </a:prstGeom>
          <a:noFill/>
        </p:spPr>
        <p:txBody>
          <a:bodyPr wrap="square" lIns="0" tIns="0" rIns="0" bIns="0">
            <a:spAutoFit/>
          </a:bodyPr>
          <a:lstStyle/>
          <a:p>
            <a:pPr algn="ctr">
              <a:spcAft>
                <a:spcPts val="100"/>
              </a:spcAft>
            </a:pPr>
            <a:r>
              <a:rPr sz="850" b="1">
                <a:solidFill>
                  <a:srgbClr val="2D2D2D"/>
                </a:solidFill>
                <a:latin typeface="Arial"/>
              </a:rPr>
              <a:t>1.48×</a:t>
            </a:r>
          </a:p>
        </p:txBody>
      </p:sp>
      <p:sp>
        <p:nvSpPr>
          <p:cNvPr id="33" name="TextBox 32"/>
          <p:cNvSpPr txBox="1"/>
          <p:nvPr/>
        </p:nvSpPr>
        <p:spPr>
          <a:xfrm>
            <a:off x="8439912" y="5157216"/>
            <a:ext cx="1028700" cy="201168"/>
          </a:xfrm>
          <a:prstGeom prst="rect">
            <a:avLst/>
          </a:prstGeom>
          <a:noFill/>
        </p:spPr>
        <p:txBody>
          <a:bodyPr wrap="square" lIns="0" tIns="0" rIns="0" bIns="0">
            <a:spAutoFit/>
          </a:bodyPr>
          <a:lstStyle/>
          <a:p>
            <a:pPr algn="ctr">
              <a:spcAft>
                <a:spcPts val="100"/>
              </a:spcAft>
            </a:pPr>
            <a:r>
              <a:rPr sz="830" b="0">
                <a:solidFill>
                  <a:srgbClr val="2D2D2D"/>
                </a:solidFill>
                <a:latin typeface="Arial"/>
              </a:rPr>
              <a:t>OliVe</a:t>
            </a:r>
          </a:p>
        </p:txBody>
      </p:sp>
      <p:sp>
        <p:nvSpPr>
          <p:cNvPr id="34" name="TextBox 33"/>
          <p:cNvSpPr txBox="1"/>
          <p:nvPr/>
        </p:nvSpPr>
        <p:spPr>
          <a:xfrm>
            <a:off x="5522976" y="3630168"/>
            <a:ext cx="256032" cy="146304"/>
          </a:xfrm>
          <a:prstGeom prst="rect">
            <a:avLst/>
          </a:prstGeom>
          <a:noFill/>
        </p:spPr>
        <p:txBody>
          <a:bodyPr wrap="square" lIns="0" tIns="0" rIns="0" bIns="0">
            <a:spAutoFit/>
          </a:bodyPr>
          <a:lstStyle/>
          <a:p>
            <a:pPr algn="r">
              <a:spcAft>
                <a:spcPts val="100"/>
              </a:spcAft>
            </a:pPr>
            <a:r>
              <a:rPr sz="750" b="0">
                <a:solidFill>
                  <a:srgbClr val="5F5F5F"/>
                </a:solidFill>
                <a:latin typeface="Arial"/>
              </a:rPr>
              <a:t>2.0×</a:t>
            </a:r>
          </a:p>
        </p:txBody>
      </p:sp>
      <p:sp>
        <p:nvSpPr>
          <p:cNvPr id="35" name="TextBox 34"/>
          <p:cNvSpPr txBox="1"/>
          <p:nvPr/>
        </p:nvSpPr>
        <p:spPr>
          <a:xfrm>
            <a:off x="5440680" y="5449824"/>
            <a:ext cx="5166360" cy="164592"/>
          </a:xfrm>
          <a:prstGeom prst="rect">
            <a:avLst/>
          </a:prstGeom>
          <a:noFill/>
        </p:spPr>
        <p:txBody>
          <a:bodyPr wrap="square" lIns="0" tIns="0" rIns="0" bIns="0">
            <a:spAutoFit/>
          </a:bodyPr>
          <a:lstStyle/>
          <a:p>
            <a:pPr algn="ctr">
              <a:spcAft>
                <a:spcPts val="100"/>
              </a:spcAft>
            </a:pPr>
            <a:r>
              <a:rPr sz="960" b="1">
                <a:solidFill>
                  <a:srgbClr val="00245D"/>
                </a:solidFill>
                <a:latin typeface="Arial"/>
              </a:rPr>
              <a:t>BitMoD is faster than ANT and OliVe because it supports per-group low-bit quantization efficiently in hardware.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424160" cy="292608"/>
          </a:xfrm>
          <a:prstGeom prst="rect">
            <a:avLst/>
          </a:prstGeom>
          <a:noFill/>
        </p:spPr>
        <p:txBody>
          <a:bodyPr wrap="none">
            <a:spAutoFit/>
          </a:bodyPr>
          <a:lstStyle/>
          <a:p>
            <a:r>
              <a:rPr sz="2000" b="1">
                <a:solidFill>
                  <a:srgbClr val="000000"/>
                </a:solidFill>
                <a:latin typeface="Arial"/>
              </a:rPr>
              <a:t>Energy and Hardware Efficiency</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4" y="6547104"/>
            <a:ext cx="325731" cy="246221"/>
          </a:xfrm>
          <a:prstGeom prst="rect">
            <a:avLst/>
          </a:prstGeom>
          <a:noFill/>
        </p:spPr>
        <p:txBody>
          <a:bodyPr wrap="none">
            <a:spAutoFit/>
          </a:bodyPr>
          <a:lstStyle/>
          <a:p>
            <a:pPr algn="ctr"/>
            <a:r>
              <a:rPr lang="en-US" sz="1000" b="1" dirty="0">
                <a:solidFill>
                  <a:srgbClr val="FFFFFF"/>
                </a:solidFill>
                <a:latin typeface="Arial"/>
              </a:rPr>
              <a:t>80</a:t>
            </a:r>
            <a:endParaRPr sz="1000" b="1" dirty="0">
              <a:solidFill>
                <a:srgbClr val="FFFFFF"/>
              </a:solidFill>
              <a:latin typeface="Arial"/>
            </a:endParaRPr>
          </a:p>
        </p:txBody>
      </p:sp>
      <p:sp>
        <p:nvSpPr>
          <p:cNvPr id="8" name="TextBox 7"/>
          <p:cNvSpPr txBox="1"/>
          <p:nvPr/>
        </p:nvSpPr>
        <p:spPr>
          <a:xfrm>
            <a:off x="594360" y="932688"/>
            <a:ext cx="10698480" cy="274320"/>
          </a:xfrm>
          <a:prstGeom prst="rect">
            <a:avLst/>
          </a:prstGeom>
          <a:noFill/>
        </p:spPr>
        <p:txBody>
          <a:bodyPr wrap="square" lIns="0" tIns="0" rIns="0" bIns="0">
            <a:spAutoFit/>
          </a:bodyPr>
          <a:lstStyle/>
          <a:p>
            <a:pPr algn="l">
              <a:spcAft>
                <a:spcPts val="100"/>
              </a:spcAft>
            </a:pPr>
            <a:r>
              <a:rPr sz="1300" b="0">
                <a:solidFill>
                  <a:srgbClr val="2D2D2D"/>
                </a:solidFill>
                <a:latin typeface="Arial"/>
              </a:rPr>
              <a:t>Energy saving mainly comes from fewer DRAM weight accesses and lower compute cost in the bit-serial PE.</a:t>
            </a:r>
          </a:p>
        </p:txBody>
      </p:sp>
      <p:sp>
        <p:nvSpPr>
          <p:cNvPr id="9" name="Rounded Rectangle 8"/>
          <p:cNvSpPr/>
          <p:nvPr/>
        </p:nvSpPr>
        <p:spPr>
          <a:xfrm>
            <a:off x="777240" y="1371600"/>
            <a:ext cx="2423160" cy="1097280"/>
          </a:xfrm>
          <a:prstGeom prst="roundRect">
            <a:avLst/>
          </a:prstGeom>
          <a:solidFill>
            <a:srgbClr val="EEFAEE"/>
          </a:solidFill>
          <a:ln w="1016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536192"/>
            <a:ext cx="2240279" cy="320040"/>
          </a:xfrm>
          <a:prstGeom prst="rect">
            <a:avLst/>
          </a:prstGeom>
          <a:noFill/>
        </p:spPr>
        <p:txBody>
          <a:bodyPr wrap="square" lIns="0" tIns="0" rIns="0" bIns="0">
            <a:spAutoFit/>
          </a:bodyPr>
          <a:lstStyle/>
          <a:p>
            <a:pPr algn="ctr">
              <a:spcAft>
                <a:spcPts val="100"/>
              </a:spcAft>
            </a:pPr>
            <a:r>
              <a:rPr sz="2200" b="1">
                <a:solidFill>
                  <a:srgbClr val="2E7D32"/>
                </a:solidFill>
                <a:latin typeface="Arial"/>
              </a:rPr>
              <a:t>2.31×</a:t>
            </a:r>
          </a:p>
        </p:txBody>
      </p:sp>
      <p:sp>
        <p:nvSpPr>
          <p:cNvPr id="11" name="TextBox 10"/>
          <p:cNvSpPr txBox="1"/>
          <p:nvPr/>
        </p:nvSpPr>
        <p:spPr>
          <a:xfrm>
            <a:off x="914400" y="2029967"/>
            <a:ext cx="2148840" cy="384047"/>
          </a:xfrm>
          <a:prstGeom prst="rect">
            <a:avLst/>
          </a:prstGeom>
          <a:noFill/>
        </p:spPr>
        <p:txBody>
          <a:bodyPr wrap="square" lIns="0" tIns="0" rIns="0" bIns="0">
            <a:spAutoFit/>
          </a:bodyPr>
          <a:lstStyle/>
          <a:p>
            <a:pPr algn="ctr">
              <a:spcAft>
                <a:spcPts val="100"/>
              </a:spcAft>
            </a:pPr>
            <a:r>
              <a:rPr sz="1060" b="0">
                <a:solidFill>
                  <a:srgbClr val="2D2D2D"/>
                </a:solidFill>
                <a:latin typeface="Arial"/>
              </a:rPr>
              <a:t>Energy efficiency</a:t>
            </a:r>
          </a:p>
          <a:p>
            <a:pPr algn="ctr">
              <a:spcAft>
                <a:spcPts val="100"/>
              </a:spcAft>
            </a:pPr>
            <a:r>
              <a:rPr sz="1060" b="0">
                <a:solidFill>
                  <a:srgbClr val="2D2D2D"/>
                </a:solidFill>
                <a:latin typeface="Arial"/>
              </a:rPr>
              <a:t>over FP16 baseline</a:t>
            </a:r>
          </a:p>
        </p:txBody>
      </p:sp>
      <p:sp>
        <p:nvSpPr>
          <p:cNvPr id="12" name="Rounded Rectangle 11"/>
          <p:cNvSpPr/>
          <p:nvPr/>
        </p:nvSpPr>
        <p:spPr>
          <a:xfrm>
            <a:off x="3520440" y="1371600"/>
            <a:ext cx="2423160" cy="1097280"/>
          </a:xfrm>
          <a:prstGeom prst="roundRect">
            <a:avLst/>
          </a:prstGeom>
          <a:solidFill>
            <a:srgbClr val="F2F7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1536192"/>
            <a:ext cx="2240279" cy="320040"/>
          </a:xfrm>
          <a:prstGeom prst="rect">
            <a:avLst/>
          </a:prstGeom>
          <a:noFill/>
        </p:spPr>
        <p:txBody>
          <a:bodyPr wrap="square" lIns="0" tIns="0" rIns="0" bIns="0">
            <a:spAutoFit/>
          </a:bodyPr>
          <a:lstStyle/>
          <a:p>
            <a:pPr algn="ctr">
              <a:spcAft>
                <a:spcPts val="100"/>
              </a:spcAft>
            </a:pPr>
            <a:r>
              <a:rPr sz="2200" b="1">
                <a:solidFill>
                  <a:srgbClr val="4472C4"/>
                </a:solidFill>
                <a:latin typeface="Arial"/>
              </a:rPr>
              <a:t>1.48×</a:t>
            </a:r>
          </a:p>
        </p:txBody>
      </p:sp>
      <p:sp>
        <p:nvSpPr>
          <p:cNvPr id="14" name="TextBox 13"/>
          <p:cNvSpPr txBox="1"/>
          <p:nvPr/>
        </p:nvSpPr>
        <p:spPr>
          <a:xfrm>
            <a:off x="3657600" y="2029967"/>
            <a:ext cx="2148840" cy="384047"/>
          </a:xfrm>
          <a:prstGeom prst="rect">
            <a:avLst/>
          </a:prstGeom>
          <a:noFill/>
        </p:spPr>
        <p:txBody>
          <a:bodyPr wrap="square" lIns="0" tIns="0" rIns="0" bIns="0">
            <a:spAutoFit/>
          </a:bodyPr>
          <a:lstStyle/>
          <a:p>
            <a:pPr algn="ctr">
              <a:spcAft>
                <a:spcPts val="100"/>
              </a:spcAft>
            </a:pPr>
            <a:r>
              <a:rPr sz="1060" b="0">
                <a:solidFill>
                  <a:srgbClr val="2D2D2D"/>
                </a:solidFill>
                <a:latin typeface="Arial"/>
              </a:rPr>
              <a:t>Energy efficiency</a:t>
            </a:r>
          </a:p>
          <a:p>
            <a:pPr algn="ctr">
              <a:spcAft>
                <a:spcPts val="100"/>
              </a:spcAft>
            </a:pPr>
            <a:r>
              <a:rPr sz="1060" b="0">
                <a:solidFill>
                  <a:srgbClr val="2D2D2D"/>
                </a:solidFill>
                <a:latin typeface="Arial"/>
              </a:rPr>
              <a:t>over ANT</a:t>
            </a:r>
          </a:p>
        </p:txBody>
      </p:sp>
      <p:sp>
        <p:nvSpPr>
          <p:cNvPr id="15" name="Rounded Rectangle 14"/>
          <p:cNvSpPr/>
          <p:nvPr/>
        </p:nvSpPr>
        <p:spPr>
          <a:xfrm>
            <a:off x="6263640" y="1371600"/>
            <a:ext cx="2423160" cy="1097280"/>
          </a:xfrm>
          <a:prstGeom prst="roundRect">
            <a:avLst/>
          </a:prstGeom>
          <a:solidFill>
            <a:srgbClr val="FFFAE6"/>
          </a:solidFill>
          <a:ln w="1016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79" y="1536192"/>
            <a:ext cx="2240279" cy="320040"/>
          </a:xfrm>
          <a:prstGeom prst="rect">
            <a:avLst/>
          </a:prstGeom>
          <a:noFill/>
        </p:spPr>
        <p:txBody>
          <a:bodyPr wrap="square" lIns="0" tIns="0" rIns="0" bIns="0">
            <a:spAutoFit/>
          </a:bodyPr>
          <a:lstStyle/>
          <a:p>
            <a:pPr algn="ctr">
              <a:spcAft>
                <a:spcPts val="100"/>
              </a:spcAft>
            </a:pPr>
            <a:r>
              <a:rPr sz="2200" b="1">
                <a:solidFill>
                  <a:srgbClr val="CC7000"/>
                </a:solidFill>
                <a:latin typeface="Arial"/>
              </a:rPr>
              <a:t>1.31×</a:t>
            </a:r>
          </a:p>
        </p:txBody>
      </p:sp>
      <p:sp>
        <p:nvSpPr>
          <p:cNvPr id="17" name="TextBox 16"/>
          <p:cNvSpPr txBox="1"/>
          <p:nvPr/>
        </p:nvSpPr>
        <p:spPr>
          <a:xfrm>
            <a:off x="6400800" y="2029967"/>
            <a:ext cx="2148840" cy="384047"/>
          </a:xfrm>
          <a:prstGeom prst="rect">
            <a:avLst/>
          </a:prstGeom>
          <a:noFill/>
        </p:spPr>
        <p:txBody>
          <a:bodyPr wrap="square" lIns="0" tIns="0" rIns="0" bIns="0">
            <a:spAutoFit/>
          </a:bodyPr>
          <a:lstStyle/>
          <a:p>
            <a:pPr algn="ctr">
              <a:spcAft>
                <a:spcPts val="100"/>
              </a:spcAft>
            </a:pPr>
            <a:r>
              <a:rPr sz="1060" b="0">
                <a:solidFill>
                  <a:srgbClr val="2D2D2D"/>
                </a:solidFill>
                <a:latin typeface="Arial"/>
              </a:rPr>
              <a:t>Energy efficiency</a:t>
            </a:r>
          </a:p>
          <a:p>
            <a:pPr algn="ctr">
              <a:spcAft>
                <a:spcPts val="100"/>
              </a:spcAft>
            </a:pPr>
            <a:r>
              <a:rPr sz="1060" b="0">
                <a:solidFill>
                  <a:srgbClr val="2D2D2D"/>
                </a:solidFill>
                <a:latin typeface="Arial"/>
              </a:rPr>
              <a:t>over OliVe</a:t>
            </a:r>
          </a:p>
        </p:txBody>
      </p:sp>
      <p:sp>
        <p:nvSpPr>
          <p:cNvPr id="18" name="Rounded Rectangle 17"/>
          <p:cNvSpPr/>
          <p:nvPr/>
        </p:nvSpPr>
        <p:spPr>
          <a:xfrm>
            <a:off x="9006840" y="1371600"/>
            <a:ext cx="2423160" cy="1097280"/>
          </a:xfrm>
          <a:prstGeom prst="roundRect">
            <a:avLst/>
          </a:prstGeom>
          <a:solidFill>
            <a:srgbClr val="FFEFEF"/>
          </a:solidFill>
          <a:ln w="1016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98280" y="1536192"/>
            <a:ext cx="2240279" cy="320040"/>
          </a:xfrm>
          <a:prstGeom prst="rect">
            <a:avLst/>
          </a:prstGeom>
          <a:noFill/>
        </p:spPr>
        <p:txBody>
          <a:bodyPr wrap="square" lIns="0" tIns="0" rIns="0" bIns="0">
            <a:spAutoFit/>
          </a:bodyPr>
          <a:lstStyle/>
          <a:p>
            <a:pPr algn="ctr">
              <a:spcAft>
                <a:spcPts val="100"/>
              </a:spcAft>
            </a:pPr>
            <a:r>
              <a:rPr sz="2200" b="1">
                <a:solidFill>
                  <a:srgbClr val="C00000"/>
                </a:solidFill>
                <a:latin typeface="Arial"/>
              </a:rPr>
              <a:t>24%</a:t>
            </a:r>
          </a:p>
        </p:txBody>
      </p:sp>
      <p:sp>
        <p:nvSpPr>
          <p:cNvPr id="20" name="TextBox 19"/>
          <p:cNvSpPr txBox="1"/>
          <p:nvPr/>
        </p:nvSpPr>
        <p:spPr>
          <a:xfrm>
            <a:off x="9144000" y="2029967"/>
            <a:ext cx="2148840" cy="384047"/>
          </a:xfrm>
          <a:prstGeom prst="rect">
            <a:avLst/>
          </a:prstGeom>
          <a:noFill/>
        </p:spPr>
        <p:txBody>
          <a:bodyPr wrap="square" lIns="0" tIns="0" rIns="0" bIns="0">
            <a:spAutoFit/>
          </a:bodyPr>
          <a:lstStyle/>
          <a:p>
            <a:pPr algn="ctr">
              <a:spcAft>
                <a:spcPts val="100"/>
              </a:spcAft>
            </a:pPr>
            <a:r>
              <a:rPr sz="1060" b="0">
                <a:solidFill>
                  <a:srgbClr val="2D2D2D"/>
                </a:solidFill>
                <a:latin typeface="Arial"/>
              </a:rPr>
              <a:t>BitMoD PE area reduction</a:t>
            </a:r>
          </a:p>
          <a:p>
            <a:pPr algn="ctr">
              <a:spcAft>
                <a:spcPts val="100"/>
              </a:spcAft>
            </a:pPr>
            <a:r>
              <a:rPr sz="1060" b="0">
                <a:solidFill>
                  <a:srgbClr val="2D2D2D"/>
                </a:solidFill>
                <a:latin typeface="Arial"/>
              </a:rPr>
              <a:t>vs regular FP16 PE</a:t>
            </a:r>
          </a:p>
        </p:txBody>
      </p:sp>
      <p:sp>
        <p:nvSpPr>
          <p:cNvPr id="21" name="Rounded Rectangle 20"/>
          <p:cNvSpPr/>
          <p:nvPr/>
        </p:nvSpPr>
        <p:spPr>
          <a:xfrm>
            <a:off x="777240" y="2971800"/>
            <a:ext cx="4892040" cy="2651760"/>
          </a:xfrm>
          <a:prstGeom prst="roundRect">
            <a:avLst/>
          </a:prstGeom>
          <a:solidFill>
            <a:srgbClr val="FFFFFF"/>
          </a:solidFill>
          <a:ln w="1016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77240" y="2971800"/>
            <a:ext cx="4892040" cy="310896"/>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017520"/>
            <a:ext cx="4800600" cy="256032"/>
          </a:xfrm>
          <a:prstGeom prst="rect">
            <a:avLst/>
          </a:prstGeom>
          <a:noFill/>
        </p:spPr>
        <p:txBody>
          <a:bodyPr wrap="square" lIns="0" tIns="0" rIns="0" bIns="0">
            <a:spAutoFit/>
          </a:bodyPr>
          <a:lstStyle/>
          <a:p>
            <a:pPr algn="ctr">
              <a:spcAft>
                <a:spcPts val="100"/>
              </a:spcAft>
            </a:pPr>
            <a:r>
              <a:rPr sz="1100" b="1">
                <a:solidFill>
                  <a:srgbClr val="FFFFFF"/>
                </a:solidFill>
                <a:latin typeface="Arial"/>
              </a:rPr>
              <a:t>Where energy is saved</a:t>
            </a:r>
          </a:p>
        </p:txBody>
      </p:sp>
      <p:sp>
        <p:nvSpPr>
          <p:cNvPr id="24" name="TextBox 23"/>
          <p:cNvSpPr txBox="1"/>
          <p:nvPr/>
        </p:nvSpPr>
        <p:spPr>
          <a:xfrm>
            <a:off x="1097280" y="3520440"/>
            <a:ext cx="4343400" cy="1234440"/>
          </a:xfrm>
          <a:prstGeom prst="rect">
            <a:avLst/>
          </a:prstGeom>
          <a:noFill/>
        </p:spPr>
        <p:txBody>
          <a:bodyPr wrap="square" lIns="0" tIns="0" rIns="0" bIns="0">
            <a:spAutoFit/>
          </a:bodyPr>
          <a:lstStyle/>
          <a:p>
            <a:pPr algn="ctr">
              <a:spcAft>
                <a:spcPts val="100"/>
              </a:spcAft>
            </a:pPr>
            <a:r>
              <a:rPr sz="1350" b="0">
                <a:solidFill>
                  <a:srgbClr val="2D2D2D"/>
                </a:solidFill>
                <a:latin typeface="Arial"/>
              </a:rPr>
              <a:t>Low-precision Weight</a:t>
            </a:r>
          </a:p>
          <a:p>
            <a:pPr algn="ctr">
              <a:spcAft>
                <a:spcPts val="100"/>
              </a:spcAft>
            </a:pPr>
            <a:r>
              <a:rPr sz="1350" b="0">
                <a:solidFill>
                  <a:srgbClr val="2D2D2D"/>
                </a:solidFill>
                <a:latin typeface="Arial"/>
              </a:rPr>
              <a:t>        ↓</a:t>
            </a:r>
          </a:p>
          <a:p>
            <a:pPr algn="ctr">
              <a:spcAft>
                <a:spcPts val="100"/>
              </a:spcAft>
            </a:pPr>
            <a:r>
              <a:rPr sz="1350" b="0">
                <a:solidFill>
                  <a:srgbClr val="2D2D2D"/>
                </a:solidFill>
                <a:latin typeface="Arial"/>
              </a:rPr>
              <a:t>DRAM weight traffic decreases</a:t>
            </a:r>
          </a:p>
          <a:p>
            <a:pPr algn="ctr">
              <a:spcAft>
                <a:spcPts val="100"/>
              </a:spcAft>
            </a:pPr>
            <a:endParaRPr sz="1350" b="0">
              <a:solidFill>
                <a:srgbClr val="2D2D2D"/>
              </a:solidFill>
              <a:latin typeface="Arial"/>
            </a:endParaRPr>
          </a:p>
          <a:p>
            <a:pPr algn="ctr">
              <a:spcAft>
                <a:spcPts val="100"/>
              </a:spcAft>
            </a:pPr>
            <a:r>
              <a:rPr sz="1350" b="0">
                <a:solidFill>
                  <a:srgbClr val="2D2D2D"/>
                </a:solidFill>
                <a:latin typeface="Arial"/>
              </a:rPr>
              <a:t>Bit-serial PE</a:t>
            </a:r>
          </a:p>
          <a:p>
            <a:pPr algn="ctr">
              <a:spcAft>
                <a:spcPts val="100"/>
              </a:spcAft>
            </a:pPr>
            <a:r>
              <a:rPr sz="1350" b="0">
                <a:solidFill>
                  <a:srgbClr val="2D2D2D"/>
                </a:solidFill>
                <a:latin typeface="Arial"/>
              </a:rPr>
              <a:t>        ↓</a:t>
            </a:r>
          </a:p>
          <a:p>
            <a:pPr algn="ctr">
              <a:spcAft>
                <a:spcPts val="100"/>
              </a:spcAft>
            </a:pPr>
            <a:r>
              <a:rPr sz="1350" b="0">
                <a:solidFill>
                  <a:srgbClr val="2D2D2D"/>
                </a:solidFill>
                <a:latin typeface="Arial"/>
              </a:rPr>
              <a:t>Compute energy decreases</a:t>
            </a:r>
          </a:p>
        </p:txBody>
      </p:sp>
      <p:sp>
        <p:nvSpPr>
          <p:cNvPr id="25" name="Rounded Rectangle 24"/>
          <p:cNvSpPr/>
          <p:nvPr/>
        </p:nvSpPr>
        <p:spPr>
          <a:xfrm>
            <a:off x="6217920" y="2971800"/>
            <a:ext cx="4892040" cy="2651760"/>
          </a:xfrm>
          <a:prstGeom prst="roundRect">
            <a:avLst/>
          </a:prstGeom>
          <a:solidFill>
            <a:srgbClr val="FFFFFF"/>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2971800"/>
            <a:ext cx="4892040" cy="310896"/>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63640" y="3017520"/>
            <a:ext cx="4800600" cy="256032"/>
          </a:xfrm>
          <a:prstGeom prst="rect">
            <a:avLst/>
          </a:prstGeom>
          <a:noFill/>
        </p:spPr>
        <p:txBody>
          <a:bodyPr wrap="square" lIns="0" tIns="0" rIns="0" bIns="0">
            <a:spAutoFit/>
          </a:bodyPr>
          <a:lstStyle/>
          <a:p>
            <a:pPr algn="ctr">
              <a:spcAft>
                <a:spcPts val="100"/>
              </a:spcAft>
            </a:pPr>
            <a:r>
              <a:rPr sz="1100" b="1">
                <a:solidFill>
                  <a:srgbClr val="FFFFFF"/>
                </a:solidFill>
                <a:latin typeface="Arial"/>
              </a:rPr>
              <a:t>Why bit-serial is flexible</a:t>
            </a:r>
          </a:p>
        </p:txBody>
      </p:sp>
      <p:graphicFrame>
        <p:nvGraphicFramePr>
          <p:cNvPr id="28" name="Table 27"/>
          <p:cNvGraphicFramePr>
            <a:graphicFrameLocks noGrp="1"/>
          </p:cNvGraphicFramePr>
          <p:nvPr/>
        </p:nvGraphicFramePr>
        <p:xfrm>
          <a:off x="6812280" y="3383280"/>
          <a:ext cx="3749040" cy="173736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347472">
                <a:tc>
                  <a:txBody>
                    <a:bodyPr/>
                    <a:lstStyle/>
                    <a:p>
                      <a:pPr algn="ctr"/>
                      <a:r>
                        <a:rPr sz="1040" b="1">
                          <a:solidFill>
                            <a:srgbClr val="FFFFFF"/>
                          </a:solidFill>
                          <a:latin typeface="Arial"/>
                        </a:rPr>
                        <a:t>Type</a:t>
                      </a:r>
                    </a:p>
                  </a:txBody>
                  <a:tcPr marL="27432" marR="27432" marT="18288" marB="18288">
                    <a:solidFill>
                      <a:srgbClr val="00245D"/>
                    </a:solidFill>
                  </a:tcPr>
                </a:tc>
                <a:tc>
                  <a:txBody>
                    <a:bodyPr/>
                    <a:lstStyle/>
                    <a:p>
                      <a:pPr algn="ctr"/>
                      <a:r>
                        <a:rPr sz="1040" b="1">
                          <a:solidFill>
                            <a:srgbClr val="FFFFFF"/>
                          </a:solidFill>
                          <a:latin typeface="Arial"/>
                        </a:rPr>
                        <a:t>Terms</a:t>
                      </a:r>
                    </a:p>
                  </a:txBody>
                  <a:tcPr marL="27432" marR="27432" marT="18288" marB="18288">
                    <a:solidFill>
                      <a:srgbClr val="00245D"/>
                    </a:solidFill>
                  </a:tcPr>
                </a:tc>
                <a:tc>
                  <a:txBody>
                    <a:bodyPr/>
                    <a:lstStyle/>
                    <a:p>
                      <a:pPr algn="ctr"/>
                      <a:r>
                        <a:rPr sz="1040" b="1">
                          <a:solidFill>
                            <a:srgbClr val="FFFFFF"/>
                          </a:solidFill>
                          <a:latin typeface="Arial"/>
                        </a:rPr>
                        <a:t>Cycle effect</a:t>
                      </a:r>
                    </a:p>
                  </a:txBody>
                  <a:tcPr marL="27432" marR="27432" marT="18288" marB="18288">
                    <a:solidFill>
                      <a:srgbClr val="00245D"/>
                    </a:solidFill>
                  </a:tcPr>
                </a:tc>
                <a:extLst>
                  <a:ext uri="{0D108BD9-81ED-4DB2-BD59-A6C34878D82A}">
                    <a16:rowId xmlns:a16="http://schemas.microsoft.com/office/drawing/2014/main" val="10000"/>
                  </a:ext>
                </a:extLst>
              </a:tr>
              <a:tr h="347472">
                <a:tc>
                  <a:txBody>
                    <a:bodyPr/>
                    <a:lstStyle/>
                    <a:p>
                      <a:pPr algn="ctr"/>
                      <a:r>
                        <a:rPr sz="1040" b="0">
                          <a:solidFill>
                            <a:srgbClr val="2D2D2D"/>
                          </a:solidFill>
                          <a:latin typeface="Arial"/>
                        </a:rPr>
                        <a:t>INT8</a:t>
                      </a:r>
                    </a:p>
                  </a:txBody>
                  <a:tcPr marL="27432" marR="27432" marT="18288" marB="18288">
                    <a:solidFill>
                      <a:srgbClr val="FFFFFF"/>
                    </a:solidFill>
                  </a:tcPr>
                </a:tc>
                <a:tc>
                  <a:txBody>
                    <a:bodyPr/>
                    <a:lstStyle/>
                    <a:p>
                      <a:pPr algn="ctr"/>
                      <a:r>
                        <a:rPr sz="1040" b="0">
                          <a:solidFill>
                            <a:srgbClr val="2D2D2D"/>
                          </a:solidFill>
                          <a:latin typeface="Arial"/>
                        </a:rPr>
                        <a:t>4</a:t>
                      </a:r>
                    </a:p>
                  </a:txBody>
                  <a:tcPr marL="27432" marR="27432" marT="18288" marB="18288">
                    <a:solidFill>
                      <a:srgbClr val="FFFFFF"/>
                    </a:solidFill>
                  </a:tcPr>
                </a:tc>
                <a:tc>
                  <a:txBody>
                    <a:bodyPr/>
                    <a:lstStyle/>
                    <a:p>
                      <a:pPr algn="ctr"/>
                      <a:r>
                        <a:rPr sz="1040" b="0">
                          <a:solidFill>
                            <a:srgbClr val="2D2D2D"/>
                          </a:solidFill>
                          <a:latin typeface="Arial"/>
                        </a:rPr>
                        <a:t>baseline</a:t>
                      </a:r>
                    </a:p>
                  </a:txBody>
                  <a:tcPr marL="27432" marR="27432" marT="18288" marB="18288">
                    <a:solidFill>
                      <a:srgbClr val="FFFFFF"/>
                    </a:solidFill>
                  </a:tcPr>
                </a:tc>
                <a:extLst>
                  <a:ext uri="{0D108BD9-81ED-4DB2-BD59-A6C34878D82A}">
                    <a16:rowId xmlns:a16="http://schemas.microsoft.com/office/drawing/2014/main" val="10001"/>
                  </a:ext>
                </a:extLst>
              </a:tr>
              <a:tr h="347472">
                <a:tc>
                  <a:txBody>
                    <a:bodyPr/>
                    <a:lstStyle/>
                    <a:p>
                      <a:pPr algn="ctr"/>
                      <a:r>
                        <a:rPr sz="1040" b="0">
                          <a:solidFill>
                            <a:srgbClr val="2D2D2D"/>
                          </a:solidFill>
                          <a:latin typeface="Arial"/>
                        </a:rPr>
                        <a:t>INT6</a:t>
                      </a:r>
                    </a:p>
                  </a:txBody>
                  <a:tcPr marL="27432" marR="27432" marT="18288" marB="18288">
                    <a:solidFill>
                      <a:srgbClr val="F6F7F9"/>
                    </a:solidFill>
                  </a:tcPr>
                </a:tc>
                <a:tc>
                  <a:txBody>
                    <a:bodyPr/>
                    <a:lstStyle/>
                    <a:p>
                      <a:pPr algn="ctr"/>
                      <a:r>
                        <a:rPr sz="1040" b="0">
                          <a:solidFill>
                            <a:srgbClr val="2D2D2D"/>
                          </a:solidFill>
                          <a:latin typeface="Arial"/>
                        </a:rPr>
                        <a:t>3</a:t>
                      </a:r>
                    </a:p>
                  </a:txBody>
                  <a:tcPr marL="27432" marR="27432" marT="18288" marB="18288">
                    <a:solidFill>
                      <a:srgbClr val="F6F7F9"/>
                    </a:solidFill>
                  </a:tcPr>
                </a:tc>
                <a:tc>
                  <a:txBody>
                    <a:bodyPr/>
                    <a:lstStyle/>
                    <a:p>
                      <a:pPr algn="ctr"/>
                      <a:r>
                        <a:rPr sz="1040" b="0">
                          <a:solidFill>
                            <a:srgbClr val="2D2D2D"/>
                          </a:solidFill>
                          <a:latin typeface="Arial"/>
                        </a:rPr>
                        <a:t>1.33×</a:t>
                      </a:r>
                    </a:p>
                  </a:txBody>
                  <a:tcPr marL="27432" marR="27432" marT="18288" marB="18288">
                    <a:solidFill>
                      <a:srgbClr val="F6F7F9"/>
                    </a:solidFill>
                  </a:tcPr>
                </a:tc>
                <a:extLst>
                  <a:ext uri="{0D108BD9-81ED-4DB2-BD59-A6C34878D82A}">
                    <a16:rowId xmlns:a16="http://schemas.microsoft.com/office/drawing/2014/main" val="10002"/>
                  </a:ext>
                </a:extLst>
              </a:tr>
              <a:tr h="347472">
                <a:tc>
                  <a:txBody>
                    <a:bodyPr/>
                    <a:lstStyle/>
                    <a:p>
                      <a:pPr algn="ctr"/>
                      <a:r>
                        <a:rPr sz="1040" b="0">
                          <a:solidFill>
                            <a:srgbClr val="2D2D2D"/>
                          </a:solidFill>
                          <a:latin typeface="Arial"/>
                        </a:rPr>
                        <a:t>FP4</a:t>
                      </a:r>
                    </a:p>
                  </a:txBody>
                  <a:tcPr marL="27432" marR="27432" marT="18288" marB="18288">
                    <a:solidFill>
                      <a:srgbClr val="FFFFFF"/>
                    </a:solidFill>
                  </a:tcPr>
                </a:tc>
                <a:tc>
                  <a:txBody>
                    <a:bodyPr/>
                    <a:lstStyle/>
                    <a:p>
                      <a:pPr algn="ctr"/>
                      <a:r>
                        <a:rPr sz="1040" b="0">
                          <a:solidFill>
                            <a:srgbClr val="2D2D2D"/>
                          </a:solidFill>
                          <a:latin typeface="Arial"/>
                        </a:rPr>
                        <a:t>2</a:t>
                      </a:r>
                    </a:p>
                  </a:txBody>
                  <a:tcPr marL="27432" marR="27432" marT="18288" marB="18288">
                    <a:solidFill>
                      <a:srgbClr val="FFFFFF"/>
                    </a:solidFill>
                  </a:tcPr>
                </a:tc>
                <a:tc>
                  <a:txBody>
                    <a:bodyPr/>
                    <a:lstStyle/>
                    <a:p>
                      <a:pPr algn="ctr"/>
                      <a:r>
                        <a:rPr sz="1040" b="0">
                          <a:solidFill>
                            <a:srgbClr val="2D2D2D"/>
                          </a:solidFill>
                          <a:latin typeface="Arial"/>
                        </a:rPr>
                        <a:t>2×</a:t>
                      </a:r>
                    </a:p>
                  </a:txBody>
                  <a:tcPr marL="27432" marR="27432" marT="18288" marB="18288">
                    <a:solidFill>
                      <a:srgbClr val="FFFFFF"/>
                    </a:solidFill>
                  </a:tcPr>
                </a:tc>
                <a:extLst>
                  <a:ext uri="{0D108BD9-81ED-4DB2-BD59-A6C34878D82A}">
                    <a16:rowId xmlns:a16="http://schemas.microsoft.com/office/drawing/2014/main" val="10003"/>
                  </a:ext>
                </a:extLst>
              </a:tr>
              <a:tr h="347472">
                <a:tc>
                  <a:txBody>
                    <a:bodyPr/>
                    <a:lstStyle/>
                    <a:p>
                      <a:pPr algn="ctr"/>
                      <a:r>
                        <a:rPr sz="1040" b="0">
                          <a:solidFill>
                            <a:srgbClr val="2D2D2D"/>
                          </a:solidFill>
                          <a:latin typeface="Arial"/>
                        </a:rPr>
                        <a:t>FP3</a:t>
                      </a:r>
                    </a:p>
                  </a:txBody>
                  <a:tcPr marL="27432" marR="27432" marT="18288" marB="18288">
                    <a:solidFill>
                      <a:srgbClr val="F6F7F9"/>
                    </a:solidFill>
                  </a:tcPr>
                </a:tc>
                <a:tc>
                  <a:txBody>
                    <a:bodyPr/>
                    <a:lstStyle/>
                    <a:p>
                      <a:pPr algn="ctr"/>
                      <a:r>
                        <a:rPr sz="1040" b="0">
                          <a:solidFill>
                            <a:srgbClr val="2D2D2D"/>
                          </a:solidFill>
                          <a:latin typeface="Arial"/>
                        </a:rPr>
                        <a:t>2</a:t>
                      </a:r>
                    </a:p>
                  </a:txBody>
                  <a:tcPr marL="27432" marR="27432" marT="18288" marB="18288">
                    <a:solidFill>
                      <a:srgbClr val="F6F7F9"/>
                    </a:solidFill>
                  </a:tcPr>
                </a:tc>
                <a:tc>
                  <a:txBody>
                    <a:bodyPr/>
                    <a:lstStyle/>
                    <a:p>
                      <a:pPr algn="ctr"/>
                      <a:r>
                        <a:rPr sz="1040" b="0" dirty="0">
                          <a:solidFill>
                            <a:srgbClr val="2D2D2D"/>
                          </a:solidFill>
                          <a:latin typeface="Arial"/>
                        </a:rPr>
                        <a:t>2×</a:t>
                      </a:r>
                    </a:p>
                  </a:txBody>
                  <a:tcPr marL="27432" marR="27432" marT="18288" marB="18288">
                    <a:solidFill>
                      <a:srgbClr val="F6F7F9"/>
                    </a:solidFill>
                  </a:tcPr>
                </a:tc>
                <a:extLst>
                  <a:ext uri="{0D108BD9-81ED-4DB2-BD59-A6C34878D82A}">
                    <a16:rowId xmlns:a16="http://schemas.microsoft.com/office/drawing/2014/main" val="10004"/>
                  </a:ext>
                </a:extLst>
              </a:tr>
            </a:tbl>
          </a:graphicData>
        </a:graphic>
      </p:graphicFrame>
      <p:sp>
        <p:nvSpPr>
          <p:cNvPr id="29" name="TextBox 28"/>
          <p:cNvSpPr txBox="1"/>
          <p:nvPr/>
        </p:nvSpPr>
        <p:spPr>
          <a:xfrm>
            <a:off x="6537960" y="5120640"/>
            <a:ext cx="4251960" cy="228600"/>
          </a:xfrm>
          <a:prstGeom prst="rect">
            <a:avLst/>
          </a:prstGeom>
          <a:noFill/>
        </p:spPr>
        <p:txBody>
          <a:bodyPr wrap="square" lIns="0" tIns="0" rIns="0" bIns="0">
            <a:spAutoFit/>
          </a:bodyPr>
          <a:lstStyle/>
          <a:p>
            <a:pPr algn="ctr">
              <a:spcAft>
                <a:spcPts val="100"/>
              </a:spcAft>
            </a:pPr>
            <a:r>
              <a:rPr sz="1019" b="1">
                <a:solidFill>
                  <a:srgbClr val="00245D"/>
                </a:solidFill>
                <a:latin typeface="Arial"/>
              </a:rPr>
              <a:t>Same PE, different cycle count: no separate hardware path for every precision.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4048"/>
            <a:ext cx="10424160" cy="292608"/>
          </a:xfrm>
          <a:prstGeom prst="rect">
            <a:avLst/>
          </a:prstGeom>
          <a:noFill/>
        </p:spPr>
        <p:txBody>
          <a:bodyPr wrap="none">
            <a:spAutoFit/>
          </a:bodyPr>
          <a:lstStyle/>
          <a:p>
            <a:r>
              <a:rPr sz="2000" b="1">
                <a:solidFill>
                  <a:srgbClr val="000000"/>
                </a:solidFill>
                <a:latin typeface="Arial"/>
              </a:rPr>
              <a:t>Evaluation Summary: What the results prove</a:t>
            </a:r>
          </a:p>
        </p:txBody>
      </p:sp>
      <p:sp>
        <p:nvSpPr>
          <p:cNvPr id="3" name="Rectangle 2"/>
          <p:cNvSpPr/>
          <p:nvPr/>
        </p:nvSpPr>
        <p:spPr>
          <a:xfrm>
            <a:off x="493776" y="804672"/>
            <a:ext cx="10698480" cy="22860"/>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28232"/>
            <a:ext cx="12191695" cy="429768"/>
          </a:xfrm>
          <a:prstGeom prst="rect">
            <a:avLst/>
          </a:prstGeom>
          <a:solidFill>
            <a:srgbClr val="00245D"/>
          </a:solidFill>
          <a:ln>
            <a:solidFill>
              <a:srgbClr val="0024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_logo_1_6.png"/>
          <p:cNvPicPr>
            <a:picLocks noChangeAspect="1"/>
          </p:cNvPicPr>
          <p:nvPr/>
        </p:nvPicPr>
        <p:blipFill>
          <a:blip r:embed="rId2"/>
          <a:stretch>
            <a:fillRect/>
          </a:stretch>
        </p:blipFill>
        <p:spPr>
          <a:xfrm>
            <a:off x="45720" y="6565392"/>
            <a:ext cx="1234440" cy="256032"/>
          </a:xfrm>
          <a:prstGeom prst="rect">
            <a:avLst/>
          </a:prstGeom>
        </p:spPr>
      </p:pic>
      <p:sp>
        <p:nvSpPr>
          <p:cNvPr id="7" name="TextBox 6"/>
          <p:cNvSpPr txBox="1"/>
          <p:nvPr/>
        </p:nvSpPr>
        <p:spPr>
          <a:xfrm>
            <a:off x="11564315" y="6547104"/>
            <a:ext cx="325731" cy="246221"/>
          </a:xfrm>
          <a:prstGeom prst="rect">
            <a:avLst/>
          </a:prstGeom>
          <a:noFill/>
        </p:spPr>
        <p:txBody>
          <a:bodyPr wrap="none">
            <a:spAutoFit/>
          </a:bodyPr>
          <a:lstStyle/>
          <a:p>
            <a:pPr algn="ctr"/>
            <a:r>
              <a:rPr sz="1000" b="1" dirty="0">
                <a:solidFill>
                  <a:srgbClr val="FFFFFF"/>
                </a:solidFill>
                <a:latin typeface="Arial"/>
              </a:rPr>
              <a:t>8</a:t>
            </a:r>
            <a:r>
              <a:rPr lang="en-US" sz="1000" b="1" dirty="0">
                <a:solidFill>
                  <a:srgbClr val="FFFFFF"/>
                </a:solidFill>
                <a:latin typeface="Arial"/>
              </a:rPr>
              <a:t>1</a:t>
            </a:r>
            <a:endParaRPr sz="1000" b="1" dirty="0">
              <a:solidFill>
                <a:srgbClr val="FFFFFF"/>
              </a:solidFill>
              <a:latin typeface="Arial"/>
            </a:endParaRPr>
          </a:p>
        </p:txBody>
      </p:sp>
      <p:sp>
        <p:nvSpPr>
          <p:cNvPr id="8" name="TextBox 7"/>
          <p:cNvSpPr txBox="1"/>
          <p:nvPr/>
        </p:nvSpPr>
        <p:spPr>
          <a:xfrm>
            <a:off x="594360" y="932688"/>
            <a:ext cx="10698480" cy="274320"/>
          </a:xfrm>
          <a:prstGeom prst="rect">
            <a:avLst/>
          </a:prstGeom>
          <a:noFill/>
        </p:spPr>
        <p:txBody>
          <a:bodyPr wrap="square" lIns="0" tIns="0" rIns="0" bIns="0">
            <a:spAutoFit/>
          </a:bodyPr>
          <a:lstStyle/>
          <a:p>
            <a:pPr algn="l">
              <a:spcAft>
                <a:spcPts val="100"/>
              </a:spcAft>
            </a:pPr>
            <a:r>
              <a:rPr sz="1300" b="0">
                <a:solidFill>
                  <a:srgbClr val="2D2D2D"/>
                </a:solidFill>
                <a:latin typeface="Arial"/>
              </a:rPr>
              <a:t>The evaluation supports BitMoD as an algorithm-hardware co-design: accurate low-bit quantization plus efficient bit-serial execution.</a:t>
            </a:r>
          </a:p>
        </p:txBody>
      </p:sp>
      <p:graphicFrame>
        <p:nvGraphicFramePr>
          <p:cNvPr id="9" name="Table 8"/>
          <p:cNvGraphicFramePr>
            <a:graphicFrameLocks noGrp="1"/>
          </p:cNvGraphicFramePr>
          <p:nvPr>
            <p:extLst>
              <p:ext uri="{D42A27DB-BD31-4B8C-83A1-F6EECF244321}">
                <p14:modId xmlns:p14="http://schemas.microsoft.com/office/powerpoint/2010/main" val="3471616275"/>
              </p:ext>
            </p:extLst>
          </p:nvPr>
        </p:nvGraphicFramePr>
        <p:xfrm>
          <a:off x="777240" y="1581912"/>
          <a:ext cx="10287000"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365760">
                <a:tc>
                  <a:txBody>
                    <a:bodyPr/>
                    <a:lstStyle/>
                    <a:p>
                      <a:pPr algn="ctr"/>
                      <a:r>
                        <a:rPr sz="1030" b="1">
                          <a:solidFill>
                            <a:srgbClr val="FFFFFF"/>
                          </a:solidFill>
                          <a:latin typeface="Arial"/>
                        </a:rPr>
                        <a:t>Item</a:t>
                      </a:r>
                    </a:p>
                  </a:txBody>
                  <a:tcPr marL="27432" marR="27432" marT="18288" marB="18288">
                    <a:solidFill>
                      <a:srgbClr val="00245D"/>
                    </a:solidFill>
                  </a:tcPr>
                </a:tc>
                <a:tc>
                  <a:txBody>
                    <a:bodyPr/>
                    <a:lstStyle/>
                    <a:p>
                      <a:pPr algn="ctr"/>
                      <a:r>
                        <a:rPr sz="1030" b="1" dirty="0">
                          <a:solidFill>
                            <a:srgbClr val="FFFFFF"/>
                          </a:solidFill>
                          <a:latin typeface="Arial"/>
                        </a:rPr>
                        <a:t>Reported result</a:t>
                      </a:r>
                    </a:p>
                  </a:txBody>
                  <a:tcPr marL="27432" marR="27432" marT="18288" marB="18288">
                    <a:solidFill>
                      <a:srgbClr val="00245D"/>
                    </a:solidFill>
                  </a:tcPr>
                </a:tc>
                <a:extLst>
                  <a:ext uri="{0D108BD9-81ED-4DB2-BD59-A6C34878D82A}">
                    <a16:rowId xmlns:a16="http://schemas.microsoft.com/office/drawing/2014/main" val="10000"/>
                  </a:ext>
                </a:extLst>
              </a:tr>
              <a:tr h="365760">
                <a:tc>
                  <a:txBody>
                    <a:bodyPr/>
                    <a:lstStyle/>
                    <a:p>
                      <a:pPr algn="ctr"/>
                      <a:r>
                        <a:rPr sz="1030" b="0">
                          <a:solidFill>
                            <a:srgbClr val="2D2D2D"/>
                          </a:solidFill>
                          <a:latin typeface="Arial"/>
                        </a:rPr>
                        <a:t>4-bit accuracy</a:t>
                      </a:r>
                    </a:p>
                  </a:txBody>
                  <a:tcPr marL="27432" marR="27432" marT="18288" marB="18288">
                    <a:solidFill>
                      <a:srgbClr val="FFFFFF"/>
                    </a:solidFill>
                  </a:tcPr>
                </a:tc>
                <a:tc>
                  <a:txBody>
                    <a:bodyPr/>
                    <a:lstStyle/>
                    <a:p>
                      <a:pPr algn="ctr"/>
                      <a:r>
                        <a:rPr sz="1030" b="0" dirty="0">
                          <a:solidFill>
                            <a:srgbClr val="2D2D2D"/>
                          </a:solidFill>
                          <a:latin typeface="Arial"/>
                        </a:rPr>
                        <a:t>FP16 average accuracy loss &lt; 0.5%</a:t>
                      </a:r>
                    </a:p>
                  </a:txBody>
                  <a:tcPr marL="27432" marR="27432" marT="18288" marB="18288">
                    <a:solidFill>
                      <a:srgbClr val="FFFFFF"/>
                    </a:solidFill>
                  </a:tcPr>
                </a:tc>
                <a:extLst>
                  <a:ext uri="{0D108BD9-81ED-4DB2-BD59-A6C34878D82A}">
                    <a16:rowId xmlns:a16="http://schemas.microsoft.com/office/drawing/2014/main" val="10001"/>
                  </a:ext>
                </a:extLst>
              </a:tr>
              <a:tr h="365760">
                <a:tc>
                  <a:txBody>
                    <a:bodyPr/>
                    <a:lstStyle/>
                    <a:p>
                      <a:pPr algn="ctr"/>
                      <a:r>
                        <a:rPr sz="1030" b="0">
                          <a:solidFill>
                            <a:srgbClr val="2D2D2D"/>
                          </a:solidFill>
                          <a:latin typeface="Arial"/>
                        </a:rPr>
                        <a:t>4-bit generative</a:t>
                      </a:r>
                    </a:p>
                  </a:txBody>
                  <a:tcPr marL="27432" marR="27432" marT="18288" marB="18288">
                    <a:solidFill>
                      <a:srgbClr val="F6F7F9"/>
                    </a:solidFill>
                  </a:tcPr>
                </a:tc>
                <a:tc>
                  <a:txBody>
                    <a:bodyPr/>
                    <a:lstStyle/>
                    <a:p>
                      <a:pPr algn="ctr"/>
                      <a:r>
                        <a:rPr sz="1030" b="0">
                          <a:solidFill>
                            <a:srgbClr val="2D2D2D"/>
                          </a:solidFill>
                          <a:latin typeface="Arial"/>
                        </a:rPr>
                        <a:t>Average PPL loss &lt; 0.5</a:t>
                      </a:r>
                    </a:p>
                  </a:txBody>
                  <a:tcPr marL="27432" marR="27432" marT="18288" marB="18288">
                    <a:solidFill>
                      <a:srgbClr val="F6F7F9"/>
                    </a:solidFill>
                  </a:tcPr>
                </a:tc>
                <a:extLst>
                  <a:ext uri="{0D108BD9-81ED-4DB2-BD59-A6C34878D82A}">
                    <a16:rowId xmlns:a16="http://schemas.microsoft.com/office/drawing/2014/main" val="10002"/>
                  </a:ext>
                </a:extLst>
              </a:tr>
              <a:tr h="365760">
                <a:tc>
                  <a:txBody>
                    <a:bodyPr/>
                    <a:lstStyle/>
                    <a:p>
                      <a:pPr algn="ctr"/>
                      <a:r>
                        <a:rPr sz="1030" b="0">
                          <a:solidFill>
                            <a:srgbClr val="2D2D2D"/>
                          </a:solidFill>
                          <a:latin typeface="Arial"/>
                        </a:rPr>
                        <a:t>3-bit generative</a:t>
                      </a:r>
                    </a:p>
                  </a:txBody>
                  <a:tcPr marL="27432" marR="27432" marT="18288" marB="18288">
                    <a:solidFill>
                      <a:srgbClr val="FFFFFF"/>
                    </a:solidFill>
                  </a:tcPr>
                </a:tc>
                <a:tc>
                  <a:txBody>
                    <a:bodyPr/>
                    <a:lstStyle/>
                    <a:p>
                      <a:pPr algn="ctr"/>
                      <a:r>
                        <a:rPr sz="1030" b="0">
                          <a:solidFill>
                            <a:srgbClr val="2D2D2D"/>
                          </a:solidFill>
                          <a:latin typeface="Arial"/>
                        </a:rPr>
                        <a:t>Average PPL loss &lt; 3</a:t>
                      </a:r>
                    </a:p>
                  </a:txBody>
                  <a:tcPr marL="27432" marR="27432" marT="18288" marB="18288">
                    <a:solidFill>
                      <a:srgbClr val="FFFFFF"/>
                    </a:solidFill>
                  </a:tcPr>
                </a:tc>
                <a:extLst>
                  <a:ext uri="{0D108BD9-81ED-4DB2-BD59-A6C34878D82A}">
                    <a16:rowId xmlns:a16="http://schemas.microsoft.com/office/drawing/2014/main" val="10003"/>
                  </a:ext>
                </a:extLst>
              </a:tr>
              <a:tr h="365760">
                <a:tc>
                  <a:txBody>
                    <a:bodyPr/>
                    <a:lstStyle/>
                    <a:p>
                      <a:pPr algn="ctr"/>
                      <a:r>
                        <a:rPr sz="1030" b="1">
                          <a:solidFill>
                            <a:srgbClr val="2D2D2D"/>
                          </a:solidFill>
                          <a:latin typeface="Arial"/>
                        </a:rPr>
                        <a:t>FP16 speedup</a:t>
                      </a:r>
                    </a:p>
                  </a:txBody>
                  <a:tcPr marL="27432" marR="27432" marT="18288" marB="18288">
                    <a:solidFill>
                      <a:srgbClr val="EEFAEE"/>
                    </a:solidFill>
                  </a:tcPr>
                </a:tc>
                <a:tc>
                  <a:txBody>
                    <a:bodyPr/>
                    <a:lstStyle/>
                    <a:p>
                      <a:pPr algn="ctr"/>
                      <a:r>
                        <a:rPr sz="1030" b="1">
                          <a:solidFill>
                            <a:srgbClr val="2D2D2D"/>
                          </a:solidFill>
                          <a:latin typeface="Arial"/>
                        </a:rPr>
                        <a:t>1.99× discriminative / 2.41× generative</a:t>
                      </a:r>
                    </a:p>
                  </a:txBody>
                  <a:tcPr marL="27432" marR="27432" marT="18288" marB="18288">
                    <a:solidFill>
                      <a:srgbClr val="EEFAEE"/>
                    </a:solidFill>
                  </a:tcPr>
                </a:tc>
                <a:extLst>
                  <a:ext uri="{0D108BD9-81ED-4DB2-BD59-A6C34878D82A}">
                    <a16:rowId xmlns:a16="http://schemas.microsoft.com/office/drawing/2014/main" val="10004"/>
                  </a:ext>
                </a:extLst>
              </a:tr>
              <a:tr h="365760">
                <a:tc>
                  <a:txBody>
                    <a:bodyPr/>
                    <a:lstStyle/>
                    <a:p>
                      <a:pPr algn="ctr"/>
                      <a:r>
                        <a:rPr sz="1030" b="1">
                          <a:solidFill>
                            <a:srgbClr val="2D2D2D"/>
                          </a:solidFill>
                          <a:latin typeface="Arial"/>
                        </a:rPr>
                        <a:t>ANT / OliVe speedup</a:t>
                      </a:r>
                    </a:p>
                  </a:txBody>
                  <a:tcPr marL="27432" marR="27432" marT="18288" marB="18288">
                    <a:solidFill>
                      <a:srgbClr val="EEFAEE"/>
                    </a:solidFill>
                  </a:tcPr>
                </a:tc>
                <a:tc>
                  <a:txBody>
                    <a:bodyPr/>
                    <a:lstStyle/>
                    <a:p>
                      <a:pPr algn="ctr"/>
                      <a:r>
                        <a:rPr sz="1030" b="1">
                          <a:solidFill>
                            <a:srgbClr val="2D2D2D"/>
                          </a:solidFill>
                          <a:latin typeface="Arial"/>
                        </a:rPr>
                        <a:t>1.69× over ANT / 1.48× over OliVe</a:t>
                      </a:r>
                    </a:p>
                  </a:txBody>
                  <a:tcPr marL="27432" marR="27432" marT="18288" marB="18288">
                    <a:solidFill>
                      <a:srgbClr val="EEFAEE"/>
                    </a:solidFill>
                  </a:tcPr>
                </a:tc>
                <a:extLst>
                  <a:ext uri="{0D108BD9-81ED-4DB2-BD59-A6C34878D82A}">
                    <a16:rowId xmlns:a16="http://schemas.microsoft.com/office/drawing/2014/main" val="10005"/>
                  </a:ext>
                </a:extLst>
              </a:tr>
              <a:tr h="365760">
                <a:tc>
                  <a:txBody>
                    <a:bodyPr/>
                    <a:lstStyle/>
                    <a:p>
                      <a:pPr algn="ctr"/>
                      <a:r>
                        <a:rPr sz="1030" b="1">
                          <a:solidFill>
                            <a:srgbClr val="2D2D2D"/>
                          </a:solidFill>
                          <a:latin typeface="Arial"/>
                        </a:rPr>
                        <a:t>Energy efficiency</a:t>
                      </a:r>
                    </a:p>
                  </a:txBody>
                  <a:tcPr marL="27432" marR="27432" marT="18288" marB="18288">
                    <a:solidFill>
                      <a:srgbClr val="EEFAEE"/>
                    </a:solidFill>
                  </a:tcPr>
                </a:tc>
                <a:tc>
                  <a:txBody>
                    <a:bodyPr/>
                    <a:lstStyle/>
                    <a:p>
                      <a:pPr algn="ctr"/>
                      <a:r>
                        <a:rPr sz="1030" b="1">
                          <a:solidFill>
                            <a:srgbClr val="2D2D2D"/>
                          </a:solidFill>
                          <a:latin typeface="Arial"/>
                        </a:rPr>
                        <a:t>2.31× over FP16 / 1.48× over ANT / 1.31× over OliVe</a:t>
                      </a:r>
                    </a:p>
                  </a:txBody>
                  <a:tcPr marL="27432" marR="27432" marT="18288" marB="18288">
                    <a:solidFill>
                      <a:srgbClr val="EEFAEE"/>
                    </a:solidFill>
                  </a:tcPr>
                </a:tc>
                <a:extLst>
                  <a:ext uri="{0D108BD9-81ED-4DB2-BD59-A6C34878D82A}">
                    <a16:rowId xmlns:a16="http://schemas.microsoft.com/office/drawing/2014/main" val="10006"/>
                  </a:ext>
                </a:extLst>
              </a:tr>
              <a:tr h="365760">
                <a:tc>
                  <a:txBody>
                    <a:bodyPr/>
                    <a:lstStyle/>
                    <a:p>
                      <a:pPr algn="ctr"/>
                      <a:r>
                        <a:rPr sz="1030" b="0">
                          <a:solidFill>
                            <a:srgbClr val="2D2D2D"/>
                          </a:solidFill>
                          <a:latin typeface="Arial"/>
                        </a:rPr>
                        <a:t>Hardware area</a:t>
                      </a:r>
                    </a:p>
                  </a:txBody>
                  <a:tcPr marL="27432" marR="27432" marT="18288" marB="18288">
                    <a:solidFill>
                      <a:srgbClr val="FFFFFF"/>
                    </a:solidFill>
                  </a:tcPr>
                </a:tc>
                <a:tc>
                  <a:txBody>
                    <a:bodyPr/>
                    <a:lstStyle/>
                    <a:p>
                      <a:pPr algn="ctr"/>
                      <a:r>
                        <a:rPr sz="1030" b="0">
                          <a:solidFill>
                            <a:srgbClr val="2D2D2D"/>
                          </a:solidFill>
                          <a:latin typeface="Arial"/>
                        </a:rPr>
                        <a:t>BitMoD PE uses about 24% less area than FP16 PE</a:t>
                      </a:r>
                    </a:p>
                  </a:txBody>
                  <a:tcPr marL="27432" marR="27432" marT="18288" marB="18288">
                    <a:solidFill>
                      <a:srgbClr val="FFFFFF"/>
                    </a:solidFill>
                  </a:tcPr>
                </a:tc>
                <a:extLst>
                  <a:ext uri="{0D108BD9-81ED-4DB2-BD59-A6C34878D82A}">
                    <a16:rowId xmlns:a16="http://schemas.microsoft.com/office/drawing/2014/main" val="10007"/>
                  </a:ext>
                </a:extLst>
              </a:tr>
              <a:tr h="365760">
                <a:tc>
                  <a:txBody>
                    <a:bodyPr/>
                    <a:lstStyle/>
                    <a:p>
                      <a:pPr algn="ctr"/>
                      <a:r>
                        <a:rPr sz="1030" b="0">
                          <a:solidFill>
                            <a:srgbClr val="2D2D2D"/>
                          </a:solidFill>
                          <a:latin typeface="Arial"/>
                        </a:rPr>
                        <a:t>Compatibility</a:t>
                      </a:r>
                    </a:p>
                  </a:txBody>
                  <a:tcPr marL="27432" marR="27432" marT="18288" marB="18288">
                    <a:solidFill>
                      <a:srgbClr val="F6F7F9"/>
                    </a:solidFill>
                  </a:tcPr>
                </a:tc>
                <a:tc>
                  <a:txBody>
                    <a:bodyPr/>
                    <a:lstStyle/>
                    <a:p>
                      <a:pPr algn="ctr"/>
                      <a:r>
                        <a:rPr sz="1030" b="0" dirty="0">
                          <a:solidFill>
                            <a:srgbClr val="2D2D2D"/>
                          </a:solidFill>
                          <a:latin typeface="Arial"/>
                        </a:rPr>
                        <a:t>AWQ, </a:t>
                      </a:r>
                      <a:r>
                        <a:rPr sz="1030" b="0" dirty="0" err="1">
                          <a:solidFill>
                            <a:srgbClr val="2D2D2D"/>
                          </a:solidFill>
                          <a:latin typeface="Arial"/>
                        </a:rPr>
                        <a:t>OmniQuant</a:t>
                      </a:r>
                      <a:r>
                        <a:rPr sz="1030" b="0" dirty="0">
                          <a:solidFill>
                            <a:srgbClr val="2D2D2D"/>
                          </a:solidFill>
                          <a:latin typeface="Arial"/>
                        </a:rPr>
                        <a:t>, </a:t>
                      </a:r>
                      <a:r>
                        <a:rPr sz="1030" b="0" dirty="0" err="1">
                          <a:solidFill>
                            <a:srgbClr val="2D2D2D"/>
                          </a:solidFill>
                          <a:latin typeface="Arial"/>
                        </a:rPr>
                        <a:t>SmoothQuant</a:t>
                      </a:r>
                      <a:r>
                        <a:rPr sz="1030" b="0" dirty="0">
                          <a:solidFill>
                            <a:srgbClr val="2D2D2D"/>
                          </a:solidFill>
                          <a:latin typeface="Arial"/>
                        </a:rPr>
                        <a:t> can be combined with </a:t>
                      </a:r>
                      <a:r>
                        <a:rPr sz="1030" b="0" dirty="0" err="1">
                          <a:solidFill>
                            <a:srgbClr val="2D2D2D"/>
                          </a:solidFill>
                          <a:latin typeface="Arial"/>
                        </a:rPr>
                        <a:t>BitMoD</a:t>
                      </a:r>
                      <a:endParaRPr sz="1030" b="0" dirty="0">
                        <a:solidFill>
                          <a:srgbClr val="2D2D2D"/>
                        </a:solidFill>
                        <a:latin typeface="Arial"/>
                      </a:endParaRPr>
                    </a:p>
                  </a:txBody>
                  <a:tcPr marL="27432" marR="27432" marT="18288" marB="18288">
                    <a:solidFill>
                      <a:srgbClr val="F6F7F9"/>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2D416-6315-2ED6-6E93-341560F2ECEF}"/>
            </a:ext>
          </a:extLst>
        </p:cNvPr>
        <p:cNvGrpSpPr/>
        <p:nvPr/>
      </p:nvGrpSpPr>
      <p:grpSpPr>
        <a:xfrm>
          <a:off x="0" y="0"/>
          <a:ext cx="0" cy="0"/>
          <a:chOff x="0" y="0"/>
          <a:chExt cx="0" cy="0"/>
        </a:xfrm>
      </p:grpSpPr>
      <p:pic>
        <p:nvPicPr>
          <p:cNvPr id="2" name="Image 0" descr="/mnt/data/aca_top.png">
            <a:extLst>
              <a:ext uri="{FF2B5EF4-FFF2-40B4-BE49-F238E27FC236}">
                <a16:creationId xmlns:a16="http://schemas.microsoft.com/office/drawing/2014/main" id="{5B3E8189-81B4-5BDF-0FD4-DCB7B84EA47C}"/>
              </a:ext>
            </a:extLst>
          </p:cNvPr>
          <p:cNvPicPr>
            <a:picLocks noChangeAspect="1"/>
          </p:cNvPicPr>
          <p:nvPr/>
        </p:nvPicPr>
        <p:blipFill>
          <a:blip r:embed="rId3"/>
          <a:stretch>
            <a:fillRect/>
          </a:stretch>
        </p:blipFill>
        <p:spPr>
          <a:xfrm>
            <a:off x="118872" y="45720"/>
            <a:ext cx="2057400" cy="566928"/>
          </a:xfrm>
          <a:prstGeom prst="rect">
            <a:avLst/>
          </a:prstGeom>
        </p:spPr>
      </p:pic>
      <p:sp>
        <p:nvSpPr>
          <p:cNvPr id="3" name="Shape 0">
            <a:extLst>
              <a:ext uri="{FF2B5EF4-FFF2-40B4-BE49-F238E27FC236}">
                <a16:creationId xmlns:a16="http://schemas.microsoft.com/office/drawing/2014/main" id="{1CAFDC89-726C-FD4A-6B31-26F8CED49EC0}"/>
              </a:ext>
            </a:extLst>
          </p:cNvPr>
          <p:cNvSpPr/>
          <p:nvPr/>
        </p:nvSpPr>
        <p:spPr>
          <a:xfrm>
            <a:off x="338328" y="731520"/>
            <a:ext cx="11503152" cy="45720"/>
          </a:xfrm>
          <a:prstGeom prst="rect">
            <a:avLst/>
          </a:prstGeom>
          <a:solidFill>
            <a:srgbClr val="00245D"/>
          </a:solidFill>
          <a:ln w="12700">
            <a:solidFill>
              <a:srgbClr val="00245D"/>
            </a:solidFill>
            <a:prstDash val="solid"/>
          </a:ln>
        </p:spPr>
        <p:txBody>
          <a:bodyPr/>
          <a:lstStyle/>
          <a:p>
            <a:endParaRPr lang="ko-KR" altLang="en-US"/>
          </a:p>
        </p:txBody>
      </p:sp>
      <p:sp>
        <p:nvSpPr>
          <p:cNvPr id="4" name="Text 1">
            <a:extLst>
              <a:ext uri="{FF2B5EF4-FFF2-40B4-BE49-F238E27FC236}">
                <a16:creationId xmlns:a16="http://schemas.microsoft.com/office/drawing/2014/main" id="{88CBC80A-D10E-14FF-7A79-1CB15250B50F}"/>
              </a:ext>
            </a:extLst>
          </p:cNvPr>
          <p:cNvSpPr/>
          <p:nvPr/>
        </p:nvSpPr>
        <p:spPr>
          <a:xfrm>
            <a:off x="960120" y="2737595"/>
            <a:ext cx="10332720" cy="777240"/>
          </a:xfrm>
          <a:prstGeom prst="rect">
            <a:avLst/>
          </a:prstGeom>
          <a:noFill/>
          <a:ln/>
        </p:spPr>
        <p:txBody>
          <a:bodyPr wrap="square" lIns="0" tIns="0" rIns="0" bIns="0" rtlCol="0" anchor="ctr"/>
          <a:lstStyle/>
          <a:p>
            <a:pPr marL="0" indent="0" algn="ctr">
              <a:buNone/>
            </a:pPr>
            <a:r>
              <a:rPr lang="en-US" sz="4800" b="1" dirty="0">
                <a:solidFill>
                  <a:srgbClr val="111111"/>
                </a:solidFill>
                <a:latin typeface="Comic Sans MS" pitchFamily="34" charset="0"/>
                <a:ea typeface="Comic Sans MS" pitchFamily="34" charset="-122"/>
                <a:cs typeface="Comic Sans MS" pitchFamily="34" charset="-120"/>
              </a:rPr>
              <a:t>Q&amp;A</a:t>
            </a:r>
            <a:endParaRPr lang="en-US" sz="4800" dirty="0"/>
          </a:p>
        </p:txBody>
      </p:sp>
      <p:sp>
        <p:nvSpPr>
          <p:cNvPr id="6" name="Shape 3">
            <a:extLst>
              <a:ext uri="{FF2B5EF4-FFF2-40B4-BE49-F238E27FC236}">
                <a16:creationId xmlns:a16="http://schemas.microsoft.com/office/drawing/2014/main" id="{052E149C-CB16-D6D7-9D6A-ACD8834E88BA}"/>
              </a:ext>
            </a:extLst>
          </p:cNvPr>
          <p:cNvSpPr/>
          <p:nvPr/>
        </p:nvSpPr>
        <p:spPr>
          <a:xfrm>
            <a:off x="3017520" y="3600118"/>
            <a:ext cx="6126480" cy="0"/>
          </a:xfrm>
          <a:prstGeom prst="line">
            <a:avLst/>
          </a:prstGeom>
          <a:noFill/>
          <a:ln w="25400">
            <a:solidFill>
              <a:srgbClr val="00245D"/>
            </a:solidFill>
            <a:prstDash val="solid"/>
          </a:ln>
        </p:spPr>
        <p:txBody>
          <a:bodyPr/>
          <a:lstStyle/>
          <a:p>
            <a:endParaRPr lang="ko-KR" altLang="en-US"/>
          </a:p>
        </p:txBody>
      </p:sp>
      <p:sp>
        <p:nvSpPr>
          <p:cNvPr id="7" name="Shape 4">
            <a:extLst>
              <a:ext uri="{FF2B5EF4-FFF2-40B4-BE49-F238E27FC236}">
                <a16:creationId xmlns:a16="http://schemas.microsoft.com/office/drawing/2014/main" id="{A5D1554E-0BA7-CDBB-AC2C-EF85FA0DB527}"/>
              </a:ext>
            </a:extLst>
          </p:cNvPr>
          <p:cNvSpPr/>
          <p:nvPr/>
        </p:nvSpPr>
        <p:spPr>
          <a:xfrm>
            <a:off x="0" y="6428232"/>
            <a:ext cx="12191695" cy="429768"/>
          </a:xfrm>
          <a:prstGeom prst="rect">
            <a:avLst/>
          </a:prstGeom>
          <a:solidFill>
            <a:srgbClr val="00245D"/>
          </a:solidFill>
          <a:ln w="12700">
            <a:solidFill>
              <a:srgbClr val="00245D"/>
            </a:solidFill>
            <a:prstDash val="solid"/>
          </a:ln>
        </p:spPr>
        <p:txBody>
          <a:bodyPr/>
          <a:lstStyle/>
          <a:p>
            <a:endParaRPr lang="ko-KR" altLang="en-US"/>
          </a:p>
        </p:txBody>
      </p:sp>
      <p:pic>
        <p:nvPicPr>
          <p:cNvPr id="8" name="Image 1" descr="/mnt/data/aca_footer.png">
            <a:extLst>
              <a:ext uri="{FF2B5EF4-FFF2-40B4-BE49-F238E27FC236}">
                <a16:creationId xmlns:a16="http://schemas.microsoft.com/office/drawing/2014/main" id="{0579122B-772A-1F50-31CD-0326F7EA248D}"/>
              </a:ext>
            </a:extLst>
          </p:cNvPr>
          <p:cNvPicPr>
            <a:picLocks noChangeAspect="1"/>
          </p:cNvPicPr>
          <p:nvPr/>
        </p:nvPicPr>
        <p:blipFill>
          <a:blip r:embed="rId4"/>
          <a:stretch>
            <a:fillRect/>
          </a:stretch>
        </p:blipFill>
        <p:spPr>
          <a:xfrm>
            <a:off x="91440" y="6483096"/>
            <a:ext cx="1234440" cy="274320"/>
          </a:xfrm>
          <a:prstGeom prst="rect">
            <a:avLst/>
          </a:prstGeom>
        </p:spPr>
      </p:pic>
      <p:sp>
        <p:nvSpPr>
          <p:cNvPr id="9" name="Text 5">
            <a:extLst>
              <a:ext uri="{FF2B5EF4-FFF2-40B4-BE49-F238E27FC236}">
                <a16:creationId xmlns:a16="http://schemas.microsoft.com/office/drawing/2014/main" id="{20E9D481-6A42-72E1-718C-DBB95857C02F}"/>
              </a:ext>
            </a:extLst>
          </p:cNvPr>
          <p:cNvSpPr/>
          <p:nvPr/>
        </p:nvSpPr>
        <p:spPr>
          <a:xfrm>
            <a:off x="11567160" y="6473952"/>
            <a:ext cx="365760" cy="274320"/>
          </a:xfrm>
          <a:prstGeom prst="rect">
            <a:avLst/>
          </a:prstGeom>
          <a:noFill/>
          <a:ln/>
        </p:spPr>
        <p:txBody>
          <a:bodyPr wrap="square" lIns="0" tIns="0" rIns="0" bIns="0" rtlCol="0" anchor="ctr"/>
          <a:lstStyle/>
          <a:p>
            <a:pPr marL="0" indent="0" algn="r">
              <a:buNone/>
            </a:pPr>
            <a:r>
              <a:rPr lang="en-US" sz="1800" b="1" dirty="0">
                <a:solidFill>
                  <a:srgbClr val="FFFFFF"/>
                </a:solidFill>
                <a:latin typeface="Arial" pitchFamily="34" charset="0"/>
                <a:ea typeface="Arial" pitchFamily="34" charset="-122"/>
                <a:cs typeface="Arial" pitchFamily="34" charset="-120"/>
              </a:rPr>
              <a:t>82</a:t>
            </a:r>
            <a:endParaRPr lang="en-US" sz="1800" dirty="0"/>
          </a:p>
        </p:txBody>
      </p:sp>
    </p:spTree>
    <p:extLst>
      <p:ext uri="{BB962C8B-B14F-4D97-AF65-F5344CB8AC3E}">
        <p14:creationId xmlns:p14="http://schemas.microsoft.com/office/powerpoint/2010/main" val="1172906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mic Sans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8508569-9C91-4403-BCA8-B592D7413131}">
  <we:reference id="4b785c87-866c-4bad-85d8-5d1ae467ac9a" version="3.26.0.0" store="EXCatalog" storeType="EXCatalog"/>
  <we:alternateReferences>
    <we:reference id="WA104381909" version="3.26.0.0" store="ko-KR"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1405</TotalTime>
  <Words>8732</Words>
  <Application>Microsoft Macintosh PowerPoint</Application>
  <PresentationFormat>와이드스크린</PresentationFormat>
  <Paragraphs>1931</Paragraphs>
  <Slides>81</Slides>
  <Notes>64</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81</vt:i4>
      </vt:variant>
    </vt:vector>
  </HeadingPairs>
  <TitlesOfParts>
    <vt:vector size="88" baseType="lpstr">
      <vt:lpstr>Comic Sans MS</vt:lpstr>
      <vt:lpstr>Courier New</vt:lpstr>
      <vt:lpstr>Times New Roman</vt:lpstr>
      <vt:lpstr>맑은 고딕</vt:lpstr>
      <vt:lpstr>Arial</vt:lpstr>
      <vt:lpstr>Cambria Math</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ACA LAB / Yonsei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SpAtten Paper Seminar Template</dc:title>
  <dc:subject>Paper seminar template based on uploaded sample</dc:subject>
  <dc:creator>OpenAI</dc:creator>
  <cp:lastModifiedBy>정석찬</cp:lastModifiedBy>
  <cp:revision>28</cp:revision>
  <dcterms:created xsi:type="dcterms:W3CDTF">2026-07-20T20:14:15Z</dcterms:created>
  <dcterms:modified xsi:type="dcterms:W3CDTF">2026-08-19T05:43:39Z</dcterms:modified>
</cp:coreProperties>
</file>